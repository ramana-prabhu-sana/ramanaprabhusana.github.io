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Override1.xml" ContentType="application/vnd.openxmlformats-officedocument.themeOverride+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16"/>
  </p:notesMasterIdLst>
  <p:sldIdLst>
    <p:sldId id="2561" r:id="rId5"/>
    <p:sldId id="2562" r:id="rId6"/>
    <p:sldId id="2563" r:id="rId7"/>
    <p:sldId id="2564" r:id="rId8"/>
    <p:sldId id="2565" r:id="rId9"/>
    <p:sldId id="2566" r:id="rId10"/>
    <p:sldId id="2567" r:id="rId11"/>
    <p:sldId id="2568" r:id="rId12"/>
    <p:sldId id="2569" r:id="rId13"/>
    <p:sldId id="2570" r:id="rId14"/>
    <p:sldId id="25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oot Traffic and Dwell Time Trends at Office Supply Stores During the Remote Work Shift" id="{C729DF8E-CFE4-4BC0-A5FA-D66530A7FFBC}">
          <p14:sldIdLst>
            <p14:sldId id="2561"/>
          </p14:sldIdLst>
        </p14:section>
        <p14:section name="Introduction &amp; Context" id="{62931A61-CC27-4AAD-8437-F17AE530A371}">
          <p14:sldIdLst>
            <p14:sldId id="2562"/>
            <p14:sldId id="2563"/>
          </p14:sldIdLst>
        </p14:section>
        <p14:section name="Research Question 1: Foot Traffic &amp; Demographics" id="{CD05FDDA-2EDA-44EB-BA01-A09A8A2823F0}">
          <p14:sldIdLst>
            <p14:sldId id="2564"/>
            <p14:sldId id="2565"/>
          </p14:sldIdLst>
        </p14:section>
        <p14:section name="Research Question 2: Suburban vs Urban Recovery" id="{F6CAF96A-B82A-48A5-AF3B-A6CBBCE8A5BF}">
          <p14:sldIdLst>
            <p14:sldId id="2566"/>
            <p14:sldId id="2567"/>
          </p14:sldIdLst>
        </p14:section>
        <p14:section name="Research Question 3: Brand Stabilization &amp; Loyalty" id="{FFA9FFB6-AAC6-495C-AEA8-D73621599328}">
          <p14:sldIdLst>
            <p14:sldId id="2568"/>
            <p14:sldId id="2569"/>
          </p14:sldIdLst>
        </p14:section>
        <p14:section name="Overall Conclusions" id="{F0EB10C0-D487-4D6B-99E2-8BD3DBFE815F}">
          <p14:sldIdLst>
            <p14:sldId id="2570"/>
            <p14:sldId id="25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CAB7310-3921-448F-A28E-1483B4221912}" v="14" dt="2025-10-12T06:28:43.47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p:cViewPr varScale="1">
        <p:scale>
          <a:sx n="93" d="100"/>
          <a:sy n="93" d="100"/>
        </p:scale>
        <p:origin x="1188" y="306"/>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21" Type="http://schemas.microsoft.com/office/2016/11/relationships/changesInfo" Target="changesInfos/changesInfo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slide" Target="slides/slide1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7CAB7310-3921-448F-A28E-1483B4221912}"/>
    <pc:docChg chg="addSld delSld modSld addSection">
      <pc:chgData name="" userId="" providerId="" clId="Web-{7CAB7310-3921-448F-A28E-1483B4221912}" dt="2025-10-12T06:28:43.475" v="14" actId="34807"/>
      <pc:docMkLst>
        <pc:docMk/>
      </pc:docMkLst>
      <pc:sldChg chg="del">
        <pc:chgData name="" userId="" providerId="" clId="Web-{7CAB7310-3921-448F-A28E-1483B4221912}" dt="2025-10-12T06:28:43.429" v="0" actId="34807"/>
        <pc:sldMkLst>
          <pc:docMk/>
          <pc:sldMk cId="2589239513" sldId="256"/>
        </pc:sldMkLst>
      </pc:sldChg>
      <pc:sldChg chg="modSp add mod modClrScheme addAnim chgLayout">
        <pc:chgData name="" userId="" providerId="" clId="Web-{7CAB7310-3921-448F-A28E-1483B4221912}" dt="2025-10-12T06:28:43.475" v="4" actId="34807"/>
        <pc:sldMkLst>
          <pc:docMk/>
          <pc:sldMk cId="1082743269" sldId="2561"/>
        </pc:sldMkLst>
        <pc:spChg chg="mod">
          <ac:chgData name="" userId="" providerId="" clId="Web-{7CAB7310-3921-448F-A28E-1483B4221912}" dt="2025-10-12T06:28:43.475" v="1" actId="34807"/>
          <ac:spMkLst>
            <pc:docMk/>
            <pc:sldMk cId="1082743269" sldId="2561"/>
            <ac:spMk id="2" creationId="{A6723DA5-13D8-F821-1F24-824CF1692BA3}"/>
          </ac:spMkLst>
        </pc:spChg>
        <pc:spChg chg="mod">
          <ac:chgData name="" userId="" providerId="" clId="Web-{7CAB7310-3921-448F-A28E-1483B4221912}" dt="2025-10-12T06:28:43.475" v="1" actId="34807"/>
          <ac:spMkLst>
            <pc:docMk/>
            <pc:sldMk cId="1082743269" sldId="2561"/>
            <ac:spMk id="3" creationId="{C447737A-8BC8-0672-45DB-E7CFA497D8FA}"/>
          </ac:spMkLst>
        </pc:spChg>
      </pc:sldChg>
      <pc:sldChg chg="modSp add mod modTransition addAnim chgLayout">
        <pc:chgData name="" userId="" providerId="" clId="Web-{7CAB7310-3921-448F-A28E-1483B4221912}" dt="2025-10-12T06:28:43.475" v="5" actId="34807"/>
        <pc:sldMkLst>
          <pc:docMk/>
          <pc:sldMk cId="2700488280" sldId="2562"/>
        </pc:sldMkLst>
        <pc:spChg chg="mod">
          <ac:chgData name="" userId="" providerId="" clId="Web-{7CAB7310-3921-448F-A28E-1483B4221912}" dt="2025-10-12T06:28:43.475" v="1" actId="34807"/>
          <ac:spMkLst>
            <pc:docMk/>
            <pc:sldMk cId="2700488280" sldId="2562"/>
            <ac:spMk id="2" creationId="{C2ADE9F1-D071-E9EF-44DA-F018E1153F6D}"/>
          </ac:spMkLst>
        </pc:spChg>
      </pc:sldChg>
      <pc:sldChg chg="modSp add mod modTransition modClrScheme addAnim chgLayout">
        <pc:chgData name="" userId="" providerId="" clId="Web-{7CAB7310-3921-448F-A28E-1483B4221912}" dt="2025-10-12T06:28:43.475" v="6" actId="34807"/>
        <pc:sldMkLst>
          <pc:docMk/>
          <pc:sldMk cId="3764482047" sldId="2563"/>
        </pc:sldMkLst>
        <pc:spChg chg="mod">
          <ac:chgData name="" userId="" providerId="" clId="Web-{7CAB7310-3921-448F-A28E-1483B4221912}" dt="2025-10-12T06:28:43.475" v="1" actId="34807"/>
          <ac:spMkLst>
            <pc:docMk/>
            <pc:sldMk cId="3764482047" sldId="2563"/>
            <ac:spMk id="2" creationId="{C34209F0-ADE3-0A7E-B2EE-0D37BE99D46F}"/>
          </ac:spMkLst>
        </pc:spChg>
        <pc:spChg chg="mod">
          <ac:chgData name="" userId="" providerId="" clId="Web-{7CAB7310-3921-448F-A28E-1483B4221912}" dt="2025-10-12T06:28:43.475" v="1" actId="34807"/>
          <ac:spMkLst>
            <pc:docMk/>
            <pc:sldMk cId="3764482047" sldId="2563"/>
            <ac:spMk id="4" creationId="{1FEAFD9E-EF43-EE48-3442-EFAFA5E43BFD}"/>
          </ac:spMkLst>
        </pc:spChg>
        <pc:picChg chg="mod">
          <ac:chgData name="" userId="" providerId="" clId="Web-{7CAB7310-3921-448F-A28E-1483B4221912}" dt="2025-10-12T06:28:43.475" v="1" actId="34807"/>
          <ac:picMkLst>
            <pc:docMk/>
            <pc:sldMk cId="3764482047" sldId="2563"/>
            <ac:picMk id="5" creationId="{5C2F11F4-DBB0-475D-88ED-EB6679C16223}"/>
          </ac:picMkLst>
        </pc:picChg>
      </pc:sldChg>
      <pc:sldChg chg="modSp add mod modTransition addAnim chgLayout">
        <pc:chgData name="" userId="" providerId="" clId="Web-{7CAB7310-3921-448F-A28E-1483B4221912}" dt="2025-10-12T06:28:43.475" v="7" actId="34807"/>
        <pc:sldMkLst>
          <pc:docMk/>
          <pc:sldMk cId="1870317151" sldId="2564"/>
        </pc:sldMkLst>
        <pc:spChg chg="mod">
          <ac:chgData name="" userId="" providerId="" clId="Web-{7CAB7310-3921-448F-A28E-1483B4221912}" dt="2025-10-12T06:28:43.475" v="1" actId="34807"/>
          <ac:spMkLst>
            <pc:docMk/>
            <pc:sldMk cId="1870317151" sldId="2564"/>
            <ac:spMk id="2" creationId="{CDC96411-2BB8-293C-C572-66455B3C02A0}"/>
          </ac:spMkLst>
        </pc:spChg>
      </pc:sldChg>
      <pc:sldChg chg="modSp add mod modTransition modClrScheme addAnim chgLayout">
        <pc:chgData name="" userId="" providerId="" clId="Web-{7CAB7310-3921-448F-A28E-1483B4221912}" dt="2025-10-12T06:28:43.475" v="8" actId="34807"/>
        <pc:sldMkLst>
          <pc:docMk/>
          <pc:sldMk cId="3648394412" sldId="2565"/>
        </pc:sldMkLst>
        <pc:spChg chg="mod">
          <ac:chgData name="" userId="" providerId="" clId="Web-{7CAB7310-3921-448F-A28E-1483B4221912}" dt="2025-10-12T06:28:43.475" v="1" actId="34807"/>
          <ac:spMkLst>
            <pc:docMk/>
            <pc:sldMk cId="3648394412" sldId="2565"/>
            <ac:spMk id="2" creationId="{C7C50956-4EB9-88DA-7323-3D793A234767}"/>
          </ac:spMkLst>
        </pc:spChg>
        <pc:spChg chg="mod">
          <ac:chgData name="" userId="" providerId="" clId="Web-{7CAB7310-3921-448F-A28E-1483B4221912}" dt="2025-10-12T06:28:43.475" v="1" actId="34807"/>
          <ac:spMkLst>
            <pc:docMk/>
            <pc:sldMk cId="3648394412" sldId="2565"/>
            <ac:spMk id="4" creationId="{40984748-8F5A-620C-AB53-3423C1B02A31}"/>
          </ac:spMkLst>
        </pc:spChg>
        <pc:picChg chg="mod ord">
          <ac:chgData name="" userId="" providerId="" clId="Web-{7CAB7310-3921-448F-A28E-1483B4221912}" dt="2025-10-12T06:28:43.475" v="1" actId="34807"/>
          <ac:picMkLst>
            <pc:docMk/>
            <pc:sldMk cId="3648394412" sldId="2565"/>
            <ac:picMk id="5" creationId="{01EE1D6F-3A31-4F21-88BB-B619C4B09576}"/>
          </ac:picMkLst>
        </pc:picChg>
      </pc:sldChg>
      <pc:sldChg chg="modSp add mod modTransition addAnim chgLayout">
        <pc:chgData name="" userId="" providerId="" clId="Web-{7CAB7310-3921-448F-A28E-1483B4221912}" dt="2025-10-12T06:28:43.475" v="9" actId="34807"/>
        <pc:sldMkLst>
          <pc:docMk/>
          <pc:sldMk cId="4132300415" sldId="2566"/>
        </pc:sldMkLst>
        <pc:spChg chg="mod">
          <ac:chgData name="" userId="" providerId="" clId="Web-{7CAB7310-3921-448F-A28E-1483B4221912}" dt="2025-10-12T06:28:43.475" v="1" actId="34807"/>
          <ac:spMkLst>
            <pc:docMk/>
            <pc:sldMk cId="4132300415" sldId="2566"/>
            <ac:spMk id="2" creationId="{B5F656BB-74E8-D0E5-C1C9-9A389DF635D5}"/>
          </ac:spMkLst>
        </pc:spChg>
      </pc:sldChg>
      <pc:sldChg chg="modSp add mod modTransition modClrScheme addAnim chgLayout">
        <pc:chgData name="" userId="" providerId="" clId="Web-{7CAB7310-3921-448F-A28E-1483B4221912}" dt="2025-10-12T06:28:43.475" v="10" actId="34807"/>
        <pc:sldMkLst>
          <pc:docMk/>
          <pc:sldMk cId="360345716" sldId="2567"/>
        </pc:sldMkLst>
        <pc:spChg chg="mod">
          <ac:chgData name="" userId="" providerId="" clId="Web-{7CAB7310-3921-448F-A28E-1483B4221912}" dt="2025-10-12T06:28:43.475" v="1" actId="34807"/>
          <ac:spMkLst>
            <pc:docMk/>
            <pc:sldMk cId="360345716" sldId="2567"/>
            <ac:spMk id="2" creationId="{F04F9679-8657-7AB1-8E1A-6049A5D53BB1}"/>
          </ac:spMkLst>
        </pc:spChg>
        <pc:spChg chg="mod">
          <ac:chgData name="" userId="" providerId="" clId="Web-{7CAB7310-3921-448F-A28E-1483B4221912}" dt="2025-10-12T06:28:43.475" v="1" actId="34807"/>
          <ac:spMkLst>
            <pc:docMk/>
            <pc:sldMk cId="360345716" sldId="2567"/>
            <ac:spMk id="4" creationId="{582080C3-6464-90E5-490C-15077DF0667F}"/>
          </ac:spMkLst>
        </pc:spChg>
        <pc:picChg chg="mod">
          <ac:chgData name="" userId="" providerId="" clId="Web-{7CAB7310-3921-448F-A28E-1483B4221912}" dt="2025-10-12T06:28:43.475" v="1" actId="34807"/>
          <ac:picMkLst>
            <pc:docMk/>
            <pc:sldMk cId="360345716" sldId="2567"/>
            <ac:picMk id="5" creationId="{357193A3-2B94-49B7-AB81-09BFC1CC8B39}"/>
          </ac:picMkLst>
        </pc:picChg>
      </pc:sldChg>
      <pc:sldChg chg="modSp add mod modTransition addAnim chgLayout">
        <pc:chgData name="" userId="" providerId="" clId="Web-{7CAB7310-3921-448F-A28E-1483B4221912}" dt="2025-10-12T06:28:43.475" v="11" actId="34807"/>
        <pc:sldMkLst>
          <pc:docMk/>
          <pc:sldMk cId="1495419251" sldId="2568"/>
        </pc:sldMkLst>
        <pc:spChg chg="mod">
          <ac:chgData name="" userId="" providerId="" clId="Web-{7CAB7310-3921-448F-A28E-1483B4221912}" dt="2025-10-12T06:28:43.475" v="1" actId="34807"/>
          <ac:spMkLst>
            <pc:docMk/>
            <pc:sldMk cId="1495419251" sldId="2568"/>
            <ac:spMk id="2" creationId="{015D20A6-72B3-6757-EE93-A22B2C06EEA3}"/>
          </ac:spMkLst>
        </pc:spChg>
      </pc:sldChg>
      <pc:sldChg chg="modSp add mod modTransition modClrScheme addAnim chgLayout">
        <pc:chgData name="" userId="" providerId="" clId="Web-{7CAB7310-3921-448F-A28E-1483B4221912}" dt="2025-10-12T06:28:43.475" v="12" actId="34807"/>
        <pc:sldMkLst>
          <pc:docMk/>
          <pc:sldMk cId="3902546760" sldId="2569"/>
        </pc:sldMkLst>
        <pc:spChg chg="mod">
          <ac:chgData name="" userId="" providerId="" clId="Web-{7CAB7310-3921-448F-A28E-1483B4221912}" dt="2025-10-12T06:28:43.475" v="1" actId="34807"/>
          <ac:spMkLst>
            <pc:docMk/>
            <pc:sldMk cId="3902546760" sldId="2569"/>
            <ac:spMk id="2" creationId="{F08B7281-D24C-7338-278D-6AE1E06E7B68}"/>
          </ac:spMkLst>
        </pc:spChg>
        <pc:spChg chg="mod">
          <ac:chgData name="" userId="" providerId="" clId="Web-{7CAB7310-3921-448F-A28E-1483B4221912}" dt="2025-10-12T06:28:43.475" v="1" actId="34807"/>
          <ac:spMkLst>
            <pc:docMk/>
            <pc:sldMk cId="3902546760" sldId="2569"/>
            <ac:spMk id="4" creationId="{79B73194-9541-8A3D-E1B4-FE87A09DDCA4}"/>
          </ac:spMkLst>
        </pc:spChg>
        <pc:picChg chg="mod">
          <ac:chgData name="" userId="" providerId="" clId="Web-{7CAB7310-3921-448F-A28E-1483B4221912}" dt="2025-10-12T06:28:43.475" v="1" actId="34807"/>
          <ac:picMkLst>
            <pc:docMk/>
            <pc:sldMk cId="3902546760" sldId="2569"/>
            <ac:picMk id="5" creationId="{F8B29A30-F0F0-49AE-8655-89C2D95FC498}"/>
          </ac:picMkLst>
        </pc:picChg>
      </pc:sldChg>
      <pc:sldChg chg="modSp add mod modTransition addAnim chgLayout">
        <pc:chgData name="" userId="" providerId="" clId="Web-{7CAB7310-3921-448F-A28E-1483B4221912}" dt="2025-10-12T06:28:43.475" v="13" actId="34807"/>
        <pc:sldMkLst>
          <pc:docMk/>
          <pc:sldMk cId="3425719034" sldId="2570"/>
        </pc:sldMkLst>
        <pc:spChg chg="mod">
          <ac:chgData name="" userId="" providerId="" clId="Web-{7CAB7310-3921-448F-A28E-1483B4221912}" dt="2025-10-12T06:28:43.475" v="1" actId="34807"/>
          <ac:spMkLst>
            <pc:docMk/>
            <pc:sldMk cId="3425719034" sldId="2570"/>
            <ac:spMk id="2" creationId="{3CE12C27-3885-5BA3-8C5C-17FF082AAD6C}"/>
          </ac:spMkLst>
        </pc:spChg>
      </pc:sldChg>
      <pc:sldChg chg="modSp add mod modTransition modClrScheme addAnim chgLayout">
        <pc:chgData name="" userId="" providerId="" clId="Web-{7CAB7310-3921-448F-A28E-1483B4221912}" dt="2025-10-12T06:28:43.475" v="14" actId="34807"/>
        <pc:sldMkLst>
          <pc:docMk/>
          <pc:sldMk cId="1033011250" sldId="2571"/>
        </pc:sldMkLst>
        <pc:spChg chg="mod">
          <ac:chgData name="" userId="" providerId="" clId="Web-{7CAB7310-3921-448F-A28E-1483B4221912}" dt="2025-10-12T06:28:43.475" v="1" actId="34807"/>
          <ac:spMkLst>
            <pc:docMk/>
            <pc:sldMk cId="1033011250" sldId="2571"/>
            <ac:spMk id="2" creationId="{FBE406C3-A2E3-E510-D3D0-920278CDBEFD}"/>
          </ac:spMkLst>
        </pc:spChg>
        <pc:spChg chg="mod">
          <ac:chgData name="" userId="" providerId="" clId="Web-{7CAB7310-3921-448F-A28E-1483B4221912}" dt="2025-10-12T06:28:43.475" v="1" actId="34807"/>
          <ac:spMkLst>
            <pc:docMk/>
            <pc:sldMk cId="1033011250" sldId="2571"/>
            <ac:spMk id="4" creationId="{C12B038E-9209-C121-0D33-0BEFE29A9211}"/>
          </ac:spMkLst>
        </pc:spChg>
        <pc:picChg chg="mod ord">
          <ac:chgData name="" userId="" providerId="" clId="Web-{7CAB7310-3921-448F-A28E-1483B4221912}" dt="2025-10-12T06:28:43.475" v="1" actId="34807"/>
          <ac:picMkLst>
            <pc:docMk/>
            <pc:sldMk cId="1033011250" sldId="2571"/>
            <ac:picMk id="5" creationId="{6A4CF6E9-FBE9-4F55-AC36-8564A29B644B}"/>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2513454-F2BD-4C86-B4DF-11ABE972E314}" type="datetimeFigureOut">
              <a:t>10/11/2025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B36D75C-7AA3-44FC-BEE9-9ED9D4667930}" type="slidenum">
              <a:t>‹#›</a:t>
            </a:fld>
            <a:endParaRPr lang="en-US"/>
          </a:p>
        </p:txBody>
      </p:sp>
    </p:spTree>
    <p:extLst>
      <p:ext uri="{BB962C8B-B14F-4D97-AF65-F5344CB8AC3E}">
        <p14:creationId xmlns:p14="http://schemas.microsoft.com/office/powerpoint/2010/main" val="35679882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C00450BC-F72E-491A-AD66-A93C7393B308}" type="slidenum">
              <a:t>1</a:t>
            </a:fld>
            <a:endParaRPr lang="en-US"/>
          </a:p>
        </p:txBody>
      </p:sp>
    </p:spTree>
    <p:extLst>
      <p:ext uri="{BB962C8B-B14F-4D97-AF65-F5344CB8AC3E}">
        <p14:creationId xmlns:p14="http://schemas.microsoft.com/office/powerpoint/2010/main" val="35137564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Study Overview and Data Sources
</a:t>
            </a:r>
          </a:p>
        </p:txBody>
      </p:sp>
      <p:sp>
        <p:nvSpPr>
          <p:cNvPr id="4" name="Slide Number Placeholder 3"/>
          <p:cNvSpPr>
            <a:spLocks noGrp="1"/>
          </p:cNvSpPr>
          <p:nvPr>
            <p:ph type="sldNum" sz="quarter" idx="5"/>
          </p:nvPr>
        </p:nvSpPr>
        <p:spPr/>
        <p:txBody>
          <a:bodyPr/>
          <a:lstStyle/>
          <a:p>
            <a:fld id="{C00450BC-F72E-491A-AD66-A93C7393B308}" type="slidenum">
              <a:t>2</a:t>
            </a:fld>
            <a:endParaRPr lang="en-US"/>
          </a:p>
        </p:txBody>
      </p:sp>
    </p:spTree>
    <p:extLst>
      <p:ext uri="{BB962C8B-B14F-4D97-AF65-F5344CB8AC3E}">
        <p14:creationId xmlns:p14="http://schemas.microsoft.com/office/powerpoint/2010/main" val="38556012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This study investigates how foot traffic and dwell time trends at office supply stores evolved during the early months of the COVID-19 pandemic, specifically from January to April 2020. The focus is on consumer behavior shifts in California counties, categorized into urban, suburban, and rural regions. The analysis utilizes data from SafeGraph, which provides detailed foot traffic and dwell time metrics, and RUCA codes to classify geographic regions. Additionally, demographic data such as education levels, working-age population, and K–12 household density are incorporated to understand the influence of these factors on store engagement. The study aims to uncover patterns in consumer visits and time spent in stores, offering insights into how different communities responded to the sudden shift to remote work and the increased demand for office supplies.
</a:t>
            </a:r>
          </a:p>
        </p:txBody>
      </p:sp>
      <p:sp>
        <p:nvSpPr>
          <p:cNvPr id="4" name="Slide Number Placeholder 3"/>
          <p:cNvSpPr>
            <a:spLocks noGrp="1"/>
          </p:cNvSpPr>
          <p:nvPr>
            <p:ph type="sldNum" sz="quarter" idx="5"/>
          </p:nvPr>
        </p:nvSpPr>
        <p:spPr/>
        <p:txBody>
          <a:bodyPr/>
          <a:lstStyle/>
          <a:p>
            <a:fld id="{C00450BC-F72E-491A-AD66-A93C7393B308}" type="slidenum">
              <a:t>3</a:t>
            </a:fld>
            <a:endParaRPr lang="en-US"/>
          </a:p>
        </p:txBody>
      </p:sp>
    </p:spTree>
    <p:extLst>
      <p:ext uri="{BB962C8B-B14F-4D97-AF65-F5344CB8AC3E}">
        <p14:creationId xmlns:p14="http://schemas.microsoft.com/office/powerpoint/2010/main" val="13477410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Weekly Trends and Demographic Influences
</a:t>
            </a:r>
          </a:p>
        </p:txBody>
      </p:sp>
      <p:sp>
        <p:nvSpPr>
          <p:cNvPr id="4" name="Slide Number Placeholder 3"/>
          <p:cNvSpPr>
            <a:spLocks noGrp="1"/>
          </p:cNvSpPr>
          <p:nvPr>
            <p:ph type="sldNum" sz="quarter" idx="5"/>
          </p:nvPr>
        </p:nvSpPr>
        <p:spPr/>
        <p:txBody>
          <a:bodyPr/>
          <a:lstStyle/>
          <a:p>
            <a:fld id="{C00450BC-F72E-491A-AD66-A93C7393B308}" type="slidenum">
              <a:t>4</a:t>
            </a:fld>
            <a:endParaRPr lang="en-US"/>
          </a:p>
        </p:txBody>
      </p:sp>
    </p:spTree>
    <p:extLst>
      <p:ext uri="{BB962C8B-B14F-4D97-AF65-F5344CB8AC3E}">
        <p14:creationId xmlns:p14="http://schemas.microsoft.com/office/powerpoint/2010/main" val="378331359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During the first quarter of 2020, foot traffic at office supply stores peaked in January and February, followed by a sharp decline in mid-March (Week 12) due to lockdowns. Staples demonstrated a notable rebound in Week 17, reaching nearly 98,000 visits, indicating a recovery driven by consumers replenishing home-office supplies. Specialty stores such as Papyrus and Rapid Refill experienced fewer visits but significantly longer dwell times, suggesting high-intent, focused shopping behavior. Demographic factors played a crucial role in these patterns. Areas with a high concentration of K–12 households showed increased visits, likely driven by school-related supply needs. Counties with a dense working-age population exhibited shorter dwell times, reflecting quick, goal-oriented purchases. Additionally, regions with higher education levels, particularly those with a greater number of bachelor’s and master’s degree holders, saw longer dwell times, indicating a preference for personalized and boutique-style shopping experiences.
</a:t>
            </a:r>
          </a:p>
        </p:txBody>
      </p:sp>
      <p:sp>
        <p:nvSpPr>
          <p:cNvPr id="4" name="Slide Number Placeholder 3"/>
          <p:cNvSpPr>
            <a:spLocks noGrp="1"/>
          </p:cNvSpPr>
          <p:nvPr>
            <p:ph type="sldNum" sz="quarter" idx="5"/>
          </p:nvPr>
        </p:nvSpPr>
        <p:spPr/>
        <p:txBody>
          <a:bodyPr/>
          <a:lstStyle/>
          <a:p>
            <a:fld id="{C00450BC-F72E-491A-AD66-A93C7393B308}" type="slidenum">
              <a:t>5</a:t>
            </a:fld>
            <a:endParaRPr lang="en-US"/>
          </a:p>
        </p:txBody>
      </p:sp>
    </p:spTree>
    <p:extLst>
      <p:ext uri="{BB962C8B-B14F-4D97-AF65-F5344CB8AC3E}">
        <p14:creationId xmlns:p14="http://schemas.microsoft.com/office/powerpoint/2010/main" val="36418235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Geographic Recovery Patterns
</a:t>
            </a:r>
          </a:p>
        </p:txBody>
      </p:sp>
      <p:sp>
        <p:nvSpPr>
          <p:cNvPr id="4" name="Slide Number Placeholder 3"/>
          <p:cNvSpPr>
            <a:spLocks noGrp="1"/>
          </p:cNvSpPr>
          <p:nvPr>
            <p:ph type="sldNum" sz="quarter" idx="5"/>
          </p:nvPr>
        </p:nvSpPr>
        <p:spPr/>
        <p:txBody>
          <a:bodyPr/>
          <a:lstStyle/>
          <a:p>
            <a:fld id="{C00450BC-F72E-491A-AD66-A93C7393B308}" type="slidenum">
              <a:t>6</a:t>
            </a:fld>
            <a:endParaRPr lang="en-US"/>
          </a:p>
        </p:txBody>
      </p:sp>
    </p:spTree>
    <p:extLst>
      <p:ext uri="{BB962C8B-B14F-4D97-AF65-F5344CB8AC3E}">
        <p14:creationId xmlns:p14="http://schemas.microsoft.com/office/powerpoint/2010/main" val="40483772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Suburban counties exhibited the strongest recovery in terms of foot traffic and engagement at office supply stores during the early phase of the remote work shift. Staples and Office Depot led this resurgence, benefiting from their strong presence in family-oriented suburban areas. Urban regions, while showing slightly lower visit numbers, maintained similar dwell times, indicating efficient, goal-driven shopping behavior. In contrast, rural areas experienced fewer visits but longer dwell times, suggesting a more leisurely and exploratory shopping approach. Notably, hotspots such as Los Angeles County demonstrated sustained demand for office supplies, highlighting regional variations in consumer adaptation. These findings underscore the importance of geographic context in understanding retail recovery dynamics and suggest that suburban consumers were quicker to respond to remote work needs, driving early in-store activity.
</a:t>
            </a:r>
          </a:p>
        </p:txBody>
      </p:sp>
      <p:sp>
        <p:nvSpPr>
          <p:cNvPr id="4" name="Slide Number Placeholder 3"/>
          <p:cNvSpPr>
            <a:spLocks noGrp="1"/>
          </p:cNvSpPr>
          <p:nvPr>
            <p:ph type="sldNum" sz="quarter" idx="5"/>
          </p:nvPr>
        </p:nvSpPr>
        <p:spPr/>
        <p:txBody>
          <a:bodyPr/>
          <a:lstStyle/>
          <a:p>
            <a:fld id="{C00450BC-F72E-491A-AD66-A93C7393B308}" type="slidenum">
              <a:t>7</a:t>
            </a:fld>
            <a:endParaRPr lang="en-US"/>
          </a:p>
        </p:txBody>
      </p:sp>
    </p:spTree>
    <p:extLst>
      <p:ext uri="{BB962C8B-B14F-4D97-AF65-F5344CB8AC3E}">
        <p14:creationId xmlns:p14="http://schemas.microsoft.com/office/powerpoint/2010/main" val="228983538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Brand Performance and Consumer Behavior
</a:t>
            </a:r>
          </a:p>
        </p:txBody>
      </p:sp>
      <p:sp>
        <p:nvSpPr>
          <p:cNvPr id="4" name="Slide Number Placeholder 3"/>
          <p:cNvSpPr>
            <a:spLocks noGrp="1"/>
          </p:cNvSpPr>
          <p:nvPr>
            <p:ph type="sldNum" sz="quarter" idx="5"/>
          </p:nvPr>
        </p:nvSpPr>
        <p:spPr/>
        <p:txBody>
          <a:bodyPr/>
          <a:lstStyle/>
          <a:p>
            <a:fld id="{C00450BC-F72E-491A-AD66-A93C7393B308}" type="slidenum">
              <a:t>8</a:t>
            </a:fld>
            <a:endParaRPr lang="en-US"/>
          </a:p>
        </p:txBody>
      </p:sp>
    </p:spTree>
    <p:extLst>
      <p:ext uri="{BB962C8B-B14F-4D97-AF65-F5344CB8AC3E}">
        <p14:creationId xmlns:p14="http://schemas.microsoft.com/office/powerpoint/2010/main" val="8509336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Staples and Office Depot emerged as leaders in brand stabilization during the first four months of 2020. Staples showed a rapid rebound in Week 17, with visits increasing from 47,000 to 98,000, reflecting strong brand loyalty and its perception as an essential retailer. Office Depot followed with a steady recovery, while OfficeMax experienced a slower rebound, possibly due to brand overlap and diluted traffic. Specialty brands like Papyrus and Rapid Refill maintained low traffic volumes but exhibited high dwell times, indicating deep engagement from a niche audience. These patterns suggest that essential status and consumer trust played significant roles in early recovery. Brands with reliable supply chains and strong suburban footprints were better positioned to meet the immediate needs of remote workers, reinforcing their importance in the evolving retail landscape.
</a:t>
            </a:r>
          </a:p>
        </p:txBody>
      </p:sp>
      <p:sp>
        <p:nvSpPr>
          <p:cNvPr id="4" name="Slide Number Placeholder 3"/>
          <p:cNvSpPr>
            <a:spLocks noGrp="1"/>
          </p:cNvSpPr>
          <p:nvPr>
            <p:ph type="sldNum" sz="quarter" idx="5"/>
          </p:nvPr>
        </p:nvSpPr>
        <p:spPr/>
        <p:txBody>
          <a:bodyPr/>
          <a:lstStyle/>
          <a:p>
            <a:fld id="{C00450BC-F72E-491A-AD66-A93C7393B308}" type="slidenum">
              <a:t>9</a:t>
            </a:fld>
            <a:endParaRPr lang="en-US"/>
          </a:p>
        </p:txBody>
      </p:sp>
    </p:spTree>
    <p:extLst>
      <p:ext uri="{BB962C8B-B14F-4D97-AF65-F5344CB8AC3E}">
        <p14:creationId xmlns:p14="http://schemas.microsoft.com/office/powerpoint/2010/main" val="4733191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Summary of Insights and Strategic Implications
</a:t>
            </a:r>
          </a:p>
        </p:txBody>
      </p:sp>
      <p:sp>
        <p:nvSpPr>
          <p:cNvPr id="4" name="Slide Number Placeholder 3"/>
          <p:cNvSpPr>
            <a:spLocks noGrp="1"/>
          </p:cNvSpPr>
          <p:nvPr>
            <p:ph type="sldNum" sz="quarter" idx="5"/>
          </p:nvPr>
        </p:nvSpPr>
        <p:spPr/>
        <p:txBody>
          <a:bodyPr/>
          <a:lstStyle/>
          <a:p>
            <a:fld id="{C00450BC-F72E-491A-AD66-A93C7393B308}" type="slidenum">
              <a:t>10</a:t>
            </a:fld>
            <a:endParaRPr lang="en-US"/>
          </a:p>
        </p:txBody>
      </p:sp>
    </p:spTree>
    <p:extLst>
      <p:ext uri="{BB962C8B-B14F-4D97-AF65-F5344CB8AC3E}">
        <p14:creationId xmlns:p14="http://schemas.microsoft.com/office/powerpoint/2010/main" val="29848887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
This slide references information from the following file: https://purdue0-my.sharepoint.com/personal/rsana_purdue_edu/_layouts/15/Doc.aspx?sourcedoc=%7BCB5F538E-AD73-4F91-A8F8-8F5817F554D1%7D&amp;file=Group%207_Status_Report%20copy_deck%20reference.docx&amp;action=default&amp;mobileredirect=true
The study concludes that suburban consumers adapted more quickly to remote work demands, leading to a faster recovery in foot traffic and dwell times at office supply stores. Staples and Office Depot capitalized on their essential status and strong brand loyalty to lead this resurgence. Demographic factors such as household composition, working-age density, and education levels significantly influenced shopping behavior, creating a divide between efficiency-driven and experience-driven consumers. Retailers can leverage these insights to tailor their strategies, such as developing concept stores in highly educated areas or enhancing convenience in suburban locations. Understanding these behavioral shifts is crucial for navigating post-pandemic retail dynamics and aligning offerings with evolving consumer needs.
</a:t>
            </a:r>
          </a:p>
        </p:txBody>
      </p:sp>
      <p:sp>
        <p:nvSpPr>
          <p:cNvPr id="4" name="Slide Number Placeholder 3"/>
          <p:cNvSpPr>
            <a:spLocks noGrp="1"/>
          </p:cNvSpPr>
          <p:nvPr>
            <p:ph type="sldNum" sz="quarter" idx="5"/>
          </p:nvPr>
        </p:nvSpPr>
        <p:spPr/>
        <p:txBody>
          <a:bodyPr/>
          <a:lstStyle/>
          <a:p>
            <a:fld id="{C00450BC-F72E-491A-AD66-A93C7393B308}" type="slidenum">
              <a:t>11</a:t>
            </a:fld>
            <a:endParaRPr lang="en-US"/>
          </a:p>
        </p:txBody>
      </p:sp>
    </p:spTree>
    <p:extLst>
      <p:ext uri="{BB962C8B-B14F-4D97-AF65-F5344CB8AC3E}">
        <p14:creationId xmlns:p14="http://schemas.microsoft.com/office/powerpoint/2010/main" val="322227360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56642" y="97104"/>
            <a:ext cx="4134357" cy="3331896"/>
          </a:xfrm>
        </p:spPr>
        <p:txBody>
          <a:bodyPr vert="horz" lIns="91440" tIns="45720" rIns="91440" bIns="45720" rtlCol="0" anchor="t">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8" y="4492488"/>
            <a:ext cx="3349751" cy="1411356"/>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373880" y="0"/>
            <a:ext cx="781812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56644" y="6338703"/>
            <a:ext cx="2196699" cy="365125"/>
          </a:xfrm>
        </p:spPr>
        <p:txBody>
          <a:bodyPr/>
          <a:lstStyle/>
          <a:p>
            <a:endParaRPr lang="en-US"/>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2383669" y="6338703"/>
            <a:ext cx="1392578" cy="365125"/>
          </a:xfrm>
        </p:spPr>
        <p:txBody>
          <a:bodyPr/>
          <a:lstStyle/>
          <a:p>
            <a:fld id="{710AE426-CBD1-49BA-A1DA-945CCEE2ED80}" type="datetimeFigureOut">
              <a:rPr lang="en-US" smtClean="0"/>
              <a:t>10/11/2025</a:t>
            </a:fld>
            <a:endParaRPr lang="en-US"/>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3776247" y="6342301"/>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5440761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612647" y="1709862"/>
            <a:ext cx="10963656" cy="451375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334575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428950" y="284481"/>
            <a:ext cx="4458249" cy="4320310"/>
          </a:xfrm>
        </p:spPr>
        <p:txBody>
          <a:bodyPr vert="horz" lIns="91440" tIns="45720" rIns="91440" bIns="45720" rtlCol="0" anchor="t">
            <a:normAutofit/>
          </a:bodyPr>
          <a:lstStyle>
            <a:lvl1pPr>
              <a:defRPr lang="en-US" sz="4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428950" y="4870174"/>
            <a:ext cx="3856735" cy="1033669"/>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0" y="0"/>
            <a:ext cx="7195675"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428950" y="6343955"/>
            <a:ext cx="2100482"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618883" y="6343955"/>
            <a:ext cx="1475163" cy="365125"/>
          </a:xfrm>
        </p:spPr>
        <p:txBody>
          <a:bodyPr/>
          <a:lstStyle>
            <a:lvl1pPr>
              <a:defRPr>
                <a:solidFill>
                  <a:schemeClr val="tx1"/>
                </a:solidFill>
                <a:effectLst/>
              </a:defRPr>
            </a:lvl1p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240106439"/>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846390" y="1411358"/>
            <a:ext cx="3888410" cy="2845567"/>
          </a:xfrm>
        </p:spPr>
        <p:txBody>
          <a:bodyPr vert="horz" lIns="91440" tIns="45720" rIns="91440" bIns="45720" rtlCol="0" anchor="b">
            <a:normAutofit/>
          </a:bodyPr>
          <a:lstStyle>
            <a:lvl1pPr>
              <a:defRPr lang="en-US" sz="44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846388" y="4403039"/>
            <a:ext cx="3888410" cy="1123122"/>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4" name="Picture Placeholder 13">
            <a:extLst>
              <a:ext uri="{FF2B5EF4-FFF2-40B4-BE49-F238E27FC236}">
                <a16:creationId xmlns:a16="http://schemas.microsoft.com/office/drawing/2014/main" id="{51A639AF-317A-79DF-3175-64C726EA3189}"/>
              </a:ext>
            </a:extLst>
          </p:cNvPr>
          <p:cNvSpPr>
            <a:spLocks noGrp="1"/>
          </p:cNvSpPr>
          <p:nvPr>
            <p:ph type="pic" sz="quarter" idx="14" hasCustomPrompt="1"/>
          </p:nvPr>
        </p:nvSpPr>
        <p:spPr>
          <a:xfrm>
            <a:off x="1" y="0"/>
            <a:ext cx="7424272" cy="68580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7846388" y="6343955"/>
            <a:ext cx="2100482"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9767853" y="6343955"/>
            <a:ext cx="1475163" cy="365125"/>
          </a:xfrm>
        </p:spPr>
        <p:txBody>
          <a:bodyPr/>
          <a:lstStyle>
            <a:lvl1pPr>
              <a:defRPr>
                <a:solidFill>
                  <a:schemeClr val="tx1"/>
                </a:solidFill>
                <a:effectLst/>
              </a:defRPr>
            </a:lvl1p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29606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692944911"/>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6" y="5201704"/>
            <a:ext cx="11213593" cy="786384"/>
          </a:xfrm>
        </p:spPr>
        <p:txBody>
          <a:bodyPr vert="horz" lIns="91440" tIns="45720" rIns="91440" bIns="45720" rtlCol="0" anchor="b">
            <a:normAutofit/>
          </a:bodyPr>
          <a:lstStyle>
            <a:lvl1pPr>
              <a:defRPr lang="en-US" sz="4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5971760"/>
            <a:ext cx="11213593" cy="365125"/>
          </a:xfrm>
        </p:spPr>
        <p:txBody>
          <a:bodyPr vert="horz" lIns="91440" tIns="45720" rIns="91440" bIns="45720" rtlCol="0">
            <a:normAutofit/>
          </a:bodyPr>
          <a:lstStyle>
            <a:lvl1pPr marL="0" indent="0">
              <a:buNone/>
              <a:defRPr lang="en-US" sz="1600"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0" y="0"/>
            <a:ext cx="12191999" cy="4986425"/>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endParaRPr lang="en-US"/>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710AE426-CBD1-49BA-A1DA-945CCEE2ED80}" type="datetimeFigureOut">
              <a:rPr lang="en-US" smtClean="0"/>
              <a:t>10/11/2025</a:t>
            </a:fld>
            <a:endParaRPr lang="en-US"/>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51193822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391" y="82209"/>
            <a:ext cx="10280809" cy="4572000"/>
          </a:xfrm>
        </p:spPr>
        <p:txBody>
          <a:bodyPr vert="horz" lIns="91440" tIns="45720" rIns="91440" bIns="45720" rtlCol="0" anchor="t">
            <a:normAutofit/>
          </a:bodyPr>
          <a:lstStyle>
            <a:lvl1pPr>
              <a:defRPr lang="en-US" sz="78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800600"/>
            <a:ext cx="7083554" cy="1093304"/>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241469732"/>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612647" y="1143000"/>
            <a:ext cx="8683753" cy="3095149"/>
          </a:xfrm>
        </p:spPr>
        <p:txBody>
          <a:bodyPr vert="horz" lIns="91440" tIns="45720" rIns="91440" bIns="45720" rtlCol="0" anchor="b">
            <a:normAutofit/>
          </a:bodyPr>
          <a:lstStyle>
            <a:lvl1pPr>
              <a:defRPr lang="en-US" sz="6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7" y="4498848"/>
            <a:ext cx="6881457" cy="1014984"/>
          </a:xfrm>
        </p:spPr>
        <p:txBody>
          <a:bodyPr vert="horz" lIns="91440" tIns="45720" rIns="91440" bIns="45720" rtlCol="0">
            <a:normAutofit/>
          </a:bodyPr>
          <a:lstStyle>
            <a:lvl1pPr marL="0" indent="0">
              <a:buNone/>
              <a:defRPr lang="en-US" sz="18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6343955"/>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221509" y="6343955"/>
            <a:ext cx="2875064" cy="365125"/>
          </a:xfrm>
        </p:spPr>
        <p:txBody>
          <a:body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88991276"/>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82391" y="82209"/>
            <a:ext cx="9899809" cy="4572000"/>
          </a:xfrm>
        </p:spPr>
        <p:txBody>
          <a:bodyPr vert="horz" lIns="91440" tIns="45720" rIns="91440" bIns="45720" rtlCol="0" anchor="t">
            <a:normAutofit/>
          </a:bodyPr>
          <a:lstStyle>
            <a:lvl1pPr>
              <a:defRPr lang="en-US" sz="7000" dirty="0"/>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612646" y="4800600"/>
            <a:ext cx="7083554" cy="1093304"/>
          </a:xfrm>
        </p:spPr>
        <p:txBody>
          <a:bodyPr vert="horz" lIns="91440" tIns="45720" rIns="91440" bIns="45720" rtlCol="0" anchor="b">
            <a:normAutofit/>
          </a:bodyPr>
          <a:lstStyle>
            <a:lvl1pPr marL="0" indent="0">
              <a:buNone/>
              <a:defRPr lang="en-US" sz="1600" dirty="0"/>
            </a:lvl1pPr>
          </a:lstStyle>
          <a:p>
            <a:pPr lvl="0"/>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669104869"/>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title" preserve="1">
  <p:cSld name="Titl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52600" y="1447800"/>
            <a:ext cx="8686800" cy="2491655"/>
          </a:xfrm>
        </p:spPr>
        <p:txBody>
          <a:bodyPr anchor="b">
            <a:normAutofit/>
          </a:bodyPr>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4039648"/>
            <a:ext cx="7588155" cy="1029310"/>
          </a:xfrm>
        </p:spPr>
        <p:txBody>
          <a:bodyPr>
            <a:normAutofit/>
          </a:bodyPr>
          <a:lstStyle>
            <a:lvl1pPr marL="0" indent="0" algn="ctr">
              <a:buNone/>
              <a:defRPr sz="16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59471710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AC53C90-8C33-0C80-CBD4-B3BEE604E231}"/>
              </a:ext>
            </a:extLst>
          </p:cNvPr>
          <p:cNvSpPr>
            <a:spLocks noGrp="1"/>
          </p:cNvSpPr>
          <p:nvPr>
            <p:ph type="title"/>
          </p:nvPr>
        </p:nvSpPr>
        <p:spPr>
          <a:xfrm>
            <a:off x="111758" y="1869103"/>
            <a:ext cx="9337042" cy="4906929"/>
          </a:xfrm>
        </p:spPr>
        <p:txBody>
          <a:bodyPr>
            <a:normAutofit/>
          </a:bodyPr>
          <a:lstStyle>
            <a:lvl1pPr>
              <a:defRPr sz="74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12647" y="137388"/>
            <a:ext cx="2805405" cy="365125"/>
          </a:xfrm>
        </p:spPr>
        <p:txBody>
          <a:bodyPr/>
          <a:lstStyle/>
          <a:p>
            <a:endParaRPr lang="en-US"/>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8893929" y="137388"/>
            <a:ext cx="2202644" cy="365125"/>
          </a:xfrm>
        </p:spPr>
        <p:txBody>
          <a:body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147096" y="137388"/>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67701810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65111" y="105196"/>
            <a:ext cx="9023561" cy="2113392"/>
          </a:xfrm>
        </p:spPr>
        <p:txBody>
          <a:bodyPr anchor="t">
            <a:normAutofit/>
          </a:bodyPr>
          <a:lstStyle>
            <a:lvl1pPr>
              <a:defRPr sz="7200"/>
            </a:lvl1pPr>
          </a:lstStyle>
          <a:p>
            <a:r>
              <a:rPr lang="en-US" dirty="0"/>
              <a:t>Agenda</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12647" y="2484255"/>
            <a:ext cx="8467558" cy="3539514"/>
          </a:xfrm>
        </p:spPr>
        <p:txBody>
          <a:bodyPr>
            <a:normAutofit/>
          </a:bodyPr>
          <a:lstStyle>
            <a:lvl1pPr marL="457200" indent="-457200">
              <a:buFont typeface="+mj-lt"/>
              <a:buAutoNum type="arabicPeriod"/>
              <a:defRPr sz="1800"/>
            </a:lvl1pPr>
            <a:lvl2pPr marL="685800" indent="-457200">
              <a:buFont typeface="+mj-lt"/>
              <a:buAutoNum type="arabicPeriod"/>
              <a:defRPr sz="1600"/>
            </a:lvl2pPr>
            <a:lvl3pPr marL="800100" indent="-342900">
              <a:buFont typeface="+mj-lt"/>
              <a:buAutoNum type="arabicPeriod"/>
              <a:defRPr sz="1400"/>
            </a:lvl3pPr>
            <a:lvl4pPr marL="1028700" indent="-342900">
              <a:buFont typeface="+mj-lt"/>
              <a:buAutoNum type="arabicPeriod"/>
              <a:defRPr sz="1400"/>
            </a:lvl4pPr>
            <a:lvl5pPr marL="1257300" indent="-342900">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2510038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hasCustomPrompt="1"/>
          </p:nvPr>
        </p:nvSpPr>
        <p:spPr>
          <a:xfrm>
            <a:off x="4641011" y="73742"/>
            <a:ext cx="6863496" cy="2220726"/>
          </a:xfrm>
        </p:spPr>
        <p:txBody>
          <a:bodyPr anchor="t">
            <a:normAutofit/>
          </a:bodyPr>
          <a:lstStyle>
            <a:lvl1pPr>
              <a:defRPr sz="7200"/>
            </a:lvl1pPr>
          </a:lstStyle>
          <a:p>
            <a:r>
              <a:rPr lang="en-US" dirty="0"/>
              <a:t>Agenda</a:t>
            </a:r>
          </a:p>
        </p:txBody>
      </p:sp>
      <p:sp>
        <p:nvSpPr>
          <p:cNvPr id="10" name="Picture Placeholder 9">
            <a:extLst>
              <a:ext uri="{FF2B5EF4-FFF2-40B4-BE49-F238E27FC236}">
                <a16:creationId xmlns:a16="http://schemas.microsoft.com/office/drawing/2014/main" id="{DD26684C-23E4-F6A1-5A03-70AE7BEA72CA}"/>
              </a:ext>
            </a:extLst>
          </p:cNvPr>
          <p:cNvSpPr>
            <a:spLocks noGrp="1"/>
          </p:cNvSpPr>
          <p:nvPr>
            <p:ph type="pic" sz="quarter" idx="14" hasCustomPrompt="1"/>
          </p:nvPr>
        </p:nvSpPr>
        <p:spPr>
          <a:xfrm>
            <a:off x="1" y="0"/>
            <a:ext cx="4565591" cy="6858000"/>
          </a:xfrm>
          <a:custGeom>
            <a:avLst/>
            <a:gdLst>
              <a:gd name="connsiteX0" fmla="*/ 0 w 4565591"/>
              <a:gd name="connsiteY0" fmla="*/ 0 h 6858000"/>
              <a:gd name="connsiteX1" fmla="*/ 4565591 w 4565591"/>
              <a:gd name="connsiteY1" fmla="*/ 0 h 6858000"/>
              <a:gd name="connsiteX2" fmla="*/ 4565591 w 4565591"/>
              <a:gd name="connsiteY2" fmla="*/ 6858000 h 6858000"/>
              <a:gd name="connsiteX3" fmla="*/ 0 w 456559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5591" h="6858000">
                <a:moveTo>
                  <a:pt x="0" y="0"/>
                </a:moveTo>
                <a:lnTo>
                  <a:pt x="4565591" y="0"/>
                </a:lnTo>
                <a:lnTo>
                  <a:pt x="4565591"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588000" y="2726267"/>
            <a:ext cx="5916507" cy="3436789"/>
          </a:xfrm>
        </p:spPr>
        <p:txBody>
          <a:bodyPr>
            <a:normAutofit/>
          </a:bodyPr>
          <a:lstStyle>
            <a:lvl1pPr marL="457200" indent="-457200">
              <a:buFont typeface="+mj-lt"/>
              <a:buAutoNum type="arabicPeriod"/>
              <a:defRPr sz="2000"/>
            </a:lvl1pPr>
            <a:lvl2pPr marL="571500" indent="-342900">
              <a:buFont typeface="+mj-lt"/>
              <a:buAutoNum type="arabicPeriod"/>
              <a:defRPr sz="1800"/>
            </a:lvl2pPr>
            <a:lvl3pPr marL="800100" indent="-342900">
              <a:buFont typeface="+mj-lt"/>
              <a:buAutoNum type="arabicPeriod"/>
              <a:defRPr sz="1600"/>
            </a:lvl3pPr>
            <a:lvl4pPr marL="1028700" indent="-342900">
              <a:buFont typeface="+mj-lt"/>
              <a:buAutoNum type="arabicPeriod"/>
              <a:defRPr sz="1400"/>
            </a:lvl4pPr>
            <a:lvl5pPr>
              <a:buFont typeface="+mj-lt"/>
              <a:buAutoNum type="arabicPeriod"/>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5588000" y="6343955"/>
            <a:ext cx="2985400" cy="365125"/>
          </a:xfrm>
        </p:spPr>
        <p:txBody>
          <a:bodyPr/>
          <a:lstStyle/>
          <a:p>
            <a:endParaRPr lang="en-US"/>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a:xfrm>
            <a:off x="9535886" y="6343955"/>
            <a:ext cx="1553108" cy="365125"/>
          </a:xfrm>
        </p:spPr>
        <p:txBody>
          <a:bodyPr/>
          <a:lstStyle/>
          <a:p>
            <a:fld id="{710AE426-CBD1-49BA-A1DA-945CCEE2ED80}" type="datetimeFigureOut">
              <a:rPr lang="en-US" smtClean="0"/>
              <a:t>10/11/2025</a:t>
            </a:fld>
            <a:endParaRPr lang="en-US"/>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0817421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2790911" y="2133600"/>
            <a:ext cx="6623436" cy="1070776"/>
          </a:xfrm>
        </p:spPr>
        <p:txBody>
          <a:bodyPr anchor="b">
            <a:normAutofit/>
          </a:bodyPr>
          <a:lstStyle>
            <a:lvl1pPr algn="ctr">
              <a:defRPr sz="28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7D633F00-464B-3088-812A-40496FD1021A}"/>
              </a:ext>
            </a:extLst>
          </p:cNvPr>
          <p:cNvSpPr>
            <a:spLocks noGrp="1"/>
          </p:cNvSpPr>
          <p:nvPr>
            <p:ph sz="quarter" idx="13"/>
          </p:nvPr>
        </p:nvSpPr>
        <p:spPr>
          <a:xfrm>
            <a:off x="3768786" y="3335364"/>
            <a:ext cx="4659735" cy="1645198"/>
          </a:xfrm>
        </p:spPr>
        <p:txBody>
          <a:bodyPr/>
          <a:lstStyle>
            <a:lvl1pPr marL="0" indent="0" algn="ctr">
              <a:buNone/>
              <a:defRPr/>
            </a:lvl1pPr>
            <a:lvl2pPr marL="228600" indent="0" algn="ctr">
              <a:buNone/>
              <a:defRPr/>
            </a:lvl2pPr>
            <a:lvl3pPr marL="457200" indent="0" algn="ctr">
              <a:buNone/>
              <a:defRPr/>
            </a:lvl3pPr>
            <a:lvl4pPr marL="685800" indent="0" algn="ctr">
              <a:buNone/>
              <a:defRPr/>
            </a:lvl4pPr>
            <a:lvl5pPr marL="9144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19684610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347537" y="1731332"/>
            <a:ext cx="3493858" cy="345689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D42D62A0-8127-CE86-0633-0D65E1E136F7}"/>
              </a:ext>
            </a:extLst>
          </p:cNvPr>
          <p:cNvSpPr>
            <a:spLocks noGrp="1"/>
          </p:cNvSpPr>
          <p:nvPr>
            <p:ph sz="quarter" idx="13"/>
          </p:nvPr>
        </p:nvSpPr>
        <p:spPr>
          <a:xfrm>
            <a:off x="5519738" y="1727014"/>
            <a:ext cx="4956175" cy="34612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5360345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8" y="1388700"/>
            <a:ext cx="3923455" cy="4083580"/>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56011" y="1389134"/>
            <a:ext cx="6045390" cy="40835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85674780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4677" y="1050111"/>
            <a:ext cx="3496147" cy="494066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800600" y="1050111"/>
            <a:ext cx="6775703" cy="494066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33917912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6" y="707549"/>
            <a:ext cx="3349754" cy="2721451"/>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4648200" y="708184"/>
            <a:ext cx="6928103" cy="55148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2044731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156011" y="612648"/>
            <a:ext cx="6426389"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4" name="Picture Placeholder 13">
            <a:extLst>
              <a:ext uri="{FF2B5EF4-FFF2-40B4-BE49-F238E27FC236}">
                <a16:creationId xmlns:a16="http://schemas.microsoft.com/office/drawing/2014/main" id="{0F6718FE-EF5C-5023-A98D-91BFEF2C0337}"/>
              </a:ext>
            </a:extLst>
          </p:cNvPr>
          <p:cNvSpPr>
            <a:spLocks noGrp="1"/>
          </p:cNvSpPr>
          <p:nvPr>
            <p:ph type="pic" sz="quarter" idx="13" hasCustomPrompt="1"/>
          </p:nvPr>
        </p:nvSpPr>
        <p:spPr>
          <a:xfrm>
            <a:off x="0" y="1"/>
            <a:ext cx="4560454" cy="6858000"/>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5157368" y="1978488"/>
            <a:ext cx="6418935" cy="42855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5156010" y="6343955"/>
            <a:ext cx="3364903" cy="365125"/>
          </a:xfrm>
        </p:spPr>
        <p:txBody>
          <a:bodyPr/>
          <a:lstStyle/>
          <a:p>
            <a:endParaRPr lang="en-US"/>
          </a:p>
        </p:txBody>
      </p:sp>
      <p:sp>
        <p:nvSpPr>
          <p:cNvPr id="4" name="Date Placeholder 3">
            <a:extLst>
              <a:ext uri="{FF2B5EF4-FFF2-40B4-BE49-F238E27FC236}">
                <a16:creationId xmlns:a16="http://schemas.microsoft.com/office/drawing/2014/main" id="{1E742B5C-5438-96A4-4A2A-AE939906F8A4}"/>
              </a:ext>
            </a:extLst>
          </p:cNvPr>
          <p:cNvSpPr>
            <a:spLocks noGrp="1"/>
          </p:cNvSpPr>
          <p:nvPr>
            <p:ph type="dt" sz="half" idx="15"/>
          </p:nvPr>
        </p:nvSpPr>
        <p:spPr>
          <a:xfrm>
            <a:off x="9030713" y="6343955"/>
            <a:ext cx="2060808" cy="365125"/>
          </a:xfrm>
        </p:spPr>
        <p:txBody>
          <a:bodyPr/>
          <a:lstStyle/>
          <a:p>
            <a:fld id="{710AE426-CBD1-49BA-A1DA-945CCEE2ED80}" type="datetimeFigureOut">
              <a:rPr lang="en-US" smtClean="0"/>
              <a:t>10/11/2025</a:t>
            </a:fld>
            <a:endParaRPr lang="en-US"/>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663157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609600"/>
            <a:ext cx="6339541" cy="114300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774" y="1975104"/>
            <a:ext cx="6339414" cy="422899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12774" y="6346865"/>
            <a:ext cx="2805405" cy="365125"/>
          </a:xfrm>
        </p:spPr>
        <p:txBody>
          <a:bodyPr/>
          <a:lstStyle/>
          <a:p>
            <a:endParaRPr lang="en-US"/>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4886895" y="6346865"/>
            <a:ext cx="1607270" cy="365125"/>
          </a:xfrm>
        </p:spPr>
        <p:txBody>
          <a:bodyPr/>
          <a:lstStyle/>
          <a:p>
            <a:fld id="{710AE426-CBD1-49BA-A1DA-945CCEE2ED80}" type="datetimeFigureOut">
              <a:rPr lang="en-US" smtClean="0"/>
              <a:t>10/11/2025</a:t>
            </a:fld>
            <a:endParaRPr lang="en-US"/>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6530932" y="6346865"/>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624831" y="0"/>
            <a:ext cx="4567169"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31564305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632168" y="474177"/>
            <a:ext cx="6950232"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402336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18B74D6-CD72-B859-C229-60DB988B25E3}"/>
              </a:ext>
            </a:extLst>
          </p:cNvPr>
          <p:cNvSpPr>
            <a:spLocks noGrp="1"/>
          </p:cNvSpPr>
          <p:nvPr>
            <p:ph sz="quarter" idx="14"/>
          </p:nvPr>
        </p:nvSpPr>
        <p:spPr>
          <a:xfrm>
            <a:off x="4632168" y="1627632"/>
            <a:ext cx="6950232" cy="46862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5446E4B5-B423-4137-0255-D68BAC85BE95}"/>
              </a:ext>
            </a:extLst>
          </p:cNvPr>
          <p:cNvSpPr>
            <a:spLocks noGrp="1"/>
          </p:cNvSpPr>
          <p:nvPr>
            <p:ph type="ftr" sz="quarter" idx="16"/>
          </p:nvPr>
        </p:nvSpPr>
        <p:spPr>
          <a:xfrm>
            <a:off x="4632168" y="6343955"/>
            <a:ext cx="3422906" cy="365125"/>
          </a:xfrm>
        </p:spPr>
        <p:txBody>
          <a:bodyPr/>
          <a:lstStyle/>
          <a:p>
            <a:endParaRPr lang="en-US"/>
          </a:p>
        </p:txBody>
      </p:sp>
      <p:sp>
        <p:nvSpPr>
          <p:cNvPr id="3" name="Date Placeholder 2">
            <a:extLst>
              <a:ext uri="{FF2B5EF4-FFF2-40B4-BE49-F238E27FC236}">
                <a16:creationId xmlns:a16="http://schemas.microsoft.com/office/drawing/2014/main" id="{F0BFB53A-8FDF-F131-DCF2-D7BECE95381F}"/>
              </a:ext>
            </a:extLst>
          </p:cNvPr>
          <p:cNvSpPr>
            <a:spLocks noGrp="1"/>
          </p:cNvSpPr>
          <p:nvPr>
            <p:ph type="dt" sz="half" idx="15"/>
          </p:nvPr>
        </p:nvSpPr>
        <p:spPr>
          <a:xfrm>
            <a:off x="8945699" y="6343955"/>
            <a:ext cx="2150873" cy="365125"/>
          </a:xfrm>
        </p:spPr>
        <p:txBody>
          <a:bodyPr/>
          <a:lstStyle/>
          <a:p>
            <a:fld id="{710AE426-CBD1-49BA-A1DA-945CCEE2ED80}" type="datetimeFigureOut">
              <a:rPr lang="en-US" smtClean="0"/>
              <a:t>10/11/2025</a:t>
            </a:fld>
            <a:endParaRPr lang="en-US"/>
          </a:p>
        </p:txBody>
      </p:sp>
      <p:sp>
        <p:nvSpPr>
          <p:cNvPr id="9" name="Slide Number Placeholder 8">
            <a:extLst>
              <a:ext uri="{FF2B5EF4-FFF2-40B4-BE49-F238E27FC236}">
                <a16:creationId xmlns:a16="http://schemas.microsoft.com/office/drawing/2014/main" id="{79FEC5A8-0DCB-9EEB-83E2-0411804C543D}"/>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5795356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475488"/>
            <a:ext cx="6858000"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627632"/>
            <a:ext cx="6858000" cy="453537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6870"/>
            <a:ext cx="280540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4115853" y="6346870"/>
            <a:ext cx="2925587" cy="365125"/>
          </a:xfrm>
        </p:spPr>
        <p:txBody>
          <a:bodyPr/>
          <a:lstStyle/>
          <a:p>
            <a:fld id="{710AE426-CBD1-49BA-A1DA-945CCEE2ED80}" type="datetimeFigureOut">
              <a:rPr lang="en-US" smtClean="0"/>
              <a:t>10/11/2025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7041440" y="6346870"/>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8091732" y="0"/>
            <a:ext cx="4100267"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86972605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094553" y="423332"/>
            <a:ext cx="4477512" cy="1328932"/>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6492240"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FF0220E-48F8-B4D9-19DE-7B457C3C221C}"/>
              </a:ext>
            </a:extLst>
          </p:cNvPr>
          <p:cNvSpPr>
            <a:spLocks noGrp="1"/>
          </p:cNvSpPr>
          <p:nvPr>
            <p:ph sz="quarter" idx="14"/>
          </p:nvPr>
        </p:nvSpPr>
        <p:spPr>
          <a:xfrm>
            <a:off x="7104889" y="1975104"/>
            <a:ext cx="4477512" cy="42825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7104889" y="6343955"/>
            <a:ext cx="2105099"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375067" y="6343955"/>
            <a:ext cx="1772029" cy="365125"/>
          </a:xfrm>
        </p:spPr>
        <p:txBody>
          <a:bodyPr/>
          <a:lstStyle>
            <a:lvl1pPr>
              <a:defRPr>
                <a:solidFill>
                  <a:schemeClr val="tx1"/>
                </a:solidFill>
                <a:effectLst/>
              </a:defRPr>
            </a:lvl1pPr>
          </a:lstStyle>
          <a:p>
            <a:fld id="{710AE426-CBD1-49BA-A1DA-945CCEE2ED80}" type="datetimeFigureOut">
              <a:rPr lang="en-US" smtClean="0"/>
              <a:t>10/11/2025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057338596"/>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9" y="420623"/>
            <a:ext cx="4494189" cy="1325880"/>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2775" y="1975104"/>
            <a:ext cx="4494063" cy="41569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2776" y="6343955"/>
            <a:ext cx="2098620" cy="365125"/>
          </a:xfrm>
        </p:spPr>
        <p:txBody>
          <a:bodyPr/>
          <a:lstStyle>
            <a:lvl1pPr>
              <a:defRPr>
                <a:solidFill>
                  <a:schemeClr val="tx1"/>
                </a:solidFill>
                <a:effectLst/>
              </a:defRPr>
            </a:lvl1p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213651" y="6343955"/>
            <a:ext cx="1573037" cy="365125"/>
          </a:xfrm>
        </p:spPr>
        <p:txBody>
          <a:bodyPr/>
          <a:lstStyle/>
          <a:p>
            <a:fld id="{710AE426-CBD1-49BA-A1DA-945CCEE2ED80}" type="datetimeFigureOut">
              <a:rPr lang="en-US" smtClean="0"/>
              <a:t>10/11/2025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4796658" y="6343955"/>
            <a:ext cx="429207" cy="365125"/>
          </a:xfrm>
        </p:spPr>
        <p:txBody>
          <a:bodyPr/>
          <a:lstStyle>
            <a:lvl1pPr>
              <a:defRPr>
                <a:solidFill>
                  <a:schemeClr val="tx1"/>
                </a:solidFill>
                <a:effectLst/>
              </a:defRPr>
            </a:lvl1p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5658928" y="0"/>
            <a:ext cx="653307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348715211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927848" y="425503"/>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7296028"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7927848" y="2315569"/>
            <a:ext cx="3657600" cy="385464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7918704" y="6343955"/>
            <a:ext cx="2300050"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10224724" y="6343955"/>
            <a:ext cx="922372" cy="365125"/>
          </a:xfrm>
        </p:spPr>
        <p:txBody>
          <a:bodyPr/>
          <a:lstStyle/>
          <a:p>
            <a:fld id="{710AE426-CBD1-49BA-A1DA-945CCEE2ED80}" type="datetimeFigureOut">
              <a:rPr lang="en-US" smtClean="0"/>
              <a:t>10/11/2025</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23701901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429768"/>
            <a:ext cx="3657600" cy="1667226"/>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615823" y="2315569"/>
            <a:ext cx="3657600" cy="3814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15697" y="6343955"/>
            <a:ext cx="1637337" cy="365125"/>
          </a:xfrm>
        </p:spPr>
        <p:txBody>
          <a:bodyPr/>
          <a:lstStyle/>
          <a:p>
            <a:endParaRPr lang="en-US"/>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2703447" y="6343955"/>
            <a:ext cx="949766" cy="365125"/>
          </a:xfrm>
        </p:spPr>
        <p:txBody>
          <a:bodyPr/>
          <a:lstStyle/>
          <a:p>
            <a:fld id="{710AE426-CBD1-49BA-A1DA-945CCEE2ED80}" type="datetimeFigureOut">
              <a:rPr lang="en-US" smtClean="0"/>
              <a:t>10/11/2025</a:t>
            </a:fld>
            <a:endParaRPr lang="en-US"/>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3653213" y="6343955"/>
            <a:ext cx="429207" cy="365125"/>
          </a:xfrm>
        </p:spPr>
        <p:txBody>
          <a:bodyPr/>
          <a:lstStyle/>
          <a:p>
            <a:fld id="{0B3A8078-5A32-4B09-ABA5-7ABEFD22E08A}" type="slidenum">
              <a:rPr lang="en-US" smtClean="0"/>
              <a:t>‹#›</a:t>
            </a:fld>
            <a:endParaRPr lang="en-US"/>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895088" y="0"/>
            <a:ext cx="7296912" cy="6858000"/>
          </a:xfrm>
          <a:blipFill dpi="0" rotWithShape="1">
            <a:blip r:embed="rId2">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194110820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8888061"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0"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8889055"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8888061" y="6343955"/>
            <a:ext cx="1404460"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0292522" y="6343955"/>
            <a:ext cx="854573" cy="365125"/>
          </a:xfrm>
        </p:spPr>
        <p:txBody>
          <a:bodyPr/>
          <a:lstStyle>
            <a:lvl1pPr>
              <a:defRPr>
                <a:solidFill>
                  <a:schemeClr val="tx1"/>
                </a:solidFill>
                <a:effectLst/>
              </a:defRPr>
            </a:lvl1pPr>
          </a:lstStyle>
          <a:p>
            <a:fld id="{710AE426-CBD1-49BA-A1DA-945CCEE2ED80}" type="datetimeFigureOut">
              <a:rPr lang="en-US" smtClean="0"/>
              <a:t>10/11/2025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7096" y="6343955"/>
            <a:ext cx="429207"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5461151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5697" y="929554"/>
            <a:ext cx="2699254" cy="1858941"/>
          </a:xfrm>
        </p:spPr>
        <p:txBody>
          <a:bodyPr vert="horz" lIns="91440" tIns="45720" rIns="91440" bIns="45720" rtlCol="0" anchor="b">
            <a:normAutofit/>
          </a:bodyPr>
          <a:lstStyle>
            <a:lvl1pPr>
              <a:defRPr lang="en-US" sz="2500"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616691" y="3011335"/>
            <a:ext cx="2693346" cy="2656250"/>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15697" y="6343955"/>
            <a:ext cx="1404460" cy="365125"/>
          </a:xfrm>
        </p:spPr>
        <p:txBody>
          <a:bodyPr/>
          <a:lstStyle/>
          <a:p>
            <a:endParaRPr lang="en-US"/>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1606165" y="6343955"/>
            <a:ext cx="1597578" cy="365125"/>
          </a:xfrm>
        </p:spPr>
        <p:txBody>
          <a:bodyPr/>
          <a:lstStyle>
            <a:lvl1pPr>
              <a:defRPr>
                <a:solidFill>
                  <a:schemeClr val="tx1"/>
                </a:solidFill>
                <a:effectLst/>
              </a:defRPr>
            </a:lvl1pPr>
          </a:lstStyle>
          <a:p>
            <a:fld id="{710AE426-CBD1-49BA-A1DA-945CCEE2ED80}" type="datetimeFigureOut">
              <a:rPr lang="en-US" smtClean="0"/>
              <a:t>10/11/2025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3203743" y="6343955"/>
            <a:ext cx="429207" cy="365125"/>
          </a:xfrm>
        </p:spPr>
        <p:txBody>
          <a:bodyPr/>
          <a:lstStyle/>
          <a:p>
            <a:fld id="{0B3A8078-5A32-4B09-ABA5-7ABEFD22E08A}" type="slidenum">
              <a:rPr lang="en-US" smtClean="0"/>
              <a:t>‹#›</a:t>
            </a:fld>
            <a:endParaRPr lang="en-US"/>
          </a:p>
        </p:txBody>
      </p:sp>
      <p:sp>
        <p:nvSpPr>
          <p:cNvPr id="10" name="Picture Placeholder 9">
            <a:extLst>
              <a:ext uri="{FF2B5EF4-FFF2-40B4-BE49-F238E27FC236}">
                <a16:creationId xmlns:a16="http://schemas.microsoft.com/office/drawing/2014/main" id="{3CA946DA-5AE8-39E2-3ADD-B8F06308C1C6}"/>
              </a:ext>
            </a:extLst>
          </p:cNvPr>
          <p:cNvSpPr>
            <a:spLocks noGrp="1"/>
          </p:cNvSpPr>
          <p:nvPr>
            <p:ph type="pic" sz="quarter" idx="13" hasCustomPrompt="1"/>
          </p:nvPr>
        </p:nvSpPr>
        <p:spPr>
          <a:xfrm>
            <a:off x="3865677" y="0"/>
            <a:ext cx="8326323" cy="68580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14265092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5012268"/>
            <a:ext cx="4019522" cy="1127275"/>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463513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5156009" y="5012267"/>
            <a:ext cx="6426391" cy="1241576"/>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9892870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4162318"/>
            <a:ext cx="3044954" cy="1892808"/>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12192000" cy="3778270"/>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4162318"/>
            <a:ext cx="7460029" cy="209152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980735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6" y="3712508"/>
            <a:ext cx="3014218" cy="2019782"/>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41064" y="1"/>
            <a:ext cx="10734656" cy="3260034"/>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3680652"/>
            <a:ext cx="7460029" cy="2558783"/>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0607471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09600" y="707477"/>
            <a:ext cx="3021873" cy="1773540"/>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 y="3135210"/>
            <a:ext cx="2791027" cy="365125"/>
          </a:xfrm>
        </p:spPr>
        <p:txBody>
          <a:bodyPr/>
          <a:lstStyle/>
          <a:p>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2370" y="707476"/>
            <a:ext cx="7460029" cy="2330455"/>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9565894" y="3135210"/>
            <a:ext cx="1559379" cy="365125"/>
          </a:xfrm>
        </p:spPr>
        <p:txBody>
          <a:bodyPr/>
          <a:lstStyle/>
          <a:p>
            <a:fld id="{710AE426-CBD1-49BA-A1DA-945CCEE2ED80}" type="datetimeFigureOut">
              <a:rPr lang="en-US" smtClean="0"/>
              <a:t>10/11/2025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145151" y="3135210"/>
            <a:ext cx="429207" cy="365125"/>
          </a:xfrm>
        </p:spPr>
        <p:txBody>
          <a:bodyPr/>
          <a:lstStyle/>
          <a:p>
            <a:fld id="{0B3A8078-5A32-4B09-ABA5-7ABEFD22E08A}" type="slidenum">
              <a:rPr lang="en-US" smtClean="0"/>
              <a:t>‹#›</a:t>
            </a:fld>
            <a:endParaRPr lang="en-US"/>
          </a:p>
        </p:txBody>
      </p:sp>
      <p:sp>
        <p:nvSpPr>
          <p:cNvPr id="4" name="Picture Placeholder 3">
            <a:extLst>
              <a:ext uri="{FF2B5EF4-FFF2-40B4-BE49-F238E27FC236}">
                <a16:creationId xmlns:a16="http://schemas.microsoft.com/office/drawing/2014/main" id="{EDB92F6E-55FC-C88B-734D-26D3B9923E69}"/>
              </a:ext>
            </a:extLst>
          </p:cNvPr>
          <p:cNvSpPr>
            <a:spLocks noGrp="1"/>
          </p:cNvSpPr>
          <p:nvPr>
            <p:ph type="pic" sz="quarter" idx="13" hasCustomPrompt="1"/>
          </p:nvPr>
        </p:nvSpPr>
        <p:spPr>
          <a:xfrm>
            <a:off x="-1" y="3636524"/>
            <a:ext cx="12192000" cy="3221477"/>
          </a:xfrm>
          <a:custGeom>
            <a:avLst/>
            <a:gdLst>
              <a:gd name="connsiteX0" fmla="*/ 0 w 12192000"/>
              <a:gd name="connsiteY0" fmla="*/ 0 h 3221477"/>
              <a:gd name="connsiteX1" fmla="*/ 12192000 w 12192000"/>
              <a:gd name="connsiteY1" fmla="*/ 0 h 3221477"/>
              <a:gd name="connsiteX2" fmla="*/ 12192000 w 12192000"/>
              <a:gd name="connsiteY2" fmla="*/ 3221477 h 3221477"/>
              <a:gd name="connsiteX3" fmla="*/ 0 w 12192000"/>
              <a:gd name="connsiteY3" fmla="*/ 3221477 h 3221477"/>
            </a:gdLst>
            <a:ahLst/>
            <a:cxnLst>
              <a:cxn ang="0">
                <a:pos x="connsiteX0" y="connsiteY0"/>
              </a:cxn>
              <a:cxn ang="0">
                <a:pos x="connsiteX1" y="connsiteY1"/>
              </a:cxn>
              <a:cxn ang="0">
                <a:pos x="connsiteX2" y="connsiteY2"/>
              </a:cxn>
              <a:cxn ang="0">
                <a:pos x="connsiteX3" y="connsiteY3"/>
              </a:cxn>
            </a:cxnLst>
            <a:rect l="l" t="t" r="r" b="b"/>
            <a:pathLst>
              <a:path w="12192000" h="3221477">
                <a:moveTo>
                  <a:pt x="0" y="0"/>
                </a:moveTo>
                <a:lnTo>
                  <a:pt x="12192000" y="0"/>
                </a:lnTo>
                <a:lnTo>
                  <a:pt x="12192000" y="3221477"/>
                </a:lnTo>
                <a:lnTo>
                  <a:pt x="0" y="3221477"/>
                </a:lnTo>
                <a:close/>
              </a:path>
            </a:pathLst>
          </a:custGeom>
          <a:blipFill dpi="0" rotWithShape="1">
            <a:blip r:embed="rId2">
              <a:alphaModFix amt="60000"/>
            </a:blip>
            <a:srcRect/>
            <a:stretch>
              <a:fillRect/>
            </a:stretch>
          </a:blipFill>
        </p:spPr>
        <p:txBody>
          <a:bodyPr wrap="square">
            <a:noAutofit/>
          </a:bodyPr>
          <a:lstStyle>
            <a:lvl1pPr marL="0" indent="0">
              <a:buNone/>
              <a:defRPr/>
            </a:lvl1pPr>
          </a:lstStyle>
          <a:p>
            <a:r>
              <a:rPr lang="en-US" dirty="0"/>
              <a:t> </a:t>
            </a:r>
          </a:p>
        </p:txBody>
      </p:sp>
    </p:spTree>
    <p:extLst>
      <p:ext uri="{BB962C8B-B14F-4D97-AF65-F5344CB8AC3E}">
        <p14:creationId xmlns:p14="http://schemas.microsoft.com/office/powerpoint/2010/main" val="272047532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5">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8" y="1712912"/>
            <a:ext cx="4485564" cy="461368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055525"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3232969" y="6343955"/>
            <a:ext cx="1449697" cy="365125"/>
          </a:xfrm>
        </p:spPr>
        <p:txBody>
          <a:bodyPr/>
          <a:lstStyle/>
          <a:p>
            <a:fld id="{710AE426-CBD1-49BA-A1DA-945CCEE2ED80}" type="datetimeFigureOut">
              <a:rPr lang="en-US" smtClean="0"/>
              <a:t>10/11/2025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4682667" y="6343955"/>
            <a:ext cx="443060" cy="365125"/>
          </a:xfrm>
        </p:spPr>
        <p:txBody>
          <a:bodyPr/>
          <a:lstStyle/>
          <a:p>
            <a:fld id="{0B3A8078-5A32-4B09-ABA5-7ABEFD22E08A}" type="slidenum">
              <a:rPr lang="en-US" smtClean="0"/>
              <a:t>‹#›</a:t>
            </a:fld>
            <a:endParaRPr lang="en-US"/>
          </a:p>
        </p:txBody>
      </p:sp>
      <p:sp>
        <p:nvSpPr>
          <p:cNvPr id="5" name="Picture Placeholder 4">
            <a:extLst>
              <a:ext uri="{FF2B5EF4-FFF2-40B4-BE49-F238E27FC236}">
                <a16:creationId xmlns:a16="http://schemas.microsoft.com/office/drawing/2014/main" id="{B1EBBFE7-73C3-3FA5-7EE3-B7845CF7CAEC}"/>
              </a:ext>
            </a:extLst>
          </p:cNvPr>
          <p:cNvSpPr>
            <a:spLocks noGrp="1"/>
          </p:cNvSpPr>
          <p:nvPr>
            <p:ph type="pic" sz="quarter" idx="18" hasCustomPrompt="1"/>
          </p:nvPr>
        </p:nvSpPr>
        <p:spPr>
          <a:xfrm>
            <a:off x="5659438" y="1712913"/>
            <a:ext cx="6532562" cy="5145087"/>
          </a:xfrm>
          <a:blipFill dpi="0" rotWithShape="1">
            <a:blip r:embed="rId3">
              <a:alphaModFix amt="60000"/>
            </a:blip>
            <a:srcRect/>
            <a:stretch>
              <a:fillRect/>
            </a:stretch>
          </a:blipFill>
        </p:spPr>
        <p:txBody>
          <a:bodyPr/>
          <a:lstStyle>
            <a:lvl1pPr marL="0" indent="0">
              <a:buNone/>
              <a:defRPr/>
            </a:lvl1pPr>
          </a:lstStyle>
          <a:p>
            <a:r>
              <a:rPr lang="en-US" dirty="0"/>
              <a:t> </a:t>
            </a:r>
          </a:p>
        </p:txBody>
      </p:sp>
    </p:spTree>
    <p:extLst>
      <p:ext uri="{BB962C8B-B14F-4D97-AF65-F5344CB8AC3E}">
        <p14:creationId xmlns:p14="http://schemas.microsoft.com/office/powerpoint/2010/main" val="2088838855"/>
      </p:ext>
    </p:extLst>
  </p:cSld>
  <p:clrMapOvr>
    <a:overrideClrMapping bg1="lt1" tx1="dk1" bg2="lt2" tx2="dk2" accent1="accent1" accent2="accent2" accent3="accent3" accent4="accent4" accent5="accent5" accent6="accent6" hlink="hlink" folHlink="folHlink"/>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9341"/>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612647" y="1912398"/>
            <a:ext cx="4637269" cy="42076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12647" y="6343955"/>
            <a:ext cx="2642932" cy="365125"/>
          </a:xfrm>
        </p:spPr>
        <p:txBody>
          <a:bodyPr/>
          <a:lstStyle/>
          <a:p>
            <a:endParaRPr lang="en-US"/>
          </a:p>
        </p:txBody>
      </p:sp>
      <p:sp>
        <p:nvSpPr>
          <p:cNvPr id="5" name="Picture Placeholder 4">
            <a:extLst>
              <a:ext uri="{FF2B5EF4-FFF2-40B4-BE49-F238E27FC236}">
                <a16:creationId xmlns:a16="http://schemas.microsoft.com/office/drawing/2014/main" id="{EC8422D5-19BC-1CA0-FD0B-D86260BAA322}"/>
              </a:ext>
            </a:extLst>
          </p:cNvPr>
          <p:cNvSpPr>
            <a:spLocks noGrp="1"/>
          </p:cNvSpPr>
          <p:nvPr>
            <p:ph type="pic" sz="quarter" idx="18" hasCustomPrompt="1"/>
          </p:nvPr>
        </p:nvSpPr>
        <p:spPr>
          <a:xfrm>
            <a:off x="5737221" y="1912938"/>
            <a:ext cx="5741992" cy="4224337"/>
          </a:xfrm>
          <a:blipFill>
            <a:blip r:embed="rId2">
              <a:alphaModFix amt="60000"/>
            </a:blip>
            <a:stretch>
              <a:fillRect/>
            </a:stretch>
          </a:blipFill>
        </p:spPr>
        <p:txBody>
          <a:bodyPr/>
          <a:lstStyle>
            <a:lvl1pPr marL="0" indent="0">
              <a:buNone/>
              <a:defRPr/>
            </a:lvl1pPr>
          </a:lstStyle>
          <a:p>
            <a:r>
              <a:rPr lang="en-US" dirty="0"/>
              <a:t> </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86595" y="6343955"/>
            <a:ext cx="1449697" cy="365125"/>
          </a:xfrm>
        </p:spPr>
        <p:txBody>
          <a:bodyPr/>
          <a:lstStyle/>
          <a:p>
            <a:fld id="{710AE426-CBD1-49BA-A1DA-945CCEE2ED80}" type="datetimeFigureOut">
              <a:rPr lang="en-US" smtClean="0"/>
              <a:t>10/11/2025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36293" y="6343955"/>
            <a:ext cx="443060"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38042386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557784"/>
            <a:ext cx="10969753" cy="932688"/>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5" name="Picture Placeholder 4">
            <a:extLst>
              <a:ext uri="{FF2B5EF4-FFF2-40B4-BE49-F238E27FC236}">
                <a16:creationId xmlns:a16="http://schemas.microsoft.com/office/drawing/2014/main" id="{AA37C0C1-9469-8309-7EC0-2377516265CC}"/>
              </a:ext>
            </a:extLst>
          </p:cNvPr>
          <p:cNvSpPr>
            <a:spLocks noGrp="1"/>
          </p:cNvSpPr>
          <p:nvPr>
            <p:ph type="pic" sz="quarter" idx="18" hasCustomPrompt="1"/>
          </p:nvPr>
        </p:nvSpPr>
        <p:spPr>
          <a:xfrm>
            <a:off x="0" y="1712913"/>
            <a:ext cx="6532563" cy="5145087"/>
          </a:xfrm>
          <a:blipFill>
            <a:blip r:embed="rId2">
              <a:alphaModFix amt="6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7103255" y="1712911"/>
            <a:ext cx="4479145" cy="46177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7103254" y="6343955"/>
            <a:ext cx="2144113" cy="365125"/>
          </a:xfrm>
        </p:spPr>
        <p:txBody>
          <a:bodyPr/>
          <a:lstStyle/>
          <a:p>
            <a:endParaRPr lang="en-US"/>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9698655" y="6343955"/>
            <a:ext cx="1449697" cy="365125"/>
          </a:xfrm>
        </p:spPr>
        <p:txBody>
          <a:bodyPr/>
          <a:lstStyle/>
          <a:p>
            <a:fld id="{710AE426-CBD1-49BA-A1DA-945CCEE2ED80}" type="datetimeFigureOut">
              <a:rPr lang="en-US" smtClean="0"/>
              <a:t>10/11/2025</a:t>
            </a:fld>
            <a:endParaRPr lang="en-US"/>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1125200" y="6343955"/>
            <a:ext cx="443060" cy="365125"/>
          </a:xfrm>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15862973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706802"/>
            <a:ext cx="4672584" cy="1269482"/>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20468" y="2173850"/>
            <a:ext cx="4564763" cy="3963682"/>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5905563" y="732155"/>
            <a:ext cx="5676838" cy="5405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17691119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7" y="709098"/>
            <a:ext cx="3696859" cy="1316347"/>
          </a:xfrm>
        </p:spPr>
        <p:txBody>
          <a:bodyPr vert="horz" lIns="91440" tIns="45720" rIns="91440" bIns="45720" rtlCol="0" anchor="t">
            <a:normAutofit/>
          </a:bodyPr>
          <a:lstStyle>
            <a:lvl1pPr>
              <a:defRPr lang="en-US" sz="2500" dirty="0"/>
            </a:lvl1pPr>
          </a:lstStyle>
          <a:p>
            <a:pPr lvl="0"/>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731521" y="2295145"/>
            <a:ext cx="3540760" cy="3853758"/>
          </a:xfrm>
          <a:blipFill dpi="0" rotWithShape="1">
            <a:blip r:embed="rId2">
              <a:alphaModFix amt="60000"/>
            </a:blip>
            <a:srcRect/>
            <a:stretch>
              <a:fillRect/>
            </a:stretch>
          </a:blipFill>
        </p:spPr>
        <p:txBody>
          <a:bodyPr/>
          <a:lstStyle>
            <a:lvl1pPr marL="0" indent="0">
              <a:buNone/>
              <a:defRPr/>
            </a:lvl1pPr>
          </a:lstStyle>
          <a:p>
            <a:r>
              <a:rPr lang="en-US" dirty="0"/>
              <a:t> </a:t>
            </a:r>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933150" y="709098"/>
            <a:ext cx="6644488" cy="543980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895859183"/>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710AE426-CBD1-49BA-A1DA-945CCEE2ED80}" type="datetimeFigureOut">
              <a:rPr lang="en-US" smtClean="0"/>
              <a:t>10/11/2025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2723753909"/>
      </p:ext>
    </p:extLst>
  </p:cSld>
  <p:clrMapOvr>
    <a:overrideClrMapping bg1="dk1" tx1="lt1" bg2="dk2" tx2="lt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953000"/>
            <a:ext cx="9762068" cy="1236133"/>
          </a:xfrm>
        </p:spPr>
        <p:txBody>
          <a:bodyPr anchor="ctr">
            <a:normAutofit/>
          </a:bodyPr>
          <a:lstStyle>
            <a:lvl1pPr algn="ctr">
              <a:lnSpc>
                <a:spcPct val="110000"/>
              </a:lnSpc>
              <a:defRPr sz="26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787400"/>
            <a:ext cx="10543032" cy="4682067"/>
          </a:xfrm>
        </p:spPr>
        <p:txBody>
          <a:bodyPr anchor="b">
            <a:normAutofit/>
          </a:bodyPr>
          <a:lstStyle>
            <a:lvl1pPr marL="0" indent="0" algn="ctr">
              <a:lnSpc>
                <a:spcPct val="90000"/>
              </a:lnSpc>
              <a:buNone/>
              <a:defRPr sz="33500" b="1">
                <a:solidFill>
                  <a:schemeClr val="tx1"/>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710AE426-CBD1-49BA-A1DA-945CCEE2ED80}" type="datetimeFigureOut">
              <a:rPr lang="en-US" smtClean="0"/>
              <a:t>10/11/2025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4258718639"/>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1219199" y="4893733"/>
            <a:ext cx="9762068" cy="1059806"/>
          </a:xfrm>
        </p:spPr>
        <p:txBody>
          <a:bodyPr anchor="ctr">
            <a:normAutofit/>
          </a:bodyPr>
          <a:lstStyle>
            <a:lvl1pPr algn="ctr">
              <a:lnSpc>
                <a:spcPct val="110000"/>
              </a:lnSpc>
              <a:defRPr sz="2600" b="0">
                <a:solidFill>
                  <a:schemeClr val="accent1">
                    <a:lumMod val="75000"/>
                  </a:schemeClr>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484094"/>
            <a:ext cx="10543032" cy="4536141"/>
          </a:xfrm>
        </p:spPr>
        <p:txBody>
          <a:bodyPr anchor="b">
            <a:normAutofit/>
          </a:bodyPr>
          <a:lstStyle>
            <a:lvl1pPr marL="0" indent="0" algn="ctr">
              <a:lnSpc>
                <a:spcPct val="90000"/>
              </a:lnSpc>
              <a:buNone/>
              <a:defRPr sz="27000" b="1">
                <a:solidFill>
                  <a:schemeClr val="accent1">
                    <a:lumMod val="75000"/>
                  </a:schemeClr>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6542112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4">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2377440" y="4809744"/>
            <a:ext cx="7525512" cy="1269323"/>
          </a:xfrm>
        </p:spPr>
        <p:txBody>
          <a:bodyPr>
            <a:normAutofit/>
          </a:bodyPr>
          <a:lstStyle>
            <a:lvl1pPr algn="ctr">
              <a:lnSpc>
                <a:spcPct val="110000"/>
              </a:lnSpc>
              <a:defRPr sz="2800" b="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822960" y="716282"/>
            <a:ext cx="10543032" cy="4206240"/>
          </a:xfrm>
        </p:spPr>
        <p:txBody>
          <a:bodyPr anchor="b">
            <a:normAutofit/>
          </a:bodyPr>
          <a:lstStyle>
            <a:lvl1pPr marL="0" indent="0" algn="ctr">
              <a:lnSpc>
                <a:spcPct val="90000"/>
              </a:lnSpc>
              <a:buNone/>
              <a:defRPr sz="27800" b="1">
                <a:solidFill>
                  <a:schemeClr val="tx1"/>
                </a:solidFill>
                <a:latin typeface="+mj-lt"/>
              </a:defRPr>
            </a:lvl1pPr>
          </a:lstStyle>
          <a:p>
            <a:pPr lvl="0"/>
            <a:r>
              <a:rPr lang="en-US" dirty="0"/>
              <a:t>##%</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63348333"/>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4" y="42335"/>
            <a:ext cx="11517039"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59655180"/>
      </p:ext>
    </p:extLst>
  </p:cSld>
  <p:clrMapOvr>
    <a:overrideClrMapping bg1="dk1" tx1="lt1" bg2="dk2" tx2="lt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59265" y="42335"/>
            <a:ext cx="11517038" cy="6172200"/>
          </a:xfrm>
        </p:spPr>
        <p:txBody>
          <a:bodyPr anchor="t">
            <a:normAutofit/>
          </a:bodyPr>
          <a:lstStyle>
            <a:lvl1pPr marL="0" indent="0">
              <a:lnSpc>
                <a:spcPct val="90000"/>
              </a:lnSpc>
              <a:buNone/>
              <a:defRPr sz="8000" b="1"/>
            </a:lvl1pPr>
            <a:lvl2pPr marL="228600" indent="0">
              <a:lnSpc>
                <a:spcPct val="90000"/>
              </a:lnSpc>
              <a:buNone/>
              <a:defRPr sz="7200" b="1"/>
            </a:lvl2pPr>
            <a:lvl3pPr marL="457200" indent="0">
              <a:lnSpc>
                <a:spcPct val="90000"/>
              </a:lnSpc>
              <a:buNone/>
              <a:defRPr sz="6600" b="1"/>
            </a:lvl3pPr>
            <a:lvl4pPr marL="685800" indent="0">
              <a:lnSpc>
                <a:spcPct val="90000"/>
              </a:lnSpc>
              <a:buNone/>
              <a:defRPr sz="6000" b="1"/>
            </a:lvl4pPr>
            <a:lvl5pPr marL="914400" indent="0">
              <a:lnSpc>
                <a:spcPct val="90000"/>
              </a:lnSpc>
              <a:buNone/>
              <a:defRPr sz="54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409830325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Statem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12647" y="137160"/>
            <a:ext cx="2805405" cy="365125"/>
          </a:xfrm>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a:xfrm>
            <a:off x="8893929" y="137160"/>
            <a:ext cx="2202644" cy="365125"/>
          </a:xfrm>
        </p:spPr>
        <p:txBody>
          <a:bodyPr/>
          <a:lstStyle/>
          <a:p>
            <a:fld id="{710AE426-CBD1-49BA-A1DA-945CCEE2ED80}" type="datetimeFigureOut">
              <a:rPr lang="en-US" smtClean="0"/>
              <a:t>10/11/2025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a:xfrm>
            <a:off x="11147096" y="137160"/>
            <a:ext cx="429207" cy="365125"/>
          </a:xfrm>
        </p:spPr>
        <p:txBody>
          <a:bodyPr/>
          <a:lstStyle/>
          <a:p>
            <a:fld id="{0B3A8078-5A32-4B09-ABA5-7ABEFD22E08A}"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09725" y="755374"/>
            <a:ext cx="10872216" cy="6019229"/>
          </a:xfrm>
        </p:spPr>
        <p:txBody>
          <a:bodyPr anchor="b">
            <a:normAutofit/>
          </a:bodyPr>
          <a:lstStyle>
            <a:lvl1pPr marL="0" indent="0">
              <a:lnSpc>
                <a:spcPct val="90000"/>
              </a:lnSpc>
              <a:buNone/>
              <a:defRPr sz="7200" b="1"/>
            </a:lvl1pPr>
            <a:lvl2pPr marL="228600" indent="0">
              <a:lnSpc>
                <a:spcPct val="90000"/>
              </a:lnSpc>
              <a:buNone/>
              <a:defRPr sz="6600" b="1"/>
            </a:lvl2pPr>
            <a:lvl3pPr marL="457200" indent="0">
              <a:lnSpc>
                <a:spcPct val="90000"/>
              </a:lnSpc>
              <a:buNone/>
              <a:defRPr sz="6000" b="1"/>
            </a:lvl3pPr>
            <a:lvl4pPr marL="685800" indent="0">
              <a:lnSpc>
                <a:spcPct val="90000"/>
              </a:lnSpc>
              <a:buNone/>
              <a:defRPr sz="5400" b="1"/>
            </a:lvl4pPr>
            <a:lvl5pPr marL="914400" indent="0">
              <a:lnSpc>
                <a:spcPct val="90000"/>
              </a:lnSpc>
              <a:buNone/>
              <a:defRPr sz="4800" b="1"/>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48637253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cSld name="Statem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3F6E1CB6-4A50-1364-430B-EF249B6D0012}"/>
              </a:ext>
            </a:extLst>
          </p:cNvPr>
          <p:cNvSpPr>
            <a:spLocks noGrp="1"/>
          </p:cNvSpPr>
          <p:nvPr>
            <p:ph sz="quarter" idx="14" hasCustomPrompt="1"/>
          </p:nvPr>
        </p:nvSpPr>
        <p:spPr>
          <a:xfrm>
            <a:off x="612774" y="1033272"/>
            <a:ext cx="10972800" cy="4782312"/>
          </a:xfrm>
        </p:spPr>
        <p:txBody>
          <a:bodyPr anchor="ctr">
            <a:noAutofit/>
          </a:bodyPr>
          <a:lstStyle>
            <a:lvl1pPr marL="0" indent="0">
              <a:lnSpc>
                <a:spcPct val="100000"/>
              </a:lnSpc>
              <a:buNone/>
              <a:defRPr sz="8000" b="1">
                <a:solidFill>
                  <a:schemeClr val="accent1">
                    <a:lumMod val="75000"/>
                  </a:schemeClr>
                </a:solidFill>
              </a:defRPr>
            </a:lvl1pPr>
            <a:lvl2pPr marL="228600" indent="0">
              <a:lnSpc>
                <a:spcPct val="100000"/>
              </a:lnSpc>
              <a:buNone/>
              <a:defRPr sz="8000" b="1">
                <a:solidFill>
                  <a:schemeClr val="accent1">
                    <a:lumMod val="75000"/>
                  </a:schemeClr>
                </a:solidFill>
              </a:defRPr>
            </a:lvl2pPr>
            <a:lvl3pPr marL="457200" indent="0">
              <a:lnSpc>
                <a:spcPct val="100000"/>
              </a:lnSpc>
              <a:buNone/>
              <a:defRPr sz="8000" b="1">
                <a:solidFill>
                  <a:schemeClr val="accent1">
                    <a:lumMod val="75000"/>
                  </a:schemeClr>
                </a:solidFill>
              </a:defRPr>
            </a:lvl3pPr>
            <a:lvl4pPr marL="685800" indent="0">
              <a:lnSpc>
                <a:spcPct val="100000"/>
              </a:lnSpc>
              <a:buNone/>
              <a:defRPr sz="8000" b="1">
                <a:solidFill>
                  <a:schemeClr val="accent1">
                    <a:lumMod val="75000"/>
                  </a:schemeClr>
                </a:solidFill>
              </a:defRPr>
            </a:lvl4pPr>
            <a:lvl5pPr marL="914400" indent="0">
              <a:lnSpc>
                <a:spcPct val="100000"/>
              </a:lnSpc>
              <a:buNone/>
              <a:defRPr sz="8000" b="1">
                <a:solidFill>
                  <a:schemeClr val="accent1">
                    <a:lumMod val="75000"/>
                  </a:schemeClr>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16096852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5">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0B3A8078-5A32-4B09-ABA5-7ABEFD22E08A}" type="slidenum">
              <a:rPr lang="en-US" smtClean="0"/>
              <a:t>‹#›</a:t>
            </a:fld>
            <a:endParaRPr lang="en-US"/>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64008" y="45720"/>
            <a:ext cx="10872216" cy="6172200"/>
          </a:xfrm>
        </p:spPr>
        <p:txBody>
          <a:bodyPr vert="horz" lIns="91440" tIns="45720" rIns="91440" bIns="45720" rtlCol="0" anchor="t">
            <a:normAutofit/>
          </a:bodyPr>
          <a:lstStyle>
            <a:lvl1pPr marL="0" indent="0">
              <a:lnSpc>
                <a:spcPct val="90000"/>
              </a:lnSpc>
              <a:buNone/>
              <a:defRPr lang="en-US" sz="7200" b="1" dirty="0"/>
            </a:lvl1pPr>
            <a:lvl2pPr marL="228600" indent="0">
              <a:lnSpc>
                <a:spcPct val="90000"/>
              </a:lnSpc>
              <a:buNone/>
              <a:defRPr lang="en-US" sz="6600" b="1" dirty="0"/>
            </a:lvl2pPr>
            <a:lvl3pPr marL="457200" indent="0">
              <a:lnSpc>
                <a:spcPct val="90000"/>
              </a:lnSpc>
              <a:buNone/>
              <a:defRPr lang="en-US" sz="6000" b="1" dirty="0"/>
            </a:lvl3pPr>
            <a:lvl4pPr marL="685800" indent="0">
              <a:lnSpc>
                <a:spcPct val="90000"/>
              </a:lnSpc>
              <a:buNone/>
              <a:defRPr lang="en-US" sz="5400" b="1" dirty="0"/>
            </a:lvl4pPr>
            <a:lvl5pPr marL="914400" indent="0">
              <a:lnSpc>
                <a:spcPct val="90000"/>
              </a:lnSpc>
              <a:buNone/>
              <a:defRPr lang="en-US" sz="4800" b="1" dirty="0"/>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38473269"/>
      </p:ext>
    </p:extLst>
  </p:cSld>
  <p:clrMapOvr>
    <a:overrideClrMapping bg1="dk1" tx1="lt1" bg2="dk2" tx2="lt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499616" y="5029200"/>
            <a:ext cx="9198864" cy="640080"/>
          </a:xfrm>
        </p:spPr>
        <p:txBody>
          <a:bodyPr anchor="ctr">
            <a:normAutofit/>
          </a:bodyPr>
          <a:lstStyle>
            <a:lvl1pPr>
              <a:lnSpc>
                <a:spcPct val="120000"/>
              </a:lnSpc>
              <a:defRPr sz="2000"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499616" y="1188720"/>
            <a:ext cx="9198864" cy="333248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4284796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2">
    <p:bg>
      <p:bgPr>
        <a:solidFill>
          <a:schemeClr val="accent1">
            <a:lumMod val="7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1677009" y="4955722"/>
            <a:ext cx="8863084" cy="669472"/>
          </a:xfrm>
        </p:spPr>
        <p:txBody>
          <a:bodyPr anchor="ctr">
            <a:normAutofit/>
          </a:bodyPr>
          <a:lstStyle>
            <a:lvl1pPr algn="r">
              <a:lnSpc>
                <a:spcPct val="120000"/>
              </a:lnSpc>
              <a:defRPr sz="2000" spc="0">
                <a:solidFill>
                  <a:schemeClr val="tx1"/>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677008" y="1344168"/>
            <a:ext cx="8863085" cy="3291840"/>
          </a:xfrm>
        </p:spPr>
        <p:txBody>
          <a:bodyPr anchor="ctr">
            <a:normAutofit/>
          </a:bodyPr>
          <a:lstStyle>
            <a:lvl1pPr marL="164592" indent="-164592">
              <a:lnSpc>
                <a:spcPct val="100000"/>
              </a:lnSpc>
              <a:spcBef>
                <a:spcPts val="0"/>
              </a:spcBef>
              <a:buNone/>
              <a:defRPr sz="4800">
                <a:latin typeface="+mj-lt"/>
              </a:defRPr>
            </a:lvl1pPr>
          </a:lstStyle>
          <a:p>
            <a:pPr lvl="0"/>
            <a:r>
              <a:rPr lang="en-US" dirty="0"/>
              <a:t>Click to edit Quote</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24171078"/>
      </p:ext>
    </p:extLst>
  </p:cSld>
  <p:clrMapOvr>
    <a:overrideClrMapping bg1="dk1" tx1="lt1" bg2="dk2" tx2="lt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12FA0A-1F7B-DD41-ECED-02B60BC46B10}"/>
              </a:ext>
            </a:extLst>
          </p:cNvPr>
          <p:cNvSpPr>
            <a:spLocks noGrp="1"/>
          </p:cNvSpPr>
          <p:nvPr>
            <p:ph type="title" hasCustomPrompt="1"/>
          </p:nvPr>
        </p:nvSpPr>
        <p:spPr>
          <a:xfrm>
            <a:off x="4707468" y="4893733"/>
            <a:ext cx="5638800" cy="788610"/>
          </a:xfrm>
        </p:spPr>
        <p:txBody>
          <a:bodyPr anchor="ctr">
            <a:normAutofit/>
          </a:bodyPr>
          <a:lstStyle>
            <a:lvl1pPr algn="r">
              <a:lnSpc>
                <a:spcPct val="120000"/>
              </a:lnSpc>
              <a:defRPr sz="2000" b="1" spc="0">
                <a:solidFill>
                  <a:schemeClr val="accent1">
                    <a:lumMod val="75000"/>
                  </a:schemeClr>
                </a:solidFill>
                <a:latin typeface="+mn-lt"/>
              </a:defRPr>
            </a:lvl1pPr>
          </a:lstStyle>
          <a:p>
            <a:r>
              <a:rPr lang="en-US" dirty="0"/>
              <a:t>Quote Author</a:t>
            </a:r>
          </a:p>
        </p:txBody>
      </p:sp>
      <p:sp>
        <p:nvSpPr>
          <p:cNvPr id="7" name="Content Placeholder 6">
            <a:extLst>
              <a:ext uri="{FF2B5EF4-FFF2-40B4-BE49-F238E27FC236}">
                <a16:creationId xmlns:a16="http://schemas.microsoft.com/office/drawing/2014/main" id="{A14BE2EA-8E1E-E2DA-5CCF-46908B013BF2}"/>
              </a:ext>
            </a:extLst>
          </p:cNvPr>
          <p:cNvSpPr>
            <a:spLocks noGrp="1"/>
          </p:cNvSpPr>
          <p:nvPr>
            <p:ph sz="quarter" idx="13" hasCustomPrompt="1"/>
          </p:nvPr>
        </p:nvSpPr>
        <p:spPr>
          <a:xfrm>
            <a:off x="1862666" y="1388534"/>
            <a:ext cx="8483601" cy="3371246"/>
          </a:xfrm>
        </p:spPr>
        <p:txBody>
          <a:bodyPr anchor="ctr">
            <a:normAutofit/>
          </a:bodyPr>
          <a:lstStyle>
            <a:lvl1pPr marL="164592" indent="-164592">
              <a:lnSpc>
                <a:spcPct val="110000"/>
              </a:lnSpc>
              <a:spcBef>
                <a:spcPts val="0"/>
              </a:spcBef>
              <a:buNone/>
              <a:defRPr sz="54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995372829"/>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12064"/>
            <a:ext cx="10741152"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612775" y="1825625"/>
            <a:ext cx="507492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278563" y="1825625"/>
            <a:ext cx="5075237"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102973416"/>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12064"/>
            <a:ext cx="10745788" cy="969264"/>
          </a:xfrm>
        </p:spPr>
        <p:txBody>
          <a:bodyPr vert="horz" lIns="91440" tIns="45720" rIns="91440" bIns="45720" rtlCol="0" anchor="b">
            <a:normAutofit/>
          </a:bodyPr>
          <a:lstStyle>
            <a:lvl1pPr>
              <a:defRPr lang="en-US" dirty="0"/>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609600" y="2387600"/>
            <a:ext cx="5075238"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280468" y="1685735"/>
            <a:ext cx="5074920" cy="559834"/>
          </a:xfrm>
        </p:spPr>
        <p:txBody>
          <a:bodyPr anchor="b">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279832" y="2387600"/>
            <a:ext cx="5075556" cy="37861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421479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612648" y="512064"/>
            <a:ext cx="10963656" cy="969264"/>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682044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320522573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612648" y="713232"/>
            <a:ext cx="3595634" cy="1625321"/>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612648" y="2590800"/>
            <a:ext cx="3595634" cy="3713584"/>
          </a:xfrm>
        </p:spPr>
        <p:txBody>
          <a:bodyPr anchor="t">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713232"/>
            <a:ext cx="6440258" cy="559115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66257816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612648" y="713232"/>
            <a:ext cx="3595634" cy="1762083"/>
          </a:xfrm>
        </p:spPr>
        <p:txBody>
          <a:bodyPr vert="horz" lIns="91440" tIns="45720" rIns="91440" bIns="45720" rtlCol="0" anchor="t">
            <a:normAutofit/>
          </a:bodyPr>
          <a:lstStyle>
            <a:lvl1pPr>
              <a:defRPr lang="en-US" dirty="0"/>
            </a:lvl1pPr>
          </a:lstStyle>
          <a:p>
            <a:pPr lvl="0"/>
            <a:r>
              <a:rPr lang="en-US"/>
              <a:t>Click to edit Master title style</a:t>
            </a:r>
            <a:endParaRPr lang="en-US" dirty="0"/>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12648" y="2826137"/>
            <a:ext cx="3585586" cy="3346063"/>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hasCustomPrompt="1"/>
          </p:nvPr>
        </p:nvSpPr>
        <p:spPr>
          <a:xfrm>
            <a:off x="5340483" y="713232"/>
            <a:ext cx="6139637" cy="5458968"/>
          </a:xfrm>
          <a:blipFill dpi="0" rotWithShape="1">
            <a:blip r:embed="rId2">
              <a:alphaModFix amt="6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38486883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14299" y="89808"/>
            <a:ext cx="11462003" cy="2514600"/>
          </a:xfrm>
        </p:spPr>
        <p:txBody>
          <a:bodyPr anchor="t">
            <a:normAutofit/>
          </a:bodyPr>
          <a:lstStyle>
            <a:lvl1pPr>
              <a:defRPr sz="7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612775" y="3118757"/>
            <a:ext cx="10963528" cy="2620736"/>
          </a:xfrm>
        </p:spPr>
        <p:txBody>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1959248582"/>
      </p:ext>
    </p:extLst>
  </p:cSld>
  <p:clrMapOvr>
    <a:overrideClrMapping bg1="dk1" tx1="lt1" bg2="dk2" tx2="lt2" accent1="accent1" accent2="accent2" accent3="accent3" accent4="accent4" accent5="accent5" accent6="accent6" hlink="hlink" folHlink="folHlink"/>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612647" y="1627318"/>
            <a:ext cx="8430767" cy="1842020"/>
          </a:xfrm>
        </p:spPr>
        <p:txBody>
          <a:bodyPr anchor="b">
            <a:noAutofit/>
          </a:bodyPr>
          <a:lstStyle>
            <a:lvl1pPr>
              <a:defRPr sz="7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612775" y="3622674"/>
            <a:ext cx="8430639" cy="1608008"/>
          </a:xfrm>
        </p:spPr>
        <p:txBody>
          <a:bodyPr>
            <a:normAutofit/>
          </a:bodyPr>
          <a:lstStyle>
            <a:lvl1pPr marL="0" indent="0">
              <a:buNone/>
              <a:defRPr sz="1800"/>
            </a:lvl1pPr>
            <a:lvl2pPr marL="228600" indent="0">
              <a:buNone/>
              <a:defRPr sz="1600"/>
            </a:lvl2pPr>
            <a:lvl3pPr marL="457200" indent="0">
              <a:buNone/>
              <a:defRPr sz="1400"/>
            </a:lvl3pPr>
            <a:lvl4pPr marL="685800" indent="0">
              <a:buNone/>
              <a:defRPr sz="1400"/>
            </a:lvl4pPr>
            <a:lvl5pPr marL="914400" indent="0">
              <a:buNone/>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0B3A8078-5A32-4B09-ABA5-7ABEFD22E08A}" type="slidenum">
              <a:rPr lang="en-US" smtClean="0"/>
              <a:t>‹#›</a:t>
            </a:fld>
            <a:endParaRPr lang="en-US"/>
          </a:p>
        </p:txBody>
      </p:sp>
    </p:spTree>
    <p:extLst>
      <p:ext uri="{BB962C8B-B14F-4D97-AF65-F5344CB8AC3E}">
        <p14:creationId xmlns:p14="http://schemas.microsoft.com/office/powerpoint/2010/main" val="2752757158"/>
      </p:ext>
    </p:extLst>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14649"/>
            <a:ext cx="10963655" cy="97237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09862"/>
            <a:ext cx="10963656" cy="451375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12647" y="6343955"/>
            <a:ext cx="2805405" cy="365125"/>
          </a:xfrm>
          <a:prstGeom prst="rect">
            <a:avLst/>
          </a:prstGeom>
        </p:spPr>
        <p:txBody>
          <a:bodyPr vert="horz" lIns="91440" tIns="45720" rIns="91440" bIns="45720" rtlCol="0" anchor="ctr"/>
          <a:lstStyle>
            <a:lvl1pPr algn="l">
              <a:defRPr sz="800">
                <a:solidFill>
                  <a:schemeClr val="tx1"/>
                </a:solidFill>
              </a:defRPr>
            </a:lvl1pPr>
          </a:lstStyle>
          <a:p>
            <a:endParaRPr lang="en-US"/>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8893929" y="6343955"/>
            <a:ext cx="2202644" cy="365125"/>
          </a:xfrm>
          <a:prstGeom prst="rect">
            <a:avLst/>
          </a:prstGeom>
        </p:spPr>
        <p:txBody>
          <a:bodyPr vert="horz" lIns="91440" tIns="45720" rIns="91440" bIns="45720" rtlCol="0" anchor="ctr"/>
          <a:lstStyle>
            <a:lvl1pPr algn="r">
              <a:defRPr sz="800">
                <a:solidFill>
                  <a:schemeClr val="tx1"/>
                </a:solidFill>
              </a:defRPr>
            </a:lvl1pPr>
          </a:lstStyle>
          <a:p>
            <a:fld id="{710AE426-CBD1-49BA-A1DA-945CCEE2ED80}" type="datetimeFigureOut">
              <a:rPr lang="en-US" smtClean="0"/>
              <a:t>10/11/2025</a:t>
            </a:fld>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147096" y="6343955"/>
            <a:ext cx="429207" cy="365125"/>
          </a:xfrm>
          <a:prstGeom prst="rect">
            <a:avLst/>
          </a:prstGeom>
        </p:spPr>
        <p:txBody>
          <a:bodyPr vert="horz" lIns="91440" tIns="45720" rIns="91440" bIns="45720" rtlCol="0" anchor="ctr"/>
          <a:lstStyle>
            <a:lvl1pPr algn="r">
              <a:defRPr sz="800">
                <a:solidFill>
                  <a:schemeClr val="tx1"/>
                </a:solidFill>
              </a:defRPr>
            </a:lvl1pPr>
          </a:lstStyle>
          <a:p>
            <a:fld id="{0B3A8078-5A32-4B09-ABA5-7ABEFD22E08A}" type="slidenum">
              <a:rPr lang="en-US" smtClean="0"/>
              <a:t>‹#›</a:t>
            </a:fld>
            <a:endParaRPr lang="en-US"/>
          </a:p>
        </p:txBody>
      </p:sp>
    </p:spTree>
    <p:extLst>
      <p:ext uri="{BB962C8B-B14F-4D97-AF65-F5344CB8AC3E}">
        <p14:creationId xmlns:p14="http://schemas.microsoft.com/office/powerpoint/2010/main" val="83530118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Lst>
  <p:txStyles>
    <p:titleStyle>
      <a:lvl1pPr algn="l" defTabSz="914400" rtl="0" eaLnBrk="1" latinLnBrk="0" hangingPunct="1">
        <a:lnSpc>
          <a:spcPct val="95000"/>
        </a:lnSpc>
        <a:spcBef>
          <a:spcPct val="0"/>
        </a:spcBef>
        <a:buNone/>
        <a:defRPr sz="2800" b="1" kern="1200" spc="-30"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4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7" orient="horz" pos="2160">
          <p15:clr>
            <a:srgbClr val="F26B43"/>
          </p15:clr>
        </p15:guide>
        <p15:guide id="8" pos="3840">
          <p15:clr>
            <a:srgbClr val="F26B43"/>
          </p15:clr>
        </p15:guide>
        <p15:guide id="9" pos="7296">
          <p15:clr>
            <a:srgbClr val="F26B43"/>
          </p15:clr>
        </p15:guide>
        <p15:guide id="10" pos="38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9.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5.xml"/><Relationship Id="rId1" Type="http://schemas.openxmlformats.org/officeDocument/2006/relationships/slideLayout" Target="../slideLayouts/slideLayout2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723DA5-13D8-F821-1F24-824CF1692BA3}"/>
              </a:ext>
            </a:extLst>
          </p:cNvPr>
          <p:cNvSpPr>
            <a:spLocks noGrp="1"/>
          </p:cNvSpPr>
          <p:nvPr>
            <p:ph type="ctrTitle"/>
          </p:nvPr>
        </p:nvSpPr>
        <p:spPr>
          <a:xfrm>
            <a:off x="1752600" y="1447800"/>
            <a:ext cx="8686800" cy="2491655"/>
          </a:xfrm>
        </p:spPr>
        <p:txBody>
          <a:bodyPr anchor="b">
            <a:normAutofit/>
          </a:bodyPr>
          <a:lstStyle/>
          <a:p>
            <a:r>
              <a:rPr lang="en-US" sz="4200"/>
              <a:t>Foot Traffic and Dwell Time Trends at Office Supply Stores During the Remote Work Shift</a:t>
            </a:r>
          </a:p>
        </p:txBody>
      </p:sp>
      <p:sp>
        <p:nvSpPr>
          <p:cNvPr id="3" name="Subtitle 2">
            <a:extLst>
              <a:ext uri="{FF2B5EF4-FFF2-40B4-BE49-F238E27FC236}">
                <a16:creationId xmlns:a16="http://schemas.microsoft.com/office/drawing/2014/main" id="{C447737A-8BC8-0672-45DB-E7CFA497D8FA}"/>
              </a:ext>
            </a:extLst>
          </p:cNvPr>
          <p:cNvSpPr>
            <a:spLocks noGrp="1"/>
          </p:cNvSpPr>
          <p:nvPr>
            <p:ph type="subTitle" idx="1"/>
          </p:nvPr>
        </p:nvSpPr>
        <p:spPr>
          <a:xfrm>
            <a:off x="2301923" y="4039648"/>
            <a:ext cx="7588155" cy="1029310"/>
          </a:xfrm>
        </p:spPr>
        <p:txBody>
          <a:bodyPr>
            <a:normAutofit/>
          </a:bodyPr>
          <a:lstStyle/>
          <a:p>
            <a:r>
              <a:rPr lang="en-US"/>
              <a:t>Analyzing customer visits amid growing remote work adoption</a:t>
            </a:r>
          </a:p>
        </p:txBody>
      </p:sp>
    </p:spTree>
    <p:extLst>
      <p:ext uri="{BB962C8B-B14F-4D97-AF65-F5344CB8AC3E}">
        <p14:creationId xmlns:p14="http://schemas.microsoft.com/office/powerpoint/2010/main" val="10827432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0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10"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ADE9F1-D071-E9EF-44DA-F018E1153F6D}"/>
              </a:ext>
            </a:extLst>
          </p:cNvPr>
          <p:cNvSpPr>
            <a:spLocks noGrp="1"/>
          </p:cNvSpPr>
          <p:nvPr>
            <p:ph type="title"/>
          </p:nvPr>
        </p:nvSpPr>
        <p:spPr>
          <a:xfrm>
            <a:off x="111758" y="1869103"/>
            <a:ext cx="9337042" cy="4906929"/>
          </a:xfrm>
        </p:spPr>
        <p:txBody>
          <a:bodyPr anchor="b">
            <a:normAutofit/>
          </a:bodyPr>
          <a:lstStyle/>
          <a:p>
            <a:r>
              <a:rPr lang="en-US"/>
              <a:t>Introduction &amp; Context</a:t>
            </a:r>
          </a:p>
        </p:txBody>
      </p:sp>
    </p:spTree>
    <p:extLst>
      <p:ext uri="{BB962C8B-B14F-4D97-AF65-F5344CB8AC3E}">
        <p14:creationId xmlns:p14="http://schemas.microsoft.com/office/powerpoint/2010/main" val="270048828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209F0-ADE3-0A7E-B2EE-0D37BE99D46F}"/>
              </a:ext>
            </a:extLst>
          </p:cNvPr>
          <p:cNvSpPr>
            <a:spLocks noGrp="1"/>
          </p:cNvSpPr>
          <p:nvPr>
            <p:ph type="title"/>
          </p:nvPr>
        </p:nvSpPr>
        <p:spPr>
          <a:xfrm>
            <a:off x="612648" y="706802"/>
            <a:ext cx="4672584" cy="1269482"/>
          </a:xfrm>
        </p:spPr>
        <p:txBody>
          <a:bodyPr anchor="t">
            <a:normAutofit/>
          </a:bodyPr>
          <a:lstStyle/>
          <a:p>
            <a:r>
              <a:rPr lang="en-US"/>
              <a:t>Study Overview and Data Sources</a:t>
            </a:r>
          </a:p>
        </p:txBody>
      </p:sp>
      <p:pic>
        <p:nvPicPr>
          <p:cNvPr id="5" name="Content Placeholder 4" descr="A woman climbing a mountain holds a trekking pole in one hand and looks at the stock market information in her mobile phone in the other">
            <a:extLst>
              <a:ext uri="{FF2B5EF4-FFF2-40B4-BE49-F238E27FC236}">
                <a16:creationId xmlns:a16="http://schemas.microsoft.com/office/drawing/2014/main" id="{5C2F11F4-DBB0-475D-88ED-EB6679C16223}"/>
              </a:ext>
            </a:extLst>
          </p:cNvPr>
          <p:cNvPicPr>
            <a:picLocks noGrp="1" noChangeAspect="1"/>
          </p:cNvPicPr>
          <p:nvPr>
            <p:ph type="pic" sz="quarter" idx="13"/>
          </p:nvPr>
        </p:nvPicPr>
        <p:blipFill>
          <a:blip r:embed="rId3"/>
          <a:srcRect l="27520" r="7988"/>
          <a:stretch>
            <a:fillRect/>
          </a:stretch>
        </p:blipFill>
        <p:spPr>
          <a:xfrm>
            <a:off x="720468" y="2173850"/>
            <a:ext cx="4564763" cy="3963682"/>
          </a:xfrm>
          <a:prstGeom prst="rect">
            <a:avLst/>
          </a:prstGeom>
          <a:noFill/>
        </p:spPr>
      </p:pic>
      <p:sp>
        <p:nvSpPr>
          <p:cNvPr id="4" name="Content Placeholder 3">
            <a:extLst>
              <a:ext uri="{FF2B5EF4-FFF2-40B4-BE49-F238E27FC236}">
                <a16:creationId xmlns:a16="http://schemas.microsoft.com/office/drawing/2014/main" id="{1FEAFD9E-EF43-EE48-3442-EFAFA5E43BF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3" y="732155"/>
            <a:ext cx="5676838" cy="5405377"/>
          </a:xfrm>
        </p:spPr>
        <p:txBody>
          <a:bodyPr>
            <a:normAutofit/>
          </a:bodyPr>
          <a:lstStyle/>
          <a:p>
            <a:pPr marL="0" indent="0">
              <a:spcBef>
                <a:spcPts val="2500"/>
              </a:spcBef>
              <a:buFont typeface="Arial" panose="020B0604020202020204" pitchFamily="34" charset="0"/>
              <a:buNone/>
            </a:pPr>
            <a:r>
              <a:rPr lang="en-US" b="1"/>
              <a:t>Study Focus and Period</a:t>
            </a:r>
          </a:p>
          <a:p>
            <a:pPr marL="0" lvl="1" indent="0">
              <a:buFont typeface="Arial" panose="020B0604020202020204" pitchFamily="34" charset="0"/>
              <a:buNone/>
            </a:pPr>
            <a:r>
              <a:t>The study examines foot traffic and dwell time trends in office supply stores from January to April 2020 during COVID-19 onset.</a:t>
            </a:r>
            <a:endParaRPr lang="en-US"/>
          </a:p>
          <a:p>
            <a:pPr marL="0" indent="0">
              <a:spcBef>
                <a:spcPts val="2500"/>
              </a:spcBef>
              <a:buFont typeface="Arial" panose="020B0604020202020204" pitchFamily="34" charset="0"/>
              <a:buNone/>
            </a:pPr>
            <a:r>
              <a:rPr lang="en-US" b="1"/>
              <a:t>Geographic Classification</a:t>
            </a:r>
          </a:p>
          <a:p>
            <a:pPr marL="0" lvl="1" indent="0">
              <a:buFont typeface="Arial" panose="020B0604020202020204" pitchFamily="34" charset="0"/>
              <a:buNone/>
            </a:pPr>
            <a:r>
              <a:t>California counties are classified into urban, suburban, and rural using RUCA codes to analyze consumer behavior shifts by region.</a:t>
            </a:r>
            <a:endParaRPr lang="en-US"/>
          </a:p>
          <a:p>
            <a:pPr marL="0" indent="0">
              <a:spcBef>
                <a:spcPts val="2500"/>
              </a:spcBef>
              <a:buFont typeface="Arial" panose="020B0604020202020204" pitchFamily="34" charset="0"/>
              <a:buNone/>
            </a:pPr>
            <a:r>
              <a:rPr lang="en-US" b="1"/>
              <a:t>Data Sources and Metrics</a:t>
            </a:r>
          </a:p>
          <a:p>
            <a:pPr marL="0" lvl="1" indent="0">
              <a:buFont typeface="Arial" panose="020B0604020202020204" pitchFamily="34" charset="0"/>
              <a:buNone/>
            </a:pPr>
            <a:r>
              <a:t>Data from SafeGraph provides detailed foot traffic and dwell time metrics, combined with demographic info like education and household density.</a:t>
            </a:r>
            <a:endParaRPr lang="en-US"/>
          </a:p>
          <a:p>
            <a:pPr marL="0" indent="0">
              <a:spcBef>
                <a:spcPts val="2500"/>
              </a:spcBef>
              <a:buFont typeface="Arial" panose="020B0604020202020204" pitchFamily="34" charset="0"/>
              <a:buNone/>
            </a:pPr>
            <a:r>
              <a:rPr lang="en-US" b="1"/>
              <a:t>Study Objectives</a:t>
            </a:r>
          </a:p>
          <a:p>
            <a:pPr marL="0" lvl="1" indent="0">
              <a:buFont typeface="Arial" panose="020B0604020202020204" pitchFamily="34" charset="0"/>
              <a:buNone/>
            </a:pPr>
            <a:r>
              <a:t>The study aims to reveal patterns in store visits and time spent to understand community responses to remote work and demand shifts.</a:t>
            </a:r>
            <a:endParaRPr lang="en-US"/>
          </a:p>
        </p:txBody>
      </p:sp>
    </p:spTree>
    <p:extLst>
      <p:ext uri="{BB962C8B-B14F-4D97-AF65-F5344CB8AC3E}">
        <p14:creationId xmlns:p14="http://schemas.microsoft.com/office/powerpoint/2010/main" val="376448204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C96411-2BB8-293C-C572-66455B3C02A0}"/>
              </a:ext>
            </a:extLst>
          </p:cNvPr>
          <p:cNvSpPr>
            <a:spLocks noGrp="1"/>
          </p:cNvSpPr>
          <p:nvPr>
            <p:ph type="title"/>
          </p:nvPr>
        </p:nvSpPr>
        <p:spPr>
          <a:xfrm>
            <a:off x="111758" y="1869103"/>
            <a:ext cx="9337042" cy="4906929"/>
          </a:xfrm>
        </p:spPr>
        <p:txBody>
          <a:bodyPr anchor="b">
            <a:normAutofit/>
          </a:bodyPr>
          <a:lstStyle/>
          <a:p>
            <a:r>
              <a:rPr lang="en-US"/>
              <a:t>Research Question 1: Foot Traffic &amp; Demographics</a:t>
            </a:r>
          </a:p>
        </p:txBody>
      </p:sp>
    </p:spTree>
    <p:extLst>
      <p:ext uri="{BB962C8B-B14F-4D97-AF65-F5344CB8AC3E}">
        <p14:creationId xmlns:p14="http://schemas.microsoft.com/office/powerpoint/2010/main" val="18703171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C50956-4EB9-88DA-7323-3D793A234767}"/>
              </a:ext>
            </a:extLst>
          </p:cNvPr>
          <p:cNvSpPr>
            <a:spLocks noGrp="1"/>
          </p:cNvSpPr>
          <p:nvPr>
            <p:ph type="title"/>
          </p:nvPr>
        </p:nvSpPr>
        <p:spPr>
          <a:xfrm>
            <a:off x="612647" y="475488"/>
            <a:ext cx="6858000" cy="932688"/>
          </a:xfrm>
        </p:spPr>
        <p:txBody>
          <a:bodyPr anchor="b">
            <a:normAutofit/>
          </a:bodyPr>
          <a:lstStyle/>
          <a:p>
            <a:r>
              <a:rPr lang="en-US"/>
              <a:t>Weekly Trends and Demographic Influences</a:t>
            </a:r>
          </a:p>
        </p:txBody>
      </p:sp>
      <p:sp>
        <p:nvSpPr>
          <p:cNvPr id="4" name="Content Placeholder 3">
            <a:extLst>
              <a:ext uri="{FF2B5EF4-FFF2-40B4-BE49-F238E27FC236}">
                <a16:creationId xmlns:a16="http://schemas.microsoft.com/office/drawing/2014/main" id="{40984748-8F5A-620C-AB53-3423C1B02A3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b="1"/>
              <a:t>Foot Traffic Trends</a:t>
            </a:r>
          </a:p>
          <a:p>
            <a:pPr marL="0" lvl="1" indent="0">
              <a:buFont typeface="Arial" panose="020B0604020202020204" pitchFamily="34" charset="0"/>
              <a:buNone/>
            </a:pPr>
            <a:r>
              <a:t>Office supply store visits peaked early 2020, declined sharply mid-March due to lockdowns, then rebounded notably by Week 17.</a:t>
            </a:r>
            <a:endParaRPr lang="en-US"/>
          </a:p>
          <a:p>
            <a:pPr marL="0" indent="0">
              <a:spcBef>
                <a:spcPts val="2500"/>
              </a:spcBef>
              <a:buFont typeface="Arial" panose="020B0604020202020204" pitchFamily="34" charset="0"/>
              <a:buNone/>
            </a:pPr>
            <a:r>
              <a:rPr lang="en-US" b="1"/>
              <a:t>Specialty Store Behavior</a:t>
            </a:r>
          </a:p>
          <a:p>
            <a:pPr marL="0" lvl="1" indent="0">
              <a:buFont typeface="Arial" panose="020B0604020202020204" pitchFamily="34" charset="0"/>
              <a:buNone/>
            </a:pPr>
            <a:r>
              <a:t>Specialty stores had fewer visits with significantly longer dwell times, indicating focused shopping with high intent.</a:t>
            </a:r>
            <a:endParaRPr lang="en-US"/>
          </a:p>
          <a:p>
            <a:pPr marL="0" indent="0">
              <a:spcBef>
                <a:spcPts val="2500"/>
              </a:spcBef>
              <a:buFont typeface="Arial" panose="020B0604020202020204" pitchFamily="34" charset="0"/>
              <a:buNone/>
            </a:pPr>
            <a:r>
              <a:rPr lang="en-US" b="1"/>
              <a:t>Demographic Impacts on Visits</a:t>
            </a:r>
          </a:p>
          <a:p>
            <a:pPr marL="0" lvl="1" indent="0">
              <a:buFont typeface="Arial" panose="020B0604020202020204" pitchFamily="34" charset="0"/>
              <a:buNone/>
            </a:pPr>
            <a:r>
              <a:t>K–12 household areas showed increased visits driven by school supply needs; working-age dense counties had shorter shopping times.</a:t>
            </a:r>
            <a:endParaRPr lang="en-US"/>
          </a:p>
          <a:p>
            <a:pPr marL="0" indent="0">
              <a:spcBef>
                <a:spcPts val="2500"/>
              </a:spcBef>
              <a:buFont typeface="Arial" panose="020B0604020202020204" pitchFamily="34" charset="0"/>
              <a:buNone/>
            </a:pPr>
            <a:r>
              <a:rPr lang="en-US" b="1"/>
              <a:t>Education Level and Shopping</a:t>
            </a:r>
          </a:p>
          <a:p>
            <a:pPr marL="0" lvl="1" indent="0">
              <a:buFont typeface="Arial" panose="020B0604020202020204" pitchFamily="34" charset="0"/>
              <a:buNone/>
            </a:pPr>
            <a:r>
              <a:t>Regions with higher education levels saw longer dwell times, reflecting preference for personalized and boutique shopping experiences.</a:t>
            </a:r>
            <a:endParaRPr lang="en-US"/>
          </a:p>
        </p:txBody>
      </p:sp>
      <p:pic>
        <p:nvPicPr>
          <p:cNvPr id="5" name="Content Placeholder 4" descr="Colorful face masks, studio shot.">
            <a:extLst>
              <a:ext uri="{FF2B5EF4-FFF2-40B4-BE49-F238E27FC236}">
                <a16:creationId xmlns:a16="http://schemas.microsoft.com/office/drawing/2014/main" id="{01EE1D6F-3A31-4F21-88BB-B619C4B09576}"/>
              </a:ext>
            </a:extLst>
          </p:cNvPr>
          <p:cNvPicPr>
            <a:picLocks noGrp="1" noChangeAspect="1"/>
          </p:cNvPicPr>
          <p:nvPr>
            <p:ph type="pic" sz="quarter" idx="13"/>
          </p:nvPr>
        </p:nvPicPr>
        <p:blipFill>
          <a:blip r:embed="rId3"/>
          <a:srcRect l="23978" r="36113" b="-1"/>
          <a:stretch>
            <a:fillRect/>
          </a:stretch>
        </p:blipFill>
        <p:spPr>
          <a:xfrm>
            <a:off x="8091732" y="10"/>
            <a:ext cx="4100267" cy="6857990"/>
          </a:xfrm>
          <a:prstGeom prst="rect">
            <a:avLst/>
          </a:prstGeom>
          <a:noFill/>
        </p:spPr>
      </p:pic>
    </p:spTree>
    <p:extLst>
      <p:ext uri="{BB962C8B-B14F-4D97-AF65-F5344CB8AC3E}">
        <p14:creationId xmlns:p14="http://schemas.microsoft.com/office/powerpoint/2010/main" val="364839441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656BB-74E8-D0E5-C1C9-9A389DF635D5}"/>
              </a:ext>
            </a:extLst>
          </p:cNvPr>
          <p:cNvSpPr>
            <a:spLocks noGrp="1"/>
          </p:cNvSpPr>
          <p:nvPr>
            <p:ph type="title"/>
          </p:nvPr>
        </p:nvSpPr>
        <p:spPr>
          <a:xfrm>
            <a:off x="111758" y="1869103"/>
            <a:ext cx="9337042" cy="4906929"/>
          </a:xfrm>
        </p:spPr>
        <p:txBody>
          <a:bodyPr anchor="b">
            <a:normAutofit/>
          </a:bodyPr>
          <a:lstStyle/>
          <a:p>
            <a:r>
              <a:rPr lang="en-US"/>
              <a:t>Research Question 2: Suburban vs Urban Recovery</a:t>
            </a:r>
          </a:p>
        </p:txBody>
      </p:sp>
    </p:spTree>
    <p:extLst>
      <p:ext uri="{BB962C8B-B14F-4D97-AF65-F5344CB8AC3E}">
        <p14:creationId xmlns:p14="http://schemas.microsoft.com/office/powerpoint/2010/main" val="41323004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4F9679-8657-7AB1-8E1A-6049A5D53BB1}"/>
              </a:ext>
            </a:extLst>
          </p:cNvPr>
          <p:cNvSpPr>
            <a:spLocks noGrp="1"/>
          </p:cNvSpPr>
          <p:nvPr>
            <p:ph type="title"/>
          </p:nvPr>
        </p:nvSpPr>
        <p:spPr>
          <a:xfrm>
            <a:off x="612648" y="706802"/>
            <a:ext cx="4672584" cy="1269482"/>
          </a:xfrm>
        </p:spPr>
        <p:txBody>
          <a:bodyPr anchor="t">
            <a:normAutofit/>
          </a:bodyPr>
          <a:lstStyle/>
          <a:p>
            <a:r>
              <a:rPr lang="en-US"/>
              <a:t>Geographic Recovery Patterns</a:t>
            </a:r>
          </a:p>
        </p:txBody>
      </p:sp>
      <p:pic>
        <p:nvPicPr>
          <p:cNvPr id="5" name="Content Placeholder 4" descr="Male feet standing on blind pedestrian walking">
            <a:extLst>
              <a:ext uri="{FF2B5EF4-FFF2-40B4-BE49-F238E27FC236}">
                <a16:creationId xmlns:a16="http://schemas.microsoft.com/office/drawing/2014/main" id="{357193A3-2B94-49B7-AB81-09BFC1CC8B39}"/>
              </a:ext>
            </a:extLst>
          </p:cNvPr>
          <p:cNvPicPr>
            <a:picLocks noGrp="1" noChangeAspect="1"/>
          </p:cNvPicPr>
          <p:nvPr>
            <p:ph type="pic" sz="quarter" idx="13"/>
          </p:nvPr>
        </p:nvPicPr>
        <p:blipFill>
          <a:blip r:embed="rId3"/>
          <a:srcRect t="18172" r="-1" b="21262"/>
          <a:stretch>
            <a:fillRect/>
          </a:stretch>
        </p:blipFill>
        <p:spPr>
          <a:xfrm>
            <a:off x="720468" y="2173850"/>
            <a:ext cx="4564763" cy="3963682"/>
          </a:xfrm>
          <a:prstGeom prst="rect">
            <a:avLst/>
          </a:prstGeom>
          <a:noFill/>
        </p:spPr>
      </p:pic>
      <p:sp>
        <p:nvSpPr>
          <p:cNvPr id="4" name="Content Placeholder 3">
            <a:extLst>
              <a:ext uri="{FF2B5EF4-FFF2-40B4-BE49-F238E27FC236}">
                <a16:creationId xmlns:a16="http://schemas.microsoft.com/office/drawing/2014/main" id="{582080C3-6464-90E5-490C-15077DF0667F}"/>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3" y="732155"/>
            <a:ext cx="5676838" cy="5405377"/>
          </a:xfrm>
        </p:spPr>
        <p:txBody>
          <a:bodyPr>
            <a:normAutofit/>
          </a:bodyPr>
          <a:lstStyle/>
          <a:p>
            <a:pPr marL="0" indent="0">
              <a:spcBef>
                <a:spcPts val="2500"/>
              </a:spcBef>
              <a:buFont typeface="Arial" panose="020B0604020202020204" pitchFamily="34" charset="0"/>
              <a:buNone/>
            </a:pPr>
            <a:r>
              <a:rPr lang="en-US" b="1"/>
              <a:t>Suburban Recovery Leadership</a:t>
            </a:r>
          </a:p>
          <a:p>
            <a:pPr marL="0" lvl="1" indent="0">
              <a:buFont typeface="Arial" panose="020B0604020202020204" pitchFamily="34" charset="0"/>
              <a:buNone/>
            </a:pPr>
            <a:r>
              <a:t>Suburban counties showed the strongest recovery in office supply store visits during early remote work phases.</a:t>
            </a:r>
            <a:endParaRPr lang="en-US"/>
          </a:p>
          <a:p>
            <a:pPr marL="0" indent="0">
              <a:spcBef>
                <a:spcPts val="2500"/>
              </a:spcBef>
              <a:buFont typeface="Arial" panose="020B0604020202020204" pitchFamily="34" charset="0"/>
              <a:buNone/>
            </a:pPr>
            <a:r>
              <a:rPr lang="en-US" b="1"/>
              <a:t>Urban Shopping Efficiency</a:t>
            </a:r>
          </a:p>
          <a:p>
            <a:pPr marL="0" lvl="1" indent="0">
              <a:buFont typeface="Arial" panose="020B0604020202020204" pitchFamily="34" charset="0"/>
              <a:buNone/>
            </a:pPr>
            <a:r>
              <a:t>Urban areas had fewer visits but maintained consistent dwell times, indicating efficient shopping behavior.</a:t>
            </a:r>
            <a:endParaRPr lang="en-US"/>
          </a:p>
          <a:p>
            <a:pPr marL="0" indent="0">
              <a:spcBef>
                <a:spcPts val="2500"/>
              </a:spcBef>
              <a:buFont typeface="Arial" panose="020B0604020202020204" pitchFamily="34" charset="0"/>
              <a:buNone/>
            </a:pPr>
            <a:r>
              <a:rPr lang="en-US" b="1"/>
              <a:t>Rural Leisurely Shopping</a:t>
            </a:r>
          </a:p>
          <a:p>
            <a:pPr marL="0" lvl="1" indent="0">
              <a:buFont typeface="Arial" panose="020B0604020202020204" pitchFamily="34" charset="0"/>
              <a:buNone/>
            </a:pPr>
            <a:r>
              <a:t>Rural shoppers visited less often but spent more time per visit, suggesting a relaxed and exploratory approach.</a:t>
            </a:r>
            <a:endParaRPr lang="en-US"/>
          </a:p>
          <a:p>
            <a:pPr marL="0" indent="0">
              <a:spcBef>
                <a:spcPts val="2500"/>
              </a:spcBef>
              <a:buFont typeface="Arial" panose="020B0604020202020204" pitchFamily="34" charset="0"/>
              <a:buNone/>
            </a:pPr>
            <a:r>
              <a:rPr lang="en-US" b="1"/>
              <a:t>Regional Demand Variations</a:t>
            </a:r>
          </a:p>
          <a:p>
            <a:pPr marL="0" lvl="1" indent="0">
              <a:buFont typeface="Arial" panose="020B0604020202020204" pitchFamily="34" charset="0"/>
              <a:buNone/>
            </a:pPr>
            <a:r>
              <a:t>Areas like Los Angeles County showed sustained demand, highlighting geographic differences in recovery.</a:t>
            </a:r>
            <a:endParaRPr lang="en-US"/>
          </a:p>
        </p:txBody>
      </p:sp>
    </p:spTree>
    <p:extLst>
      <p:ext uri="{BB962C8B-B14F-4D97-AF65-F5344CB8AC3E}">
        <p14:creationId xmlns:p14="http://schemas.microsoft.com/office/powerpoint/2010/main" val="36034571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D20A6-72B3-6757-EE93-A22B2C06EEA3}"/>
              </a:ext>
            </a:extLst>
          </p:cNvPr>
          <p:cNvSpPr>
            <a:spLocks noGrp="1"/>
          </p:cNvSpPr>
          <p:nvPr>
            <p:ph type="title"/>
          </p:nvPr>
        </p:nvSpPr>
        <p:spPr>
          <a:xfrm>
            <a:off x="111758" y="1869103"/>
            <a:ext cx="9337042" cy="4906929"/>
          </a:xfrm>
        </p:spPr>
        <p:txBody>
          <a:bodyPr anchor="b">
            <a:normAutofit/>
          </a:bodyPr>
          <a:lstStyle/>
          <a:p>
            <a:r>
              <a:rPr lang="en-US"/>
              <a:t>Research Question 3: Brand Stabilization &amp; Loyalty</a:t>
            </a:r>
          </a:p>
        </p:txBody>
      </p:sp>
    </p:spTree>
    <p:extLst>
      <p:ext uri="{BB962C8B-B14F-4D97-AF65-F5344CB8AC3E}">
        <p14:creationId xmlns:p14="http://schemas.microsoft.com/office/powerpoint/2010/main" val="149541925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8B7281-D24C-7338-278D-6AE1E06E7B68}"/>
              </a:ext>
            </a:extLst>
          </p:cNvPr>
          <p:cNvSpPr>
            <a:spLocks noGrp="1"/>
          </p:cNvSpPr>
          <p:nvPr>
            <p:ph type="title"/>
          </p:nvPr>
        </p:nvSpPr>
        <p:spPr>
          <a:xfrm>
            <a:off x="612648" y="706802"/>
            <a:ext cx="4672584" cy="1269482"/>
          </a:xfrm>
        </p:spPr>
        <p:txBody>
          <a:bodyPr anchor="t">
            <a:normAutofit/>
          </a:bodyPr>
          <a:lstStyle/>
          <a:p>
            <a:r>
              <a:rPr lang="en-US"/>
              <a:t>Brand Performance and Consumer Behavior</a:t>
            </a:r>
          </a:p>
        </p:txBody>
      </p:sp>
      <p:pic>
        <p:nvPicPr>
          <p:cNvPr id="5" name="Content Placeholder 4" descr="Shot of a businessman looking thoughtfully at a graph against a white background">
            <a:extLst>
              <a:ext uri="{FF2B5EF4-FFF2-40B4-BE49-F238E27FC236}">
                <a16:creationId xmlns:a16="http://schemas.microsoft.com/office/drawing/2014/main" id="{F8B29A30-F0F0-49AE-8655-89C2D95FC498}"/>
              </a:ext>
            </a:extLst>
          </p:cNvPr>
          <p:cNvPicPr>
            <a:picLocks noGrp="1" noChangeAspect="1"/>
          </p:cNvPicPr>
          <p:nvPr>
            <p:ph type="pic" sz="quarter" idx="13"/>
          </p:nvPr>
        </p:nvPicPr>
        <p:blipFill>
          <a:blip r:embed="rId3"/>
          <a:srcRect r="23126" b="-2"/>
          <a:stretch>
            <a:fillRect/>
          </a:stretch>
        </p:blipFill>
        <p:spPr>
          <a:xfrm>
            <a:off x="720468" y="2173850"/>
            <a:ext cx="4564763" cy="3963682"/>
          </a:xfrm>
          <a:prstGeom prst="rect">
            <a:avLst/>
          </a:prstGeom>
          <a:noFill/>
        </p:spPr>
      </p:pic>
      <p:sp>
        <p:nvSpPr>
          <p:cNvPr id="4" name="Content Placeholder 3">
            <a:extLst>
              <a:ext uri="{FF2B5EF4-FFF2-40B4-BE49-F238E27FC236}">
                <a16:creationId xmlns:a16="http://schemas.microsoft.com/office/drawing/2014/main" id="{79B73194-9541-8A3D-E1B4-FE87A09DDCA4}"/>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905563" y="732155"/>
            <a:ext cx="5676838" cy="5405377"/>
          </a:xfrm>
        </p:spPr>
        <p:txBody>
          <a:bodyPr>
            <a:normAutofit/>
          </a:bodyPr>
          <a:lstStyle/>
          <a:p>
            <a:pPr marL="0" indent="0">
              <a:spcBef>
                <a:spcPts val="2500"/>
              </a:spcBef>
              <a:buFont typeface="Arial" panose="020B0604020202020204" pitchFamily="34" charset="0"/>
              <a:buNone/>
            </a:pPr>
            <a:r>
              <a:rPr lang="en-US" b="1"/>
              <a:t>Brand Stabilization Leaders</a:t>
            </a:r>
          </a:p>
          <a:p>
            <a:pPr marL="0" lvl="1" indent="0">
              <a:buFont typeface="Arial" panose="020B0604020202020204" pitchFamily="34" charset="0"/>
              <a:buNone/>
            </a:pPr>
            <a:r>
              <a:t>Staples and Office Depot led brand stabilization with strong recovery and consumer loyalty during early 2020.</a:t>
            </a:r>
            <a:endParaRPr lang="en-US"/>
          </a:p>
          <a:p>
            <a:pPr marL="0" indent="0">
              <a:spcBef>
                <a:spcPts val="2500"/>
              </a:spcBef>
              <a:buFont typeface="Arial" panose="020B0604020202020204" pitchFamily="34" charset="0"/>
              <a:buNone/>
            </a:pPr>
            <a:r>
              <a:rPr lang="en-US" b="1"/>
              <a:t>Slower Rebound Challenges</a:t>
            </a:r>
          </a:p>
          <a:p>
            <a:pPr marL="0" lvl="1" indent="0">
              <a:buFont typeface="Arial" panose="020B0604020202020204" pitchFamily="34" charset="0"/>
              <a:buNone/>
            </a:pPr>
            <a:r>
              <a:t>OfficeMax faced slower recovery due to brand overlap and diluted consumer traffic compared to competitors.</a:t>
            </a:r>
            <a:endParaRPr lang="en-US"/>
          </a:p>
          <a:p>
            <a:pPr marL="0" indent="0">
              <a:spcBef>
                <a:spcPts val="2500"/>
              </a:spcBef>
              <a:buFont typeface="Arial" panose="020B0604020202020204" pitchFamily="34" charset="0"/>
              <a:buNone/>
            </a:pPr>
            <a:r>
              <a:rPr lang="en-US" b="1"/>
              <a:t>Niche Brand Engagement</a:t>
            </a:r>
          </a:p>
          <a:p>
            <a:pPr marL="0" lvl="1" indent="0">
              <a:buFont typeface="Arial" panose="020B0604020202020204" pitchFamily="34" charset="0"/>
              <a:buNone/>
            </a:pPr>
            <a:r>
              <a:t>Specialty brands like Papyrus showed low traffic but high engagement, indicating loyal niche audiences.</a:t>
            </a:r>
            <a:endParaRPr lang="en-US"/>
          </a:p>
          <a:p>
            <a:pPr marL="0" indent="0">
              <a:spcBef>
                <a:spcPts val="2500"/>
              </a:spcBef>
              <a:buFont typeface="Arial" panose="020B0604020202020204" pitchFamily="34" charset="0"/>
              <a:buNone/>
            </a:pPr>
            <a:r>
              <a:rPr lang="en-US" b="1"/>
              <a:t>Supply Chain and Location Advantage</a:t>
            </a:r>
          </a:p>
          <a:p>
            <a:pPr marL="0" lvl="1" indent="0">
              <a:buFont typeface="Arial" panose="020B0604020202020204" pitchFamily="34" charset="0"/>
              <a:buNone/>
            </a:pPr>
            <a:r>
              <a:t>Reliable supply chains and suburban presence helped brands meet remote workers’ needs effectively.</a:t>
            </a:r>
            <a:endParaRPr lang="en-US"/>
          </a:p>
        </p:txBody>
      </p:sp>
    </p:spTree>
    <p:extLst>
      <p:ext uri="{BB962C8B-B14F-4D97-AF65-F5344CB8AC3E}">
        <p14:creationId xmlns:p14="http://schemas.microsoft.com/office/powerpoint/2010/main" val="39025467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12C27-3885-5BA3-8C5C-17FF082AAD6C}"/>
              </a:ext>
            </a:extLst>
          </p:cNvPr>
          <p:cNvSpPr>
            <a:spLocks noGrp="1"/>
          </p:cNvSpPr>
          <p:nvPr>
            <p:ph type="title"/>
          </p:nvPr>
        </p:nvSpPr>
        <p:spPr>
          <a:xfrm>
            <a:off x="111758" y="1869103"/>
            <a:ext cx="9337042" cy="4906929"/>
          </a:xfrm>
        </p:spPr>
        <p:txBody>
          <a:bodyPr anchor="b">
            <a:normAutofit/>
          </a:bodyPr>
          <a:lstStyle/>
          <a:p>
            <a:r>
              <a:rPr lang="en-US"/>
              <a:t>Overall Conclusions</a:t>
            </a:r>
          </a:p>
        </p:txBody>
      </p:sp>
    </p:spTree>
    <p:extLst>
      <p:ext uri="{BB962C8B-B14F-4D97-AF65-F5344CB8AC3E}">
        <p14:creationId xmlns:p14="http://schemas.microsoft.com/office/powerpoint/2010/main" val="342571903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E406C3-A2E3-E510-D3D0-920278CDBEFD}"/>
              </a:ext>
            </a:extLst>
          </p:cNvPr>
          <p:cNvSpPr>
            <a:spLocks noGrp="1"/>
          </p:cNvSpPr>
          <p:nvPr>
            <p:ph type="title"/>
          </p:nvPr>
        </p:nvSpPr>
        <p:spPr>
          <a:xfrm>
            <a:off x="612647" y="475488"/>
            <a:ext cx="6858000" cy="932688"/>
          </a:xfrm>
        </p:spPr>
        <p:txBody>
          <a:bodyPr anchor="b">
            <a:normAutofit/>
          </a:bodyPr>
          <a:lstStyle/>
          <a:p>
            <a:r>
              <a:rPr lang="en-US"/>
              <a:t>Summary of Insights and Strategic Implications</a:t>
            </a:r>
          </a:p>
        </p:txBody>
      </p:sp>
      <p:sp>
        <p:nvSpPr>
          <p:cNvPr id="4" name="Content Placeholder 3">
            <a:extLst>
              <a:ext uri="{FF2B5EF4-FFF2-40B4-BE49-F238E27FC236}">
                <a16:creationId xmlns:a16="http://schemas.microsoft.com/office/drawing/2014/main" id="{C12B038E-9209-C121-0D33-0BEFE29A921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1627632"/>
            <a:ext cx="6858000" cy="4535370"/>
          </a:xfrm>
        </p:spPr>
        <p:txBody>
          <a:bodyPr>
            <a:normAutofit/>
          </a:bodyPr>
          <a:lstStyle/>
          <a:p>
            <a:pPr marL="0" indent="0">
              <a:spcBef>
                <a:spcPts val="2500"/>
              </a:spcBef>
              <a:buFont typeface="Arial" panose="020B0604020202020204" pitchFamily="34" charset="0"/>
              <a:buNone/>
            </a:pPr>
            <a:r>
              <a:rPr lang="en-US" b="1"/>
              <a:t>Suburban Consumer Adaptation</a:t>
            </a:r>
          </a:p>
          <a:p>
            <a:pPr marL="0" lvl="1" indent="0">
              <a:buFont typeface="Arial" panose="020B0604020202020204" pitchFamily="34" charset="0"/>
              <a:buNone/>
            </a:pPr>
            <a:r>
              <a:t>Suburban consumers quickly adapted to remote work, boosting foot traffic and dwell time at office supply stores.</a:t>
            </a:r>
            <a:endParaRPr lang="en-US"/>
          </a:p>
          <a:p>
            <a:pPr marL="0" indent="0">
              <a:spcBef>
                <a:spcPts val="2500"/>
              </a:spcBef>
              <a:buFont typeface="Arial" panose="020B0604020202020204" pitchFamily="34" charset="0"/>
              <a:buNone/>
            </a:pPr>
            <a:r>
              <a:rPr lang="en-US" b="1"/>
              <a:t>Brand Loyalty Impact</a:t>
            </a:r>
          </a:p>
          <a:p>
            <a:pPr marL="0" lvl="1" indent="0">
              <a:buFont typeface="Arial" panose="020B0604020202020204" pitchFamily="34" charset="0"/>
              <a:buNone/>
            </a:pPr>
            <a:r>
              <a:t>Staples and Office Depot leveraged essential status and strong brand loyalty to lead the retail resurgence.</a:t>
            </a:r>
            <a:endParaRPr lang="en-US"/>
          </a:p>
          <a:p>
            <a:pPr marL="0" indent="0">
              <a:spcBef>
                <a:spcPts val="2500"/>
              </a:spcBef>
              <a:buFont typeface="Arial" panose="020B0604020202020204" pitchFamily="34" charset="0"/>
              <a:buNone/>
            </a:pPr>
            <a:r>
              <a:rPr lang="en-US" b="1"/>
              <a:t>Demographic Influence on Behavior</a:t>
            </a:r>
          </a:p>
          <a:p>
            <a:pPr marL="0" lvl="1" indent="0">
              <a:buFont typeface="Arial" panose="020B0604020202020204" pitchFamily="34" charset="0"/>
              <a:buNone/>
            </a:pPr>
            <a:r>
              <a:t>Household composition, working-age density, and education levels shaped efficiency-driven and experience-driven consumer behavior.</a:t>
            </a:r>
            <a:endParaRPr lang="en-US"/>
          </a:p>
          <a:p>
            <a:pPr marL="0" indent="0">
              <a:spcBef>
                <a:spcPts val="2500"/>
              </a:spcBef>
              <a:buFont typeface="Arial" panose="020B0604020202020204" pitchFamily="34" charset="0"/>
              <a:buNone/>
            </a:pPr>
            <a:r>
              <a:rPr lang="en-US" b="1"/>
              <a:t>Retail Strategic Tailoring</a:t>
            </a:r>
          </a:p>
          <a:p>
            <a:pPr marL="0" lvl="1" indent="0">
              <a:buFont typeface="Arial" panose="020B0604020202020204" pitchFamily="34" charset="0"/>
              <a:buNone/>
            </a:pPr>
            <a:r>
              <a:t>Retailers can tailor strategies by creating concept stores in educated areas and enhancing convenience in suburbs.</a:t>
            </a:r>
            <a:endParaRPr lang="en-US"/>
          </a:p>
        </p:txBody>
      </p:sp>
      <p:pic>
        <p:nvPicPr>
          <p:cNvPr id="5" name="Content Placeholder 4" descr="online service with store cell phone">
            <a:extLst>
              <a:ext uri="{FF2B5EF4-FFF2-40B4-BE49-F238E27FC236}">
                <a16:creationId xmlns:a16="http://schemas.microsoft.com/office/drawing/2014/main" id="{6A4CF6E9-FBE9-4F55-AC36-8564A29B644B}"/>
              </a:ext>
            </a:extLst>
          </p:cNvPr>
          <p:cNvPicPr>
            <a:picLocks noGrp="1" noChangeAspect="1"/>
          </p:cNvPicPr>
          <p:nvPr>
            <p:ph type="pic" sz="quarter" idx="13"/>
          </p:nvPr>
        </p:nvPicPr>
        <p:blipFill>
          <a:blip r:embed="rId3"/>
          <a:srcRect l="20771" r="39320" b="-1"/>
          <a:stretch>
            <a:fillRect/>
          </a:stretch>
        </p:blipFill>
        <p:spPr>
          <a:xfrm>
            <a:off x="8091732" y="10"/>
            <a:ext cx="4100267" cy="6857990"/>
          </a:xfrm>
          <a:prstGeom prst="rect">
            <a:avLst/>
          </a:prstGeom>
          <a:noFill/>
        </p:spPr>
      </p:pic>
    </p:spTree>
    <p:extLst>
      <p:ext uri="{BB962C8B-B14F-4D97-AF65-F5344CB8AC3E}">
        <p14:creationId xmlns:p14="http://schemas.microsoft.com/office/powerpoint/2010/main" val="10330112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Helena">
  <a:themeElements>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elena" id="{83D43F4A-02D5-42AD-9542-27487597C212}" vid="{14154C61-C2E2-42F2-9833-4EC39495D4C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Helen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themeOverrid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0CEB72-9B64-43A4-9652-F0FED519FBF8}">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2.xml><?xml version="1.0" encoding="utf-8"?>
<ds:datastoreItem xmlns:ds="http://schemas.openxmlformats.org/officeDocument/2006/customXml" ds:itemID="{43B79205-1ECA-438E-AAC0-B28ABB0DD1EB}">
  <ds:schemaRefs>
    <ds:schemaRef ds:uri="http://schemas.microsoft.com/sharepoint/v3/contenttype/forms"/>
  </ds:schemaRefs>
</ds:datastoreItem>
</file>

<file path=customXml/itemProps3.xml><?xml version="1.0" encoding="utf-8"?>
<ds:datastoreItem xmlns:ds="http://schemas.openxmlformats.org/officeDocument/2006/customXml" ds:itemID="{1E2DB56F-85EA-457A-BE7B-FD342652DFE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Helena</Template>
  <TotalTime>2</TotalTime>
  <Words>4</Words>
  <Application>Microsoft Office PowerPoint</Application>
  <PresentationFormat>Widescreen</PresentationFormat>
  <Paragraphs>2</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Helena</vt:lpstr>
      <vt:lpstr>Foot Traffic and Dwell Time Trends at Office Supply Stores During the Remote Work Shift</vt:lpstr>
      <vt:lpstr>Introduction &amp; Context</vt:lpstr>
      <vt:lpstr>Study Overview and Data Sources</vt:lpstr>
      <vt:lpstr>Research Question 1: Foot Traffic &amp; Demographics</vt:lpstr>
      <vt:lpstr>Weekly Trends and Demographic Influences</vt:lpstr>
      <vt:lpstr>Research Question 2: Suburban vs Urban Recovery</vt:lpstr>
      <vt:lpstr>Geographic Recovery Patterns</vt:lpstr>
      <vt:lpstr>Research Question 3: Brand Stabilization &amp; Loyalty</vt:lpstr>
      <vt:lpstr>Brand Performance and Consumer Behavior</vt:lpstr>
      <vt:lpstr>Overall Conclusions</vt:lpstr>
      <vt:lpstr>Summary of Insights and Strategic Implications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revision>1</cp:revision>
  <dcterms:created xsi:type="dcterms:W3CDTF">2025-08-21T23:24:42Z</dcterms:created>
  <dcterms:modified xsi:type="dcterms:W3CDTF">2025-10-12T06:28:44Z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