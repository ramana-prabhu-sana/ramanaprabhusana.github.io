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theme/theme4.xml" ContentType="application/vnd.openxmlformats-officedocument.theme+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theme/theme6.xml" ContentType="application/vnd.openxmlformats-officedocument.theme+xml"/>
  <Override PartName="/ppt/slideLayouts/slideLayout66.xml" ContentType="application/vnd.openxmlformats-officedocument.presentationml.slideLayout+xml"/>
  <Override PartName="/ppt/theme/theme7.xml" ContentType="application/vnd.openxmlformats-officedocument.theme+xml"/>
  <Override PartName="/ppt/slideLayouts/slideLayout67.xml" ContentType="application/vnd.openxmlformats-officedocument.presentationml.slideLayout+xml"/>
  <Override PartName="/ppt/theme/theme8.xml" ContentType="application/vnd.openxmlformats-officedocument.theme+xml"/>
  <Override PartName="/ppt/slideLayouts/slideLayout68.xml" ContentType="application/vnd.openxmlformats-officedocument.presentationml.slideLayout+xml"/>
  <Override PartName="/ppt/theme/theme9.xml" ContentType="application/vnd.openxmlformats-officedocument.theme+xml"/>
  <Override PartName="/ppt/slideLayouts/slideLayout69.xml" ContentType="application/vnd.openxmlformats-officedocument.presentationml.slideLayout+xml"/>
  <Override PartName="/ppt/theme/theme10.xml" ContentType="application/vnd.openxmlformats-officedocument.theme+xml"/>
  <Override PartName="/ppt/slideLayouts/slideLayout70.xml" ContentType="application/vnd.openxmlformats-officedocument.presentationml.slideLayout+xml"/>
  <Override PartName="/ppt/theme/theme11.xml" ContentType="application/vnd.openxmlformats-officedocument.theme+xml"/>
  <Override PartName="/ppt/slideLayouts/slideLayout71.xml" ContentType="application/vnd.openxmlformats-officedocument.presentationml.slideLayout+xml"/>
  <Override PartName="/ppt/theme/theme12.xml" ContentType="application/vnd.openxmlformats-officedocument.theme+xml"/>
  <Override PartName="/ppt/slideLayouts/slideLayout72.xml" ContentType="application/vnd.openxmlformats-officedocument.presentationml.slideLayout+xml"/>
  <Override PartName="/ppt/theme/theme13.xml" ContentType="application/vnd.openxmlformats-officedocument.theme+xml"/>
  <Override PartName="/ppt/theme/theme1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1" r:id="rId5"/>
    <p:sldMasterId id="2147483733" r:id="rId6"/>
    <p:sldMasterId id="2147483735" r:id="rId7"/>
    <p:sldMasterId id="2147483737" r:id="rId8"/>
    <p:sldMasterId id="2147483652" r:id="rId9"/>
    <p:sldMasterId id="2147483653" r:id="rId10"/>
    <p:sldMasterId id="2147483654" r:id="rId11"/>
    <p:sldMasterId id="2147483655" r:id="rId12"/>
    <p:sldMasterId id="2147483657" r:id="rId13"/>
    <p:sldMasterId id="2147483649" r:id="rId14"/>
    <p:sldMasterId id="2147483651" r:id="rId15"/>
    <p:sldMasterId id="2147483650" r:id="rId16"/>
  </p:sldMasterIdLst>
  <p:notesMasterIdLst>
    <p:notesMasterId r:id="rId30"/>
  </p:notesMasterIdLst>
  <p:sldIdLst>
    <p:sldId id="270" r:id="rId17"/>
    <p:sldId id="266" r:id="rId18"/>
    <p:sldId id="259" r:id="rId19"/>
    <p:sldId id="267" r:id="rId20"/>
    <p:sldId id="268" r:id="rId21"/>
    <p:sldId id="269" r:id="rId22"/>
    <p:sldId id="257" r:id="rId23"/>
    <p:sldId id="258" r:id="rId24"/>
    <p:sldId id="260" r:id="rId25"/>
    <p:sldId id="261" r:id="rId26"/>
    <p:sldId id="262" r:id="rId27"/>
    <p:sldId id="263" r:id="rId28"/>
    <p:sldId id="264" r:id="rId29"/>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ot Traffic and Dwell Time Trends at Office Supply Stores During the Remote Work Shift" id="{8E92C4D6-D615-46CB-8709-D04757F9629D}">
          <p14:sldIdLst>
            <p14:sldId id="270"/>
            <p14:sldId id="266"/>
            <p14:sldId id="259"/>
            <p14:sldId id="267"/>
            <p14:sldId id="268"/>
            <p14:sldId id="269"/>
            <p14:sldId id="257"/>
            <p14:sldId id="258"/>
            <p14:sldId id="260"/>
            <p14:sldId id="261"/>
            <p14:sldId id="262"/>
            <p14:sldId id="263"/>
            <p14:sldId id="264"/>
          </p14:sldIdLst>
        </p14:section>
        <p14:section name="Introduction" id="{E3B6CB13-4729-4B6D-BA2E-625B69C17F2D}">
          <p14:sldIdLst/>
        </p14:section>
        <p14:section name="Research Question 1" id="{0A14D54C-D075-494E-A36D-83DB9E95DA02}">
          <p14:sldIdLst/>
        </p14:section>
        <p14:section name="Research Question 2" id="{F01B88DC-A870-442C-95C6-EE0A49CDC611}">
          <p14:sldIdLst/>
        </p14:section>
        <p14:section name="Conclusion" id="{464C3D19-8D98-49BB-B61F-A609B05EC9C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13FAB6-4C9A-AE4F-94CC-370F68472E6F}" v="12" dt="2025-10-12T17:22:00.031"/>
    <p1510:client id="{222B2EE1-D445-4247-B600-ECCAC1A91266}" v="7" dt="2025-10-12T07:12:52.580"/>
    <p1510:client id="{F63A6E30-EBD9-E6F2-B01F-F40DF7C54297}" v="59" dt="2025-10-12T17:01:24.0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87"/>
  </p:normalViewPr>
  <p:slideViewPr>
    <p:cSldViewPr snapToGrid="0">
      <p:cViewPr varScale="1">
        <p:scale>
          <a:sx n="83" d="100"/>
          <a:sy n="83" d="100"/>
        </p:scale>
        <p:origin x="224" y="8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2.xml"/><Relationship Id="rId26" Type="http://schemas.openxmlformats.org/officeDocument/2006/relationships/slide" Target="slides/slide10.xml"/><Relationship Id="rId21" Type="http://schemas.openxmlformats.org/officeDocument/2006/relationships/slide" Target="slides/slide5.xml"/><Relationship Id="rId34"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Master" Target="slideMasters/slideMaster13.xml"/><Relationship Id="rId20" Type="http://schemas.openxmlformats.org/officeDocument/2006/relationships/slide" Target="slides/slide4.xml"/><Relationship Id="rId29"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8.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microsoft.com/office/2016/11/relationships/changesInfo" Target="changesInfos/changesInfo1.xml"/><Relationship Id="rId10" Type="http://schemas.openxmlformats.org/officeDocument/2006/relationships/slideMaster" Target="slideMasters/slideMaster7.xml"/><Relationship Id="rId19" Type="http://schemas.openxmlformats.org/officeDocument/2006/relationships/slide" Target="slides/slide3.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ana prabhu Sana" userId="9ce700ea-1810-4462-ab36-dec9325c035e" providerId="ADAL" clId="{7F8A51BB-DF7A-5C03-A6B7-03326D5C008F}"/>
    <pc:docChg chg="undo custSel addSld delSld modSld addMainMaster delMainMaster modMainMaster modSection">
      <pc:chgData name="Ramana prabhu Sana" userId="9ce700ea-1810-4462-ab36-dec9325c035e" providerId="ADAL" clId="{7F8A51BB-DF7A-5C03-A6B7-03326D5C008F}" dt="2025-10-12T17:22:21.792" v="57" actId="2696"/>
      <pc:docMkLst>
        <pc:docMk/>
      </pc:docMkLst>
      <pc:sldChg chg="add">
        <pc:chgData name="Ramana prabhu Sana" userId="9ce700ea-1810-4462-ab36-dec9325c035e" providerId="ADAL" clId="{7F8A51BB-DF7A-5C03-A6B7-03326D5C008F}" dt="2025-10-12T17:11:28.539" v="39"/>
        <pc:sldMkLst>
          <pc:docMk/>
          <pc:sldMk cId="1103696173" sldId="257"/>
        </pc:sldMkLst>
      </pc:sldChg>
      <pc:sldChg chg="add del">
        <pc:chgData name="Ramana prabhu Sana" userId="9ce700ea-1810-4462-ab36-dec9325c035e" providerId="ADAL" clId="{7F8A51BB-DF7A-5C03-A6B7-03326D5C008F}" dt="2025-10-12T17:11:26.488" v="31"/>
        <pc:sldMkLst>
          <pc:docMk/>
          <pc:sldMk cId="3516314592" sldId="257"/>
        </pc:sldMkLst>
      </pc:sldChg>
      <pc:sldChg chg="add">
        <pc:chgData name="Ramana prabhu Sana" userId="9ce700ea-1810-4462-ab36-dec9325c035e" providerId="ADAL" clId="{7F8A51BB-DF7A-5C03-A6B7-03326D5C008F}" dt="2025-10-12T17:11:28.539" v="39"/>
        <pc:sldMkLst>
          <pc:docMk/>
          <pc:sldMk cId="1260581314" sldId="258"/>
        </pc:sldMkLst>
      </pc:sldChg>
      <pc:sldChg chg="add del">
        <pc:chgData name="Ramana prabhu Sana" userId="9ce700ea-1810-4462-ab36-dec9325c035e" providerId="ADAL" clId="{7F8A51BB-DF7A-5C03-A6B7-03326D5C008F}" dt="2025-10-12T17:11:26.493" v="32"/>
        <pc:sldMkLst>
          <pc:docMk/>
          <pc:sldMk cId="2669064626" sldId="258"/>
        </pc:sldMkLst>
      </pc:sldChg>
      <pc:sldChg chg="add del">
        <pc:chgData name="Ramana prabhu Sana" userId="9ce700ea-1810-4462-ab36-dec9325c035e" providerId="ADAL" clId="{7F8A51BB-DF7A-5C03-A6B7-03326D5C008F}" dt="2025-10-12T17:11:26.495" v="33"/>
        <pc:sldMkLst>
          <pc:docMk/>
          <pc:sldMk cId="2034595585" sldId="259"/>
        </pc:sldMkLst>
      </pc:sldChg>
      <pc:sldChg chg="add">
        <pc:chgData name="Ramana prabhu Sana" userId="9ce700ea-1810-4462-ab36-dec9325c035e" providerId="ADAL" clId="{7F8A51BB-DF7A-5C03-A6B7-03326D5C008F}" dt="2025-10-12T17:13:49.276" v="48"/>
        <pc:sldMkLst>
          <pc:docMk/>
          <pc:sldMk cId="2279343916" sldId="259"/>
        </pc:sldMkLst>
      </pc:sldChg>
      <pc:sldChg chg="add del">
        <pc:chgData name="Ramana prabhu Sana" userId="9ce700ea-1810-4462-ab36-dec9325c035e" providerId="ADAL" clId="{7F8A51BB-DF7A-5C03-A6B7-03326D5C008F}" dt="2025-10-12T17:12:04.223" v="47" actId="2696"/>
        <pc:sldMkLst>
          <pc:docMk/>
          <pc:sldMk cId="3516314592" sldId="259"/>
        </pc:sldMkLst>
      </pc:sldChg>
      <pc:sldChg chg="modSp add mod">
        <pc:chgData name="Ramana prabhu Sana" userId="9ce700ea-1810-4462-ab36-dec9325c035e" providerId="ADAL" clId="{7F8A51BB-DF7A-5C03-A6B7-03326D5C008F}" dt="2025-10-12T17:12:01.132" v="46" actId="20577"/>
        <pc:sldMkLst>
          <pc:docMk/>
          <pc:sldMk cId="89318112" sldId="260"/>
        </pc:sldMkLst>
        <pc:spChg chg="mod">
          <ac:chgData name="Ramana prabhu Sana" userId="9ce700ea-1810-4462-ab36-dec9325c035e" providerId="ADAL" clId="{7F8A51BB-DF7A-5C03-A6B7-03326D5C008F}" dt="2025-10-12T17:12:01.132" v="46" actId="20577"/>
          <ac:spMkLst>
            <pc:docMk/>
            <pc:sldMk cId="89318112" sldId="260"/>
            <ac:spMk id="4" creationId="{02BD3BEF-3DDC-EFF6-04A3-542C6EABD079}"/>
          </ac:spMkLst>
        </pc:spChg>
      </pc:sldChg>
      <pc:sldChg chg="modSp add del mod">
        <pc:chgData name="Ramana prabhu Sana" userId="9ce700ea-1810-4462-ab36-dec9325c035e" providerId="ADAL" clId="{7F8A51BB-DF7A-5C03-A6B7-03326D5C008F}" dt="2025-10-12T17:11:26.498" v="34"/>
        <pc:sldMkLst>
          <pc:docMk/>
          <pc:sldMk cId="4159993829" sldId="260"/>
        </pc:sldMkLst>
        <pc:spChg chg="mod">
          <ac:chgData name="Ramana prabhu Sana" userId="9ce700ea-1810-4462-ab36-dec9325c035e" providerId="ADAL" clId="{7F8A51BB-DF7A-5C03-A6B7-03326D5C008F}" dt="2025-10-12T17:08:50.614" v="26" actId="27636"/>
          <ac:spMkLst>
            <pc:docMk/>
            <pc:sldMk cId="4159993829" sldId="260"/>
            <ac:spMk id="4" creationId="{94FF236E-92B8-C06F-0218-0DE3CDE5E4A7}"/>
          </ac:spMkLst>
        </pc:spChg>
        <pc:spChg chg="mod">
          <ac:chgData name="Ramana prabhu Sana" userId="9ce700ea-1810-4462-ab36-dec9325c035e" providerId="ADAL" clId="{7F8A51BB-DF7A-5C03-A6B7-03326D5C008F}" dt="2025-10-12T17:08:50.613" v="25" actId="27636"/>
          <ac:spMkLst>
            <pc:docMk/>
            <pc:sldMk cId="4159993829" sldId="260"/>
            <ac:spMk id="23" creationId="{B0950699-8A6C-79EB-D622-4B8DE893197B}"/>
          </ac:spMkLst>
        </pc:spChg>
      </pc:sldChg>
      <pc:sldChg chg="add del">
        <pc:chgData name="Ramana prabhu Sana" userId="9ce700ea-1810-4462-ab36-dec9325c035e" providerId="ADAL" clId="{7F8A51BB-DF7A-5C03-A6B7-03326D5C008F}" dt="2025-10-12T17:22:21.792" v="57" actId="2696"/>
        <pc:sldMkLst>
          <pc:docMk/>
          <pc:sldMk cId="2802003445" sldId="261"/>
        </pc:sldMkLst>
      </pc:sldChg>
      <pc:sldChg chg="modSp add del mod">
        <pc:chgData name="Ramana prabhu Sana" userId="9ce700ea-1810-4462-ab36-dec9325c035e" providerId="ADAL" clId="{7F8A51BB-DF7A-5C03-A6B7-03326D5C008F}" dt="2025-10-12T17:11:28.690" v="41" actId="27636"/>
        <pc:sldMkLst>
          <pc:docMk/>
          <pc:sldMk cId="1391649310" sldId="262"/>
        </pc:sldMkLst>
        <pc:spChg chg="mod">
          <ac:chgData name="Ramana prabhu Sana" userId="9ce700ea-1810-4462-ab36-dec9325c035e" providerId="ADAL" clId="{7F8A51BB-DF7A-5C03-A6B7-03326D5C008F}" dt="2025-10-12T17:11:28.690" v="41" actId="27636"/>
          <ac:spMkLst>
            <pc:docMk/>
            <pc:sldMk cId="1391649310" sldId="262"/>
            <ac:spMk id="4" creationId="{02BD3BEF-3DDC-EFF6-04A3-542C6EABD079}"/>
          </ac:spMkLst>
        </pc:spChg>
      </pc:sldChg>
      <pc:sldChg chg="modSp add mod">
        <pc:chgData name="Ramana prabhu Sana" userId="9ce700ea-1810-4462-ab36-dec9325c035e" providerId="ADAL" clId="{7F8A51BB-DF7A-5C03-A6B7-03326D5C008F}" dt="2025-10-12T17:11:28.694" v="42" actId="27636"/>
        <pc:sldMkLst>
          <pc:docMk/>
          <pc:sldMk cId="94244553" sldId="263"/>
        </pc:sldMkLst>
        <pc:spChg chg="mod">
          <ac:chgData name="Ramana prabhu Sana" userId="9ce700ea-1810-4462-ab36-dec9325c035e" providerId="ADAL" clId="{7F8A51BB-DF7A-5C03-A6B7-03326D5C008F}" dt="2025-10-12T17:11:28.694" v="42" actId="27636"/>
          <ac:spMkLst>
            <pc:docMk/>
            <pc:sldMk cId="94244553" sldId="263"/>
            <ac:spMk id="3" creationId="{4B515C28-264A-B565-F074-3D37916FC28F}"/>
          </ac:spMkLst>
        </pc:spChg>
      </pc:sldChg>
      <pc:sldChg chg="add del">
        <pc:chgData name="Ramana prabhu Sana" userId="9ce700ea-1810-4462-ab36-dec9325c035e" providerId="ADAL" clId="{7F8A51BB-DF7A-5C03-A6B7-03326D5C008F}" dt="2025-10-12T17:11:26.512" v="37"/>
        <pc:sldMkLst>
          <pc:docMk/>
          <pc:sldMk cId="1260581314" sldId="263"/>
        </pc:sldMkLst>
      </pc:sldChg>
      <pc:sldChg chg="modSp add mod">
        <pc:chgData name="Ramana prabhu Sana" userId="9ce700ea-1810-4462-ab36-dec9325c035e" providerId="ADAL" clId="{7F8A51BB-DF7A-5C03-A6B7-03326D5C008F}" dt="2025-10-12T17:11:28.700" v="44" actId="27636"/>
        <pc:sldMkLst>
          <pc:docMk/>
          <pc:sldMk cId="94244553" sldId="264"/>
        </pc:sldMkLst>
        <pc:spChg chg="mod">
          <ac:chgData name="Ramana prabhu Sana" userId="9ce700ea-1810-4462-ab36-dec9325c035e" providerId="ADAL" clId="{7F8A51BB-DF7A-5C03-A6B7-03326D5C008F}" dt="2025-10-12T17:11:28.700" v="44" actId="27636"/>
          <ac:spMkLst>
            <pc:docMk/>
            <pc:sldMk cId="94244553" sldId="264"/>
            <ac:spMk id="3" creationId="{4B515C28-264A-B565-F074-3D37916FC28F}"/>
          </ac:spMkLst>
        </pc:spChg>
        <pc:spChg chg="mod">
          <ac:chgData name="Ramana prabhu Sana" userId="9ce700ea-1810-4462-ab36-dec9325c035e" providerId="ADAL" clId="{7F8A51BB-DF7A-5C03-A6B7-03326D5C008F}" dt="2025-10-12T17:11:28.698" v="43" actId="27636"/>
          <ac:spMkLst>
            <pc:docMk/>
            <pc:sldMk cId="94244553" sldId="264"/>
            <ac:spMk id="5" creationId="{F8447373-3FA9-37F0-AE75-4F52A99B4525}"/>
          </ac:spMkLst>
        </pc:spChg>
      </pc:sldChg>
      <pc:sldChg chg="add del">
        <pc:chgData name="Ramana prabhu Sana" userId="9ce700ea-1810-4462-ab36-dec9325c035e" providerId="ADAL" clId="{7F8A51BB-DF7A-5C03-A6B7-03326D5C008F}" dt="2025-10-12T17:09:50.647" v="28" actId="2696"/>
        <pc:sldMkLst>
          <pc:docMk/>
          <pc:sldMk cId="3211061874" sldId="264"/>
        </pc:sldMkLst>
      </pc:sldChg>
      <pc:sldChg chg="add del">
        <pc:chgData name="Ramana prabhu Sana" userId="9ce700ea-1810-4462-ab36-dec9325c035e" providerId="ADAL" clId="{7F8A51BB-DF7A-5C03-A6B7-03326D5C008F}" dt="2025-10-12T17:11:26.520" v="38"/>
        <pc:sldMkLst>
          <pc:docMk/>
          <pc:sldMk cId="1103696173" sldId="265"/>
        </pc:sldMkLst>
      </pc:sldChg>
      <pc:sldChg chg="add del">
        <pc:chgData name="Ramana prabhu Sana" userId="9ce700ea-1810-4462-ab36-dec9325c035e" providerId="ADAL" clId="{7F8A51BB-DF7A-5C03-A6B7-03326D5C008F}" dt="2025-10-12T17:22:03.254" v="55" actId="2696"/>
        <pc:sldMkLst>
          <pc:docMk/>
          <pc:sldMk cId="3427299547" sldId="265"/>
        </pc:sldMkLst>
      </pc:sldChg>
      <pc:sldChg chg="add">
        <pc:chgData name="Ramana prabhu Sana" userId="9ce700ea-1810-4462-ab36-dec9325c035e" providerId="ADAL" clId="{7F8A51BB-DF7A-5C03-A6B7-03326D5C008F}" dt="2025-10-12T17:13:49.276" v="48"/>
        <pc:sldMkLst>
          <pc:docMk/>
          <pc:sldMk cId="2454873442" sldId="266"/>
        </pc:sldMkLst>
      </pc:sldChg>
      <pc:sldChg chg="modSp add mod">
        <pc:chgData name="Ramana prabhu Sana" userId="9ce700ea-1810-4462-ab36-dec9325c035e" providerId="ADAL" clId="{7F8A51BB-DF7A-5C03-A6B7-03326D5C008F}" dt="2025-10-12T17:13:49.536" v="49" actId="27636"/>
        <pc:sldMkLst>
          <pc:docMk/>
          <pc:sldMk cId="1335087720" sldId="267"/>
        </pc:sldMkLst>
        <pc:spChg chg="mod">
          <ac:chgData name="Ramana prabhu Sana" userId="9ce700ea-1810-4462-ab36-dec9325c035e" providerId="ADAL" clId="{7F8A51BB-DF7A-5C03-A6B7-03326D5C008F}" dt="2025-10-12T17:13:49.536" v="49" actId="27636"/>
          <ac:spMkLst>
            <pc:docMk/>
            <pc:sldMk cId="1335087720" sldId="267"/>
            <ac:spMk id="8" creationId="{AA0DFF5B-20B4-3381-247B-7CCDB5C1F75A}"/>
          </ac:spMkLst>
        </pc:spChg>
      </pc:sldChg>
      <pc:sldChg chg="modSp add mod">
        <pc:chgData name="Ramana prabhu Sana" userId="9ce700ea-1810-4462-ab36-dec9325c035e" providerId="ADAL" clId="{7F8A51BB-DF7A-5C03-A6B7-03326D5C008F}" dt="2025-10-12T17:13:49.550" v="53" actId="27636"/>
        <pc:sldMkLst>
          <pc:docMk/>
          <pc:sldMk cId="656878786" sldId="268"/>
        </pc:sldMkLst>
        <pc:spChg chg="mod">
          <ac:chgData name="Ramana prabhu Sana" userId="9ce700ea-1810-4462-ab36-dec9325c035e" providerId="ADAL" clId="{7F8A51BB-DF7A-5C03-A6B7-03326D5C008F}" dt="2025-10-12T17:13:49.546" v="51" actId="27636"/>
          <ac:spMkLst>
            <pc:docMk/>
            <pc:sldMk cId="656878786" sldId="268"/>
            <ac:spMk id="38" creationId="{DEBEEAAA-BC94-4486-7A2F-A019D175F8A9}"/>
          </ac:spMkLst>
        </pc:spChg>
        <pc:spChg chg="mod">
          <ac:chgData name="Ramana prabhu Sana" userId="9ce700ea-1810-4462-ab36-dec9325c035e" providerId="ADAL" clId="{7F8A51BB-DF7A-5C03-A6B7-03326D5C008F}" dt="2025-10-12T17:13:49.547" v="52" actId="27636"/>
          <ac:spMkLst>
            <pc:docMk/>
            <pc:sldMk cId="656878786" sldId="268"/>
            <ac:spMk id="39" creationId="{3CD813E3-D12E-6055-9D52-0C80CCC02D13}"/>
          </ac:spMkLst>
        </pc:spChg>
        <pc:spChg chg="mod">
          <ac:chgData name="Ramana prabhu Sana" userId="9ce700ea-1810-4462-ab36-dec9325c035e" providerId="ADAL" clId="{7F8A51BB-DF7A-5C03-A6B7-03326D5C008F}" dt="2025-10-12T17:13:49.550" v="53" actId="27636"/>
          <ac:spMkLst>
            <pc:docMk/>
            <pc:sldMk cId="656878786" sldId="268"/>
            <ac:spMk id="40" creationId="{AC0BC347-6EF6-C29A-81E2-1F39A54F8830}"/>
          </ac:spMkLst>
        </pc:spChg>
        <pc:spChg chg="mod">
          <ac:chgData name="Ramana prabhu Sana" userId="9ce700ea-1810-4462-ab36-dec9325c035e" providerId="ADAL" clId="{7F8A51BB-DF7A-5C03-A6B7-03326D5C008F}" dt="2025-10-12T17:13:49.544" v="50" actId="27636"/>
          <ac:spMkLst>
            <pc:docMk/>
            <pc:sldMk cId="656878786" sldId="268"/>
            <ac:spMk id="44" creationId="{4FF825C2-5D50-4AF3-6DD9-ED686FC5CE15}"/>
          </ac:spMkLst>
        </pc:spChg>
      </pc:sldChg>
      <pc:sldChg chg="add">
        <pc:chgData name="Ramana prabhu Sana" userId="9ce700ea-1810-4462-ab36-dec9325c035e" providerId="ADAL" clId="{7F8A51BB-DF7A-5C03-A6B7-03326D5C008F}" dt="2025-10-12T17:13:49.276" v="48"/>
        <pc:sldMkLst>
          <pc:docMk/>
          <pc:sldMk cId="3246682140" sldId="269"/>
        </pc:sldMkLst>
      </pc:sldChg>
      <pc:sldChg chg="add">
        <pc:chgData name="Ramana prabhu Sana" userId="9ce700ea-1810-4462-ab36-dec9325c035e" providerId="ADAL" clId="{7F8A51BB-DF7A-5C03-A6B7-03326D5C008F}" dt="2025-10-12T17:22:00.029" v="54"/>
        <pc:sldMkLst>
          <pc:docMk/>
          <pc:sldMk cId="902207695" sldId="270"/>
        </pc:sldMkLst>
      </pc:sldChg>
      <pc:sldChg chg="addSp delSp modSp del mod addAnim delAnim">
        <pc:chgData name="Ramana prabhu Sana" userId="9ce700ea-1810-4462-ab36-dec9325c035e" providerId="ADAL" clId="{7F8A51BB-DF7A-5C03-A6B7-03326D5C008F}" dt="2025-10-12T17:08:49.209" v="16"/>
        <pc:sldMkLst>
          <pc:docMk/>
          <pc:sldMk cId="3648084093" sldId="2561"/>
        </pc:sldMkLst>
        <pc:spChg chg="add del mod">
          <ac:chgData name="Ramana prabhu Sana" userId="9ce700ea-1810-4462-ab36-dec9325c035e" providerId="ADAL" clId="{7F8A51BB-DF7A-5C03-A6B7-03326D5C008F}" dt="2025-10-12T17:03:59.876" v="13" actId="1076"/>
          <ac:spMkLst>
            <pc:docMk/>
            <pc:sldMk cId="3648084093" sldId="2561"/>
            <ac:spMk id="2" creationId="{A40342B5-188F-D288-0404-F9CF1C4A7C96}"/>
          </ac:spMkLst>
        </pc:spChg>
        <pc:spChg chg="add del mod">
          <ac:chgData name="Ramana prabhu Sana" userId="9ce700ea-1810-4462-ab36-dec9325c035e" providerId="ADAL" clId="{7F8A51BB-DF7A-5C03-A6B7-03326D5C008F}" dt="2025-10-12T17:03:31.742" v="2" actId="478"/>
          <ac:spMkLst>
            <pc:docMk/>
            <pc:sldMk cId="3648084093" sldId="2561"/>
            <ac:spMk id="5" creationId="{35AF784B-61DA-E831-63AE-BA19286B069E}"/>
          </ac:spMkLst>
        </pc:spChg>
      </pc:sldChg>
      <pc:sldChg chg="modSp del mod">
        <pc:chgData name="Ramana prabhu Sana" userId="9ce700ea-1810-4462-ab36-dec9325c035e" providerId="ADAL" clId="{7F8A51BB-DF7A-5C03-A6B7-03326D5C008F}" dt="2025-10-12T17:08:49.214" v="17"/>
        <pc:sldMkLst>
          <pc:docMk/>
          <pc:sldMk cId="3001975968" sldId="2563"/>
        </pc:sldMkLst>
        <pc:spChg chg="mod">
          <ac:chgData name="Ramana prabhu Sana" userId="9ce700ea-1810-4462-ab36-dec9325c035e" providerId="ADAL" clId="{7F8A51BB-DF7A-5C03-A6B7-03326D5C008F}" dt="2025-10-12T17:04:07.025" v="14" actId="1076"/>
          <ac:spMkLst>
            <pc:docMk/>
            <pc:sldMk cId="3001975968" sldId="2563"/>
            <ac:spMk id="4" creationId="{7D61F5B6-780C-CEC1-8002-2B6615A95EAB}"/>
          </ac:spMkLst>
        </pc:spChg>
      </pc:sldChg>
      <pc:sldChg chg="del">
        <pc:chgData name="Ramana prabhu Sana" userId="9ce700ea-1810-4462-ab36-dec9325c035e" providerId="ADAL" clId="{7F8A51BB-DF7A-5C03-A6B7-03326D5C008F}" dt="2025-10-12T17:07:58.011" v="15" actId="2696"/>
        <pc:sldMkLst>
          <pc:docMk/>
          <pc:sldMk cId="1665233876" sldId="2564"/>
        </pc:sldMkLst>
      </pc:sldChg>
      <pc:sldChg chg="del">
        <pc:chgData name="Ramana prabhu Sana" userId="9ce700ea-1810-4462-ab36-dec9325c035e" providerId="ADAL" clId="{7F8A51BB-DF7A-5C03-A6B7-03326D5C008F}" dt="2025-10-12T17:08:49.217" v="18"/>
        <pc:sldMkLst>
          <pc:docMk/>
          <pc:sldMk cId="2098889048" sldId="2565"/>
        </pc:sldMkLst>
      </pc:sldChg>
      <pc:sldChg chg="del">
        <pc:chgData name="Ramana prabhu Sana" userId="9ce700ea-1810-4462-ab36-dec9325c035e" providerId="ADAL" clId="{7F8A51BB-DF7A-5C03-A6B7-03326D5C008F}" dt="2025-10-12T17:08:49.222" v="20"/>
        <pc:sldMkLst>
          <pc:docMk/>
          <pc:sldMk cId="1705713101" sldId="2567"/>
        </pc:sldMkLst>
      </pc:sldChg>
      <pc:sldChg chg="del">
        <pc:chgData name="Ramana prabhu Sana" userId="9ce700ea-1810-4462-ab36-dec9325c035e" providerId="ADAL" clId="{7F8A51BB-DF7A-5C03-A6B7-03326D5C008F}" dt="2025-10-12T17:08:49.223" v="21"/>
        <pc:sldMkLst>
          <pc:docMk/>
          <pc:sldMk cId="1830895055" sldId="2569"/>
        </pc:sldMkLst>
      </pc:sldChg>
      <pc:sldChg chg="del">
        <pc:chgData name="Ramana prabhu Sana" userId="9ce700ea-1810-4462-ab36-dec9325c035e" providerId="ADAL" clId="{7F8A51BB-DF7A-5C03-A6B7-03326D5C008F}" dt="2025-10-12T17:08:49.224" v="22"/>
        <pc:sldMkLst>
          <pc:docMk/>
          <pc:sldMk cId="590233410" sldId="2570"/>
        </pc:sldMkLst>
      </pc:sldChg>
      <pc:sldChg chg="del">
        <pc:chgData name="Ramana prabhu Sana" userId="9ce700ea-1810-4462-ab36-dec9325c035e" providerId="ADAL" clId="{7F8A51BB-DF7A-5C03-A6B7-03326D5C008F}" dt="2025-10-12T17:08:49.241" v="23"/>
        <pc:sldMkLst>
          <pc:docMk/>
          <pc:sldMk cId="1171481623" sldId="2571"/>
        </pc:sldMkLst>
      </pc:sldChg>
      <pc:sldChg chg="del">
        <pc:chgData name="Ramana prabhu Sana" userId="9ce700ea-1810-4462-ab36-dec9325c035e" providerId="ADAL" clId="{7F8A51BB-DF7A-5C03-A6B7-03326D5C008F}" dt="2025-10-12T17:08:49.221" v="19"/>
        <pc:sldMkLst>
          <pc:docMk/>
          <pc:sldMk cId="1365239207" sldId="2573"/>
        </pc:sldMkLst>
      </pc:sldChg>
      <pc:sldMasterChg chg="add addSldLayout">
        <pc:chgData name="Ramana prabhu Sana" userId="9ce700ea-1810-4462-ab36-dec9325c035e" providerId="ADAL" clId="{7F8A51BB-DF7A-5C03-A6B7-03326D5C008F}" dt="2025-10-12T17:13:49.276" v="48"/>
        <pc:sldMasterMkLst>
          <pc:docMk/>
          <pc:sldMasterMk cId="4110171325" sldId="2147483649"/>
        </pc:sldMasterMkLst>
        <pc:sldLayoutChg chg="add">
          <pc:chgData name="Ramana prabhu Sana" userId="9ce700ea-1810-4462-ab36-dec9325c035e" providerId="ADAL" clId="{7F8A51BB-DF7A-5C03-A6B7-03326D5C008F}" dt="2025-10-12T17:13:49.276" v="48"/>
          <pc:sldLayoutMkLst>
            <pc:docMk/>
            <pc:sldMasterMk cId="4110171325" sldId="2147483649"/>
            <pc:sldLayoutMk cId="2574837703" sldId="2147483666"/>
          </pc:sldLayoutMkLst>
        </pc:sldLayoutChg>
      </pc:sldMasterChg>
      <pc:sldMasterChg chg="add addSldLayout">
        <pc:chgData name="Ramana prabhu Sana" userId="9ce700ea-1810-4462-ab36-dec9325c035e" providerId="ADAL" clId="{7F8A51BB-DF7A-5C03-A6B7-03326D5C008F}" dt="2025-10-12T17:13:49.276" v="48"/>
        <pc:sldMasterMkLst>
          <pc:docMk/>
          <pc:sldMasterMk cId="4110171325" sldId="2147483650"/>
        </pc:sldMasterMkLst>
        <pc:sldLayoutChg chg="add">
          <pc:chgData name="Ramana prabhu Sana" userId="9ce700ea-1810-4462-ab36-dec9325c035e" providerId="ADAL" clId="{7F8A51BB-DF7A-5C03-A6B7-03326D5C008F}" dt="2025-10-12T17:13:49.276" v="48"/>
          <pc:sldLayoutMkLst>
            <pc:docMk/>
            <pc:sldMasterMk cId="4110171325" sldId="2147483650"/>
            <pc:sldLayoutMk cId="2173432954" sldId="2147483667"/>
          </pc:sldLayoutMkLst>
        </pc:sldLayoutChg>
      </pc:sldMasterChg>
      <pc:sldMasterChg chg="add addSldLayout">
        <pc:chgData name="Ramana prabhu Sana" userId="9ce700ea-1810-4462-ab36-dec9325c035e" providerId="ADAL" clId="{7F8A51BB-DF7A-5C03-A6B7-03326D5C008F}" dt="2025-10-12T17:13:49.276" v="48"/>
        <pc:sldMasterMkLst>
          <pc:docMk/>
          <pc:sldMasterMk cId="563671588" sldId="2147483651"/>
        </pc:sldMasterMkLst>
        <pc:sldLayoutChg chg="add">
          <pc:chgData name="Ramana prabhu Sana" userId="9ce700ea-1810-4462-ab36-dec9325c035e" providerId="ADAL" clId="{7F8A51BB-DF7A-5C03-A6B7-03326D5C008F}" dt="2025-10-12T17:13:49.276" v="48"/>
          <pc:sldLayoutMkLst>
            <pc:docMk/>
            <pc:sldMasterMk cId="563671588" sldId="2147483651"/>
            <pc:sldLayoutMk cId="3519021425" sldId="2147483668"/>
          </pc:sldLayoutMkLst>
        </pc:sldLayoutChg>
      </pc:sldMasterChg>
      <pc:sldMasterChg chg="add addSldLayout">
        <pc:chgData name="Ramana prabhu Sana" userId="9ce700ea-1810-4462-ab36-dec9325c035e" providerId="ADAL" clId="{7F8A51BB-DF7A-5C03-A6B7-03326D5C008F}" dt="2025-10-12T17:08:50.447" v="24"/>
        <pc:sldMasterMkLst>
          <pc:docMk/>
          <pc:sldMasterMk cId="3369236946" sldId="2147483652"/>
        </pc:sldMasterMkLst>
        <pc:sldLayoutChg chg="add">
          <pc:chgData name="Ramana prabhu Sana" userId="9ce700ea-1810-4462-ab36-dec9325c035e" providerId="ADAL" clId="{7F8A51BB-DF7A-5C03-A6B7-03326D5C008F}" dt="2025-10-12T17:08:50.447" v="24"/>
          <pc:sldLayoutMkLst>
            <pc:docMk/>
            <pc:sldMasterMk cId="3369236946" sldId="2147483652"/>
            <pc:sldLayoutMk cId="167203400" sldId="2147483672"/>
          </pc:sldLayoutMkLst>
        </pc:sldLayoutChg>
      </pc:sldMasterChg>
      <pc:sldMasterChg chg="add addSldLayout">
        <pc:chgData name="Ramana prabhu Sana" userId="9ce700ea-1810-4462-ab36-dec9325c035e" providerId="ADAL" clId="{7F8A51BB-DF7A-5C03-A6B7-03326D5C008F}" dt="2025-10-12T17:08:50.447" v="24"/>
        <pc:sldMasterMkLst>
          <pc:docMk/>
          <pc:sldMasterMk cId="2815645886" sldId="2147483653"/>
        </pc:sldMasterMkLst>
        <pc:sldLayoutChg chg="add">
          <pc:chgData name="Ramana prabhu Sana" userId="9ce700ea-1810-4462-ab36-dec9325c035e" providerId="ADAL" clId="{7F8A51BB-DF7A-5C03-A6B7-03326D5C008F}" dt="2025-10-12T17:08:50.447" v="24"/>
          <pc:sldLayoutMkLst>
            <pc:docMk/>
            <pc:sldMasterMk cId="2815645886" sldId="2147483653"/>
            <pc:sldLayoutMk cId="3867530689" sldId="2147483673"/>
          </pc:sldLayoutMkLst>
        </pc:sldLayoutChg>
      </pc:sldMasterChg>
      <pc:sldMasterChg chg="add addSldLayout modSldLayout">
        <pc:chgData name="Ramana prabhu Sana" userId="9ce700ea-1810-4462-ab36-dec9325c035e" providerId="ADAL" clId="{7F8A51BB-DF7A-5C03-A6B7-03326D5C008F}" dt="2025-10-12T17:11:28.539" v="39"/>
        <pc:sldMasterMkLst>
          <pc:docMk/>
          <pc:sldMasterMk cId="3369236946" sldId="2147483654"/>
        </pc:sldMasterMkLst>
        <pc:sldLayoutChg chg="add replId">
          <pc:chgData name="Ramana prabhu Sana" userId="9ce700ea-1810-4462-ab36-dec9325c035e" providerId="ADAL" clId="{7F8A51BB-DF7A-5C03-A6B7-03326D5C008F}" dt="2025-10-12T17:11:28.539" v="39"/>
          <pc:sldLayoutMkLst>
            <pc:docMk/>
            <pc:sldMasterMk cId="3369236946" sldId="2147483654"/>
            <pc:sldLayoutMk cId="167203400" sldId="2147483732"/>
          </pc:sldLayoutMkLst>
        </pc:sldLayoutChg>
      </pc:sldMasterChg>
      <pc:sldMasterChg chg="add addSldLayout">
        <pc:chgData name="Ramana prabhu Sana" userId="9ce700ea-1810-4462-ab36-dec9325c035e" providerId="ADAL" clId="{7F8A51BB-DF7A-5C03-A6B7-03326D5C008F}" dt="2025-10-12T17:08:50.447" v="24"/>
        <pc:sldMasterMkLst>
          <pc:docMk/>
          <pc:sldMasterMk cId="1266058122" sldId="2147483655"/>
        </pc:sldMasterMkLst>
        <pc:sldLayoutChg chg="add">
          <pc:chgData name="Ramana prabhu Sana" userId="9ce700ea-1810-4462-ab36-dec9325c035e" providerId="ADAL" clId="{7F8A51BB-DF7A-5C03-A6B7-03326D5C008F}" dt="2025-10-12T17:08:50.447" v="24"/>
          <pc:sldLayoutMkLst>
            <pc:docMk/>
            <pc:sldMasterMk cId="1266058122" sldId="2147483655"/>
            <pc:sldLayoutMk cId="1598490781" sldId="2147483675"/>
          </pc:sldLayoutMkLst>
        </pc:sldLayoutChg>
      </pc:sldMasterChg>
      <pc:sldMasterChg chg="add del addSldLayout">
        <pc:chgData name="Ramana prabhu Sana" userId="9ce700ea-1810-4462-ab36-dec9325c035e" providerId="ADAL" clId="{7F8A51BB-DF7A-5C03-A6B7-03326D5C008F}" dt="2025-10-12T17:09:50.653" v="29" actId="2696"/>
        <pc:sldMasterMkLst>
          <pc:docMk/>
          <pc:sldMasterMk cId="4110171325" sldId="2147483656"/>
        </pc:sldMasterMkLst>
        <pc:sldLayoutChg chg="add">
          <pc:chgData name="Ramana prabhu Sana" userId="9ce700ea-1810-4462-ab36-dec9325c035e" providerId="ADAL" clId="{7F8A51BB-DF7A-5C03-A6B7-03326D5C008F}" dt="2025-10-12T17:08:50.447" v="24"/>
          <pc:sldLayoutMkLst>
            <pc:docMk/>
            <pc:sldMasterMk cId="4110171325" sldId="2147483656"/>
            <pc:sldLayoutMk cId="304333236" sldId="2147483676"/>
          </pc:sldLayoutMkLst>
        </pc:sldLayoutChg>
      </pc:sldMasterChg>
      <pc:sldMasterChg chg="add addSldLayout">
        <pc:chgData name="Ramana prabhu Sana" userId="9ce700ea-1810-4462-ab36-dec9325c035e" providerId="ADAL" clId="{7F8A51BB-DF7A-5C03-A6B7-03326D5C008F}" dt="2025-10-12T17:08:50.447" v="24"/>
        <pc:sldMasterMkLst>
          <pc:docMk/>
          <pc:sldMasterMk cId="1266058122" sldId="2147483657"/>
        </pc:sldMasterMkLst>
        <pc:sldLayoutChg chg="add">
          <pc:chgData name="Ramana prabhu Sana" userId="9ce700ea-1810-4462-ab36-dec9325c035e" providerId="ADAL" clId="{7F8A51BB-DF7A-5C03-A6B7-03326D5C008F}" dt="2025-10-12T17:08:50.447" v="24"/>
          <pc:sldLayoutMkLst>
            <pc:docMk/>
            <pc:sldMasterMk cId="1266058122" sldId="2147483657"/>
            <pc:sldLayoutMk cId="1598490781" sldId="2147483677"/>
          </pc:sldLayoutMkLst>
        </pc:sldLayoutChg>
      </pc:sldMasterChg>
      <pc:sldMasterChg chg="modSldLayout">
        <pc:chgData name="Ramana prabhu Sana" userId="9ce700ea-1810-4462-ab36-dec9325c035e" providerId="ADAL" clId="{7F8A51BB-DF7A-5C03-A6B7-03326D5C008F}" dt="2025-10-12T17:13:49.276" v="48"/>
        <pc:sldMasterMkLst>
          <pc:docMk/>
          <pc:sldMasterMk cId="2457166413" sldId="2147483660"/>
        </pc:sldMasterMkLst>
        <pc:sldLayoutChg chg="replId">
          <pc:chgData name="Ramana prabhu Sana" userId="9ce700ea-1810-4462-ab36-dec9325c035e" providerId="ADAL" clId="{7F8A51BB-DF7A-5C03-A6B7-03326D5C008F}" dt="2025-10-12T17:08:50.447" v="24"/>
          <pc:sldLayoutMkLst>
            <pc:docMk/>
            <pc:sldMasterMk cId="2457166413" sldId="2147483660"/>
            <pc:sldLayoutMk cId="140678789" sldId="2147483723"/>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2460957508" sldId="2147483724"/>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249725382" sldId="2147483725"/>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588598845" sldId="2147483726"/>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1692472803" sldId="2147483727"/>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673079583" sldId="2147483728"/>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1699266455" sldId="2147483729"/>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2187351489" sldId="2147483730"/>
          </pc:sldLayoutMkLst>
        </pc:sldLayoutChg>
        <pc:sldLayoutChg chg="replId">
          <pc:chgData name="Ramana prabhu Sana" userId="9ce700ea-1810-4462-ab36-dec9325c035e" providerId="ADAL" clId="{7F8A51BB-DF7A-5C03-A6B7-03326D5C008F}" dt="2025-10-12T17:08:50.447" v="24"/>
          <pc:sldLayoutMkLst>
            <pc:docMk/>
            <pc:sldMasterMk cId="2457166413" sldId="2147483660"/>
            <pc:sldLayoutMk cId="509542785" sldId="2147483731"/>
          </pc:sldLayoutMkLst>
        </pc:sldLayoutChg>
        <pc:sldLayoutChg chg="replId">
          <pc:chgData name="Ramana prabhu Sana" userId="9ce700ea-1810-4462-ab36-dec9325c035e" providerId="ADAL" clId="{7F8A51BB-DF7A-5C03-A6B7-03326D5C008F}" dt="2025-10-12T17:13:49.276" v="48"/>
          <pc:sldLayoutMkLst>
            <pc:docMk/>
            <pc:sldMasterMk cId="2457166413" sldId="2147483660"/>
            <pc:sldLayoutMk cId="1598128925" sldId="2147483734"/>
          </pc:sldLayoutMkLst>
        </pc:sldLayoutChg>
        <pc:sldLayoutChg chg="replId">
          <pc:chgData name="Ramana prabhu Sana" userId="9ce700ea-1810-4462-ab36-dec9325c035e" providerId="ADAL" clId="{7F8A51BB-DF7A-5C03-A6B7-03326D5C008F}" dt="2025-10-12T17:13:49.276" v="48"/>
          <pc:sldLayoutMkLst>
            <pc:docMk/>
            <pc:sldMasterMk cId="2457166413" sldId="2147483660"/>
            <pc:sldLayoutMk cId="1313234757" sldId="2147483736"/>
          </pc:sldLayoutMkLst>
        </pc:sldLayoutChg>
        <pc:sldLayoutChg chg="replId">
          <pc:chgData name="Ramana prabhu Sana" userId="9ce700ea-1810-4462-ab36-dec9325c035e" providerId="ADAL" clId="{7F8A51BB-DF7A-5C03-A6B7-03326D5C008F}" dt="2025-10-12T17:13:49.276" v="48"/>
          <pc:sldLayoutMkLst>
            <pc:docMk/>
            <pc:sldMasterMk cId="2457166413" sldId="2147483660"/>
            <pc:sldLayoutMk cId="3534333698" sldId="2147483738"/>
          </pc:sldLayoutMkLst>
        </pc:sldLayoutChg>
      </pc:sldMasterChg>
      <pc:sldMasterChg chg="add replId addSldLayout">
        <pc:chgData name="Ramana prabhu Sana" userId="9ce700ea-1810-4462-ab36-dec9325c035e" providerId="ADAL" clId="{7F8A51BB-DF7A-5C03-A6B7-03326D5C008F}" dt="2025-10-12T17:13:49.276" v="48"/>
        <pc:sldMasterMkLst>
          <pc:docMk/>
          <pc:sldMasterMk cId="2173453369" sldId="2147483733"/>
        </pc:sldMasterMkLst>
        <pc:sldLayoutChg chg="add">
          <pc:chgData name="Ramana prabhu Sana" userId="9ce700ea-1810-4462-ab36-dec9325c035e" providerId="ADAL" clId="{7F8A51BB-DF7A-5C03-A6B7-03326D5C008F}" dt="2025-10-12T17:08:50.447" v="24"/>
          <pc:sldLayoutMkLst>
            <pc:docMk/>
            <pc:sldMasterMk cId="2173453369" sldId="2147483733"/>
            <pc:sldLayoutMk cId="3076341747" sldId="2147483669"/>
          </pc:sldLayoutMkLst>
        </pc:sldLayoutChg>
        <pc:sldLayoutChg chg="add">
          <pc:chgData name="Ramana prabhu Sana" userId="9ce700ea-1810-4462-ab36-dec9325c035e" providerId="ADAL" clId="{7F8A51BB-DF7A-5C03-A6B7-03326D5C008F}" dt="2025-10-12T17:11:28.539" v="39"/>
          <pc:sldLayoutMkLst>
            <pc:docMk/>
            <pc:sldMasterMk cId="2173453369" sldId="2147483733"/>
            <pc:sldLayoutMk cId="2613208332" sldId="2147483674"/>
          </pc:sldLayoutMkLst>
        </pc:sldLayoutChg>
      </pc:sldMasterChg>
      <pc:sldMasterChg chg="add replId addSldLayout">
        <pc:chgData name="Ramana prabhu Sana" userId="9ce700ea-1810-4462-ab36-dec9325c035e" providerId="ADAL" clId="{7F8A51BB-DF7A-5C03-A6B7-03326D5C008F}" dt="2025-10-12T17:13:49.276" v="48"/>
        <pc:sldMasterMkLst>
          <pc:docMk/>
          <pc:sldMasterMk cId="2486072912" sldId="2147483735"/>
        </pc:sldMasterMkLst>
        <pc:sldLayoutChg chg="add">
          <pc:chgData name="Ramana prabhu Sana" userId="9ce700ea-1810-4462-ab36-dec9325c035e" providerId="ADAL" clId="{7F8A51BB-DF7A-5C03-A6B7-03326D5C008F}" dt="2025-10-12T17:08:50.447" v="24"/>
          <pc:sldLayoutMkLst>
            <pc:docMk/>
            <pc:sldMasterMk cId="2486072912" sldId="2147483735"/>
            <pc:sldLayoutMk cId="787499610" sldId="2147483670"/>
          </pc:sldLayoutMkLst>
        </pc:sldLayoutChg>
      </pc:sldMasterChg>
      <pc:sldMasterChg chg="add replId addSldLayout">
        <pc:chgData name="Ramana prabhu Sana" userId="9ce700ea-1810-4462-ab36-dec9325c035e" providerId="ADAL" clId="{7F8A51BB-DF7A-5C03-A6B7-03326D5C008F}" dt="2025-10-12T17:13:49.276" v="48"/>
        <pc:sldMasterMkLst>
          <pc:docMk/>
          <pc:sldMasterMk cId="2193092003" sldId="2147483737"/>
        </pc:sldMasterMkLst>
        <pc:sldLayoutChg chg="add">
          <pc:chgData name="Ramana prabhu Sana" userId="9ce700ea-1810-4462-ab36-dec9325c035e" providerId="ADAL" clId="{7F8A51BB-DF7A-5C03-A6B7-03326D5C008F}" dt="2025-10-12T17:08:50.447" v="24"/>
          <pc:sldLayoutMkLst>
            <pc:docMk/>
            <pc:sldMasterMk cId="2193092003" sldId="2147483737"/>
            <pc:sldLayoutMk cId="422833629" sldId="2147483671"/>
          </pc:sldLayoutMkLst>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3922778503776852E-2"/>
          <c:y val="3.828749761515661E-2"/>
          <c:w val="0.60653509646309833"/>
          <c:h val="0.92616624113700408"/>
        </c:manualLayout>
      </c:layout>
      <c:doughnutChart>
        <c:varyColors val="1"/>
        <c:ser>
          <c:idx val="0"/>
          <c:order val="0"/>
          <c:tx>
            <c:strRef>
              <c:f>Sheet1!$B$1</c:f>
              <c:strCache>
                <c:ptCount val="1"/>
                <c:pt idx="0">
                  <c:v>Channel mix</c:v>
                </c:pt>
              </c:strCache>
            </c:strRef>
          </c:tx>
          <c:spPr>
            <a:ln w="12700">
              <a:noFill/>
            </a:ln>
          </c:spPr>
          <c:dPt>
            <c:idx val="0"/>
            <c:bubble3D val="0"/>
            <c:spPr>
              <a:solidFill>
                <a:schemeClr val="accent1"/>
              </a:solidFill>
              <a:ln w="12700">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1-4A2E-4EAD-9642-BF4FDA7C1535}"/>
              </c:ext>
            </c:extLst>
          </c:dPt>
          <c:dPt>
            <c:idx val="1"/>
            <c:bubble3D val="0"/>
            <c:spPr>
              <a:solidFill>
                <a:schemeClr val="accent2"/>
              </a:solidFill>
              <a:ln w="12700">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3-4A2E-4EAD-9642-BF4FDA7C1535}"/>
              </c:ext>
            </c:extLst>
          </c:dPt>
          <c:dPt>
            <c:idx val="2"/>
            <c:bubble3D val="0"/>
            <c:spPr>
              <a:solidFill>
                <a:schemeClr val="accent3"/>
              </a:solidFill>
              <a:ln w="12700">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5-4A2E-4EAD-9642-BF4FDA7C1535}"/>
              </c:ext>
            </c:extLst>
          </c:dPt>
          <c:dPt>
            <c:idx val="3"/>
            <c:bubble3D val="0"/>
            <c:spPr>
              <a:solidFill>
                <a:schemeClr val="accent4"/>
              </a:solidFill>
              <a:ln w="12700">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7-4A2E-4EAD-9642-BF4FDA7C1535}"/>
              </c:ext>
            </c:extLst>
          </c:dPt>
          <c:dPt>
            <c:idx val="4"/>
            <c:bubble3D val="0"/>
            <c:spPr>
              <a:solidFill>
                <a:schemeClr val="accent5"/>
              </a:solidFill>
              <a:ln w="12700">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9-4A2E-4EAD-9642-BF4FDA7C1535}"/>
              </c:ext>
            </c:extLst>
          </c:dPt>
          <c:dPt>
            <c:idx val="5"/>
            <c:bubble3D val="0"/>
            <c:spPr>
              <a:solidFill>
                <a:schemeClr val="accent6"/>
              </a:solidFill>
              <a:ln w="12700">
                <a:noFill/>
              </a:ln>
              <a:effectLst/>
            </c:spPr>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B-4A2E-4EAD-9642-BF4FDA7C1535}"/>
              </c:ext>
            </c:extLst>
          </c:dPt>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5="http://schemas.microsoft.com/office/drawing/2012/chart" uri="{CE6537A1-D6FC-4f65-9D91-7224C49458BB}"/>
            </c:extLst>
          </c:dLbls>
          <c:cat>
            <c:strRef>
              <c:f>Sheet1!$A$2:$A$8</c:f>
              <c:strCache>
                <c:ptCount val="7"/>
                <c:pt idx="0">
                  <c:v>Staples</c:v>
                </c:pt>
                <c:pt idx="1">
                  <c:v>Office Depot</c:v>
                </c:pt>
                <c:pt idx="2">
                  <c:v>OfficeMax</c:v>
                </c:pt>
                <c:pt idx="3">
                  <c:v>Cartridge World</c:v>
                </c:pt>
                <c:pt idx="4">
                  <c:v>Paper Source</c:v>
                </c:pt>
                <c:pt idx="5">
                  <c:v>Papyrus</c:v>
                </c:pt>
                <c:pt idx="6">
                  <c:v>Rapid Refill</c:v>
                </c:pt>
              </c:strCache>
            </c:strRef>
          </c:cat>
          <c:val>
            <c:numRef>
              <c:f>Sheet1!$B$2:$B$8</c:f>
              <c:numCache>
                <c:formatCode>General</c:formatCode>
                <c:ptCount val="7"/>
                <c:pt idx="0">
                  <c:v>45</c:v>
                </c:pt>
                <c:pt idx="1">
                  <c:v>25</c:v>
                </c:pt>
                <c:pt idx="2">
                  <c:v>15</c:v>
                </c:pt>
                <c:pt idx="3">
                  <c:v>5</c:v>
                </c:pt>
                <c:pt idx="4">
                  <c:v>4</c:v>
                </c:pt>
                <c:pt idx="5">
                  <c:v>3</c:v>
                </c:pt>
                <c:pt idx="6">
                  <c:v>3</c:v>
                </c:pt>
              </c:numCache>
            </c:numRef>
          </c:val>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http://schemas.microsoft.com/office/drawing/2014/chart" uri="{C3380CC4-5D6E-409C-BE32-E72D297353CC}">
              <c16:uniqueId val="{00000000-6E47-DC49-8924-0264C939B55F}"/>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5="http://schemas.microsoft.com/office/drawing/2012/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mn-l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Staples</c:v>
          </c:tx>
          <c:spPr>
            <a:ln w="28575" cap="rnd">
              <a:solidFill>
                <a:schemeClr val="accent1"/>
              </a:solidFill>
              <a:round/>
            </a:ln>
            <a:effectLst/>
          </c:spPr>
          <c:marker>
            <c:symbol val="none"/>
          </c:marker>
          <c:cat>
            <c:strRef>
              <c:f>Sheet1!$A$2:$A$5</c:f>
              <c:strCache>
                <c:ptCount val="4"/>
                <c:pt idx="0">
                  <c:v>2020</c:v>
                </c:pt>
                <c:pt idx="1">
                  <c:v>2021</c:v>
                </c:pt>
                <c:pt idx="2">
                  <c:v>2022</c:v>
                </c:pt>
                <c:pt idx="3">
                  <c:v>2023</c:v>
                </c:pt>
              </c:strCache>
            </c:strRef>
          </c:cat>
          <c:val>
            <c:numRef>
              <c:f>Sheet1!$B$2:$B$5</c:f>
              <c:numCache>
                <c:formatCode>General</c:formatCode>
                <c:ptCount val="4"/>
                <c:pt idx="0">
                  <c:v>12000</c:v>
                </c:pt>
                <c:pt idx="1">
                  <c:v>11000</c:v>
                </c:pt>
                <c:pt idx="2">
                  <c:v>9000</c:v>
                </c:pt>
                <c:pt idx="3">
                  <c:v>7000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1"/>
          <c:order val="1"/>
          <c:tx>
            <c:v>Office Depot</c:v>
          </c:tx>
          <c:spPr>
            <a:ln w="28575" cap="rnd">
              <a:solidFill>
                <a:schemeClr val="accent2"/>
              </a:solidFill>
              <a:round/>
            </a:ln>
            <a:effectLst/>
          </c:spPr>
          <c:marker>
            <c:symbol val="none"/>
          </c:marker>
          <c:cat>
            <c:strRef>
              <c:f>Sheet1!$A$2:$A$5</c:f>
              <c:strCache>
                <c:ptCount val="4"/>
                <c:pt idx="0">
                  <c:v>2020</c:v>
                </c:pt>
                <c:pt idx="1">
                  <c:v>2021</c:v>
                </c:pt>
                <c:pt idx="2">
                  <c:v>2022</c:v>
                </c:pt>
                <c:pt idx="3">
                  <c:v>2023</c:v>
                </c:pt>
              </c:strCache>
            </c:strRef>
          </c:cat>
          <c:val>
            <c:numRef>
              <c:f>Sheet1!$C$2:$C$5</c:f>
              <c:numCache>
                <c:formatCode>General</c:formatCode>
                <c:ptCount val="4"/>
                <c:pt idx="0">
                  <c:v>10000</c:v>
                </c:pt>
                <c:pt idx="1">
                  <c:v>9000</c:v>
                </c:pt>
                <c:pt idx="2">
                  <c:v>7500</c:v>
                </c:pt>
                <c:pt idx="3">
                  <c:v>5500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2"/>
          <c:order val="2"/>
          <c:tx>
            <c:v>OfficeMax</c:v>
          </c:tx>
          <c:spPr>
            <a:ln w="28575" cap="rnd">
              <a:solidFill>
                <a:schemeClr val="accent3"/>
              </a:solidFill>
              <a:round/>
            </a:ln>
            <a:effectLst/>
          </c:spPr>
          <c:marker>
            <c:symbol val="none"/>
          </c:marker>
          <c:cat>
            <c:strRef>
              <c:f>Sheet1!$A$2:$A$5</c:f>
              <c:strCache>
                <c:ptCount val="4"/>
                <c:pt idx="0">
                  <c:v>2020</c:v>
                </c:pt>
                <c:pt idx="1">
                  <c:v>2021</c:v>
                </c:pt>
                <c:pt idx="2">
                  <c:v>2022</c:v>
                </c:pt>
                <c:pt idx="3">
                  <c:v>2023</c:v>
                </c:pt>
              </c:strCache>
            </c:strRef>
          </c:cat>
          <c:val>
            <c:numRef>
              <c:f>Sheet1!$D$2:$D$5</c:f>
              <c:numCache>
                <c:formatCode>General</c:formatCode>
                <c:ptCount val="4"/>
                <c:pt idx="0">
                  <c:v>8000</c:v>
                </c:pt>
                <c:pt idx="1">
                  <c:v>7000</c:v>
                </c:pt>
                <c:pt idx="2">
                  <c:v>6000</c:v>
                </c:pt>
                <c:pt idx="3">
                  <c:v>4500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3"/>
          <c:order val="3"/>
          <c:tx>
            <c:v>Paper Source</c:v>
          </c:tx>
          <c:spPr>
            <a:ln w="28575" cap="rnd">
              <a:solidFill>
                <a:schemeClr val="accent4"/>
              </a:solidFill>
              <a:round/>
            </a:ln>
            <a:effectLst/>
          </c:spPr>
          <c:marker>
            <c:symbol val="none"/>
          </c:marker>
          <c:cat>
            <c:strRef>
              <c:f>Sheet1!$A$2:$A$5</c:f>
              <c:strCache>
                <c:ptCount val="4"/>
                <c:pt idx="0">
                  <c:v>2020</c:v>
                </c:pt>
                <c:pt idx="1">
                  <c:v>2021</c:v>
                </c:pt>
                <c:pt idx="2">
                  <c:v>2022</c:v>
                </c:pt>
                <c:pt idx="3">
                  <c:v>2023</c:v>
                </c:pt>
              </c:strCache>
            </c:strRef>
          </c:cat>
          <c:val>
            <c:numRef>
              <c:f>Sheet1!$E$2:$E$5</c:f>
              <c:numCache>
                <c:formatCode>General</c:formatCode>
                <c:ptCount val="4"/>
                <c:pt idx="0">
                  <c:v>3000</c:v>
                </c:pt>
                <c:pt idx="1">
                  <c:v>2800</c:v>
                </c:pt>
                <c:pt idx="2">
                  <c:v>2500</c:v>
                </c:pt>
                <c:pt idx="3">
                  <c:v>2000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4"/>
          <c:order val="4"/>
          <c:tx>
            <c:v>Papyrus</c:v>
          </c:tx>
          <c:spPr>
            <a:ln w="28575" cap="rnd">
              <a:solidFill>
                <a:schemeClr val="accent5"/>
              </a:solidFill>
              <a:round/>
            </a:ln>
            <a:effectLst/>
          </c:spPr>
          <c:marker>
            <c:symbol val="none"/>
          </c:marker>
          <c:cat>
            <c:strRef>
              <c:f>Sheet1!$A$2:$A$5</c:f>
              <c:strCache>
                <c:ptCount val="4"/>
                <c:pt idx="0">
                  <c:v>2020</c:v>
                </c:pt>
                <c:pt idx="1">
                  <c:v>2021</c:v>
                </c:pt>
                <c:pt idx="2">
                  <c:v>2022</c:v>
                </c:pt>
                <c:pt idx="3">
                  <c:v>2023</c:v>
                </c:pt>
              </c:strCache>
            </c:strRef>
          </c:cat>
          <c:val>
            <c:numRef>
              <c:f>Sheet1!$F$2:$F$5</c:f>
              <c:numCache>
                <c:formatCode>General</c:formatCode>
                <c:ptCount val="4"/>
                <c:pt idx="0">
                  <c:v>2000</c:v>
                </c:pt>
                <c:pt idx="1">
                  <c:v>1800</c:v>
                </c:pt>
                <c:pt idx="2">
                  <c:v>1600</c:v>
                </c:pt>
                <c:pt idx="3">
                  <c:v>1200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5"/>
          <c:order val="5"/>
          <c:tx>
            <c:v>Rapid Refill</c:v>
          </c:tx>
          <c:spPr>
            <a:ln w="28575" cap="rnd">
              <a:solidFill>
                <a:schemeClr val="accent6"/>
              </a:solidFill>
              <a:round/>
            </a:ln>
            <a:effectLst/>
          </c:spPr>
          <c:marker>
            <c:symbol val="none"/>
          </c:marker>
          <c:cat>
            <c:strRef>
              <c:f>Sheet1!$A$2:$A$5</c:f>
              <c:strCache>
                <c:ptCount val="4"/>
                <c:pt idx="0">
                  <c:v>2020</c:v>
                </c:pt>
                <c:pt idx="1">
                  <c:v>2021</c:v>
                </c:pt>
                <c:pt idx="2">
                  <c:v>2022</c:v>
                </c:pt>
                <c:pt idx="3">
                  <c:v>2023</c:v>
                </c:pt>
              </c:strCache>
            </c:strRef>
          </c:cat>
          <c:val>
            <c:numRef>
              <c:f>Sheet1!$G$2:$G$5</c:f>
              <c:numCache>
                <c:formatCode>General</c:formatCode>
                <c:ptCount val="4"/>
                <c:pt idx="0">
                  <c:v>1500</c:v>
                </c:pt>
                <c:pt idx="1">
                  <c:v>1400</c:v>
                </c:pt>
                <c:pt idx="2">
                  <c:v>1200</c:v>
                </c:pt>
                <c:pt idx="3">
                  <c:v>900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ser>
          <c:idx val="6"/>
          <c:order val="6"/>
          <c:tx>
            <c:v>Cartridge World</c:v>
          </c:tx>
          <c:spPr>
            <a:ln w="28575" cap="rnd">
              <a:solidFill>
                <a:schemeClr val="accent1">
                  <a:lumMod val="60000"/>
                </a:schemeClr>
              </a:solidFill>
              <a:round/>
            </a:ln>
            <a:effectLst/>
          </c:spPr>
          <c:marker>
            <c:symbol val="none"/>
          </c:marker>
          <c:cat>
            <c:strRef>
              <c:f>Sheet1!$A$2:$A$5</c:f>
              <c:strCache>
                <c:ptCount val="4"/>
                <c:pt idx="0">
                  <c:v>2020</c:v>
                </c:pt>
                <c:pt idx="1">
                  <c:v>2021</c:v>
                </c:pt>
                <c:pt idx="2">
                  <c:v>2022</c:v>
                </c:pt>
                <c:pt idx="3">
                  <c:v>2023</c:v>
                </c:pt>
              </c:strCache>
            </c:strRef>
          </c:cat>
          <c:val>
            <c:numRef>
              <c:f>Sheet1!$H$2:$H$5</c:f>
              <c:numCache>
                <c:formatCode>General</c:formatCode>
                <c:ptCount val="4"/>
                <c:pt idx="0">
                  <c:v>1000</c:v>
                </c:pt>
                <c:pt idx="1">
                  <c:v>900</c:v>
                </c:pt>
                <c:pt idx="2">
                  <c:v>800</c:v>
                </c:pt>
                <c:pt idx="3">
                  <c:v>600</c:v>
                </c:pt>
              </c:numCache>
            </c:numRef>
          </c:val>
          <c:smooth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showLegendKey val="0"/>
          <c:showVal val="0"/>
          <c:showCatName val="0"/>
          <c:showSerName val="0"/>
          <c:showPercent val="0"/>
          <c:showBubbleSize val="0"/>
        </c:dLbls>
        <c:smooth val="0"/>
        <c:axId val="997681952"/>
        <c:axId val="998023600"/>
      </c:line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mn-lt"/>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v>Average Dwell Time (minutes)</c:v>
          </c:tx>
          <c:spPr>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Staples</c:v>
                </c:pt>
                <c:pt idx="1">
                  <c:v>Office Depot</c:v>
                </c:pt>
                <c:pt idx="2">
                  <c:v>OfficeMax</c:v>
                </c:pt>
                <c:pt idx="3">
                  <c:v>Cartridge World</c:v>
                </c:pt>
                <c:pt idx="4">
                  <c:v>Paper Source</c:v>
                </c:pt>
                <c:pt idx="5">
                  <c:v>Papyrus</c:v>
                </c:pt>
                <c:pt idx="6">
                  <c:v>Rapid Refill</c:v>
                </c:pt>
              </c:strCache>
            </c:strRef>
          </c:cat>
          <c:val>
            <c:numRef>
              <c:f>Sheet1!$B$2:$B$8</c:f>
              <c:numCache>
                <c:formatCode>General</c:formatCode>
                <c:ptCount val="7"/>
                <c:pt idx="0">
                  <c:v>15</c:v>
                </c:pt>
                <c:pt idx="1">
                  <c:v>13</c:v>
                </c:pt>
                <c:pt idx="2">
                  <c:v>12</c:v>
                </c:pt>
                <c:pt idx="3">
                  <c:v>10</c:v>
                </c:pt>
                <c:pt idx="4">
                  <c:v>9</c:v>
                </c:pt>
                <c:pt idx="5">
                  <c:v>8</c:v>
                </c:pt>
                <c:pt idx="6">
                  <c:v>7</c:v>
                </c:pt>
              </c:numCache>
            </c:numRef>
          </c:val>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http://schemas.microsoft.com/office/drawing/2014/chart" uri="{C3380CC4-5D6E-409C-BE32-E72D297353CC}">
              <c16:uniqueId val="{00000000-6E47-DC49-8924-0264C939B55F}"/>
            </c:ext>
          </c:extLst>
        </c:ser>
        <c:dLbls>
          <c:dLblPos val="ctr"/>
          <c:showLegendKey val="0"/>
          <c:showVal val="1"/>
          <c:showCatName val="0"/>
          <c:showSerName val="0"/>
          <c:showPercent val="0"/>
          <c:showBubbleSize val="0"/>
        </c:dLbls>
        <c:gapWidth val="15"/>
        <c:overlap val="100"/>
        <c:axId val="997681952"/>
        <c:axId val="998023600"/>
      </c:barChart>
      <c:catAx>
        <c:axId val="99768195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8023600"/>
        <c:crosses val="autoZero"/>
        <c:auto val="1"/>
        <c:lblAlgn val="ctr"/>
        <c:lblOffset val="100"/>
        <c:noMultiLvlLbl val="0"/>
      </c:catAx>
      <c:valAx>
        <c:axId val="998023600"/>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99768195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xmlns:mc="http://schemas.openxmlformats.org/markup-compatibility/2006" xmlns:c14="http://schemas.microsoft.com/office/drawing/2007/8/2/chart" xmlns:c15="http://schemas.microsoft.com/office/drawing/201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latin typeface="+mn-l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33A28-3DBF-4CE5-87CC-4024A21A3AF1}" type="datetimeFigureOut">
              <a:t>10/12/25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04F4D2-B734-4E0D-A535-B7628D0905A5}" type="slidenum">
              <a:t>‹#›</a:t>
            </a:fld>
            <a:endParaRPr lang="en-US"/>
          </a:p>
        </p:txBody>
      </p:sp>
    </p:spTree>
    <p:extLst>
      <p:ext uri="{BB962C8B-B14F-4D97-AF65-F5344CB8AC3E}">
        <p14:creationId xmlns:p14="http://schemas.microsoft.com/office/powerpoint/2010/main" val="1349408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10/12/25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10/12/25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10/12/25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10/12/25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10/12/25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10/12/25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10/12/25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10/12/25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10/12/25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10/12/25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10/12/25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10/12/25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10/12/25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10/12/25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10/12/25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10/12/25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D53F1-B54E-2E2F-5008-18C994D00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36365F9-DC31-C837-D99A-BD64DE718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6D1D3A-997E-ADEF-94A2-822B007773B3}"/>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5" name="Footer Placeholder 4">
            <a:extLst>
              <a:ext uri="{FF2B5EF4-FFF2-40B4-BE49-F238E27FC236}">
                <a16:creationId xmlns:a16="http://schemas.microsoft.com/office/drawing/2014/main" id="{A75AE6F4-03EB-D9A0-5B52-7131490F4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EC9533-FF12-70ED-6B17-A135B90D5432}"/>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9341596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9FFE-7E33-BC64-5D47-4A3CEF514F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0B3930-C1E6-B946-81C1-106696CD2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8F3ADA-30AF-AB2B-23A0-2B4851AFF274}"/>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5" name="Footer Placeholder 4">
            <a:extLst>
              <a:ext uri="{FF2B5EF4-FFF2-40B4-BE49-F238E27FC236}">
                <a16:creationId xmlns:a16="http://schemas.microsoft.com/office/drawing/2014/main" id="{88A5C0AF-75BF-6D90-0E6B-26F4B3B401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D9BF83-7359-49AD-603A-8930A9462CAF}"/>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22362660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AC2E6-D7A6-33D1-A1DE-3182B139DC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7042C4-6F69-F94A-6590-974A6C37248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589B06-AA0A-3BBC-5126-0AA2A77615FD}"/>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5" name="Footer Placeholder 4">
            <a:extLst>
              <a:ext uri="{FF2B5EF4-FFF2-40B4-BE49-F238E27FC236}">
                <a16:creationId xmlns:a16="http://schemas.microsoft.com/office/drawing/2014/main" id="{4C1FD4A3-BF65-3CAA-FB55-F4FCD7328D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406D47-1B0B-B739-265C-3A61E8482246}"/>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2630889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9B8F-AF93-CCC8-DA01-D8A9AAB766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6024AB-63DE-457A-2944-4E7E77F836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75B757-ACFE-688F-5D13-5371B0977B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AA2CAD-D57F-EF52-3459-11E2A724C36D}"/>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6" name="Footer Placeholder 5">
            <a:extLst>
              <a:ext uri="{FF2B5EF4-FFF2-40B4-BE49-F238E27FC236}">
                <a16:creationId xmlns:a16="http://schemas.microsoft.com/office/drawing/2014/main" id="{040E37BC-B239-3422-B0C8-0295A979A2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668B1-4A57-A782-A6AC-3AEDFC0627EF}"/>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241418239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7978F-538A-7127-A597-48CB8D932B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791C91-DC18-011B-F4EC-F96DE2DEFF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187294-3170-DB49-A48B-4429FC2CB6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34AE1C-FD31-F59F-7E86-43EBC5E532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90DA8A-7BF8-C20E-7920-AA404B46B3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02D880-3C35-666D-11A6-71CA82E3C5AC}"/>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8" name="Footer Placeholder 7">
            <a:extLst>
              <a:ext uri="{FF2B5EF4-FFF2-40B4-BE49-F238E27FC236}">
                <a16:creationId xmlns:a16="http://schemas.microsoft.com/office/drawing/2014/main" id="{1AF44323-ADA9-B3FE-8EDE-A4E66489D3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98D357-65EE-61C9-4B8C-484FE7A17F72}"/>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260785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0A129-CF8B-A860-0D26-75F7F0ADCA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005919-6B9E-9087-5B1F-E290A25A3143}"/>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4" name="Footer Placeholder 3">
            <a:extLst>
              <a:ext uri="{FF2B5EF4-FFF2-40B4-BE49-F238E27FC236}">
                <a16:creationId xmlns:a16="http://schemas.microsoft.com/office/drawing/2014/main" id="{AED9FFE9-EEAB-4C39-C941-2B201132D5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D91550-07E8-400F-7D7C-BED88B49A53B}"/>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2285351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848679-2A96-FE87-D962-46399989435F}"/>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3" name="Footer Placeholder 2">
            <a:extLst>
              <a:ext uri="{FF2B5EF4-FFF2-40B4-BE49-F238E27FC236}">
                <a16:creationId xmlns:a16="http://schemas.microsoft.com/office/drawing/2014/main" id="{7286AC32-4C99-AA04-5C16-D4302C2A36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3E6E980-22A4-F70E-7E98-92ED2C5A55E5}"/>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351266963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12F7-52D7-2A20-7C39-B35FA9B69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C28F82-AFCC-CD48-1765-89F3AF8403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40A576-3321-FC52-9275-E2EE409897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D4C4F0-E4A9-5C63-1354-08C858919DD9}"/>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6" name="Footer Placeholder 5">
            <a:extLst>
              <a:ext uri="{FF2B5EF4-FFF2-40B4-BE49-F238E27FC236}">
                <a16:creationId xmlns:a16="http://schemas.microsoft.com/office/drawing/2014/main" id="{BE1844DC-EEA5-C880-14F2-A6AD044E3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F679F-427D-E452-1AFA-BB6D07FC2093}"/>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6045376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C7A5-E0B9-153B-BD61-514E6CBD8B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C8C832-3926-DA00-505B-CACB09F8F1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50EA79-0CD8-A33D-8691-957A2D2E12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951FDF-0695-49A7-BF9C-2F40037E8263}"/>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6" name="Footer Placeholder 5">
            <a:extLst>
              <a:ext uri="{FF2B5EF4-FFF2-40B4-BE49-F238E27FC236}">
                <a16:creationId xmlns:a16="http://schemas.microsoft.com/office/drawing/2014/main" id="{B852B257-68FD-A39B-C735-CA5E9B7912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676E17-3BCC-6E9A-C449-C3569B558F55}"/>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433234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6BD7-B776-CF44-63FD-A809B16921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9196C3-DB9D-3001-31CE-025D2811A2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719C1E-CFFD-DF58-AF1F-6BD8F78ABD65}"/>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5" name="Footer Placeholder 4">
            <a:extLst>
              <a:ext uri="{FF2B5EF4-FFF2-40B4-BE49-F238E27FC236}">
                <a16:creationId xmlns:a16="http://schemas.microsoft.com/office/drawing/2014/main" id="{A73411B6-977A-9E19-AE3C-F6B334401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54D0BD-9FC0-570C-97FD-642AA1B23DEF}"/>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19825652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B75EA7-D8A6-8591-A881-9EE2EF449E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A32758-B878-ED48-E86A-895DB9A82F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5EAE31-F14A-35EE-857C-A24DD703099E}"/>
              </a:ext>
            </a:extLst>
          </p:cNvPr>
          <p:cNvSpPr>
            <a:spLocks noGrp="1"/>
          </p:cNvSpPr>
          <p:nvPr>
            <p:ph type="dt" sz="half" idx="10"/>
          </p:nvPr>
        </p:nvSpPr>
        <p:spPr/>
        <p:txBody>
          <a:bodyPr/>
          <a:lstStyle/>
          <a:p>
            <a:fld id="{DA2B5609-22C9-4B17-9F0B-E7C18268DC92}" type="datetimeFigureOut">
              <a:rPr lang="en-US" smtClean="0"/>
              <a:t>10/12/25</a:t>
            </a:fld>
            <a:endParaRPr lang="en-US"/>
          </a:p>
        </p:txBody>
      </p:sp>
      <p:sp>
        <p:nvSpPr>
          <p:cNvPr id="5" name="Footer Placeholder 4">
            <a:extLst>
              <a:ext uri="{FF2B5EF4-FFF2-40B4-BE49-F238E27FC236}">
                <a16:creationId xmlns:a16="http://schemas.microsoft.com/office/drawing/2014/main" id="{6F36C44D-0C7F-C2E2-D38B-A57E0D994F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FDFA2-F5FF-561F-6BD4-331C05666901}"/>
              </a:ext>
            </a:extLst>
          </p:cNvPr>
          <p:cNvSpPr>
            <a:spLocks noGrp="1"/>
          </p:cNvSpPr>
          <p:nvPr>
            <p:ph type="sldNum" sz="quarter" idx="12"/>
          </p:nvPr>
        </p:nvSpPr>
        <p:spPr/>
        <p:txBody>
          <a:bodyPr/>
          <a:lstStyle/>
          <a:p>
            <a:fld id="{6C62D5E2-9E81-45C4-A941-710BE23CE6D9}" type="slidenum">
              <a:rPr lang="en-US" smtClean="0"/>
              <a:t>‹#›</a:t>
            </a:fld>
            <a:endParaRPr lang="en-US"/>
          </a:p>
        </p:txBody>
      </p:sp>
    </p:spTree>
    <p:extLst>
      <p:ext uri="{BB962C8B-B14F-4D97-AF65-F5344CB8AC3E}">
        <p14:creationId xmlns:p14="http://schemas.microsoft.com/office/powerpoint/2010/main" val="42529525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9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61320833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0763417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78749961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AB2855-E176-596D-5519-4D6CDFD0B734}"/>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A26ABB37-847E-9F9F-07F4-A07BFBF76A4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E3B6B96-DFAD-8C9C-5F19-A57BAC05A1A5}"/>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4228336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72034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6753068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720340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59849078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59849078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10/12/25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5748377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5190214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EAFD4-E50F-295A-D7A1-83970B187129}"/>
              </a:ext>
            </a:extLst>
          </p:cNvPr>
          <p:cNvSpPr>
            <a:spLocks noGrp="1"/>
          </p:cNvSpPr>
          <p:nvPr>
            <p:ph type="title"/>
          </p:nvPr>
        </p:nvSpPr>
        <p:spPr/>
        <p:txBody>
          <a:bodyPr lIns="0"/>
          <a:lstStyle/>
          <a:p>
            <a:r>
              <a:rPr lang="en-US"/>
              <a:t>Click to edit Master title style</a:t>
            </a:r>
          </a:p>
        </p:txBody>
      </p:sp>
      <p:sp>
        <p:nvSpPr>
          <p:cNvPr id="3" name="Date Placeholder 2">
            <a:extLst>
              <a:ext uri="{FF2B5EF4-FFF2-40B4-BE49-F238E27FC236}">
                <a16:creationId xmlns:a16="http://schemas.microsoft.com/office/drawing/2014/main" id="{BF4D01AA-7390-4426-75B8-45D202F1A63F}"/>
              </a:ext>
            </a:extLst>
          </p:cNvPr>
          <p:cNvSpPr>
            <a:spLocks noGrp="1"/>
          </p:cNvSpPr>
          <p:nvPr>
            <p:ph type="dt" sz="half" idx="10"/>
          </p:nvPr>
        </p:nvSpPr>
        <p:spPr/>
        <p:txBody>
          <a:bodyPr/>
          <a:lstStyle/>
          <a:p>
            <a:fld id="{2E405B87-0B1C-464B-928F-AA5E9D282D70}" type="datetimeFigureOut">
              <a:rPr lang="en-US" smtClean="0"/>
              <a:t>10/12/25</a:t>
            </a:fld>
            <a:endParaRPr lang="en-US" dirty="0"/>
          </a:p>
        </p:txBody>
      </p:sp>
      <p:sp>
        <p:nvSpPr>
          <p:cNvPr id="4" name="Footer Placeholder 3">
            <a:extLst>
              <a:ext uri="{FF2B5EF4-FFF2-40B4-BE49-F238E27FC236}">
                <a16:creationId xmlns:a16="http://schemas.microsoft.com/office/drawing/2014/main"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13E3E41-3F19-D504-3DD1-ED864ECA16FA}"/>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217343295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2.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2.xml"/><Relationship Id="rId1"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3.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4.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66.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67.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68.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69.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70.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71.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10/12/25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734" r:id="rId6"/>
    <p:sldLayoutId id="2147483736" r:id="rId7"/>
    <p:sldLayoutId id="2147483738"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A9CE2D-85D1-596C-16A9-4089FA61BF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4C0A462-8BF2-E0CB-F028-0F5D60968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6BCF21-E996-0FCD-51CB-33CF581B03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2B5609-22C9-4B17-9F0B-E7C18268DC92}" type="datetimeFigureOut">
              <a:rPr lang="en-US" smtClean="0"/>
              <a:t>10/12/25</a:t>
            </a:fld>
            <a:endParaRPr lang="en-US"/>
          </a:p>
        </p:txBody>
      </p:sp>
      <p:sp>
        <p:nvSpPr>
          <p:cNvPr id="5" name="Footer Placeholder 4">
            <a:extLst>
              <a:ext uri="{FF2B5EF4-FFF2-40B4-BE49-F238E27FC236}">
                <a16:creationId xmlns:a16="http://schemas.microsoft.com/office/drawing/2014/main" id="{78F71298-38EA-F830-78C2-0F5BDFE1B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051646-64AB-83D3-1E7F-284205FAF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62D5E2-9E81-45C4-A941-710BE23CE6D9}" type="slidenum">
              <a:rPr lang="en-US" smtClean="0"/>
              <a:t>‹#›</a:t>
            </a:fld>
            <a:endParaRPr lang="en-US"/>
          </a:p>
        </p:txBody>
      </p:sp>
    </p:spTree>
    <p:extLst>
      <p:ext uri="{BB962C8B-B14F-4D97-AF65-F5344CB8AC3E}">
        <p14:creationId xmlns:p14="http://schemas.microsoft.com/office/powerpoint/2010/main" val="349621328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173453369"/>
      </p:ext>
    </p:extLst>
  </p:cSld>
  <p:clrMap bg1="lt1" tx1="dk1" bg2="lt2" tx2="dk2" accent1="accent1" accent2="accent2" accent3="accent3" accent4="accent4" accent5="accent5" accent6="accent6" hlink="hlink" folHlink="folHlink"/>
  <p:sldLayoutIdLst>
    <p:sldLayoutId id="2147483674" r:id="rId1"/>
    <p:sldLayoutId id="2147483669" r:id="rId2"/>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486072912"/>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193092003"/>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3369236946"/>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2815645886"/>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3369236946"/>
      </p:ext>
    </p:extLst>
  </p:cSld>
  <p:clrMap bg1="lt1" tx1="dk1" bg2="lt2" tx2="dk2" accent1="accent1" accent2="accent2" accent3="accent3" accent4="accent4" accent5="accent5" accent6="accent6" hlink="hlink" folHlink="folHlink"/>
  <p:sldLayoutIdLst>
    <p:sldLayoutId id="214748373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1266058122"/>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1266058122"/>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6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10/12/25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4.xml"/><Relationship Id="rId7" Type="http://schemas.openxmlformats.org/officeDocument/2006/relationships/slideLayout" Target="../slideLayouts/slideLayout70.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10" Type="http://schemas.openxmlformats.org/officeDocument/2006/relationships/image" Target="../media/image7.jpeg"/><Relationship Id="rId4" Type="http://schemas.openxmlformats.org/officeDocument/2006/relationships/tags" Target="../tags/tag5.xml"/><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Layout" Target="../slideLayouts/slideLayout72.xml"/></Relationships>
</file>

<file path=ppt/slides/_rels/slide3.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image" Target="../media/image8.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slideLayout" Target="../slideLayouts/slideLayout71.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image" Target="../media/image9.svg"/><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image" Target="../media/image8.png"/><Relationship Id="rId2" Type="http://schemas.openxmlformats.org/officeDocument/2006/relationships/tags" Target="../tags/tag23.xml"/><Relationship Id="rId16" Type="http://schemas.openxmlformats.org/officeDocument/2006/relationships/image" Target="../media/image10.jpe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slideLayout" Target="../slideLayouts/slideLayout62.xml"/><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s>
</file>

<file path=ppt/slides/_rels/slide5.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3" Type="http://schemas.openxmlformats.org/officeDocument/2006/relationships/tags" Target="../tags/tag38.xml"/><Relationship Id="rId7" Type="http://schemas.openxmlformats.org/officeDocument/2006/relationships/tags" Target="../tags/tag42.xml"/><Relationship Id="rId12" Type="http://schemas.openxmlformats.org/officeDocument/2006/relationships/tags" Target="../tags/tag47.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11" Type="http://schemas.openxmlformats.org/officeDocument/2006/relationships/tags" Target="../tags/tag46.xml"/><Relationship Id="rId5" Type="http://schemas.openxmlformats.org/officeDocument/2006/relationships/tags" Target="../tags/tag40.xml"/><Relationship Id="rId10" Type="http://schemas.openxmlformats.org/officeDocument/2006/relationships/tags" Target="../tags/tag45.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slideLayout" Target="../slideLayouts/slideLayout61.xml"/></Relationships>
</file>

<file path=ppt/slides/_rels/slide6.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tags" Target="../tags/tag61.xml"/><Relationship Id="rId18" Type="http://schemas.openxmlformats.org/officeDocument/2006/relationships/slideLayout" Target="../slideLayouts/slideLayout62.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17" Type="http://schemas.openxmlformats.org/officeDocument/2006/relationships/tags" Target="../tags/tag65.xml"/><Relationship Id="rId2" Type="http://schemas.openxmlformats.org/officeDocument/2006/relationships/tags" Target="../tags/tag50.xml"/><Relationship Id="rId16" Type="http://schemas.openxmlformats.org/officeDocument/2006/relationships/tags" Target="../tags/tag64.xml"/><Relationship Id="rId20" Type="http://schemas.openxmlformats.org/officeDocument/2006/relationships/image" Target="../media/image9.sv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5" Type="http://schemas.openxmlformats.org/officeDocument/2006/relationships/tags" Target="../tags/tag63.xml"/><Relationship Id="rId10" Type="http://schemas.openxmlformats.org/officeDocument/2006/relationships/tags" Target="../tags/tag58.xml"/><Relationship Id="rId19" Type="http://schemas.openxmlformats.org/officeDocument/2006/relationships/image" Target="../media/image8.png"/><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tags" Target="../tags/tag62.xml"/></Relationships>
</file>

<file path=ppt/slides/_rels/slide7.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12.jpe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11.jpeg"/><Relationship Id="rId5" Type="http://schemas.openxmlformats.org/officeDocument/2006/relationships/tags" Target="../tags/tag70.xml"/><Relationship Id="rId10" Type="http://schemas.openxmlformats.org/officeDocument/2006/relationships/slideLayout" Target="../slideLayouts/slideLayout62.xml"/><Relationship Id="rId4" Type="http://schemas.openxmlformats.org/officeDocument/2006/relationships/tags" Target="../tags/tag69.xml"/><Relationship Id="rId9" Type="http://schemas.openxmlformats.org/officeDocument/2006/relationships/tags" Target="../tags/tag74.xml"/></Relationships>
</file>

<file path=ppt/slides/_rels/slide8.xml.rels><?xml version="1.0" encoding="UTF-8" standalone="yes"?>
<Relationships xmlns="http://schemas.openxmlformats.org/package/2006/relationships"><Relationship Id="rId8" Type="http://schemas.openxmlformats.org/officeDocument/2006/relationships/tags" Target="../tags/tag82.xml"/><Relationship Id="rId3" Type="http://schemas.openxmlformats.org/officeDocument/2006/relationships/tags" Target="../tags/tag77.xml"/><Relationship Id="rId7" Type="http://schemas.openxmlformats.org/officeDocument/2006/relationships/tags" Target="../tags/tag81.xml"/><Relationship Id="rId12" Type="http://schemas.openxmlformats.org/officeDocument/2006/relationships/image" Target="../media/image14.jpeg"/><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image" Target="../media/image13.jpeg"/><Relationship Id="rId5" Type="http://schemas.openxmlformats.org/officeDocument/2006/relationships/tags" Target="../tags/tag79.xml"/><Relationship Id="rId10" Type="http://schemas.openxmlformats.org/officeDocument/2006/relationships/slideLayout" Target="../slideLayouts/slideLayout62.xml"/><Relationship Id="rId4" Type="http://schemas.openxmlformats.org/officeDocument/2006/relationships/tags" Target="../tags/tag78.xml"/><Relationship Id="rId9" Type="http://schemas.openxmlformats.org/officeDocument/2006/relationships/tags" Target="../tags/tag83.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tags" Target="../tags/tag86.xml"/><Relationship Id="rId7" Type="http://schemas.openxmlformats.org/officeDocument/2006/relationships/tags" Target="../tags/tag90.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s>
</file>

<file path=ppt/slides/_rels/slide10.xml.rels><?xml version="1.0" encoding="UTF-8" standalone="yes"?>
<Relationships xmlns="http://schemas.openxmlformats.org/package/2006/relationships"><Relationship Id="rId8" Type="http://schemas.openxmlformats.org/officeDocument/2006/relationships/tags" Target="../tags/tag98.xml"/><Relationship Id="rId13" Type="http://schemas.openxmlformats.org/officeDocument/2006/relationships/slideLayout" Target="../slideLayouts/slideLayout62.xml"/><Relationship Id="rId3" Type="http://schemas.openxmlformats.org/officeDocument/2006/relationships/tags" Target="../tags/tag93.xml"/><Relationship Id="rId7" Type="http://schemas.openxmlformats.org/officeDocument/2006/relationships/tags" Target="../tags/tag97.xml"/><Relationship Id="rId12" Type="http://schemas.openxmlformats.org/officeDocument/2006/relationships/tags" Target="../tags/tag102.xml"/><Relationship Id="rId2" Type="http://schemas.openxmlformats.org/officeDocument/2006/relationships/tags" Target="../tags/tag92.xml"/><Relationship Id="rId16" Type="http://schemas.openxmlformats.org/officeDocument/2006/relationships/chart" Target="../charts/chart3.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tags" Target="../tags/tag101.xml"/><Relationship Id="rId5" Type="http://schemas.openxmlformats.org/officeDocument/2006/relationships/tags" Target="../tags/tag95.xml"/><Relationship Id="rId15" Type="http://schemas.openxmlformats.org/officeDocument/2006/relationships/chart" Target="../charts/chart2.xml"/><Relationship Id="rId10" Type="http://schemas.openxmlformats.org/officeDocument/2006/relationships/tags" Target="../tags/tag100.xml"/><Relationship Id="rId4" Type="http://schemas.openxmlformats.org/officeDocument/2006/relationships/tags" Target="../tags/tag94.xml"/><Relationship Id="rId9" Type="http://schemas.openxmlformats.org/officeDocument/2006/relationships/tags" Target="../tags/tag99.xml"/><Relationship Id="rId14" Type="http://schemas.openxmlformats.org/officeDocument/2006/relationships/chart" Target="../charts/chart1.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s>
</file>

<file path=ppt/slides/_rels/slide12.xml.rels><?xml version="1.0" encoding="UTF-8" standalone="yes"?>
<Relationships xmlns="http://schemas.openxmlformats.org/package/2006/relationships"><Relationship Id="rId8" Type="http://schemas.openxmlformats.org/officeDocument/2006/relationships/tags" Target="../tags/tag117.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media/image16.jpe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15.jpeg"/><Relationship Id="rId5" Type="http://schemas.openxmlformats.org/officeDocument/2006/relationships/tags" Target="../tags/tag114.xml"/><Relationship Id="rId10" Type="http://schemas.openxmlformats.org/officeDocument/2006/relationships/slideLayout" Target="../slideLayouts/slideLayout61.xml"/><Relationship Id="rId4" Type="http://schemas.openxmlformats.org/officeDocument/2006/relationships/tags" Target="../tags/tag113.xml"/><Relationship Id="rId9" Type="http://schemas.openxmlformats.org/officeDocument/2006/relationships/tags" Target="../tags/tag118.xml"/></Relationships>
</file>

<file path=ppt/slides/_rels/slide13.xml.rels><?xml version="1.0" encoding="UTF-8" standalone="yes"?>
<Relationships xmlns="http://schemas.openxmlformats.org/package/2006/relationships"><Relationship Id="rId8" Type="http://schemas.openxmlformats.org/officeDocument/2006/relationships/tags" Target="../tags/tag126.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18.jpe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17.jpeg"/><Relationship Id="rId5" Type="http://schemas.openxmlformats.org/officeDocument/2006/relationships/tags" Target="../tags/tag123.xml"/><Relationship Id="rId10" Type="http://schemas.openxmlformats.org/officeDocument/2006/relationships/slideLayout" Target="../slideLayouts/slideLayout61.xml"/><Relationship Id="rId4" Type="http://schemas.openxmlformats.org/officeDocument/2006/relationships/tags" Target="../tags/tag122.xml"/><Relationship Id="rId9" Type="http://schemas.openxmlformats.org/officeDocument/2006/relationships/tags" Target="../tags/tag1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419100" y="896981"/>
            <a:ext cx="5600700" cy="3046369"/>
          </a:xfrm>
        </p:spPr>
        <p:txBody>
          <a:bodyPr lIns="0" anchor="b">
            <a:normAutofit/>
          </a:bodyPr>
          <a:lstStyle/>
          <a:p>
            <a:pPr>
              <a:lnSpc>
                <a:spcPct val="80000"/>
              </a:lnSpc>
            </a:pPr>
            <a:r>
              <a:rPr lang="en-US" sz="4800" dirty="0"/>
              <a:t>Office Supply Store Trends 2020</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a:xfrm>
            <a:off x="419100" y="6151881"/>
            <a:ext cx="5600700" cy="477519"/>
          </a:xfrm>
        </p:spPr>
        <p:txBody>
          <a:bodyPr lIns="0">
            <a:normAutofit/>
          </a:bodyPr>
          <a:lstStyle/>
          <a:p>
            <a:r>
              <a:rPr lang="en-US" sz="1800" dirty="0">
                <a:solidFill>
                  <a:schemeClr val="tx2"/>
                </a:solidFill>
              </a:rPr>
              <a:t>October 12, 2025</a:t>
            </a:r>
          </a:p>
        </p:txBody>
      </p:sp>
      <p:pic>
        <p:nvPicPr>
          <p:cNvPr id="6" name="Picture Placeholder 5">
            <a:extLst>
              <a:ext uri="{FF2B5EF4-FFF2-40B4-BE49-F238E27FC236}">
                <a16:creationId xmlns:a16="http://schemas.microsoft.com/office/drawing/2014/main" id="{0EC7E239-B87C-0950-545D-6BA9F67E08C5}"/>
              </a:ext>
            </a:extLst>
          </p:cNvPr>
          <p:cNvPicPr>
            <a:picLocks noGrp="1" noChangeAspect="1"/>
          </p:cNvPicPr>
          <p:nvPr>
            <p:ph type="pic" sz="quarter" idx="13"/>
            <p:custDataLst>
              <p:tags r:id="rId4"/>
            </p:custDataLst>
          </p:nvPr>
        </p:nvPicPr>
        <p:blipFill rotWithShape="1">
          <a:blip r:embed="rId8">
            <a:extLst>
              <a:ext uri="{96DAC541-7B7A-43D3-8B79-37D633B846F1}">
                <asvg:svgBlip xmlns:asvg="http://schemas.microsoft.com/office/drawing/2016/SVG/main" r:embed="rId9"/>
              </a:ext>
            </a:extLst>
          </a:blip>
          <a:srcRect r="-687774"/>
          <a:stretch>
            <a:fillRect/>
          </a:stretch>
        </p:blipFill>
        <p:spPr>
          <a:xfrm>
            <a:off x="419100" y="419100"/>
            <a:ext cx="3581400" cy="454657"/>
          </a:xfrm>
        </p:spPr>
      </p:pic>
      <p:sp>
        <p:nvSpPr>
          <p:cNvPr id="5" name="Subtitle 2">
            <a:extLst>
              <a:ext uri="{FF2B5EF4-FFF2-40B4-BE49-F238E27FC236}">
                <a16:creationId xmlns:a16="http://schemas.microsoft.com/office/drawing/2014/main" id="{B04F756F-14A4-3FC0-9BC1-A2E8DD458977}"/>
              </a:ext>
            </a:extLst>
          </p:cNvPr>
          <p:cNvSpPr txBox="1">
            <a:spLocks/>
          </p:cNvSpPr>
          <p:nvPr>
            <p:custDataLst>
              <p:tags r:id="rId5"/>
            </p:custDataLst>
          </p:nvPr>
        </p:nvSpPr>
        <p:spPr>
          <a:xfrm>
            <a:off x="419100" y="3943350"/>
            <a:ext cx="5600700" cy="9144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2400" kern="1200">
                <a:solidFill>
                  <a:schemeClr val="tx1"/>
                </a:solidFill>
                <a:latin typeface="+mn-lt"/>
                <a:ea typeface="+mn-ea"/>
                <a:cs typeface="Arial" panose="020B0604020202020204" pitchFamily="34" charset="0"/>
              </a:defRPr>
            </a:lvl1pPr>
            <a:lvl2pPr marL="457178" indent="0" algn="ctr" defTabSz="914354" rtl="0" eaLnBrk="1" latinLnBrk="0" hangingPunct="1">
              <a:lnSpc>
                <a:spcPct val="150000"/>
              </a:lnSpc>
              <a:spcBef>
                <a:spcPts val="1200"/>
              </a:spcBef>
              <a:buFont typeface="Arial" panose="020B0604020202020204" pitchFamily="34" charset="0"/>
              <a:buNone/>
              <a:tabLst/>
              <a:defRPr sz="2000" kern="1200">
                <a:solidFill>
                  <a:schemeClr val="tx1"/>
                </a:solidFill>
                <a:latin typeface="+mn-lt"/>
                <a:ea typeface="+mn-ea"/>
                <a:cs typeface="Arial" panose="020B0604020202020204" pitchFamily="34" charset="0"/>
              </a:defRPr>
            </a:lvl2pPr>
            <a:lvl3pPr marL="914354" indent="0" algn="ctr" defTabSz="914354" rtl="0" eaLnBrk="1" latinLnBrk="0" hangingPunct="1">
              <a:lnSpc>
                <a:spcPct val="150000"/>
              </a:lnSpc>
              <a:spcBef>
                <a:spcPts val="1200"/>
              </a:spcBef>
              <a:buFont typeface="Arial" panose="020B0604020202020204" pitchFamily="34" charset="0"/>
              <a:buNone/>
              <a:tabLst/>
              <a:defRPr sz="1800" kern="1200">
                <a:solidFill>
                  <a:schemeClr val="tx1"/>
                </a:solidFill>
                <a:latin typeface="+mn-lt"/>
                <a:ea typeface="+mn-ea"/>
                <a:cs typeface="Arial" panose="020B0604020202020204" pitchFamily="34" charset="0"/>
              </a:defRPr>
            </a:lvl3pPr>
            <a:lvl4pPr marL="1371532"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4pPr>
            <a:lvl5pPr marL="1828709"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5pPr>
            <a:lvl6pPr marL="2285886"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62"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40"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18"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800" dirty="0">
                <a:solidFill>
                  <a:schemeClr val="tx2"/>
                </a:solidFill>
              </a:rPr>
              <a:t>Foot Traffic and Dwell Time Trends at Office Supply Stores During the Remote Work Shift</a:t>
            </a:r>
          </a:p>
        </p:txBody>
      </p:sp>
      <p:pic>
        <p:nvPicPr>
          <p:cNvPr id="7" name="Picture Placeholder 8">
            <a:extLst>
              <a:ext uri="{FF2B5EF4-FFF2-40B4-BE49-F238E27FC236}">
                <a16:creationId xmlns:a16="http://schemas.microsoft.com/office/drawing/2014/main" id="{78C8CE94-2CFD-E8CD-2F66-2A57B1AC3B08}"/>
              </a:ext>
            </a:extLst>
          </p:cNvPr>
          <p:cNvPicPr>
            <a:picLocks noChangeAspect="1"/>
          </p:cNvPicPr>
          <p:nvPr>
            <p:custDataLst>
              <p:tags r:id="rId6"/>
            </p:custDataLst>
          </p:nvPr>
        </p:nvPicPr>
        <p:blipFill rotWithShape="1">
          <a:blip r:embed="rId10" cstate="screen">
            <a:extLst>
              <a:ext uri="{28A0092B-C50C-407E-A947-70E740481C1C}">
                <a14:useLocalDpi xmlns:a14="http://schemas.microsoft.com/office/drawing/2010/main"/>
              </a:ext>
            </a:extLst>
          </a:blip>
          <a:srcRect l="4761" r="4761"/>
          <a:stretch>
            <a:fillRect/>
          </a:stretch>
        </p:blipFill>
        <p:spPr>
          <a:xfrm>
            <a:off x="6172200" y="228600"/>
            <a:ext cx="5791200" cy="6400800"/>
          </a:xfrm>
          <a:prstGeom prst="roundRect">
            <a:avLst>
              <a:gd name="adj" fmla="val 933"/>
            </a:avLst>
          </a:prstGeom>
        </p:spPr>
      </p:pic>
    </p:spTree>
    <p:custDataLst>
      <p:tags r:id="rId1"/>
    </p:custDataLst>
    <p:extLst>
      <p:ext uri="{BB962C8B-B14F-4D97-AF65-F5344CB8AC3E}">
        <p14:creationId xmlns:p14="http://schemas.microsoft.com/office/powerpoint/2010/main" val="902207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D0D03F5-F669-D9B8-3E49-356D593494EE}"/>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419100" y="419100"/>
            <a:ext cx="3657600" cy="838200"/>
          </a:xfrm>
        </p:spPr>
        <p:txBody>
          <a:bodyPr lIns="0">
            <a:normAutofit/>
          </a:bodyPr>
          <a:lstStyle/>
          <a:p>
            <a:r>
              <a:rPr lang="en-US" dirty="0"/>
              <a:t>Agenda</a:t>
            </a:r>
          </a:p>
        </p:txBody>
      </p:sp>
      <p:sp>
        <p:nvSpPr>
          <p:cNvPr id="5" name="Content Placeholder 4">
            <a:extLst>
              <a:ext uri="{FF2B5EF4-FFF2-40B4-BE49-F238E27FC236}">
                <a16:creationId xmlns:a16="http://schemas.microsoft.com/office/drawing/2014/main" id="{49567922-F16D-ADA1-AF4D-B5436EAC2F7F}"/>
              </a:ext>
            </a:extLst>
          </p:cNvPr>
          <p:cNvSpPr>
            <a:spLocks noGrp="1"/>
          </p:cNvSpPr>
          <p:nvPr>
            <p:ph idx="4294967295"/>
            <p:custDataLst>
              <p:tags r:id="rId2"/>
            </p:custDataLst>
          </p:nvPr>
        </p:nvSpPr>
        <p:spPr>
          <a:xfrm>
            <a:off x="4359964" y="419100"/>
            <a:ext cx="7412935" cy="5981700"/>
          </a:xfrm>
        </p:spPr>
        <p:txBody>
          <a:bodyPr numCol="2">
            <a:normAutofit/>
          </a:bodyPr>
          <a:lstStyle/>
          <a:p>
            <a:pPr marL="404813" indent="-395288">
              <a:lnSpc>
                <a:spcPct val="100000"/>
              </a:lnSpc>
              <a:buClr>
                <a:schemeClr val="accent1"/>
              </a:buClr>
              <a:buFont typeface="+mj-lt"/>
              <a:buAutoNum type="arabicPeriod"/>
            </a:pPr>
            <a:r>
              <a:rPr lang="en-US" sz="1800" dirty="0"/>
              <a:t>Overview and Research Questions
Foot Traffic and Dwell Time Insights
Demographic Influences
Brand Performance and Recovery
Geographic Patterns and Recovery
Conclusion and AI Support</a:t>
            </a:r>
          </a:p>
        </p:txBody>
      </p:sp>
      <p:sp>
        <p:nvSpPr>
          <p:cNvPr id="3" name="Rectangle 2">
            <a:extLst>
              <a:ext uri="{FF2B5EF4-FFF2-40B4-BE49-F238E27FC236}">
                <a16:creationId xmlns:a16="http://schemas.microsoft.com/office/drawing/2014/main" id="{39530926-5351-1AF7-15F4-9B8C34076032}"/>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487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7876C2-52C1-9AD7-E731-0F80036D9CA4}"/>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Introduction</a:t>
            </a:r>
          </a:p>
        </p:txBody>
      </p:sp>
      <p:sp>
        <p:nvSpPr>
          <p:cNvPr id="13" name="Title 12">
            <a:extLst>
              <a:ext uri="{FF2B5EF4-FFF2-40B4-BE49-F238E27FC236}">
                <a16:creationId xmlns:a16="http://schemas.microsoft.com/office/drawing/2014/main" id="{869BE325-933C-3458-A19B-53CD410CACCF}"/>
              </a:ext>
            </a:extLst>
          </p:cNvPr>
          <p:cNvSpPr>
            <a:spLocks noGrp="1"/>
          </p:cNvSpPr>
          <p:nvPr>
            <p:ph type="title"/>
            <p:custDataLst>
              <p:tags r:id="rId2"/>
            </p:custDataLst>
          </p:nvPr>
        </p:nvSpPr>
        <p:spPr>
          <a:xfrm>
            <a:off x="419100" y="629392"/>
            <a:ext cx="11353800" cy="627908"/>
          </a:xfrm>
        </p:spPr>
        <p:txBody>
          <a:bodyPr lIns="0">
            <a:normAutofit/>
          </a:bodyPr>
          <a:lstStyle/>
          <a:p>
            <a:r>
              <a:rPr lang="en-US" noProof="1"/>
              <a:t>Overview and Research Questions</a:t>
            </a:r>
          </a:p>
        </p:txBody>
      </p:sp>
      <p:sp>
        <p:nvSpPr>
          <p:cNvPr id="14" name="Content Placeholder 13">
            <a:extLst>
              <a:ext uri="{FF2B5EF4-FFF2-40B4-BE49-F238E27FC236}">
                <a16:creationId xmlns:a16="http://schemas.microsoft.com/office/drawing/2014/main" id="{AD45B313-6EE4-03CA-D638-C3B8F95A2D14}"/>
              </a:ext>
            </a:extLst>
          </p:cNvPr>
          <p:cNvSpPr>
            <a:spLocks noGrp="1"/>
          </p:cNvSpPr>
          <p:nvPr>
            <p:ph idx="4294967295"/>
            <p:custDataLst>
              <p:tags r:id="rId3"/>
            </p:custDataLst>
          </p:nvPr>
        </p:nvSpPr>
        <p:spPr>
          <a:xfrm>
            <a:off x="4229101" y="1485900"/>
            <a:ext cx="7543800" cy="1554480"/>
          </a:xfrm>
        </p:spPr>
        <p:txBody>
          <a:bodyPr vert="horz" lIns="0" tIns="45720" rIns="91440" bIns="45720" rtlCol="0">
            <a:normAutofit/>
          </a:bodyPr>
          <a:lstStyle/>
          <a:p>
            <a:pPr marL="11113" indent="0">
              <a:lnSpc>
                <a:spcPct val="114000"/>
              </a:lnSpc>
              <a:spcBef>
                <a:spcPts val="1000"/>
              </a:spcBef>
              <a:buNone/>
            </a:pPr>
            <a:r>
              <a:rPr lang="en-US" noProof="1"/>
              <a:t>The shift to remote work in early 2020 reshaped consumer behavior, causing a surge in office supply demand. This study focuses on Office Supply Stores in the U.S., analyzing trends in California counties using SafeGraph data and RUCA codes.</a:t>
            </a:r>
          </a:p>
        </p:txBody>
      </p:sp>
      <p:sp>
        <p:nvSpPr>
          <p:cNvPr id="15" name="Content Placeholder 14">
            <a:extLst>
              <a:ext uri="{FF2B5EF4-FFF2-40B4-BE49-F238E27FC236}">
                <a16:creationId xmlns:a16="http://schemas.microsoft.com/office/drawing/2014/main" id="{05929C91-B36F-6FCF-5848-317A0DB9D616}"/>
              </a:ext>
            </a:extLst>
          </p:cNvPr>
          <p:cNvSpPr>
            <a:spLocks noGrp="1"/>
          </p:cNvSpPr>
          <p:nvPr>
            <p:ph sz="half" idx="4294967295"/>
            <p:custDataLst>
              <p:tags r:id="rId4"/>
            </p:custDataLst>
          </p:nvPr>
        </p:nvSpPr>
        <p:spPr>
          <a:xfrm>
            <a:off x="4229101" y="3166109"/>
            <a:ext cx="7543800" cy="1554480"/>
          </a:xfrm>
        </p:spPr>
        <p:txBody>
          <a:bodyPr vert="horz" lIns="0" tIns="45720" rIns="91440" bIns="45720" rtlCol="0">
            <a:normAutofit/>
          </a:bodyPr>
          <a:lstStyle/>
          <a:p>
            <a:pPr marL="11113" indent="0">
              <a:lnSpc>
                <a:spcPct val="114000"/>
              </a:lnSpc>
              <a:spcBef>
                <a:spcPts val="1000"/>
              </a:spcBef>
              <a:buNone/>
            </a:pPr>
            <a:r>
              <a:rPr lang="en-US" noProof="1"/>
              <a:t>Analysis covers California counties classified as urban, suburban, or rural. Demographics include education levels, working-age (18-64), and K-12 households (5-17), to explore consumer patterns and innovative store concepts.</a:t>
            </a:r>
          </a:p>
        </p:txBody>
      </p:sp>
      <p:sp>
        <p:nvSpPr>
          <p:cNvPr id="16" name="Content Placeholder 15">
            <a:extLst>
              <a:ext uri="{FF2B5EF4-FFF2-40B4-BE49-F238E27FC236}">
                <a16:creationId xmlns:a16="http://schemas.microsoft.com/office/drawing/2014/main" id="{AD6F1865-5DAE-BFBA-2FF2-DA142B0B6BE5}"/>
              </a:ext>
            </a:extLst>
          </p:cNvPr>
          <p:cNvSpPr>
            <a:spLocks noGrp="1"/>
          </p:cNvSpPr>
          <p:nvPr>
            <p:ph sz="half" idx="4294967295"/>
            <p:custDataLst>
              <p:tags r:id="rId5"/>
            </p:custDataLst>
          </p:nvPr>
        </p:nvSpPr>
        <p:spPr>
          <a:xfrm>
            <a:off x="4229101" y="4846320"/>
            <a:ext cx="7543800" cy="1554480"/>
          </a:xfrm>
        </p:spPr>
        <p:txBody>
          <a:bodyPr vert="horz" lIns="0" tIns="45720" rIns="91440" bIns="45720" rtlCol="0">
            <a:normAutofit/>
          </a:bodyPr>
          <a:lstStyle/>
          <a:p>
            <a:pPr marL="11113" indent="0">
              <a:lnSpc>
                <a:spcPct val="114000"/>
              </a:lnSpc>
              <a:spcBef>
                <a:spcPts val="1000"/>
              </a:spcBef>
              <a:buNone/>
            </a:pPr>
            <a:r>
              <a:rPr lang="en-US" noProof="1"/>
              <a:t>Key questions address weekly changes in foot traffic and dwell times during early 2020, demographic correlations with visits, and brand recovery patterns indicating loyalty and essential purchasing behavior.</a:t>
            </a:r>
          </a:p>
        </p:txBody>
      </p:sp>
      <p:sp>
        <p:nvSpPr>
          <p:cNvPr id="17" name="Text Placeholder 16">
            <a:extLst>
              <a:ext uri="{FF2B5EF4-FFF2-40B4-BE49-F238E27FC236}">
                <a16:creationId xmlns:a16="http://schemas.microsoft.com/office/drawing/2014/main" id="{69A1CEA3-2CF3-4D24-B4BF-B1E2F636D15A}"/>
              </a:ext>
            </a:extLst>
          </p:cNvPr>
          <p:cNvSpPr>
            <a:spLocks noGrp="1"/>
          </p:cNvSpPr>
          <p:nvPr>
            <p:ph type="body" idx="4294967295"/>
            <p:custDataLst>
              <p:tags r:id="rId6"/>
            </p:custDataLst>
          </p:nvPr>
        </p:nvSpPr>
        <p:spPr>
          <a:xfrm>
            <a:off x="419100" y="1485900"/>
            <a:ext cx="3581400" cy="1554480"/>
          </a:xfrm>
        </p:spPr>
        <p:txBody>
          <a:bodyPr vert="horz" lIns="0" tIns="45720" rIns="91440" bIns="45720" rtlCol="0" anchor="t">
            <a:normAutofit/>
          </a:bodyPr>
          <a:lstStyle/>
          <a:p>
            <a:pPr marL="0" indent="0">
              <a:lnSpc>
                <a:spcPct val="100000"/>
              </a:lnSpc>
              <a:spcBef>
                <a:spcPts val="1000"/>
              </a:spcBef>
              <a:buNone/>
            </a:pPr>
            <a:r>
              <a:rPr lang="en-US" sz="1800" b="1" noProof="1">
                <a:solidFill>
                  <a:schemeClr val="accent1"/>
                </a:solidFill>
                <a:latin typeface="+mj-lt"/>
              </a:rPr>
              <a:t>Study Context and Industry Focus</a:t>
            </a:r>
          </a:p>
        </p:txBody>
      </p:sp>
      <p:sp>
        <p:nvSpPr>
          <p:cNvPr id="18" name="Text Placeholder 17">
            <a:extLst>
              <a:ext uri="{FF2B5EF4-FFF2-40B4-BE49-F238E27FC236}">
                <a16:creationId xmlns:a16="http://schemas.microsoft.com/office/drawing/2014/main" id="{83280D2F-42F4-D89C-6C98-5D8143BE9670}"/>
              </a:ext>
            </a:extLst>
          </p:cNvPr>
          <p:cNvSpPr>
            <a:spLocks noGrp="1"/>
          </p:cNvSpPr>
          <p:nvPr>
            <p:ph type="body" idx="4294967295"/>
            <p:custDataLst>
              <p:tags r:id="rId7"/>
            </p:custDataLst>
          </p:nvPr>
        </p:nvSpPr>
        <p:spPr>
          <a:xfrm>
            <a:off x="419100" y="3166110"/>
            <a:ext cx="3581400" cy="1554480"/>
          </a:xfrm>
        </p:spPr>
        <p:txBody>
          <a:bodyPr vert="horz" lIns="0" tIns="45720" rIns="91440" bIns="45720" rtlCol="0" anchor="t">
            <a:normAutofit/>
          </a:bodyPr>
          <a:lstStyle/>
          <a:p>
            <a:pPr marL="0" indent="0">
              <a:lnSpc>
                <a:spcPct val="100000"/>
              </a:lnSpc>
              <a:spcBef>
                <a:spcPts val="1000"/>
              </a:spcBef>
              <a:buNone/>
            </a:pPr>
            <a:r>
              <a:rPr lang="en-US" sz="1800" b="1" noProof="1">
                <a:solidFill>
                  <a:schemeClr val="accent1"/>
                </a:solidFill>
                <a:latin typeface="+mj-lt"/>
              </a:rPr>
              <a:t>Geographic and Demographic Scope</a:t>
            </a:r>
          </a:p>
        </p:txBody>
      </p:sp>
      <p:sp>
        <p:nvSpPr>
          <p:cNvPr id="19" name="Text Placeholder 18">
            <a:extLst>
              <a:ext uri="{FF2B5EF4-FFF2-40B4-BE49-F238E27FC236}">
                <a16:creationId xmlns:a16="http://schemas.microsoft.com/office/drawing/2014/main" id="{4C7D026A-729A-0BDC-C780-6B555ADADDD2}"/>
              </a:ext>
            </a:extLst>
          </p:cNvPr>
          <p:cNvSpPr>
            <a:spLocks noGrp="1"/>
          </p:cNvSpPr>
          <p:nvPr>
            <p:ph type="body" idx="4294967295"/>
            <p:custDataLst>
              <p:tags r:id="rId8"/>
            </p:custDataLst>
          </p:nvPr>
        </p:nvSpPr>
        <p:spPr>
          <a:xfrm>
            <a:off x="419100" y="4846320"/>
            <a:ext cx="3581400" cy="1554480"/>
          </a:xfrm>
        </p:spPr>
        <p:txBody>
          <a:bodyPr vert="horz" lIns="0" tIns="45720" rIns="91440" bIns="45720" rtlCol="0" anchor="t">
            <a:normAutofit/>
          </a:bodyPr>
          <a:lstStyle/>
          <a:p>
            <a:pPr marL="0" indent="0">
              <a:lnSpc>
                <a:spcPct val="100000"/>
              </a:lnSpc>
              <a:spcBef>
                <a:spcPts val="1000"/>
              </a:spcBef>
              <a:buNone/>
            </a:pPr>
            <a:r>
              <a:rPr lang="en-US" sz="1800" b="1" noProof="1">
                <a:solidFill>
                  <a:schemeClr val="accent1"/>
                </a:solidFill>
                <a:latin typeface="+mj-lt"/>
              </a:rPr>
              <a:t>Research Questions Explored</a:t>
            </a:r>
          </a:p>
        </p:txBody>
      </p:sp>
      <p:sp>
        <p:nvSpPr>
          <p:cNvPr id="5" name="Rectangle 4">
            <a:extLst>
              <a:ext uri="{FF2B5EF4-FFF2-40B4-BE49-F238E27FC236}">
                <a16:creationId xmlns:a16="http://schemas.microsoft.com/office/drawing/2014/main" id="{983B11A0-8C64-DD71-D859-707465C9C67E}"/>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grpSp>
        <p:nvGrpSpPr>
          <p:cNvPr id="11" name="Group 10">
            <a:extLst>
              <a:ext uri="{FF2B5EF4-FFF2-40B4-BE49-F238E27FC236}">
                <a16:creationId xmlns:a16="http://schemas.microsoft.com/office/drawing/2014/main" id="{FD32C896-87A5-B4F7-0317-B5A57A19AF88}"/>
              </a:ext>
            </a:extLst>
          </p:cNvPr>
          <p:cNvGrpSpPr/>
          <p:nvPr>
            <p:custDataLst>
              <p:tags r:id="rId10"/>
            </p:custDataLst>
          </p:nvPr>
        </p:nvGrpSpPr>
        <p:grpSpPr>
          <a:xfrm>
            <a:off x="9440602" y="162617"/>
            <a:ext cx="2576145" cy="1301528"/>
            <a:chOff x="5326996" y="628184"/>
            <a:chExt cx="2576145" cy="1301528"/>
          </a:xfrm>
        </p:grpSpPr>
        <p:sp>
          <p:nvSpPr>
            <p:cNvPr id="12" name="Rounded Rectangle 11">
              <a:extLst>
                <a:ext uri="{FF2B5EF4-FFF2-40B4-BE49-F238E27FC236}">
                  <a16:creationId xmlns:a16="http://schemas.microsoft.com/office/drawing/2014/main" id="{06FD3FF8-C40C-9684-BEBB-61E52EA8E75A}"/>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20" name="Graphic 19">
              <a:extLst>
                <a:ext uri="{FF2B5EF4-FFF2-40B4-BE49-F238E27FC236}">
                  <a16:creationId xmlns:a16="http://schemas.microsoft.com/office/drawing/2014/main" id="{78144ECD-92DC-C9D1-17AE-6F29BE20F55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440548" y="734271"/>
              <a:ext cx="219238" cy="219238"/>
            </a:xfrm>
            <a:prstGeom prst="rect">
              <a:avLst/>
            </a:prstGeom>
          </p:spPr>
        </p:pic>
        <p:sp>
          <p:nvSpPr>
            <p:cNvPr id="21" name="Freeform 20">
              <a:extLst>
                <a:ext uri="{FF2B5EF4-FFF2-40B4-BE49-F238E27FC236}">
                  <a16:creationId xmlns:a16="http://schemas.microsoft.com/office/drawing/2014/main" id="{AE6BCE1C-1ADE-1089-B1B0-67E1585A633B}"/>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2" name="TextBox 21">
            <a:extLst>
              <a:ext uri="{FF2B5EF4-FFF2-40B4-BE49-F238E27FC236}">
                <a16:creationId xmlns:a16="http://schemas.microsoft.com/office/drawing/2014/main" id="{3260C55E-DD2B-1DCF-DA84-CEF5D6506BC9}"/>
              </a:ext>
            </a:extLst>
          </p:cNvPr>
          <p:cNvSpPr txBox="1"/>
          <p:nvPr>
            <p:custDataLst>
              <p:tags r:id="rId11"/>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Customize this slide by adding local demographic data or specific brand examples relevant to your audience's region for greater relatability.</a:t>
            </a:r>
          </a:p>
        </p:txBody>
      </p:sp>
    </p:spTree>
    <p:extLst>
      <p:ext uri="{BB962C8B-B14F-4D97-AF65-F5344CB8AC3E}">
        <p14:creationId xmlns:p14="http://schemas.microsoft.com/office/powerpoint/2010/main" val="2279343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Placeholder 8">
            <a:extLst>
              <a:ext uri="{FF2B5EF4-FFF2-40B4-BE49-F238E27FC236}">
                <a16:creationId xmlns:a16="http://schemas.microsoft.com/office/drawing/2014/main" id="{F7DACF1D-630F-220A-AD2F-F814DDDB95C6}"/>
              </a:ext>
            </a:extLst>
          </p:cNvPr>
          <p:cNvPicPr>
            <a:picLocks noChangeAspect="1"/>
          </p:cNvPicPr>
          <p:nvPr>
            <p:custDataLst>
              <p:tags r:id="rId1"/>
            </p:custDataLst>
          </p:nvPr>
        </p:nvPicPr>
        <p:blipFill rotWithShape="1">
          <a:blip r:embed="rId16" cstate="screen">
            <a:extLst>
              <a:ext uri="{28A0092B-C50C-407E-A947-70E740481C1C}">
                <a14:useLocalDpi xmlns:a14="http://schemas.microsoft.com/office/drawing/2010/main"/>
              </a:ext>
            </a:extLst>
          </a:blip>
          <a:srcRect l="10357" r="10357"/>
          <a:stretch/>
        </p:blipFill>
        <p:spPr>
          <a:xfrm>
            <a:off x="8191500" y="228600"/>
            <a:ext cx="3771900" cy="6400800"/>
          </a:xfrm>
          <a:prstGeom prst="roundRect">
            <a:avLst>
              <a:gd name="adj" fmla="val 2476"/>
            </a:avLst>
          </a:prstGeom>
        </p:spPr>
      </p:pic>
      <p:sp>
        <p:nvSpPr>
          <p:cNvPr id="17" name="TextBox 16">
            <a:extLst>
              <a:ext uri="{FF2B5EF4-FFF2-40B4-BE49-F238E27FC236}">
                <a16:creationId xmlns:a16="http://schemas.microsoft.com/office/drawing/2014/main" id="{E8883A48-1D92-23BE-2422-61D0E999DF99}"/>
              </a:ext>
            </a:extLst>
          </p:cNvPr>
          <p:cNvSpPr txBox="1"/>
          <p:nvPr>
            <p:custDataLst>
              <p:tags r:id="rId2"/>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Insights</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3"/>
            </p:custDataLst>
          </p:nvPr>
        </p:nvSpPr>
        <p:spPr>
          <a:xfrm>
            <a:off x="419100" y="629392"/>
            <a:ext cx="7543800" cy="627908"/>
          </a:xfrm>
        </p:spPr>
        <p:txBody>
          <a:bodyPr lIns="0">
            <a:normAutofit/>
          </a:bodyPr>
          <a:lstStyle/>
          <a:p>
            <a:r>
              <a:rPr lang="en-US" noProof="1"/>
              <a:t>Foot Traffic and Dwell Time Insights</a:t>
            </a:r>
          </a:p>
        </p:txBody>
      </p:sp>
      <p:sp>
        <p:nvSpPr>
          <p:cNvPr id="16" name="Rectangle 15">
            <a:extLst>
              <a:ext uri="{FF2B5EF4-FFF2-40B4-BE49-F238E27FC236}">
                <a16:creationId xmlns:a16="http://schemas.microsoft.com/office/drawing/2014/main" id="{EA988A95-7270-E8A4-EC69-C419E79A89F3}"/>
              </a:ext>
            </a:extLst>
          </p:cNvPr>
          <p:cNvSpPr/>
          <p:nvPr>
            <p:custDataLst>
              <p:tags r:id="rId4"/>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mj-lt"/>
              <a:ea typeface="+mn-ea"/>
              <a:cs typeface="+mn-cs"/>
            </a:endParaRPr>
          </a:p>
        </p:txBody>
      </p:sp>
      <p:grpSp>
        <p:nvGrpSpPr>
          <p:cNvPr id="4" name="Group 3">
            <a:extLst>
              <a:ext uri="{FF2B5EF4-FFF2-40B4-BE49-F238E27FC236}">
                <a16:creationId xmlns:a16="http://schemas.microsoft.com/office/drawing/2014/main" id="{F71E9843-6092-BBBC-F4E2-A39C0CE97085}"/>
              </a:ext>
            </a:extLst>
          </p:cNvPr>
          <p:cNvGrpSpPr/>
          <p:nvPr>
            <p:custDataLst>
              <p:tags r:id="rId5"/>
            </p:custDataLst>
          </p:nvPr>
        </p:nvGrpSpPr>
        <p:grpSpPr>
          <a:xfrm>
            <a:off x="9440602" y="162617"/>
            <a:ext cx="2576145" cy="1301528"/>
            <a:chOff x="5326996" y="628184"/>
            <a:chExt cx="2576145" cy="1301528"/>
          </a:xfrm>
        </p:grpSpPr>
        <p:sp>
          <p:nvSpPr>
            <p:cNvPr id="5" name="Rounded Rectangle 4">
              <a:extLst>
                <a:ext uri="{FF2B5EF4-FFF2-40B4-BE49-F238E27FC236}">
                  <a16:creationId xmlns:a16="http://schemas.microsoft.com/office/drawing/2014/main" id="{844A22C4-A7D2-7446-2E83-39D9AE6875F3}"/>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6" name="Graphic 5">
              <a:extLst>
                <a:ext uri="{FF2B5EF4-FFF2-40B4-BE49-F238E27FC236}">
                  <a16:creationId xmlns:a16="http://schemas.microsoft.com/office/drawing/2014/main" id="{3F8480D0-7654-5702-013D-EC457B37A76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440548" y="734271"/>
              <a:ext cx="219238" cy="219238"/>
            </a:xfrm>
            <a:prstGeom prst="rect">
              <a:avLst/>
            </a:prstGeom>
          </p:spPr>
        </p:pic>
        <p:sp>
          <p:nvSpPr>
            <p:cNvPr id="7" name="Freeform 6">
              <a:extLst>
                <a:ext uri="{FF2B5EF4-FFF2-40B4-BE49-F238E27FC236}">
                  <a16:creationId xmlns:a16="http://schemas.microsoft.com/office/drawing/2014/main" id="{69751C13-947E-1FCA-FAEB-BE910F81EEB9}"/>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8" name="TextBox 7">
            <a:extLst>
              <a:ext uri="{FF2B5EF4-FFF2-40B4-BE49-F238E27FC236}">
                <a16:creationId xmlns:a16="http://schemas.microsoft.com/office/drawing/2014/main" id="{AA0DFF5B-20B4-3381-247B-7CCDB5C1F75A}"/>
              </a:ext>
            </a:extLst>
          </p:cNvPr>
          <p:cNvSpPr txBox="1"/>
          <p:nvPr>
            <p:custDataLst>
              <p:tags r:id="rId6"/>
            </p:custDataLst>
          </p:nvPr>
        </p:nvSpPr>
        <p:spPr>
          <a:xfrm>
            <a:off x="9552588" y="542869"/>
            <a:ext cx="2351599" cy="825024"/>
          </a:xfrm>
          <a:prstGeom prst="rect">
            <a:avLst/>
          </a:prstGeom>
          <a:noFill/>
        </p:spPr>
        <p:txBody>
          <a:bodyPr wrap="square" lIns="0" tIns="45720" rIns="0" bIns="0" rtlCol="0">
            <a:normAutofit lnSpcReduction="10000"/>
          </a:bodyPr>
          <a:lstStyle/>
          <a:p>
            <a:r>
              <a:rPr lang="en-US" sz="1100" noProof="1">
                <a:solidFill>
                  <a:srgbClr val="100F19"/>
                </a:solidFill>
                <a:latin typeface="Franklin Gothic Book" panose="020B0503020102020204" pitchFamily="34" charset="0"/>
              </a:rPr>
              <a:t>Use specific visit and dwell time figures to emphasize brand differences, and consider adding examples of how consumer behavior varies by store type to make insights relatable.</a:t>
            </a:r>
          </a:p>
        </p:txBody>
      </p:sp>
      <p:sp>
        <p:nvSpPr>
          <p:cNvPr id="27" name="Content Placeholder 9">
            <a:extLst>
              <a:ext uri="{FF2B5EF4-FFF2-40B4-BE49-F238E27FC236}">
                <a16:creationId xmlns:a16="http://schemas.microsoft.com/office/drawing/2014/main" id="{616A6202-0591-CC0F-8A50-A024AA9C6FF1}"/>
              </a:ext>
            </a:extLst>
          </p:cNvPr>
          <p:cNvSpPr txBox="1">
            <a:spLocks/>
          </p:cNvSpPr>
          <p:nvPr>
            <p:custDataLst>
              <p:tags r:id="rId7"/>
            </p:custDataLst>
          </p:nvPr>
        </p:nvSpPr>
        <p:spPr>
          <a:xfrm>
            <a:off x="2299063" y="1485900"/>
            <a:ext cx="5669280" cy="1135097"/>
          </a:xfrm>
          <a:prstGeom prst="rect">
            <a:avLst/>
          </a:prstGeom>
        </p:spPr>
        <p:txBody>
          <a:bodyPr vert="horz" lIns="0" tIns="45720" rIns="91440" bIns="45720" rtlCol="0" anchor="t">
            <a:noAutofit/>
          </a:bodyPr>
          <a:lstStyle>
            <a:lvl1pPr marL="11113" indent="0" algn="l"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All brands peaked in Jan &amp; Feb 2020, then dropped sharply from Week 12 (March 16–22) as lockdowns began. Staples and Office Depot led visits, each surpassing 100K weekly pre-March. Staples rebounded in Week 17 with nearly 98K visits, signaling early recovery.</a:t>
            </a:r>
          </a:p>
        </p:txBody>
      </p:sp>
      <p:sp>
        <p:nvSpPr>
          <p:cNvPr id="28" name="Content Placeholder 10">
            <a:extLst>
              <a:ext uri="{FF2B5EF4-FFF2-40B4-BE49-F238E27FC236}">
                <a16:creationId xmlns:a16="http://schemas.microsoft.com/office/drawing/2014/main" id="{89D719C7-231F-EE54-DCF4-5611C30355F3}"/>
              </a:ext>
            </a:extLst>
          </p:cNvPr>
          <p:cNvSpPr txBox="1">
            <a:spLocks/>
          </p:cNvSpPr>
          <p:nvPr>
            <p:custDataLst>
              <p:tags r:id="rId8"/>
            </p:custDataLst>
          </p:nvPr>
        </p:nvSpPr>
        <p:spPr>
          <a:xfrm>
            <a:off x="2299063" y="2691405"/>
            <a:ext cx="5669280" cy="1135097"/>
          </a:xfrm>
          <a:prstGeom prst="rect">
            <a:avLst/>
          </a:prstGeom>
        </p:spPr>
        <p:txBody>
          <a:bodyPr vert="horz" lIns="0" tIns="45720" rIns="91440" bIns="45720" rtlCol="0" anchor="t">
            <a:noAutofit/>
          </a:bodyPr>
          <a:lstStyle>
            <a:lvl1pPr marL="11113" indent="0" algn="l"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Staples and Office Depot have shorter dwell times, showing quick, frequent trips. Specialty stores like Papyrus, Cartridge World, and Rapid Refill draw fewer visitors but with longer dwell times, indicating focused, high-intent purchases. Rapid Refill leads with about 50 minutes dwell time.</a:t>
            </a:r>
          </a:p>
        </p:txBody>
      </p:sp>
      <p:sp>
        <p:nvSpPr>
          <p:cNvPr id="29" name="Content Placeholder 11">
            <a:extLst>
              <a:ext uri="{FF2B5EF4-FFF2-40B4-BE49-F238E27FC236}">
                <a16:creationId xmlns:a16="http://schemas.microsoft.com/office/drawing/2014/main" id="{CCDB371C-B36F-86B6-2A82-619087A59CD3}"/>
              </a:ext>
            </a:extLst>
          </p:cNvPr>
          <p:cNvSpPr txBox="1">
            <a:spLocks/>
          </p:cNvSpPr>
          <p:nvPr>
            <p:custDataLst>
              <p:tags r:id="rId9"/>
            </p:custDataLst>
          </p:nvPr>
        </p:nvSpPr>
        <p:spPr>
          <a:xfrm>
            <a:off x="2299063" y="3896910"/>
            <a:ext cx="5669280" cy="1135097"/>
          </a:xfrm>
          <a:prstGeom prst="rect">
            <a:avLst/>
          </a:prstGeom>
        </p:spPr>
        <p:txBody>
          <a:bodyPr vert="horz" lIns="0" tIns="45720" rIns="91440" bIns="45720" rtlCol="0" anchor="t">
            <a:noAutofit/>
          </a:bodyPr>
          <a:lstStyle>
            <a:lvl1pPr marL="11113" indent="0" algn="l"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Recovery timing and magnitude varied by brand due to store footprint, product mix, and regional restrictions. Staples’ strong supply chain and suburban presence helped faster reopening, while others lagged behind.</a:t>
            </a:r>
          </a:p>
        </p:txBody>
      </p:sp>
      <p:sp>
        <p:nvSpPr>
          <p:cNvPr id="30" name="Text Placeholder 12">
            <a:extLst>
              <a:ext uri="{FF2B5EF4-FFF2-40B4-BE49-F238E27FC236}">
                <a16:creationId xmlns:a16="http://schemas.microsoft.com/office/drawing/2014/main" id="{4C476302-89B5-830A-6AD4-CAE3AFE4205C}"/>
              </a:ext>
            </a:extLst>
          </p:cNvPr>
          <p:cNvSpPr txBox="1">
            <a:spLocks/>
          </p:cNvSpPr>
          <p:nvPr>
            <p:custDataLst>
              <p:tags r:id="rId10"/>
            </p:custDataLst>
          </p:nvPr>
        </p:nvSpPr>
        <p:spPr>
          <a:xfrm>
            <a:off x="419101" y="1485900"/>
            <a:ext cx="1708662" cy="1135097"/>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18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latin typeface="+mj-lt"/>
                <a:ea typeface="+mn-ea"/>
                <a:cs typeface="Arial" panose="020B0604020202020204" pitchFamily="34" charset="0"/>
              </a:rPr>
              <a:t>Foot Traffic Trends</a:t>
            </a:r>
          </a:p>
        </p:txBody>
      </p:sp>
      <p:sp>
        <p:nvSpPr>
          <p:cNvPr id="31" name="Text Placeholder 13">
            <a:extLst>
              <a:ext uri="{FF2B5EF4-FFF2-40B4-BE49-F238E27FC236}">
                <a16:creationId xmlns:a16="http://schemas.microsoft.com/office/drawing/2014/main" id="{7D11E8A9-154D-5ADA-8113-D4AE175C7FDE}"/>
              </a:ext>
            </a:extLst>
          </p:cNvPr>
          <p:cNvSpPr txBox="1">
            <a:spLocks/>
          </p:cNvSpPr>
          <p:nvPr>
            <p:custDataLst>
              <p:tags r:id="rId11"/>
            </p:custDataLst>
          </p:nvPr>
        </p:nvSpPr>
        <p:spPr>
          <a:xfrm>
            <a:off x="419101" y="2691405"/>
            <a:ext cx="1708662" cy="1135097"/>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18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latin typeface="+mj-lt"/>
                <a:ea typeface="+mn-ea"/>
                <a:cs typeface="Arial" panose="020B0604020202020204" pitchFamily="34" charset="0"/>
              </a:rPr>
              <a:t>Dwell Time Patterns</a:t>
            </a:r>
          </a:p>
        </p:txBody>
      </p:sp>
      <p:sp>
        <p:nvSpPr>
          <p:cNvPr id="32" name="Text Placeholder 14">
            <a:extLst>
              <a:ext uri="{FF2B5EF4-FFF2-40B4-BE49-F238E27FC236}">
                <a16:creationId xmlns:a16="http://schemas.microsoft.com/office/drawing/2014/main" id="{37BEDD8D-DDE0-97A6-68A3-C1DA64CB52C7}"/>
              </a:ext>
            </a:extLst>
          </p:cNvPr>
          <p:cNvSpPr txBox="1">
            <a:spLocks/>
          </p:cNvSpPr>
          <p:nvPr>
            <p:custDataLst>
              <p:tags r:id="rId12"/>
            </p:custDataLst>
          </p:nvPr>
        </p:nvSpPr>
        <p:spPr>
          <a:xfrm>
            <a:off x="419101" y="3896910"/>
            <a:ext cx="1708662" cy="1135097"/>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18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latin typeface="+mj-lt"/>
                <a:ea typeface="+mn-ea"/>
                <a:cs typeface="Arial" panose="020B0604020202020204" pitchFamily="34" charset="0"/>
              </a:rPr>
              <a:t>Brand Recovery Differences</a:t>
            </a:r>
          </a:p>
        </p:txBody>
      </p:sp>
      <p:sp>
        <p:nvSpPr>
          <p:cNvPr id="33" name="Content Placeholder 1">
            <a:extLst>
              <a:ext uri="{FF2B5EF4-FFF2-40B4-BE49-F238E27FC236}">
                <a16:creationId xmlns:a16="http://schemas.microsoft.com/office/drawing/2014/main" id="{93AD1669-0C5F-71CA-6CD4-31127556BB8A}"/>
              </a:ext>
            </a:extLst>
          </p:cNvPr>
          <p:cNvSpPr txBox="1">
            <a:spLocks/>
          </p:cNvSpPr>
          <p:nvPr>
            <p:custDataLst>
              <p:tags r:id="rId13"/>
            </p:custDataLst>
          </p:nvPr>
        </p:nvSpPr>
        <p:spPr>
          <a:xfrm>
            <a:off x="2299063" y="5102416"/>
            <a:ext cx="5669280" cy="1135097"/>
          </a:xfrm>
          <a:prstGeom prst="rect">
            <a:avLst/>
          </a:prstGeom>
        </p:spPr>
        <p:txBody>
          <a:bodyPr vert="horz" lIns="0" tIns="45720" rIns="91440" bIns="45720" rtlCol="0" anchor="t">
            <a:noAutofit/>
          </a:bodyPr>
          <a:lstStyle>
            <a:lvl1pPr marL="11113" indent="0" algn="l"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Bubble chart shows Staples and Office Depot dominate visits but with shorter dwell times. Specialty brands cluster with longer dwell times but fewer visits, illustrating efficiency-driven shopping at high-traffic stores versus experience-driven shopping at specialty stores.</a:t>
            </a:r>
          </a:p>
        </p:txBody>
      </p:sp>
      <p:sp>
        <p:nvSpPr>
          <p:cNvPr id="34" name="Text Placeholder 2">
            <a:extLst>
              <a:ext uri="{FF2B5EF4-FFF2-40B4-BE49-F238E27FC236}">
                <a16:creationId xmlns:a16="http://schemas.microsoft.com/office/drawing/2014/main" id="{43CB9FB1-53A5-A540-76D4-79D940B149CF}"/>
              </a:ext>
            </a:extLst>
          </p:cNvPr>
          <p:cNvSpPr txBox="1">
            <a:spLocks/>
          </p:cNvSpPr>
          <p:nvPr>
            <p:custDataLst>
              <p:tags r:id="rId14"/>
            </p:custDataLst>
          </p:nvPr>
        </p:nvSpPr>
        <p:spPr>
          <a:xfrm>
            <a:off x="419101" y="5102416"/>
            <a:ext cx="1708662" cy="1135097"/>
          </a:xfrm>
          <a:prstGeom prst="rect">
            <a:avLst/>
          </a:prstGeom>
        </p:spPr>
        <p:txBody>
          <a:bodyPr vert="horz" lIns="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18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latin typeface="+mj-lt"/>
                <a:ea typeface="+mn-ea"/>
                <a:cs typeface="Arial" panose="020B0604020202020204" pitchFamily="34" charset="0"/>
              </a:rPr>
              <a:t>Bubble Chart Insights</a:t>
            </a:r>
          </a:p>
        </p:txBody>
      </p:sp>
    </p:spTree>
    <p:extLst>
      <p:ext uri="{BB962C8B-B14F-4D97-AF65-F5344CB8AC3E}">
        <p14:creationId xmlns:p14="http://schemas.microsoft.com/office/powerpoint/2010/main" val="1335087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149F0-33D7-0A36-1135-D29C0CC93A48}"/>
            </a:ext>
          </a:extLst>
        </p:cNvPr>
        <p:cNvGrpSpPr/>
        <p:nvPr/>
      </p:nvGrpSpPr>
      <p:grpSpPr>
        <a:xfrm>
          <a:off x="0" y="0"/>
          <a:ext cx="0" cy="0"/>
          <a:chOff x="0" y="0"/>
          <a:chExt cx="0" cy="0"/>
        </a:xfrm>
      </p:grpSpPr>
      <p:sp>
        <p:nvSpPr>
          <p:cNvPr id="24" name="Rounded Rectangle 23">
            <a:extLst>
              <a:ext uri="{FF2B5EF4-FFF2-40B4-BE49-F238E27FC236}">
                <a16:creationId xmlns:a16="http://schemas.microsoft.com/office/drawing/2014/main" id="{612580C7-AEA0-B6FB-9C96-07E72DC99711}"/>
              </a:ext>
            </a:extLst>
          </p:cNvPr>
          <p:cNvSpPr/>
          <p:nvPr/>
        </p:nvSpPr>
        <p:spPr>
          <a:xfrm>
            <a:off x="4229100" y="228600"/>
            <a:ext cx="7734300" cy="6400800"/>
          </a:xfrm>
          <a:prstGeom prst="roundRect">
            <a:avLst>
              <a:gd name="adj" fmla="val 1903"/>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ea typeface="+mn-ea"/>
              <a:cs typeface="+mn-cs"/>
            </a:endParaRPr>
          </a:p>
        </p:txBody>
      </p:sp>
      <p:sp>
        <p:nvSpPr>
          <p:cNvPr id="3" name="TextBox 2">
            <a:extLst>
              <a:ext uri="{FF2B5EF4-FFF2-40B4-BE49-F238E27FC236}">
                <a16:creationId xmlns:a16="http://schemas.microsoft.com/office/drawing/2014/main" id="{46268533-DEC7-1941-3252-260EF6544887}"/>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Demographics</a:t>
            </a:r>
          </a:p>
        </p:txBody>
      </p:sp>
      <p:sp>
        <p:nvSpPr>
          <p:cNvPr id="9" name="Title 8">
            <a:extLst>
              <a:ext uri="{FF2B5EF4-FFF2-40B4-BE49-F238E27FC236}">
                <a16:creationId xmlns:a16="http://schemas.microsoft.com/office/drawing/2014/main" id="{41D08562-B1A2-2B6D-065B-E99E745E853B}"/>
              </a:ext>
            </a:extLst>
          </p:cNvPr>
          <p:cNvSpPr>
            <a:spLocks noGrp="1"/>
          </p:cNvSpPr>
          <p:nvPr>
            <p:ph type="title"/>
            <p:custDataLst>
              <p:tags r:id="rId2"/>
            </p:custDataLst>
          </p:nvPr>
        </p:nvSpPr>
        <p:spPr/>
        <p:txBody>
          <a:bodyPr lIns="0">
            <a:normAutofit/>
          </a:bodyPr>
          <a:lstStyle/>
          <a:p>
            <a:r>
              <a:rPr lang="en-US" noProof="1"/>
              <a:t>Demographic and Geographic Influences</a:t>
            </a:r>
          </a:p>
        </p:txBody>
      </p:sp>
      <p:sp>
        <p:nvSpPr>
          <p:cNvPr id="2" name="Rectangle 1">
            <a:extLst>
              <a:ext uri="{FF2B5EF4-FFF2-40B4-BE49-F238E27FC236}">
                <a16:creationId xmlns:a16="http://schemas.microsoft.com/office/drawing/2014/main" id="{78A3970E-F17D-F785-0D9E-1A7D5467AC15}"/>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TextBox 9">
            <a:extLst>
              <a:ext uri="{FF2B5EF4-FFF2-40B4-BE49-F238E27FC236}">
                <a16:creationId xmlns:a16="http://schemas.microsoft.com/office/drawing/2014/main" id="{D7DF7926-FB75-5490-F493-41E323D4B8E2}"/>
              </a:ext>
            </a:extLst>
          </p:cNvPr>
          <p:cNvSpPr txBox="1"/>
          <p:nvPr/>
        </p:nvSpPr>
        <p:spPr>
          <a:xfrm>
            <a:off x="4217307" y="1615440"/>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mn-lt"/>
              </a:rPr>
              <a:t>02</a:t>
            </a:r>
          </a:p>
        </p:txBody>
      </p:sp>
      <p:sp>
        <p:nvSpPr>
          <p:cNvPr id="11" name="TextBox 10">
            <a:extLst>
              <a:ext uri="{FF2B5EF4-FFF2-40B4-BE49-F238E27FC236}">
                <a16:creationId xmlns:a16="http://schemas.microsoft.com/office/drawing/2014/main" id="{74A8F03D-2C43-E7F4-4A03-0401CC606946}"/>
              </a:ext>
            </a:extLst>
          </p:cNvPr>
          <p:cNvSpPr txBox="1"/>
          <p:nvPr/>
        </p:nvSpPr>
        <p:spPr>
          <a:xfrm>
            <a:off x="4217307" y="2811779"/>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mn-lt"/>
              </a:rPr>
              <a:t>03</a:t>
            </a:r>
          </a:p>
        </p:txBody>
      </p:sp>
      <p:sp>
        <p:nvSpPr>
          <p:cNvPr id="7" name="TextBox 6">
            <a:extLst>
              <a:ext uri="{FF2B5EF4-FFF2-40B4-BE49-F238E27FC236}">
                <a16:creationId xmlns:a16="http://schemas.microsoft.com/office/drawing/2014/main" id="{DC941055-C0CA-BCA2-7A92-ECEBE00B87EA}"/>
              </a:ext>
            </a:extLst>
          </p:cNvPr>
          <p:cNvSpPr txBox="1"/>
          <p:nvPr/>
        </p:nvSpPr>
        <p:spPr>
          <a:xfrm>
            <a:off x="4217307" y="4008119"/>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mn-lt"/>
              </a:rPr>
              <a:t>04</a:t>
            </a:r>
          </a:p>
        </p:txBody>
      </p:sp>
      <p:sp>
        <p:nvSpPr>
          <p:cNvPr id="18" name="TextBox 17">
            <a:extLst>
              <a:ext uri="{FF2B5EF4-FFF2-40B4-BE49-F238E27FC236}">
                <a16:creationId xmlns:a16="http://schemas.microsoft.com/office/drawing/2014/main" id="{C4384B62-4E2F-0B35-FFAD-967B21791F02}"/>
              </a:ext>
            </a:extLst>
          </p:cNvPr>
          <p:cNvSpPr txBox="1"/>
          <p:nvPr/>
        </p:nvSpPr>
        <p:spPr>
          <a:xfrm>
            <a:off x="4217307" y="5203039"/>
            <a:ext cx="548640" cy="338554"/>
          </a:xfrm>
          <a:prstGeom prst="rect">
            <a:avLst/>
          </a:prstGeom>
          <a:noFill/>
        </p:spPr>
        <p:txBody>
          <a:bodyPr wrap="square" rtlCol="0" anchor="t">
            <a:normAutofit/>
          </a:bodyPr>
          <a:lstStyle>
            <a:defPPr>
              <a:defRPr lang="en-US"/>
            </a:defPPr>
            <a:lvl1pPr marR="0" lvl="0" indent="0" algn="r" fontAlgn="auto">
              <a:spcBef>
                <a:spcPts val="0"/>
              </a:spcBef>
              <a:spcAft>
                <a:spcPts val="0"/>
              </a:spcAft>
              <a:buClrTx/>
              <a:buSzTx/>
              <a:buFontTx/>
              <a:buNone/>
              <a:tabLst/>
              <a:defRPr kumimoji="0" sz="1600" b="1" i="0" u="none" strike="noStrike" cap="none" spc="0" normalizeH="0" baseline="0">
                <a:ln>
                  <a:noFill/>
                </a:ln>
                <a:solidFill>
                  <a:schemeClr val="accent1"/>
                </a:solidFill>
                <a:effectLst/>
                <a:uLnTx/>
                <a:uFillTx/>
                <a:latin typeface="Aptos" panose="02110004020202020204"/>
              </a:defRPr>
            </a:lvl1pPr>
          </a:lstStyle>
          <a:p>
            <a:r>
              <a:rPr lang="en-US" noProof="1">
                <a:latin typeface="+mn-lt"/>
              </a:rPr>
              <a:t>05</a:t>
            </a:r>
          </a:p>
        </p:txBody>
      </p:sp>
      <p:sp>
        <p:nvSpPr>
          <p:cNvPr id="38" name="Content Placeholder 25">
            <a:extLst>
              <a:ext uri="{FF2B5EF4-FFF2-40B4-BE49-F238E27FC236}">
                <a16:creationId xmlns:a16="http://schemas.microsoft.com/office/drawing/2014/main" id="{DEBEEAAA-BC94-4486-7A2F-A019D175F8A9}"/>
              </a:ext>
            </a:extLst>
          </p:cNvPr>
          <p:cNvSpPr txBox="1">
            <a:spLocks/>
          </p:cNvSpPr>
          <p:nvPr>
            <p:custDataLst>
              <p:tags r:id="rId4"/>
            </p:custDataLst>
          </p:nvPr>
        </p:nvSpPr>
        <p:spPr>
          <a:xfrm>
            <a:off x="6667499" y="419100"/>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ea typeface="+mn-ea"/>
                <a:cs typeface="Arial" panose="020B0604020202020204" pitchFamily="34" charset="0"/>
              </a:rPr>
              <a:t>Office retailers cluster near suburban, family-oriented populations, driven by school and home-office needs. Staples serves 2.4M K–12 population with 1.76M visits, showing strong presence in family-dense areas. Office Depot shows similar trends; smaller brands serve smaller K–12 populations.</a:t>
            </a:r>
          </a:p>
        </p:txBody>
      </p:sp>
      <p:sp>
        <p:nvSpPr>
          <p:cNvPr id="39" name="Content Placeholder 27">
            <a:extLst>
              <a:ext uri="{FF2B5EF4-FFF2-40B4-BE49-F238E27FC236}">
                <a16:creationId xmlns:a16="http://schemas.microsoft.com/office/drawing/2014/main" id="{3CD813E3-D12E-6055-9D52-0C80CCC02D13}"/>
              </a:ext>
            </a:extLst>
          </p:cNvPr>
          <p:cNvSpPr txBox="1">
            <a:spLocks/>
          </p:cNvSpPr>
          <p:nvPr>
            <p:custDataLst>
              <p:tags r:id="rId5"/>
            </p:custDataLst>
          </p:nvPr>
        </p:nvSpPr>
        <p:spPr>
          <a:xfrm>
            <a:off x="6667499" y="1615442"/>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ea typeface="+mn-ea"/>
                <a:cs typeface="Arial" panose="020B0604020202020204" pitchFamily="34" charset="0"/>
              </a:rPr>
              <a:t>Counties with higher working-age density (urban/suburban) show shorter dwell times due to faster shopping. Staples, with 10.65M working-age population, averages 16.8 mins dwell time. Cartridge World and Papyrus show longer dwell times, reflecting specialty product interest.</a:t>
            </a:r>
          </a:p>
        </p:txBody>
      </p:sp>
      <p:sp>
        <p:nvSpPr>
          <p:cNvPr id="40" name="Content Placeholder 29">
            <a:extLst>
              <a:ext uri="{FF2B5EF4-FFF2-40B4-BE49-F238E27FC236}">
                <a16:creationId xmlns:a16="http://schemas.microsoft.com/office/drawing/2014/main" id="{AC0BC347-6EF6-C29A-81E2-1F39A54F8830}"/>
              </a:ext>
            </a:extLst>
          </p:cNvPr>
          <p:cNvSpPr txBox="1">
            <a:spLocks/>
          </p:cNvSpPr>
          <p:nvPr>
            <p:custDataLst>
              <p:tags r:id="rId6"/>
            </p:custDataLst>
          </p:nvPr>
        </p:nvSpPr>
        <p:spPr>
          <a:xfrm>
            <a:off x="6667499" y="2811781"/>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ea typeface="+mn-ea"/>
                <a:cs typeface="Arial" panose="020B0604020202020204" pitchFamily="34" charset="0"/>
              </a:rPr>
              <a:t>Longer dwell times occur in regions with more bachelor’s and master’s degree holders, reflecting higher disposable income and personalized shopping. Staples serves mixed-education consumers with shorter visits; Paper Source and Papyrus cater to highly educated markets with longer store exploration.</a:t>
            </a:r>
          </a:p>
        </p:txBody>
      </p:sp>
      <p:sp>
        <p:nvSpPr>
          <p:cNvPr id="42" name="Text Placeholder 13">
            <a:extLst>
              <a:ext uri="{FF2B5EF4-FFF2-40B4-BE49-F238E27FC236}">
                <a16:creationId xmlns:a16="http://schemas.microsoft.com/office/drawing/2014/main" id="{5CD3889E-54D1-356C-4993-A897E0BDC381}"/>
              </a:ext>
            </a:extLst>
          </p:cNvPr>
          <p:cNvSpPr txBox="1">
            <a:spLocks/>
          </p:cNvSpPr>
          <p:nvPr>
            <p:custDataLst>
              <p:tags r:id="rId7"/>
            </p:custDataLst>
          </p:nvPr>
        </p:nvSpPr>
        <p:spPr>
          <a:xfrm>
            <a:off x="4772720" y="1615440"/>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Dwell Time vs. Working-Age Population</a:t>
            </a:r>
          </a:p>
        </p:txBody>
      </p:sp>
      <p:sp>
        <p:nvSpPr>
          <p:cNvPr id="43" name="Text Placeholder 14">
            <a:extLst>
              <a:ext uri="{FF2B5EF4-FFF2-40B4-BE49-F238E27FC236}">
                <a16:creationId xmlns:a16="http://schemas.microsoft.com/office/drawing/2014/main" id="{02802255-7B68-5569-1289-4CD566D7EDC8}"/>
              </a:ext>
            </a:extLst>
          </p:cNvPr>
          <p:cNvSpPr txBox="1">
            <a:spLocks/>
          </p:cNvSpPr>
          <p:nvPr>
            <p:custDataLst>
              <p:tags r:id="rId8"/>
            </p:custDataLst>
          </p:nvPr>
        </p:nvSpPr>
        <p:spPr>
          <a:xfrm>
            <a:off x="4772720" y="2811779"/>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Education vs. Engagement</a:t>
            </a:r>
          </a:p>
        </p:txBody>
      </p:sp>
      <p:sp>
        <p:nvSpPr>
          <p:cNvPr id="44" name="Content Placeholder 29">
            <a:extLst>
              <a:ext uri="{FF2B5EF4-FFF2-40B4-BE49-F238E27FC236}">
                <a16:creationId xmlns:a16="http://schemas.microsoft.com/office/drawing/2014/main" id="{4FF825C2-5D50-4AF3-6DD9-ED686FC5CE15}"/>
              </a:ext>
            </a:extLst>
          </p:cNvPr>
          <p:cNvSpPr txBox="1">
            <a:spLocks/>
          </p:cNvSpPr>
          <p:nvPr>
            <p:custDataLst>
              <p:tags r:id="rId9"/>
            </p:custDataLst>
          </p:nvPr>
        </p:nvSpPr>
        <p:spPr>
          <a:xfrm>
            <a:off x="6667499" y="4008121"/>
            <a:ext cx="5105400" cy="1196340"/>
          </a:xfrm>
          <a:prstGeom prst="rect">
            <a:avLst/>
          </a:prstGeom>
        </p:spPr>
        <p:txBody>
          <a:bodyPr vert="horz" lIns="91440" tIns="45720" rIns="91440" bIns="45720" rtlCol="0">
            <a:normAutofit lnSpcReduction="10000"/>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ea typeface="+mn-ea"/>
                <a:cs typeface="Arial" panose="020B0604020202020204" pitchFamily="34" charset="0"/>
              </a:rPr>
              <a:t>Suburban counties had the highest visits and engagement, led by Staples and Office Depot, showing faster remote work adaptation. Urban areas had slightly lower visits but similar quick trips. Rural areas had fewer visits but longer dwell times, indicating leisurely shopping.</a:t>
            </a:r>
          </a:p>
        </p:txBody>
      </p:sp>
      <p:sp>
        <p:nvSpPr>
          <p:cNvPr id="45" name="Text Placeholder 14">
            <a:extLst>
              <a:ext uri="{FF2B5EF4-FFF2-40B4-BE49-F238E27FC236}">
                <a16:creationId xmlns:a16="http://schemas.microsoft.com/office/drawing/2014/main" id="{367875E2-A0BF-F266-9EBA-3B06113038C7}"/>
              </a:ext>
            </a:extLst>
          </p:cNvPr>
          <p:cNvSpPr txBox="1">
            <a:spLocks/>
          </p:cNvSpPr>
          <p:nvPr>
            <p:custDataLst>
              <p:tags r:id="rId10"/>
            </p:custDataLst>
          </p:nvPr>
        </p:nvSpPr>
        <p:spPr>
          <a:xfrm>
            <a:off x="4772720" y="4008119"/>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Suburban vs. Urban Dynamics</a:t>
            </a:r>
          </a:p>
        </p:txBody>
      </p:sp>
      <p:sp>
        <p:nvSpPr>
          <p:cNvPr id="46" name="Content Placeholder 29">
            <a:extLst>
              <a:ext uri="{FF2B5EF4-FFF2-40B4-BE49-F238E27FC236}">
                <a16:creationId xmlns:a16="http://schemas.microsoft.com/office/drawing/2014/main" id="{B0BACC63-0A67-4700-B766-93671F750F5D}"/>
              </a:ext>
            </a:extLst>
          </p:cNvPr>
          <p:cNvSpPr txBox="1">
            <a:spLocks/>
          </p:cNvSpPr>
          <p:nvPr>
            <p:custDataLst>
              <p:tags r:id="rId11"/>
            </p:custDataLst>
          </p:nvPr>
        </p:nvSpPr>
        <p:spPr>
          <a:xfrm>
            <a:off x="6667499" y="5204460"/>
            <a:ext cx="5105400" cy="1196340"/>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solidFill>
                  <a:srgbClr val="201C20"/>
                </a:solidFill>
                <a:effectLst/>
                <a:uLnTx/>
                <a:uFillTx/>
                <a:ea typeface="+mn-ea"/>
                <a:cs typeface="Arial" panose="020B0604020202020204" pitchFamily="34" charset="0"/>
              </a:rPr>
              <a:t>Los Angeles County, CA was a key hotspot with strong office supply demand early in 2020. Specialty brands like Papyrus and Rapid Refill had lower traffic but higher dwell times, indicating purposeful, high-value purchases in niche markets.</a:t>
            </a:r>
          </a:p>
        </p:txBody>
      </p:sp>
      <p:sp>
        <p:nvSpPr>
          <p:cNvPr id="47" name="Text Placeholder 14">
            <a:extLst>
              <a:ext uri="{FF2B5EF4-FFF2-40B4-BE49-F238E27FC236}">
                <a16:creationId xmlns:a16="http://schemas.microsoft.com/office/drawing/2014/main" id="{6ED70379-B42F-D4B6-AAFD-A3791122574E}"/>
              </a:ext>
            </a:extLst>
          </p:cNvPr>
          <p:cNvSpPr txBox="1">
            <a:spLocks/>
          </p:cNvSpPr>
          <p:nvPr>
            <p:custDataLst>
              <p:tags r:id="rId12"/>
            </p:custDataLst>
          </p:nvPr>
        </p:nvSpPr>
        <p:spPr>
          <a:xfrm>
            <a:off x="4772720" y="5204458"/>
            <a:ext cx="1773852" cy="1196340"/>
          </a:xfrm>
          <a:prstGeom prst="rect">
            <a:avLst/>
          </a:prstGeom>
        </p:spPr>
        <p:txBody>
          <a:bodyPr vert="horz" lIns="91440" tIns="45720" rIns="91440" bIns="45720" rtlCol="0" anchor="t">
            <a:normAutofit/>
          </a:bodyPr>
          <a:lstStyle>
            <a:defPPr>
              <a:defRPr lang="en-US"/>
            </a:defPPr>
            <a:lvl1pPr marR="0" lvl="0" indent="9525" defTabSz="914354" fontAlgn="auto">
              <a:lnSpc>
                <a:spcPct val="100000"/>
              </a:lnSpc>
              <a:spcBef>
                <a:spcPts val="1000"/>
              </a:spcBef>
              <a:spcAft>
                <a:spcPts val="0"/>
              </a:spcAft>
              <a:buClrTx/>
              <a:buSzTx/>
              <a:buFont typeface="Arial" panose="020B0604020202020204" pitchFamily="34" charset="0"/>
              <a:buNone/>
              <a:tabLst/>
              <a:defRPr kumimoji="0" sz="1600" b="1" i="0" u="none" strike="noStrike" cap="none" spc="0" normalizeH="0" baseline="0">
                <a:ln>
                  <a:noFill/>
                </a:ln>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Geographic Hotspots</a:t>
            </a:r>
          </a:p>
        </p:txBody>
      </p:sp>
      <p:sp>
        <p:nvSpPr>
          <p:cNvPr id="49" name="Text Placeholder 12">
            <a:extLst>
              <a:ext uri="{FF2B5EF4-FFF2-40B4-BE49-F238E27FC236}">
                <a16:creationId xmlns:a16="http://schemas.microsoft.com/office/drawing/2014/main" id="{1FFC96D5-4307-CC00-CB6D-4A63F0FC3DBA}"/>
              </a:ext>
            </a:extLst>
          </p:cNvPr>
          <p:cNvSpPr txBox="1">
            <a:spLocks/>
          </p:cNvSpPr>
          <p:nvPr>
            <p:custDataLst>
              <p:tags r:id="rId13"/>
            </p:custDataLst>
          </p:nvPr>
        </p:nvSpPr>
        <p:spPr>
          <a:xfrm>
            <a:off x="4772721" y="419099"/>
            <a:ext cx="1773852" cy="1196340"/>
          </a:xfrm>
          <a:prstGeom prst="rect">
            <a:avLst/>
          </a:prstGeom>
        </p:spPr>
        <p:txBody>
          <a:bodyPr vert="horz" lIns="91440" tIns="45720" rIns="91440" bIns="45720" rtlCol="0" anchor="t">
            <a:normAutofit/>
          </a:bodyPr>
          <a:lstStyle>
            <a:lvl1pPr marL="0" indent="0" algn="l" defTabSz="914354" rtl="0" eaLnBrk="1" latinLnBrk="0" hangingPunct="1">
              <a:lnSpc>
                <a:spcPct val="100000"/>
              </a:lnSpc>
              <a:spcBef>
                <a:spcPts val="1200"/>
              </a:spcBef>
              <a:buFont typeface="Arial" panose="020B0604020202020204" pitchFamily="34" charset="0"/>
              <a:buNone/>
              <a:tabLst/>
              <a:defRPr sz="2400" b="1" kern="1200">
                <a:solidFill>
                  <a:schemeClr val="tx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9525" algn="l" defTabSz="914354" rtl="0" eaLnBrk="1" fontAlgn="auto" latinLnBrk="0" hangingPunct="1">
              <a:spcBef>
                <a:spcPts val="10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effectLst/>
                <a:uLnTx/>
                <a:uFillTx/>
                <a:latin typeface="+mj-lt"/>
                <a:ea typeface="+mn-ea"/>
                <a:cs typeface="Arial" panose="020B0604020202020204" pitchFamily="34" charset="0"/>
              </a:rPr>
              <a:t>Visits vs. K–12 Population</a:t>
            </a:r>
          </a:p>
        </p:txBody>
      </p:sp>
      <p:sp>
        <p:nvSpPr>
          <p:cNvPr id="50" name="TextBox 49">
            <a:extLst>
              <a:ext uri="{FF2B5EF4-FFF2-40B4-BE49-F238E27FC236}">
                <a16:creationId xmlns:a16="http://schemas.microsoft.com/office/drawing/2014/main" id="{08435F00-15AB-7C34-7D82-87EFCD3AD77A}"/>
              </a:ext>
            </a:extLst>
          </p:cNvPr>
          <p:cNvSpPr txBox="1"/>
          <p:nvPr/>
        </p:nvSpPr>
        <p:spPr>
          <a:xfrm>
            <a:off x="4217307" y="419099"/>
            <a:ext cx="548640" cy="374839"/>
          </a:xfrm>
          <a:prstGeom prst="rect">
            <a:avLst/>
          </a:prstGeom>
          <a:noFill/>
        </p:spPr>
        <p:txBody>
          <a:bodyPr wrap="square" rtlCol="0" anchor="t">
            <a:normAutofit/>
          </a:bodyPr>
          <a:lstStyle/>
          <a:p>
            <a:pPr marL="0" marR="0" lvl="0" indent="0" algn="r" defTabSz="457189" rtl="0" eaLnBrk="1" fontAlgn="auto" latinLnBrk="0" hangingPunct="1">
              <a:spcBef>
                <a:spcPts val="0"/>
              </a:spcBef>
              <a:spcAft>
                <a:spcPts val="0"/>
              </a:spcAft>
              <a:buClrTx/>
              <a:buSzTx/>
              <a:buFontTx/>
              <a:buNone/>
              <a:tabLst/>
              <a:defRPr/>
            </a:pPr>
            <a:r>
              <a:rPr kumimoji="0" lang="en-US" sz="1600" b="1" i="0" u="none" strike="noStrike" kern="1200" cap="none" spc="0" normalizeH="0" baseline="0" noProof="1">
                <a:ln>
                  <a:noFill/>
                </a:ln>
                <a:solidFill>
                  <a:schemeClr val="accent1"/>
                </a:solidFill>
                <a:effectLst/>
                <a:uLnTx/>
                <a:uFillTx/>
                <a:ea typeface="+mn-ea"/>
                <a:cs typeface="+mn-cs"/>
              </a:rPr>
              <a:t>01</a:t>
            </a:r>
          </a:p>
        </p:txBody>
      </p:sp>
    </p:spTree>
    <p:extLst>
      <p:ext uri="{BB962C8B-B14F-4D97-AF65-F5344CB8AC3E}">
        <p14:creationId xmlns:p14="http://schemas.microsoft.com/office/powerpoint/2010/main" val="656878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768161-D4CD-A96F-2F20-12E8F5FF91C5}"/>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Conclusion</a:t>
            </a:r>
          </a:p>
        </p:txBody>
      </p:sp>
      <p:sp>
        <p:nvSpPr>
          <p:cNvPr id="2" name="Title 1">
            <a:extLst>
              <a:ext uri="{FF2B5EF4-FFF2-40B4-BE49-F238E27FC236}">
                <a16:creationId xmlns:a16="http://schemas.microsoft.com/office/drawing/2014/main" id="{9DA4215B-5FFB-D2B2-F253-0C97C0F2A4F0}"/>
              </a:ext>
            </a:extLst>
          </p:cNvPr>
          <p:cNvSpPr>
            <a:spLocks noGrp="1"/>
          </p:cNvSpPr>
          <p:nvPr>
            <p:ph type="title"/>
            <p:custDataLst>
              <p:tags r:id="rId2"/>
            </p:custDataLst>
          </p:nvPr>
        </p:nvSpPr>
        <p:spPr>
          <a:xfrm>
            <a:off x="419100" y="629392"/>
            <a:ext cx="11353800" cy="627908"/>
          </a:xfrm>
        </p:spPr>
        <p:txBody>
          <a:bodyPr lIns="0"/>
          <a:lstStyle/>
          <a:p>
            <a:r>
              <a:rPr lang="en-US" noProof="1"/>
              <a:t>Brand Performance, Recovery, and Conclusions</a:t>
            </a:r>
          </a:p>
        </p:txBody>
      </p:sp>
      <p:sp>
        <p:nvSpPr>
          <p:cNvPr id="3" name="Rectangle 2">
            <a:extLst>
              <a:ext uri="{FF2B5EF4-FFF2-40B4-BE49-F238E27FC236}">
                <a16:creationId xmlns:a16="http://schemas.microsoft.com/office/drawing/2014/main" id="{7D106D97-FFC1-0A53-AB4A-C32B863337A0}"/>
              </a:ext>
            </a:extLst>
          </p:cNvPr>
          <p:cNvSpPr/>
          <p:nvPr>
            <p:custDataLst>
              <p:tags r:id="rId3"/>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grpSp>
        <p:nvGrpSpPr>
          <p:cNvPr id="9" name="Group 8">
            <a:extLst>
              <a:ext uri="{FF2B5EF4-FFF2-40B4-BE49-F238E27FC236}">
                <a16:creationId xmlns:a16="http://schemas.microsoft.com/office/drawing/2014/main" id="{C5585BE0-7F29-5686-CC5E-9A1AFFFB4338}"/>
              </a:ext>
            </a:extLst>
          </p:cNvPr>
          <p:cNvGrpSpPr/>
          <p:nvPr>
            <p:custDataLst>
              <p:tags r:id="rId4"/>
            </p:custDataLst>
          </p:nvPr>
        </p:nvGrpSpPr>
        <p:grpSpPr>
          <a:xfrm>
            <a:off x="9440602" y="162617"/>
            <a:ext cx="2576145" cy="1301528"/>
            <a:chOff x="5326996" y="628184"/>
            <a:chExt cx="2576145" cy="1301528"/>
          </a:xfrm>
        </p:grpSpPr>
        <p:sp>
          <p:nvSpPr>
            <p:cNvPr id="15" name="Rounded Rectangle 14">
              <a:extLst>
                <a:ext uri="{FF2B5EF4-FFF2-40B4-BE49-F238E27FC236}">
                  <a16:creationId xmlns:a16="http://schemas.microsoft.com/office/drawing/2014/main" id="{F15D9999-0941-F1E8-4E89-C87D18429D87}"/>
                </a:ext>
              </a:extLst>
            </p:cNvPr>
            <p:cNvSpPr/>
            <p:nvPr/>
          </p:nvSpPr>
          <p:spPr>
            <a:xfrm>
              <a:off x="5326996" y="628184"/>
              <a:ext cx="2576145" cy="1301528"/>
            </a:xfrm>
            <a:prstGeom prst="roundRect">
              <a:avLst>
                <a:gd name="adj" fmla="val 8638"/>
              </a:avLst>
            </a:prstGeom>
            <a:solidFill>
              <a:srgbClr val="FFEC82"/>
            </a:solidFill>
            <a:ln w="12700">
              <a:solidFill>
                <a:schemeClr val="tx1"/>
              </a:solidFill>
            </a:ln>
            <a:effectLst>
              <a:outerShdw dist="50249" dir="2700000" algn="tl" rotWithShape="0">
                <a:prstClr val="black">
                  <a:alpha val="20208"/>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noProof="1">
                <a:solidFill>
                  <a:srgbClr val="100F19"/>
                </a:solidFill>
              </a:endParaRPr>
            </a:p>
          </p:txBody>
        </p:sp>
        <p:pic>
          <p:nvPicPr>
            <p:cNvPr id="17" name="Graphic 16">
              <a:extLst>
                <a:ext uri="{FF2B5EF4-FFF2-40B4-BE49-F238E27FC236}">
                  <a16:creationId xmlns:a16="http://schemas.microsoft.com/office/drawing/2014/main" id="{ED85B55E-792A-29F4-24AF-94DD43E5D6C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440548" y="734271"/>
              <a:ext cx="219238" cy="219238"/>
            </a:xfrm>
            <a:prstGeom prst="rect">
              <a:avLst/>
            </a:prstGeom>
          </p:spPr>
        </p:pic>
        <p:sp>
          <p:nvSpPr>
            <p:cNvPr id="21" name="Freeform 20">
              <a:extLst>
                <a:ext uri="{FF2B5EF4-FFF2-40B4-BE49-F238E27FC236}">
                  <a16:creationId xmlns:a16="http://schemas.microsoft.com/office/drawing/2014/main" id="{E6EEC455-593F-3DC5-47E3-14EADC7BED52}"/>
                </a:ext>
              </a:extLst>
            </p:cNvPr>
            <p:cNvSpPr/>
            <p:nvPr/>
          </p:nvSpPr>
          <p:spPr>
            <a:xfrm>
              <a:off x="5752835" y="773177"/>
              <a:ext cx="556108" cy="141427"/>
            </a:xfrm>
            <a:custGeom>
              <a:avLst/>
              <a:gdLst/>
              <a:ahLst/>
              <a:cxnLst/>
              <a:rect l="l" t="t" r="r" b="b"/>
              <a:pathLst>
                <a:path w="556108" h="141427">
                  <a:moveTo>
                    <a:pt x="543154" y="86411"/>
                  </a:moveTo>
                  <a:cubicBezTo>
                    <a:pt x="550469" y="86411"/>
                    <a:pt x="556108" y="91745"/>
                    <a:pt x="556108" y="99212"/>
                  </a:cubicBezTo>
                  <a:cubicBezTo>
                    <a:pt x="556108" y="106528"/>
                    <a:pt x="550469" y="111862"/>
                    <a:pt x="543154" y="111862"/>
                  </a:cubicBezTo>
                  <a:cubicBezTo>
                    <a:pt x="535686" y="111862"/>
                    <a:pt x="530200" y="106528"/>
                    <a:pt x="530200" y="99212"/>
                  </a:cubicBezTo>
                  <a:cubicBezTo>
                    <a:pt x="530200" y="91745"/>
                    <a:pt x="535686" y="86411"/>
                    <a:pt x="543154" y="86411"/>
                  </a:cubicBezTo>
                  <a:close/>
                  <a:moveTo>
                    <a:pt x="476707" y="49225"/>
                  </a:moveTo>
                  <a:cubicBezTo>
                    <a:pt x="464973" y="49225"/>
                    <a:pt x="457657" y="58369"/>
                    <a:pt x="457657" y="71628"/>
                  </a:cubicBezTo>
                  <a:cubicBezTo>
                    <a:pt x="457657" y="85039"/>
                    <a:pt x="464973" y="94336"/>
                    <a:pt x="476707" y="94336"/>
                  </a:cubicBezTo>
                  <a:cubicBezTo>
                    <a:pt x="488442" y="94336"/>
                    <a:pt x="496062" y="85039"/>
                    <a:pt x="496062" y="71628"/>
                  </a:cubicBezTo>
                  <a:cubicBezTo>
                    <a:pt x="496062" y="58369"/>
                    <a:pt x="488442" y="49225"/>
                    <a:pt x="476707" y="49225"/>
                  </a:cubicBezTo>
                  <a:close/>
                  <a:moveTo>
                    <a:pt x="543154" y="33528"/>
                  </a:moveTo>
                  <a:cubicBezTo>
                    <a:pt x="550469" y="33528"/>
                    <a:pt x="556108" y="38862"/>
                    <a:pt x="556108" y="46177"/>
                  </a:cubicBezTo>
                  <a:cubicBezTo>
                    <a:pt x="556108" y="53645"/>
                    <a:pt x="550469" y="58826"/>
                    <a:pt x="543154" y="58826"/>
                  </a:cubicBezTo>
                  <a:cubicBezTo>
                    <a:pt x="535686" y="58826"/>
                    <a:pt x="530200" y="53645"/>
                    <a:pt x="530200" y="46177"/>
                  </a:cubicBezTo>
                  <a:cubicBezTo>
                    <a:pt x="530200" y="38862"/>
                    <a:pt x="535686" y="33528"/>
                    <a:pt x="543154" y="33528"/>
                  </a:cubicBezTo>
                  <a:close/>
                  <a:moveTo>
                    <a:pt x="398374" y="32614"/>
                  </a:moveTo>
                  <a:lnTo>
                    <a:pt x="420015" y="32614"/>
                  </a:lnTo>
                  <a:lnTo>
                    <a:pt x="420015" y="110947"/>
                  </a:lnTo>
                  <a:lnTo>
                    <a:pt x="398374" y="110947"/>
                  </a:lnTo>
                  <a:close/>
                  <a:moveTo>
                    <a:pt x="130302" y="32614"/>
                  </a:moveTo>
                  <a:lnTo>
                    <a:pt x="151791" y="32614"/>
                  </a:lnTo>
                  <a:lnTo>
                    <a:pt x="151791" y="73152"/>
                  </a:lnTo>
                  <a:cubicBezTo>
                    <a:pt x="151791" y="87173"/>
                    <a:pt x="156363" y="94031"/>
                    <a:pt x="167031" y="94031"/>
                  </a:cubicBezTo>
                  <a:cubicBezTo>
                    <a:pt x="177699" y="94031"/>
                    <a:pt x="183947" y="86258"/>
                    <a:pt x="183947" y="71780"/>
                  </a:cubicBezTo>
                  <a:lnTo>
                    <a:pt x="183947" y="32614"/>
                  </a:lnTo>
                  <a:lnTo>
                    <a:pt x="205435" y="32614"/>
                  </a:lnTo>
                  <a:lnTo>
                    <a:pt x="205435" y="110947"/>
                  </a:lnTo>
                  <a:lnTo>
                    <a:pt x="186385" y="110947"/>
                  </a:lnTo>
                  <a:lnTo>
                    <a:pt x="184404" y="101498"/>
                  </a:lnTo>
                  <a:cubicBezTo>
                    <a:pt x="179375" y="107594"/>
                    <a:pt x="172517" y="111862"/>
                    <a:pt x="161392" y="111862"/>
                  </a:cubicBezTo>
                  <a:cubicBezTo>
                    <a:pt x="145237" y="111862"/>
                    <a:pt x="130302" y="103784"/>
                    <a:pt x="130302" y="76048"/>
                  </a:cubicBezTo>
                  <a:close/>
                  <a:moveTo>
                    <a:pt x="481432" y="31699"/>
                  </a:moveTo>
                  <a:cubicBezTo>
                    <a:pt x="502615" y="31547"/>
                    <a:pt x="517855" y="47244"/>
                    <a:pt x="517855" y="71933"/>
                  </a:cubicBezTo>
                  <a:cubicBezTo>
                    <a:pt x="517855" y="96317"/>
                    <a:pt x="502615" y="111862"/>
                    <a:pt x="481584" y="111862"/>
                  </a:cubicBezTo>
                  <a:cubicBezTo>
                    <a:pt x="470764" y="111862"/>
                    <a:pt x="462991" y="107442"/>
                    <a:pt x="457962" y="101041"/>
                  </a:cubicBezTo>
                  <a:lnTo>
                    <a:pt x="457962" y="141427"/>
                  </a:lnTo>
                  <a:lnTo>
                    <a:pt x="436474" y="141427"/>
                  </a:lnTo>
                  <a:lnTo>
                    <a:pt x="436474" y="32614"/>
                  </a:lnTo>
                  <a:lnTo>
                    <a:pt x="455219" y="32614"/>
                  </a:lnTo>
                  <a:lnTo>
                    <a:pt x="457353" y="43434"/>
                  </a:lnTo>
                  <a:cubicBezTo>
                    <a:pt x="462382" y="36728"/>
                    <a:pt x="470307" y="31699"/>
                    <a:pt x="481432" y="31699"/>
                  </a:cubicBezTo>
                  <a:close/>
                  <a:moveTo>
                    <a:pt x="249098" y="31547"/>
                  </a:moveTo>
                  <a:cubicBezTo>
                    <a:pt x="270129" y="31547"/>
                    <a:pt x="284607" y="40843"/>
                    <a:pt x="285674" y="56845"/>
                  </a:cubicBezTo>
                  <a:lnTo>
                    <a:pt x="265100" y="56845"/>
                  </a:lnTo>
                  <a:cubicBezTo>
                    <a:pt x="264490" y="50597"/>
                    <a:pt x="258547" y="46787"/>
                    <a:pt x="249860" y="46787"/>
                  </a:cubicBezTo>
                  <a:cubicBezTo>
                    <a:pt x="241478" y="46787"/>
                    <a:pt x="235992" y="49835"/>
                    <a:pt x="235992" y="54864"/>
                  </a:cubicBezTo>
                  <a:cubicBezTo>
                    <a:pt x="235992" y="60808"/>
                    <a:pt x="242697" y="61417"/>
                    <a:pt x="253975" y="62789"/>
                  </a:cubicBezTo>
                  <a:cubicBezTo>
                    <a:pt x="271958" y="64618"/>
                    <a:pt x="286893" y="68732"/>
                    <a:pt x="286893" y="86411"/>
                  </a:cubicBezTo>
                  <a:cubicBezTo>
                    <a:pt x="286893" y="101956"/>
                    <a:pt x="272263" y="111862"/>
                    <a:pt x="251232" y="111862"/>
                  </a:cubicBezTo>
                  <a:cubicBezTo>
                    <a:pt x="229438" y="111862"/>
                    <a:pt x="214656" y="101651"/>
                    <a:pt x="213741" y="84887"/>
                  </a:cubicBezTo>
                  <a:lnTo>
                    <a:pt x="234163" y="84887"/>
                  </a:lnTo>
                  <a:cubicBezTo>
                    <a:pt x="234925" y="91745"/>
                    <a:pt x="240868" y="96469"/>
                    <a:pt x="251384" y="96469"/>
                  </a:cubicBezTo>
                  <a:cubicBezTo>
                    <a:pt x="260376" y="96469"/>
                    <a:pt x="265862" y="93574"/>
                    <a:pt x="265862" y="88087"/>
                  </a:cubicBezTo>
                  <a:cubicBezTo>
                    <a:pt x="265862" y="81686"/>
                    <a:pt x="260528" y="81229"/>
                    <a:pt x="247879" y="79553"/>
                  </a:cubicBezTo>
                  <a:cubicBezTo>
                    <a:pt x="229591" y="77419"/>
                    <a:pt x="215418" y="73304"/>
                    <a:pt x="215418" y="57150"/>
                  </a:cubicBezTo>
                  <a:cubicBezTo>
                    <a:pt x="215418" y="41605"/>
                    <a:pt x="228981" y="31394"/>
                    <a:pt x="249098" y="31547"/>
                  </a:cubicBezTo>
                  <a:close/>
                  <a:moveTo>
                    <a:pt x="22860" y="23317"/>
                  </a:moveTo>
                  <a:lnTo>
                    <a:pt x="22860" y="56083"/>
                  </a:lnTo>
                  <a:lnTo>
                    <a:pt x="41301" y="56083"/>
                  </a:lnTo>
                  <a:cubicBezTo>
                    <a:pt x="51969" y="56083"/>
                    <a:pt x="58827" y="49835"/>
                    <a:pt x="58827" y="39776"/>
                  </a:cubicBezTo>
                  <a:cubicBezTo>
                    <a:pt x="58827" y="29566"/>
                    <a:pt x="51969" y="23317"/>
                    <a:pt x="41301" y="23317"/>
                  </a:cubicBezTo>
                  <a:close/>
                  <a:moveTo>
                    <a:pt x="346863" y="10668"/>
                  </a:moveTo>
                  <a:lnTo>
                    <a:pt x="368351" y="10668"/>
                  </a:lnTo>
                  <a:lnTo>
                    <a:pt x="368351" y="32614"/>
                  </a:lnTo>
                  <a:lnTo>
                    <a:pt x="386334" y="32614"/>
                  </a:lnTo>
                  <a:lnTo>
                    <a:pt x="386334" y="50749"/>
                  </a:lnTo>
                  <a:lnTo>
                    <a:pt x="368351" y="50749"/>
                  </a:lnTo>
                  <a:lnTo>
                    <a:pt x="368351" y="85039"/>
                  </a:lnTo>
                  <a:cubicBezTo>
                    <a:pt x="368351" y="90526"/>
                    <a:pt x="370485" y="92812"/>
                    <a:pt x="376123" y="92812"/>
                  </a:cubicBezTo>
                  <a:lnTo>
                    <a:pt x="386791" y="92812"/>
                  </a:lnTo>
                  <a:lnTo>
                    <a:pt x="386791" y="110947"/>
                  </a:lnTo>
                  <a:lnTo>
                    <a:pt x="369265" y="110947"/>
                  </a:lnTo>
                  <a:cubicBezTo>
                    <a:pt x="354330" y="110947"/>
                    <a:pt x="346863" y="103480"/>
                    <a:pt x="346863" y="88544"/>
                  </a:cubicBezTo>
                  <a:lnTo>
                    <a:pt x="346863" y="50749"/>
                  </a:lnTo>
                  <a:lnTo>
                    <a:pt x="333909" y="50749"/>
                  </a:lnTo>
                  <a:lnTo>
                    <a:pt x="333909" y="32614"/>
                  </a:lnTo>
                  <a:lnTo>
                    <a:pt x="346863" y="32614"/>
                  </a:lnTo>
                  <a:close/>
                  <a:moveTo>
                    <a:pt x="93574" y="4267"/>
                  </a:moveTo>
                  <a:lnTo>
                    <a:pt x="115062" y="4267"/>
                  </a:lnTo>
                  <a:lnTo>
                    <a:pt x="115062" y="110947"/>
                  </a:lnTo>
                  <a:lnTo>
                    <a:pt x="93574" y="110947"/>
                  </a:lnTo>
                  <a:close/>
                  <a:moveTo>
                    <a:pt x="0" y="4267"/>
                  </a:moveTo>
                  <a:lnTo>
                    <a:pt x="43434" y="4267"/>
                  </a:lnTo>
                  <a:cubicBezTo>
                    <a:pt x="66599" y="4267"/>
                    <a:pt x="81991" y="18136"/>
                    <a:pt x="81991" y="39776"/>
                  </a:cubicBezTo>
                  <a:cubicBezTo>
                    <a:pt x="81991" y="61265"/>
                    <a:pt x="66599" y="75133"/>
                    <a:pt x="43434" y="75133"/>
                  </a:cubicBezTo>
                  <a:lnTo>
                    <a:pt x="22860" y="75133"/>
                  </a:lnTo>
                  <a:lnTo>
                    <a:pt x="22860" y="110947"/>
                  </a:lnTo>
                  <a:lnTo>
                    <a:pt x="0" y="110947"/>
                  </a:lnTo>
                  <a:close/>
                  <a:moveTo>
                    <a:pt x="409194" y="0"/>
                  </a:moveTo>
                  <a:cubicBezTo>
                    <a:pt x="416205" y="0"/>
                    <a:pt x="421691" y="5182"/>
                    <a:pt x="421691" y="12192"/>
                  </a:cubicBezTo>
                  <a:cubicBezTo>
                    <a:pt x="421691" y="19050"/>
                    <a:pt x="416205" y="24232"/>
                    <a:pt x="409194" y="24232"/>
                  </a:cubicBezTo>
                  <a:cubicBezTo>
                    <a:pt x="402184" y="24232"/>
                    <a:pt x="396697" y="19050"/>
                    <a:pt x="396697" y="12192"/>
                  </a:cubicBezTo>
                  <a:cubicBezTo>
                    <a:pt x="396697" y="5182"/>
                    <a:pt x="402184" y="0"/>
                    <a:pt x="409194" y="0"/>
                  </a:cubicBezTo>
                  <a:close/>
                </a:path>
              </a:pathLst>
            </a:custGeom>
            <a:solidFill>
              <a:srgbClr val="100F19"/>
            </a:solidFill>
            <a:ln>
              <a:noFill/>
            </a:ln>
          </p:spPr>
          <p:style>
            <a:lnRef idx="2">
              <a:schemeClr val="dk1">
                <a:shade val="15000"/>
              </a:schemeClr>
            </a:lnRef>
            <a:fillRef idx="1">
              <a:schemeClr val="dk1"/>
            </a:fillRef>
            <a:effectRef idx="0">
              <a:schemeClr val="dk1"/>
            </a:effectRef>
            <a:fontRef idx="minor">
              <a:schemeClr val="lt1"/>
            </a:fontRef>
          </p:style>
          <p:txBody>
            <a:bodyPr wrap="square" rtlCol="0" anchor="ctr">
              <a:noAutofit/>
            </a:bodyPr>
            <a:lstStyle/>
            <a:p>
              <a:pPr algn="ctr"/>
              <a:endParaRPr lang="en-US" sz="1351" noProof="1">
                <a:solidFill>
                  <a:srgbClr val="100F19"/>
                </a:solidFill>
              </a:endParaRPr>
            </a:p>
          </p:txBody>
        </p:sp>
      </p:grpSp>
      <p:sp>
        <p:nvSpPr>
          <p:cNvPr id="23" name="TextBox 22">
            <a:extLst>
              <a:ext uri="{FF2B5EF4-FFF2-40B4-BE49-F238E27FC236}">
                <a16:creationId xmlns:a16="http://schemas.microsoft.com/office/drawing/2014/main" id="{B291B126-7063-5535-175C-054EADA62F21}"/>
              </a:ext>
            </a:extLst>
          </p:cNvPr>
          <p:cNvSpPr txBox="1"/>
          <p:nvPr>
            <p:custDataLst>
              <p:tags r:id="rId5"/>
            </p:custDataLst>
          </p:nvPr>
        </p:nvSpPr>
        <p:spPr>
          <a:xfrm>
            <a:off x="9552588" y="542869"/>
            <a:ext cx="2351599" cy="825024"/>
          </a:xfrm>
          <a:prstGeom prst="rect">
            <a:avLst/>
          </a:prstGeom>
          <a:noFill/>
        </p:spPr>
        <p:txBody>
          <a:bodyPr wrap="square" lIns="0" tIns="45720" rIns="0" bIns="0" rtlCol="0">
            <a:normAutofit/>
          </a:bodyPr>
          <a:lstStyle/>
          <a:p>
            <a:r>
              <a:rPr lang="en-US" sz="1100" noProof="1">
                <a:solidFill>
                  <a:srgbClr val="100F19"/>
                </a:solidFill>
                <a:latin typeface="Franklin Gothic Book" panose="020B0503020102020204" pitchFamily="34" charset="0"/>
              </a:rPr>
              <a:t>Highlight specific brand recovery milestones and regional data points to emphasize the practical implications for retail strategy.</a:t>
            </a:r>
          </a:p>
        </p:txBody>
      </p:sp>
      <p:sp>
        <p:nvSpPr>
          <p:cNvPr id="5" name="Content Placeholder 11">
            <a:extLst>
              <a:ext uri="{FF2B5EF4-FFF2-40B4-BE49-F238E27FC236}">
                <a16:creationId xmlns:a16="http://schemas.microsoft.com/office/drawing/2014/main" id="{C96A7FDC-BCFF-4897-EF3C-6D85F07CA8F6}"/>
              </a:ext>
            </a:extLst>
          </p:cNvPr>
          <p:cNvSpPr txBox="1">
            <a:spLocks/>
          </p:cNvSpPr>
          <p:nvPr>
            <p:custDataLst>
              <p:tags r:id="rId6"/>
            </p:custDataLst>
          </p:nvPr>
        </p:nvSpPr>
        <p:spPr>
          <a:xfrm>
            <a:off x="419100" y="4400550"/>
            <a:ext cx="3657600" cy="1920240"/>
          </a:xfrm>
          <a:prstGeom prst="rect">
            <a:avLst/>
          </a:prstGeom>
        </p:spPr>
        <p:txBody>
          <a:bodyPr vert="horz" lIns="0" tIns="60960" rIns="91440" bIns="60960" rtlCol="0">
            <a:normAutofit/>
          </a:bodyPr>
          <a:lstStyle>
            <a:lvl1pPr marL="11113" indent="0" algn="l" defTabSz="914354" rtl="0" eaLnBrk="1" latinLnBrk="0" hangingPunct="1">
              <a:lnSpc>
                <a:spcPct val="150000"/>
              </a:lnSpc>
              <a:spcBef>
                <a:spcPts val="1200"/>
              </a:spcBef>
              <a:buFont typeface="Arial" panose="020B0604020202020204" pitchFamily="34" charset="0"/>
              <a:buNone/>
              <a:tabLst/>
              <a:defRPr sz="14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Suburban consumers prioritized quick, goal-oriented purchases at high-traffic retailers. In contrast, shoppers in highly educated, smaller markets favored specialty stores, reflecting a divide between efficiency-driven and experience-driven shopping.</a:t>
            </a:r>
          </a:p>
        </p:txBody>
      </p:sp>
      <p:sp>
        <p:nvSpPr>
          <p:cNvPr id="6" name="Content Placeholder 12">
            <a:extLst>
              <a:ext uri="{FF2B5EF4-FFF2-40B4-BE49-F238E27FC236}">
                <a16:creationId xmlns:a16="http://schemas.microsoft.com/office/drawing/2014/main" id="{F11FE0E1-7479-97E1-6E31-301F77EACFD6}"/>
              </a:ext>
            </a:extLst>
          </p:cNvPr>
          <p:cNvSpPr txBox="1">
            <a:spLocks/>
          </p:cNvSpPr>
          <p:nvPr>
            <p:custDataLst>
              <p:tags r:id="rId7"/>
            </p:custDataLst>
          </p:nvPr>
        </p:nvSpPr>
        <p:spPr>
          <a:xfrm>
            <a:off x="4267200" y="1905000"/>
            <a:ext cx="3657600" cy="1920240"/>
          </a:xfrm>
          <a:prstGeom prst="rect">
            <a:avLst/>
          </a:prstGeom>
        </p:spPr>
        <p:txBody>
          <a:bodyPr vert="horz" lIns="0" tIns="60960" rIns="91440" bIns="60960" rtlCol="0">
            <a:normAutofit/>
          </a:bodyPr>
          <a:lstStyle>
            <a:lvl1pPr marL="11113" indent="0" algn="l" defTabSz="914354" rtl="0" eaLnBrk="1" latinLnBrk="0" hangingPunct="1">
              <a:lnSpc>
                <a:spcPct val="150000"/>
              </a:lnSpc>
              <a:spcBef>
                <a:spcPts val="1200"/>
              </a:spcBef>
              <a:buFont typeface="Arial" panose="020B0604020202020204" pitchFamily="34" charset="0"/>
              <a:buNone/>
              <a:tabLst/>
              <a:defRPr sz="14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Office Depot had a steady recovery during Weeks 17–18, maintaining consistent visits. OfficeMax lagged with a slower rebound, while specialty brands like Paper Source and Papyrus saw no clear stabilization and continued declines.</a:t>
            </a:r>
          </a:p>
        </p:txBody>
      </p:sp>
      <p:sp>
        <p:nvSpPr>
          <p:cNvPr id="7" name="Content Placeholder 13">
            <a:extLst>
              <a:ext uri="{FF2B5EF4-FFF2-40B4-BE49-F238E27FC236}">
                <a16:creationId xmlns:a16="http://schemas.microsoft.com/office/drawing/2014/main" id="{165B77E1-78D1-3519-0C43-A52741621AF0}"/>
              </a:ext>
            </a:extLst>
          </p:cNvPr>
          <p:cNvSpPr txBox="1">
            <a:spLocks/>
          </p:cNvSpPr>
          <p:nvPr>
            <p:custDataLst>
              <p:tags r:id="rId8"/>
            </p:custDataLst>
          </p:nvPr>
        </p:nvSpPr>
        <p:spPr>
          <a:xfrm>
            <a:off x="4267200" y="4400550"/>
            <a:ext cx="3657600" cy="1920240"/>
          </a:xfrm>
          <a:prstGeom prst="rect">
            <a:avLst/>
          </a:prstGeom>
        </p:spPr>
        <p:txBody>
          <a:bodyPr vert="horz" lIns="0" tIns="60960" rIns="91440" bIns="60960" rtlCol="0">
            <a:normAutofit/>
          </a:bodyPr>
          <a:lstStyle>
            <a:lvl1pPr marL="11113" indent="0" algn="l" defTabSz="914354" rtl="0" eaLnBrk="1" latinLnBrk="0" hangingPunct="1">
              <a:lnSpc>
                <a:spcPct val="150000"/>
              </a:lnSpc>
              <a:spcBef>
                <a:spcPts val="1200"/>
              </a:spcBef>
              <a:buFont typeface="Arial" panose="020B0604020202020204" pitchFamily="34" charset="0"/>
              <a:buNone/>
              <a:tabLst/>
              <a:defRPr sz="14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Essential retailers like Staples and Office Depot recovered quickly due to home-office needs. Non-essential brands with creative or discretionary products experienced sustained declines and slower recovery.</a:t>
            </a:r>
          </a:p>
        </p:txBody>
      </p:sp>
      <p:sp>
        <p:nvSpPr>
          <p:cNvPr id="8" name="Content Placeholder 18">
            <a:extLst>
              <a:ext uri="{FF2B5EF4-FFF2-40B4-BE49-F238E27FC236}">
                <a16:creationId xmlns:a16="http://schemas.microsoft.com/office/drawing/2014/main" id="{69F62C11-F910-15E5-60FB-1D8ECC62426E}"/>
              </a:ext>
            </a:extLst>
          </p:cNvPr>
          <p:cNvSpPr txBox="1">
            <a:spLocks/>
          </p:cNvSpPr>
          <p:nvPr>
            <p:custDataLst>
              <p:tags r:id="rId9"/>
            </p:custDataLst>
          </p:nvPr>
        </p:nvSpPr>
        <p:spPr>
          <a:xfrm>
            <a:off x="8115300" y="1905000"/>
            <a:ext cx="3657600" cy="1920240"/>
          </a:xfrm>
          <a:prstGeom prst="rect">
            <a:avLst/>
          </a:prstGeom>
        </p:spPr>
        <p:txBody>
          <a:bodyPr vert="horz" lIns="0" tIns="60960" rIns="91440" bIns="60960" rtlCol="0">
            <a:normAutofit/>
          </a:bodyPr>
          <a:lstStyle>
            <a:lvl1pPr marL="11113" indent="0" algn="l" defTabSz="914354" rtl="0" eaLnBrk="1" latinLnBrk="0" hangingPunct="1">
              <a:lnSpc>
                <a:spcPct val="150000"/>
              </a:lnSpc>
              <a:spcBef>
                <a:spcPts val="1200"/>
              </a:spcBef>
              <a:buFont typeface="Arial" panose="020B0604020202020204" pitchFamily="34" charset="0"/>
              <a:buNone/>
              <a:tabLst/>
              <a:defRPr sz="14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Los Angeles County, CA emerged as a key hotspot for office supply demand, with suburban counties leading in visits and engagement, driven primarily by Staples and Office Depot’s presence.</a:t>
            </a:r>
          </a:p>
        </p:txBody>
      </p:sp>
      <p:sp>
        <p:nvSpPr>
          <p:cNvPr id="25" name="Content Placeholder 19">
            <a:extLst>
              <a:ext uri="{FF2B5EF4-FFF2-40B4-BE49-F238E27FC236}">
                <a16:creationId xmlns:a16="http://schemas.microsoft.com/office/drawing/2014/main" id="{440A9034-A7CC-096A-A330-AB3F717DFED1}"/>
              </a:ext>
            </a:extLst>
          </p:cNvPr>
          <p:cNvSpPr txBox="1">
            <a:spLocks/>
          </p:cNvSpPr>
          <p:nvPr>
            <p:custDataLst>
              <p:tags r:id="rId10"/>
            </p:custDataLst>
          </p:nvPr>
        </p:nvSpPr>
        <p:spPr>
          <a:xfrm>
            <a:off x="8115300" y="4400550"/>
            <a:ext cx="3657600" cy="1920240"/>
          </a:xfrm>
          <a:prstGeom prst="rect">
            <a:avLst/>
          </a:prstGeom>
        </p:spPr>
        <p:txBody>
          <a:bodyPr vert="horz" lIns="0" tIns="60960" rIns="91440" bIns="60960" rtlCol="0">
            <a:normAutofit/>
          </a:bodyPr>
          <a:lstStyle>
            <a:lvl1pPr marL="11113" indent="0" algn="l" defTabSz="914354" rtl="0" eaLnBrk="1" latinLnBrk="0" hangingPunct="1">
              <a:lnSpc>
                <a:spcPct val="150000"/>
              </a:lnSpc>
              <a:spcBef>
                <a:spcPts val="1200"/>
              </a:spcBef>
              <a:buFont typeface="Arial" panose="020B0604020202020204" pitchFamily="34" charset="0"/>
              <a:buNone/>
              <a:tabLst/>
              <a:defRPr sz="14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4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0" algn="l" defTabSz="914354" rtl="0" eaLnBrk="1" fontAlgn="auto" latinLnBrk="0" hangingPunct="1">
              <a:lnSpc>
                <a:spcPct val="114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1">
                <a:ln>
                  <a:noFill/>
                </a:ln>
                <a:effectLst/>
                <a:uLnTx/>
                <a:uFillTx/>
                <a:ea typeface="+mn-ea"/>
                <a:cs typeface="Arial" panose="020B0604020202020204" pitchFamily="34" charset="0"/>
              </a:rPr>
              <a:t>AI tools such as ChatGPT and Perplexity AI assisted with SQL debugging, research summarization, and report polishing. All AI-generated suggestions were reviewed and verified by team members to ensure accuracy and quality.</a:t>
            </a:r>
          </a:p>
        </p:txBody>
      </p:sp>
      <p:sp>
        <p:nvSpPr>
          <p:cNvPr id="27" name="Text Placeholder 15">
            <a:extLst>
              <a:ext uri="{FF2B5EF4-FFF2-40B4-BE49-F238E27FC236}">
                <a16:creationId xmlns:a16="http://schemas.microsoft.com/office/drawing/2014/main" id="{8413D1BB-08A2-A48B-6C0B-AD831135E6C2}"/>
              </a:ext>
            </a:extLst>
          </p:cNvPr>
          <p:cNvSpPr txBox="1">
            <a:spLocks/>
          </p:cNvSpPr>
          <p:nvPr>
            <p:custDataLst>
              <p:tags r:id="rId11"/>
            </p:custDataLst>
          </p:nvPr>
        </p:nvSpPr>
        <p:spPr>
          <a:xfrm>
            <a:off x="4267200" y="1485900"/>
            <a:ext cx="3657600" cy="4191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Recovery Timelines</a:t>
            </a:r>
          </a:p>
        </p:txBody>
      </p:sp>
      <p:sp>
        <p:nvSpPr>
          <p:cNvPr id="28" name="Text Placeholder 17">
            <a:extLst>
              <a:ext uri="{FF2B5EF4-FFF2-40B4-BE49-F238E27FC236}">
                <a16:creationId xmlns:a16="http://schemas.microsoft.com/office/drawing/2014/main" id="{379E70C9-BAED-68EF-D00B-D7D924EB1D6F}"/>
              </a:ext>
            </a:extLst>
          </p:cNvPr>
          <p:cNvSpPr txBox="1">
            <a:spLocks/>
          </p:cNvSpPr>
          <p:nvPr>
            <p:custDataLst>
              <p:tags r:id="rId12"/>
            </p:custDataLst>
          </p:nvPr>
        </p:nvSpPr>
        <p:spPr>
          <a:xfrm>
            <a:off x="8115300" y="1485900"/>
            <a:ext cx="3657600" cy="4191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Regional Hotspots</a:t>
            </a:r>
          </a:p>
        </p:txBody>
      </p:sp>
      <p:sp>
        <p:nvSpPr>
          <p:cNvPr id="29" name="Text Placeholder 21">
            <a:extLst>
              <a:ext uri="{FF2B5EF4-FFF2-40B4-BE49-F238E27FC236}">
                <a16:creationId xmlns:a16="http://schemas.microsoft.com/office/drawing/2014/main" id="{D913BBBE-C47A-8A25-9DD6-3B94EFF8B7F2}"/>
              </a:ext>
            </a:extLst>
          </p:cNvPr>
          <p:cNvSpPr txBox="1">
            <a:spLocks/>
          </p:cNvSpPr>
          <p:nvPr>
            <p:custDataLst>
              <p:tags r:id="rId13"/>
            </p:custDataLst>
          </p:nvPr>
        </p:nvSpPr>
        <p:spPr>
          <a:xfrm>
            <a:off x="8115300" y="3976360"/>
            <a:ext cx="3657600" cy="4191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AI Support in Project</a:t>
            </a:r>
          </a:p>
        </p:txBody>
      </p:sp>
      <p:sp>
        <p:nvSpPr>
          <p:cNvPr id="30" name="Text Placeholder 23">
            <a:extLst>
              <a:ext uri="{FF2B5EF4-FFF2-40B4-BE49-F238E27FC236}">
                <a16:creationId xmlns:a16="http://schemas.microsoft.com/office/drawing/2014/main" id="{D92353C5-936D-88FF-BFC2-CDED54625733}"/>
              </a:ext>
            </a:extLst>
          </p:cNvPr>
          <p:cNvSpPr txBox="1">
            <a:spLocks/>
          </p:cNvSpPr>
          <p:nvPr>
            <p:custDataLst>
              <p:tags r:id="rId14"/>
            </p:custDataLst>
          </p:nvPr>
        </p:nvSpPr>
        <p:spPr>
          <a:xfrm>
            <a:off x="4267200" y="3976360"/>
            <a:ext cx="3657600" cy="4191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Essential vs. Discretionary</a:t>
            </a:r>
          </a:p>
        </p:txBody>
      </p:sp>
      <p:sp>
        <p:nvSpPr>
          <p:cNvPr id="31" name="Text Placeholder 25">
            <a:extLst>
              <a:ext uri="{FF2B5EF4-FFF2-40B4-BE49-F238E27FC236}">
                <a16:creationId xmlns:a16="http://schemas.microsoft.com/office/drawing/2014/main" id="{1048F019-1AE0-3432-15B7-334DCDBD29E4}"/>
              </a:ext>
            </a:extLst>
          </p:cNvPr>
          <p:cNvSpPr txBox="1">
            <a:spLocks/>
          </p:cNvSpPr>
          <p:nvPr>
            <p:custDataLst>
              <p:tags r:id="rId15"/>
            </p:custDataLst>
          </p:nvPr>
        </p:nvSpPr>
        <p:spPr>
          <a:xfrm>
            <a:off x="419100" y="3976360"/>
            <a:ext cx="3657600" cy="4191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j-lt"/>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354"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600" b="1" i="0" u="none" strike="noStrike" kern="1200" cap="none" spc="0" normalizeH="0" baseline="0" noProof="1">
                <a:ln>
                  <a:noFill/>
                </a:ln>
                <a:solidFill>
                  <a:schemeClr val="accent1"/>
                </a:solidFill>
                <a:effectLst/>
                <a:uLnTx/>
                <a:uFillTx/>
                <a:ea typeface="+mn-ea"/>
                <a:cs typeface="Arial" panose="020B0604020202020204" pitchFamily="34" charset="0"/>
              </a:rPr>
              <a:t>Consumer Behavior Shifts</a:t>
            </a:r>
          </a:p>
        </p:txBody>
      </p:sp>
      <p:sp>
        <p:nvSpPr>
          <p:cNvPr id="34" name="Content Placeholder 10">
            <a:extLst>
              <a:ext uri="{FF2B5EF4-FFF2-40B4-BE49-F238E27FC236}">
                <a16:creationId xmlns:a16="http://schemas.microsoft.com/office/drawing/2014/main" id="{9734800F-7F37-9E82-6CAC-53D73B45ACD0}"/>
              </a:ext>
            </a:extLst>
          </p:cNvPr>
          <p:cNvSpPr txBox="1">
            <a:spLocks/>
          </p:cNvSpPr>
          <p:nvPr>
            <p:custDataLst>
              <p:tags r:id="rId16"/>
            </p:custDataLst>
          </p:nvPr>
        </p:nvSpPr>
        <p:spPr>
          <a:xfrm>
            <a:off x="419100" y="1905000"/>
            <a:ext cx="3657600" cy="1920240"/>
          </a:xfrm>
          <a:prstGeom prst="rect">
            <a:avLst/>
          </a:prstGeom>
        </p:spPr>
        <p:txBody>
          <a:bodyPr vert="horz" lIns="0" tIns="60960" rIns="91440" bIns="60960" rtlCol="0">
            <a:normAutofit/>
          </a:bodyPr>
          <a:lstStyle>
            <a:defPPr>
              <a:defRPr lang="en-US"/>
            </a:defPPr>
            <a:lvl1pPr marL="11113" marR="0" lvl="0" indent="0" defTabSz="914354" fontAlgn="auto">
              <a:lnSpc>
                <a:spcPct val="114000"/>
              </a:lnSpc>
              <a:spcBef>
                <a:spcPts val="1000"/>
              </a:spcBef>
              <a:spcAft>
                <a:spcPts val="0"/>
              </a:spcAft>
              <a:buClrTx/>
              <a:buSzTx/>
              <a:buFont typeface="Arial" panose="020B0604020202020204" pitchFamily="34" charset="0"/>
              <a:buNone/>
              <a:tabLst/>
              <a:defRPr kumimoji="0" sz="1400" b="0" i="0" u="none" strike="noStrike" cap="none" spc="0" normalizeH="0" baseline="0">
                <a:ln>
                  <a:noFill/>
                </a:ln>
                <a:effectLst/>
                <a:uLnTx/>
                <a:uFillTx/>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4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4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4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4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noProof="1"/>
              <a:t>Staples and Office Depot showed early stabilization around Weeks 16–17, with visits rebounding by approximately 20–25%. Staples’ rapid rebound from 47K to 98K weekly visits marks it as an essential retailer with strong brand loyalty.</a:t>
            </a:r>
          </a:p>
        </p:txBody>
      </p:sp>
      <p:sp>
        <p:nvSpPr>
          <p:cNvPr id="35" name="Text Placeholder 9">
            <a:extLst>
              <a:ext uri="{FF2B5EF4-FFF2-40B4-BE49-F238E27FC236}">
                <a16:creationId xmlns:a16="http://schemas.microsoft.com/office/drawing/2014/main" id="{80BB40E1-00EE-7208-1404-93D23DEEEB46}"/>
              </a:ext>
            </a:extLst>
          </p:cNvPr>
          <p:cNvSpPr txBox="1">
            <a:spLocks/>
          </p:cNvSpPr>
          <p:nvPr>
            <p:custDataLst>
              <p:tags r:id="rId17"/>
            </p:custDataLst>
          </p:nvPr>
        </p:nvSpPr>
        <p:spPr>
          <a:xfrm>
            <a:off x="419100" y="1485900"/>
            <a:ext cx="3657600" cy="419100"/>
          </a:xfrm>
          <a:prstGeom prst="rect">
            <a:avLst/>
          </a:prstGeom>
        </p:spPr>
        <p:txBody>
          <a:bodyPr vert="horz" lIns="0" tIns="45720" rIns="91440" bIns="45720" rtlCol="0" anchor="t">
            <a:normAutofit/>
          </a:bodyPr>
          <a:lstStyle>
            <a:defPPr>
              <a:defRPr lang="en-US"/>
            </a:defPPr>
            <a:lvl1pPr marR="0" lvl="0" indent="0" defTabSz="914354" fontAlgn="auto">
              <a:lnSpc>
                <a:spcPct val="100000"/>
              </a:lnSpc>
              <a:spcBef>
                <a:spcPts val="1200"/>
              </a:spcBef>
              <a:spcAft>
                <a:spcPts val="0"/>
              </a:spcAft>
              <a:buClrTx/>
              <a:buSzTx/>
              <a:buFont typeface="Arial" panose="020B0604020202020204" pitchFamily="34" charset="0"/>
              <a:buNone/>
              <a:tabLst/>
              <a:defRPr kumimoji="0" sz="1600" b="1" i="0" u="none" strike="noStrike" cap="none" spc="0" normalizeH="0" baseline="0">
                <a:ln>
                  <a:noFill/>
                </a:ln>
                <a:solidFill>
                  <a:schemeClr val="accent1"/>
                </a:solidFill>
                <a:effectLst/>
                <a:uLnTx/>
                <a:uFillTx/>
                <a:latin typeface="+mj-lt"/>
                <a:cs typeface="Arial" panose="020B0604020202020204" pitchFamily="34" charset="0"/>
              </a:defRPr>
            </a:lvl1pPr>
            <a:lvl2pPr marL="457178" indent="0" defTabSz="914354">
              <a:lnSpc>
                <a:spcPct val="150000"/>
              </a:lnSpc>
              <a:spcBef>
                <a:spcPts val="1200"/>
              </a:spcBef>
              <a:buFont typeface="Arial" panose="020B0604020202020204" pitchFamily="34" charset="0"/>
              <a:buNone/>
              <a:tabLst/>
              <a:defRPr sz="2000" b="1">
                <a:cs typeface="Arial" panose="020B0604020202020204" pitchFamily="34" charset="0"/>
              </a:defRPr>
            </a:lvl2pPr>
            <a:lvl3pPr marL="914354" indent="0" defTabSz="914354">
              <a:lnSpc>
                <a:spcPct val="150000"/>
              </a:lnSpc>
              <a:spcBef>
                <a:spcPts val="1200"/>
              </a:spcBef>
              <a:buFont typeface="Arial" panose="020B0604020202020204" pitchFamily="34" charset="0"/>
              <a:buNone/>
              <a:tabLst/>
              <a:defRPr b="1">
                <a:cs typeface="Arial" panose="020B0604020202020204" pitchFamily="34" charset="0"/>
              </a:defRPr>
            </a:lvl3pPr>
            <a:lvl4pPr marL="1371532" indent="0" defTabSz="914354">
              <a:lnSpc>
                <a:spcPct val="150000"/>
              </a:lnSpc>
              <a:spcBef>
                <a:spcPts val="1200"/>
              </a:spcBef>
              <a:buFont typeface="Arial" panose="020B0604020202020204" pitchFamily="34" charset="0"/>
              <a:buNone/>
              <a:tabLst/>
              <a:defRPr sz="1600" b="1">
                <a:cs typeface="Arial" panose="020B0604020202020204" pitchFamily="34" charset="0"/>
              </a:defRPr>
            </a:lvl4pPr>
            <a:lvl5pPr marL="1828709" indent="0" defTabSz="914354">
              <a:lnSpc>
                <a:spcPct val="150000"/>
              </a:lnSpc>
              <a:spcBef>
                <a:spcPts val="1200"/>
              </a:spcBef>
              <a:buFont typeface="Arial" panose="020B0604020202020204" pitchFamily="34" charset="0"/>
              <a:buNone/>
              <a:tabLst/>
              <a:defRPr sz="1600" b="1">
                <a:cs typeface="Arial" panose="020B0604020202020204" pitchFamily="34" charset="0"/>
              </a:defRPr>
            </a:lvl5pPr>
            <a:lvl6pPr marL="2285886" indent="0" defTabSz="914354">
              <a:lnSpc>
                <a:spcPct val="90000"/>
              </a:lnSpc>
              <a:spcBef>
                <a:spcPts val="500"/>
              </a:spcBef>
              <a:buFont typeface="Arial" panose="020B0604020202020204" pitchFamily="34" charset="0"/>
              <a:buNone/>
              <a:defRPr sz="1600" b="1"/>
            </a:lvl6pPr>
            <a:lvl7pPr marL="2743062" indent="0" defTabSz="914354">
              <a:lnSpc>
                <a:spcPct val="90000"/>
              </a:lnSpc>
              <a:spcBef>
                <a:spcPts val="500"/>
              </a:spcBef>
              <a:buFont typeface="Arial" panose="020B0604020202020204" pitchFamily="34" charset="0"/>
              <a:buNone/>
              <a:defRPr sz="1600" b="1"/>
            </a:lvl7pPr>
            <a:lvl8pPr marL="3200240" indent="0" defTabSz="914354">
              <a:lnSpc>
                <a:spcPct val="90000"/>
              </a:lnSpc>
              <a:spcBef>
                <a:spcPts val="500"/>
              </a:spcBef>
              <a:buFont typeface="Arial" panose="020B0604020202020204" pitchFamily="34" charset="0"/>
              <a:buNone/>
              <a:defRPr sz="1600" b="1"/>
            </a:lvl8pPr>
            <a:lvl9pPr marL="3657418" indent="0" defTabSz="914354">
              <a:lnSpc>
                <a:spcPct val="90000"/>
              </a:lnSpc>
              <a:spcBef>
                <a:spcPts val="500"/>
              </a:spcBef>
              <a:buFont typeface="Arial" panose="020B0604020202020204" pitchFamily="34" charset="0"/>
              <a:buNone/>
              <a:defRPr sz="1600" b="1"/>
            </a:lvl9pPr>
          </a:lstStyle>
          <a:p>
            <a:r>
              <a:rPr lang="en-US" noProof="1"/>
              <a:t>Brand Stabilization Patterns</a:t>
            </a:r>
          </a:p>
        </p:txBody>
      </p:sp>
    </p:spTree>
    <p:extLst>
      <p:ext uri="{BB962C8B-B14F-4D97-AF65-F5344CB8AC3E}">
        <p14:creationId xmlns:p14="http://schemas.microsoft.com/office/powerpoint/2010/main" val="324668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1DDF8FE-2311-8FBF-F78E-6FD50FB94EA7}"/>
              </a:ext>
            </a:extLst>
          </p:cNvPr>
          <p:cNvSpPr txBox="1"/>
          <p:nvPr>
            <p:custDataLst>
              <p:tags r:id="rId1"/>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Introduction</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2"/>
            </p:custDataLst>
          </p:nvPr>
        </p:nvSpPr>
        <p:spPr/>
        <p:txBody>
          <a:bodyPr lIns="0"/>
          <a:lstStyle/>
          <a:p>
            <a:r>
              <a:rPr lang="en-US" noProof="1"/>
              <a:t>Office Supply Store Trends</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3"/>
            </p:custDataLst>
          </p:nvPr>
        </p:nvSpPr>
        <p:spPr>
          <a:xfrm>
            <a:off x="419100" y="4644574"/>
            <a:ext cx="5600700" cy="365760"/>
          </a:xfrm>
        </p:spPr>
        <p:txBody>
          <a:bodyPr vert="horz" lIns="0" tIns="45720" rIns="91440" bIns="45720" rtlCol="0" anchor="t">
            <a:normAutofit/>
          </a:bodyPr>
          <a:lstStyle/>
          <a:p>
            <a:pPr marL="0" indent="0">
              <a:lnSpc>
                <a:spcPct val="100000"/>
              </a:lnSpc>
              <a:buNone/>
            </a:pPr>
            <a:r>
              <a:rPr lang="en-US" b="1" noProof="1">
                <a:solidFill>
                  <a:schemeClr val="accent1"/>
                </a:solidFill>
                <a:latin typeface="+mj-lt"/>
              </a:rPr>
              <a:t>Key Focus Areas</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sz="half" idx="4294967295"/>
            <p:custDataLst>
              <p:tags r:id="rId4"/>
            </p:custDataLst>
          </p:nvPr>
        </p:nvSpPr>
        <p:spPr>
          <a:xfrm>
            <a:off x="419100" y="5015061"/>
            <a:ext cx="5600700" cy="1283876"/>
          </a:xfrm>
        </p:spPr>
        <p:txBody>
          <a:bodyPr vert="horz" lIns="0" tIns="60960" rIns="91440" bIns="60960" rtlCol="0">
            <a:normAutofit/>
          </a:bodyPr>
          <a:lstStyle/>
          <a:p>
            <a:pPr marL="11113" indent="0">
              <a:lnSpc>
                <a:spcPct val="114000"/>
              </a:lnSpc>
              <a:spcBef>
                <a:spcPts val="1000"/>
              </a:spcBef>
              <a:buNone/>
            </a:pPr>
            <a:r>
              <a:rPr lang="en-US" sz="1400" noProof="1"/>
              <a:t>Analyzing foot traffic and dwell time patterns during the remote work transformation of 2020.</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sz="quarter" idx="4294967295"/>
            <p:custDataLst>
              <p:tags r:id="rId5"/>
            </p:custDataLst>
          </p:nvPr>
        </p:nvSpPr>
        <p:spPr>
          <a:xfrm>
            <a:off x="6172199" y="4644574"/>
            <a:ext cx="5600700" cy="365760"/>
          </a:xfrm>
        </p:spPr>
        <p:txBody>
          <a:bodyPr vert="horz" lIns="0" tIns="45720" rIns="91440" bIns="45720" rtlCol="0" anchor="t">
            <a:normAutofit/>
          </a:bodyPr>
          <a:lstStyle/>
          <a:p>
            <a:pPr marL="0" indent="0">
              <a:lnSpc>
                <a:spcPct val="100000"/>
              </a:lnSpc>
              <a:buNone/>
            </a:pPr>
            <a:r>
              <a:rPr lang="en-US" b="1" noProof="1">
                <a:solidFill>
                  <a:schemeClr val="accent1"/>
                </a:solidFill>
                <a:latin typeface="+mj-lt"/>
              </a:rPr>
              <a:t>Key Focus Areas</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quarter" idx="4294967295"/>
            <p:custDataLst>
              <p:tags r:id="rId6"/>
            </p:custDataLst>
          </p:nvPr>
        </p:nvSpPr>
        <p:spPr>
          <a:xfrm>
            <a:off x="6172199" y="5015061"/>
            <a:ext cx="5600700" cy="1283876"/>
          </a:xfrm>
        </p:spPr>
        <p:txBody>
          <a:bodyPr vert="horz" lIns="0" tIns="60960" rIns="91440" bIns="60960" rtlCol="0">
            <a:normAutofit/>
          </a:bodyPr>
          <a:lstStyle/>
          <a:p>
            <a:pPr marL="11113" indent="0">
              <a:lnSpc>
                <a:spcPct val="114000"/>
              </a:lnSpc>
              <a:spcBef>
                <a:spcPts val="1000"/>
              </a:spcBef>
              <a:buNone/>
            </a:pPr>
            <a:r>
              <a:rPr lang="en-US" sz="1400" noProof="1"/>
              <a:t>Examining how remote work influenced in-store behaviors and purchasing habits.</a:t>
            </a:r>
          </a:p>
        </p:txBody>
      </p:sp>
      <p:pic>
        <p:nvPicPr>
          <p:cNvPr id="7" name="Picture Placeholder 9">
            <a:extLst>
              <a:ext uri="{FF2B5EF4-FFF2-40B4-BE49-F238E27FC236}">
                <a16:creationId xmlns:a16="http://schemas.microsoft.com/office/drawing/2014/main" id="{229F79EC-D0B2-7964-E312-BF60C4AB9362}"/>
              </a:ext>
            </a:extLst>
          </p:cNvPr>
          <p:cNvPicPr>
            <a:picLocks noChangeAspect="1"/>
          </p:cNvPicPr>
          <p:nvPr>
            <p:custDataLst>
              <p:tags r:id="rId7"/>
            </p:custDataLst>
          </p:nvPr>
        </p:nvPicPr>
        <p:blipFill rotWithShape="1">
          <a:blip r:embed="rId11" cstate="screen">
            <a:extLst>
              <a:ext uri="{28A0092B-C50C-407E-A947-70E740481C1C}">
                <a14:useLocalDpi xmlns:a14="http://schemas.microsoft.com/office/drawing/2010/main"/>
              </a:ext>
            </a:extLst>
          </a:blip>
          <a:srcRect t="9102" b="9102"/>
          <a:stretch/>
        </p:blipFill>
        <p:spPr>
          <a:xfrm>
            <a:off x="419100" y="1485900"/>
            <a:ext cx="5600700" cy="3054044"/>
          </a:xfrm>
          <a:prstGeom prst="roundRect">
            <a:avLst>
              <a:gd name="adj" fmla="val 1421"/>
            </a:avLst>
          </a:prstGeom>
        </p:spPr>
      </p:pic>
      <p:pic>
        <p:nvPicPr>
          <p:cNvPr id="8" name="Picture Placeholder 11">
            <a:extLst>
              <a:ext uri="{FF2B5EF4-FFF2-40B4-BE49-F238E27FC236}">
                <a16:creationId xmlns:a16="http://schemas.microsoft.com/office/drawing/2014/main" id="{77F3AAC0-1520-3E85-10B3-28D8A1F894C9}"/>
              </a:ext>
            </a:extLst>
          </p:cNvPr>
          <p:cNvPicPr>
            <a:picLocks/>
          </p:cNvPicPr>
          <p:nvPr>
            <p:custDataLst>
              <p:tags r:id="rId8"/>
            </p:custDataLst>
          </p:nvPr>
        </p:nvPicPr>
        <p:blipFill rotWithShape="1">
          <a:blip r:embed="rId12" cstate="screen">
            <a:extLst>
              <a:ext uri="{28A0092B-C50C-407E-A947-70E740481C1C}">
                <a14:useLocalDpi xmlns:a14="http://schemas.microsoft.com/office/drawing/2010/main"/>
              </a:ext>
            </a:extLst>
          </a:blip>
          <a:srcRect t="9102" b="9102"/>
          <a:stretch/>
        </p:blipFill>
        <p:spPr>
          <a:xfrm>
            <a:off x="6172200" y="1485900"/>
            <a:ext cx="5600700" cy="3054044"/>
          </a:xfrm>
          <a:prstGeom prst="roundRect">
            <a:avLst>
              <a:gd name="adj" fmla="val 1421"/>
            </a:avLst>
          </a:prstGeom>
        </p:spPr>
      </p:pic>
      <p:sp>
        <p:nvSpPr>
          <p:cNvPr id="9" name="Rectangle 8">
            <a:extLst>
              <a:ext uri="{FF2B5EF4-FFF2-40B4-BE49-F238E27FC236}">
                <a16:creationId xmlns:a16="http://schemas.microsoft.com/office/drawing/2014/main" id="{BE2E756F-952E-165D-4A8B-4740E522EA97}"/>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10369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11">
            <a:extLst>
              <a:ext uri="{FF2B5EF4-FFF2-40B4-BE49-F238E27FC236}">
                <a16:creationId xmlns:a16="http://schemas.microsoft.com/office/drawing/2014/main" id="{0A9DFCB9-511A-951E-DB04-F99209E1A7A8}"/>
              </a:ext>
            </a:extLst>
          </p:cNvPr>
          <p:cNvPicPr>
            <a:picLocks/>
          </p:cNvPicPr>
          <p:nvPr>
            <p:custDataLst>
              <p:tags r:id="rId1"/>
            </p:custDataLst>
          </p:nvPr>
        </p:nvPicPr>
        <p:blipFill rotWithShape="1">
          <a:blip r:embed="rId11" cstate="screen">
            <a:extLst>
              <a:ext uri="{28A0092B-C50C-407E-A947-70E740481C1C}">
                <a14:useLocalDpi xmlns:a14="http://schemas.microsoft.com/office/drawing/2010/main"/>
              </a:ext>
            </a:extLst>
          </a:blip>
          <a:srcRect t="1678" b="1678"/>
          <a:stretch/>
        </p:blipFill>
        <p:spPr>
          <a:xfrm>
            <a:off x="419100" y="3992388"/>
            <a:ext cx="3576828" cy="2304515"/>
          </a:xfrm>
          <a:prstGeom prst="roundRect">
            <a:avLst>
              <a:gd name="adj" fmla="val 1903"/>
            </a:avLst>
          </a:prstGeom>
        </p:spPr>
      </p:pic>
      <p:pic>
        <p:nvPicPr>
          <p:cNvPr id="7" name="Picture Placeholder 9">
            <a:extLst>
              <a:ext uri="{FF2B5EF4-FFF2-40B4-BE49-F238E27FC236}">
                <a16:creationId xmlns:a16="http://schemas.microsoft.com/office/drawing/2014/main" id="{23A5C112-905B-4EAD-2200-2A8CF9A9E3C3}"/>
              </a:ext>
            </a:extLst>
          </p:cNvPr>
          <p:cNvPicPr>
            <a:picLocks/>
          </p:cNvPicPr>
          <p:nvPr>
            <p:custDataLst>
              <p:tags r:id="rId2"/>
            </p:custDataLst>
          </p:nvPr>
        </p:nvPicPr>
        <p:blipFill rotWithShape="1">
          <a:blip r:embed="rId12" cstate="screen">
            <a:extLst>
              <a:ext uri="{28A0092B-C50C-407E-A947-70E740481C1C}">
                <a14:useLocalDpi xmlns:a14="http://schemas.microsoft.com/office/drawing/2010/main"/>
              </a:ext>
            </a:extLst>
          </a:blip>
          <a:srcRect t="1678" b="1678"/>
          <a:stretch/>
        </p:blipFill>
        <p:spPr>
          <a:xfrm>
            <a:off x="419100" y="1485900"/>
            <a:ext cx="3576828" cy="2304515"/>
          </a:xfrm>
          <a:prstGeom prst="roundRect">
            <a:avLst>
              <a:gd name="adj" fmla="val 1903"/>
            </a:avLst>
          </a:prstGeom>
        </p:spPr>
      </p:pic>
      <p:sp>
        <p:nvSpPr>
          <p:cNvPr id="10" name="TextBox 9">
            <a:extLst>
              <a:ext uri="{FF2B5EF4-FFF2-40B4-BE49-F238E27FC236}">
                <a16:creationId xmlns:a16="http://schemas.microsoft.com/office/drawing/2014/main" id="{F780A623-1748-7A03-17A6-EDBC3A09E909}"/>
              </a:ext>
            </a:extLst>
          </p:cNvPr>
          <p:cNvSpPr txBox="1"/>
          <p:nvPr>
            <p:custDataLst>
              <p:tags r:id="rId3"/>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Introduction</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4"/>
            </p:custDataLst>
          </p:nvPr>
        </p:nvSpPr>
        <p:spPr/>
        <p:txBody>
          <a:bodyPr lIns="0">
            <a:normAutofit/>
          </a:bodyPr>
          <a:lstStyle/>
          <a:p>
            <a:r>
              <a:rPr lang="en-US" noProof="1"/>
              <a:t>Context and Objectives</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sz="half" idx="4294967295"/>
            <p:custDataLst>
              <p:tags r:id="rId5"/>
            </p:custDataLst>
          </p:nvPr>
        </p:nvSpPr>
        <p:spPr>
          <a:xfrm>
            <a:off x="6421821" y="1485900"/>
            <a:ext cx="5351079" cy="2322576"/>
          </a:xfrm>
        </p:spPr>
        <p:txBody>
          <a:bodyPr vert="horz" lIns="91440" tIns="60960" rIns="91440" bIns="60960" rtlCol="0">
            <a:normAutofit/>
          </a:bodyPr>
          <a:lstStyle/>
          <a:p>
            <a:pPr marL="11113" indent="0">
              <a:lnSpc>
                <a:spcPct val="114000"/>
              </a:lnSpc>
              <a:spcBef>
                <a:spcPts val="1000"/>
              </a:spcBef>
              <a:buNone/>
            </a:pPr>
            <a:r>
              <a:rPr lang="en-US" noProof="1"/>
              <a:t>The shift to remote work in early 2020 significantly influenced consumer behavior at office supply stores, changing shopping patterns and needs.</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half" idx="4294967295"/>
            <p:custDataLst>
              <p:tags r:id="rId6"/>
            </p:custDataLst>
          </p:nvPr>
        </p:nvSpPr>
        <p:spPr>
          <a:xfrm>
            <a:off x="6421821" y="3992388"/>
            <a:ext cx="5351079" cy="2322576"/>
          </a:xfrm>
        </p:spPr>
        <p:txBody>
          <a:bodyPr vert="horz" lIns="91440" tIns="60960" rIns="91440" bIns="60960" rtlCol="0">
            <a:normAutofit/>
          </a:bodyPr>
          <a:lstStyle/>
          <a:p>
            <a:pPr marL="11113" indent="0">
              <a:lnSpc>
                <a:spcPct val="114000"/>
              </a:lnSpc>
              <a:spcBef>
                <a:spcPts val="1000"/>
              </a:spcBef>
              <a:buNone/>
            </a:pPr>
            <a:r>
              <a:rPr lang="en-US" noProof="1"/>
              <a:t>Study segments counties by urban, suburban, and rural areas to analyze store foot traffic and dwell time trends for deeper insights.</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7"/>
            </p:custDataLst>
          </p:nvPr>
        </p:nvSpPr>
        <p:spPr>
          <a:xfrm>
            <a:off x="4708634" y="1485900"/>
            <a:ext cx="1554480" cy="2322576"/>
          </a:xfrm>
        </p:spPr>
        <p:txBody>
          <a:bodyPr vert="horz" lIns="91440" tIns="45720" rIns="91440" bIns="45720" rtlCol="0" anchor="t">
            <a:normAutofit/>
          </a:bodyPr>
          <a:lstStyle/>
          <a:p>
            <a:pPr marL="0" indent="0">
              <a:lnSpc>
                <a:spcPct val="100000"/>
              </a:lnSpc>
              <a:buNone/>
            </a:pPr>
            <a:r>
              <a:rPr lang="en-US" b="1" noProof="1">
                <a:latin typeface="+mj-lt"/>
              </a:rPr>
              <a:t>Remote Work Impact</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idx="4294967295"/>
            <p:custDataLst>
              <p:tags r:id="rId8"/>
            </p:custDataLst>
          </p:nvPr>
        </p:nvSpPr>
        <p:spPr>
          <a:xfrm>
            <a:off x="4708634" y="3992388"/>
            <a:ext cx="1554480" cy="2322576"/>
          </a:xfrm>
        </p:spPr>
        <p:txBody>
          <a:bodyPr vert="horz" lIns="91440" tIns="45720" rIns="91440" bIns="45720" rtlCol="0" anchor="t">
            <a:normAutofit/>
          </a:bodyPr>
          <a:lstStyle/>
          <a:p>
            <a:pPr marL="0" indent="0">
              <a:lnSpc>
                <a:spcPct val="100000"/>
              </a:lnSpc>
              <a:buNone/>
            </a:pPr>
            <a:r>
              <a:rPr lang="en-US" b="1" noProof="1">
                <a:latin typeface="+mj-lt"/>
              </a:rPr>
              <a:t>Demographic Segmentation</a:t>
            </a:r>
          </a:p>
        </p:txBody>
      </p:sp>
      <p:sp>
        <p:nvSpPr>
          <p:cNvPr id="9" name="Rectangle 8">
            <a:extLst>
              <a:ext uri="{FF2B5EF4-FFF2-40B4-BE49-F238E27FC236}">
                <a16:creationId xmlns:a16="http://schemas.microsoft.com/office/drawing/2014/main" id="{23F8AAAE-F0CD-A285-93FE-2ACCBC7F6C61}"/>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
        <p:nvSpPr>
          <p:cNvPr id="11" name="TextBox 10">
            <a:extLst>
              <a:ext uri="{FF2B5EF4-FFF2-40B4-BE49-F238E27FC236}">
                <a16:creationId xmlns:a16="http://schemas.microsoft.com/office/drawing/2014/main" id="{14808B35-A7B0-DC39-AD00-11F5B0379F37}"/>
              </a:ext>
            </a:extLst>
          </p:cNvPr>
          <p:cNvSpPr txBox="1"/>
          <p:nvPr/>
        </p:nvSpPr>
        <p:spPr>
          <a:xfrm>
            <a:off x="4283964" y="1485900"/>
            <a:ext cx="517356" cy="369332"/>
          </a:xfrm>
          <a:prstGeom prst="rect">
            <a:avLst/>
          </a:prstGeom>
          <a:noFill/>
        </p:spPr>
        <p:txBody>
          <a:bodyPr wrap="square" rtlCol="0">
            <a:spAutoFit/>
          </a:bodyPr>
          <a:lstStyle/>
          <a:p>
            <a:r>
              <a:rPr lang="en-US" b="1" noProof="1">
                <a:solidFill>
                  <a:schemeClr val="accent1"/>
                </a:solidFill>
              </a:rPr>
              <a:t>01</a:t>
            </a:r>
          </a:p>
        </p:txBody>
      </p:sp>
      <p:sp>
        <p:nvSpPr>
          <p:cNvPr id="12" name="TextBox 11">
            <a:extLst>
              <a:ext uri="{FF2B5EF4-FFF2-40B4-BE49-F238E27FC236}">
                <a16:creationId xmlns:a16="http://schemas.microsoft.com/office/drawing/2014/main" id="{9E4496E3-B5B7-4CAD-E532-E39401352595}"/>
              </a:ext>
            </a:extLst>
          </p:cNvPr>
          <p:cNvSpPr txBox="1"/>
          <p:nvPr/>
        </p:nvSpPr>
        <p:spPr>
          <a:xfrm>
            <a:off x="4283964" y="3992388"/>
            <a:ext cx="517356" cy="369332"/>
          </a:xfrm>
          <a:prstGeom prst="rect">
            <a:avLst/>
          </a:prstGeom>
          <a:noFill/>
        </p:spPr>
        <p:txBody>
          <a:bodyPr wrap="square" rtlCol="0">
            <a:spAutoFit/>
          </a:bodyPr>
          <a:lstStyle/>
          <a:p>
            <a:r>
              <a:rPr lang="en-US" b="1" noProof="1">
                <a:solidFill>
                  <a:schemeClr val="accent1"/>
                </a:solidFill>
              </a:rPr>
              <a:t>02</a:t>
            </a:r>
          </a:p>
        </p:txBody>
      </p:sp>
    </p:spTree>
    <p:extLst>
      <p:ext uri="{BB962C8B-B14F-4D97-AF65-F5344CB8AC3E}">
        <p14:creationId xmlns:p14="http://schemas.microsoft.com/office/powerpoint/2010/main" val="126058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lIns="0">
            <a:normAutofit fontScale="90000"/>
          </a:bodyPr>
          <a:lstStyle/>
          <a:p>
            <a:r>
              <a:rPr lang="en-US" dirty="0"/>
              <a:t>Research Question 1 guides the direction of our investigation. </a:t>
            </a:r>
            <a:r>
              <a:rPr lang="en-US" noProof="1"/>
              <a:t>Foot Traffic and Demographic Insights at Office Supply Stores (Early 2020)</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2"/>
            </p:custDataLst>
          </p:nvPr>
        </p:nvSpPr>
        <p:spPr>
          <a:xfrm>
            <a:off x="419097" y="1886011"/>
            <a:ext cx="5600700" cy="548640"/>
          </a:xfrm>
        </p:spPr>
        <p:txBody>
          <a:bodyPr lIns="0" anchor="ctr">
            <a:normAutofit/>
          </a:bodyPr>
          <a:lstStyle/>
          <a:p>
            <a:pPr marL="11111" indent="0">
              <a:lnSpc>
                <a:spcPct val="100000"/>
              </a:lnSpc>
              <a:buNone/>
            </a:pPr>
            <a:r>
              <a:rPr lang="en-US" sz="2000" b="1" noProof="1">
                <a:latin typeface="+mj-lt"/>
              </a:rPr>
              <a:t>Trends in Foot Traffic and Shopping Behavior</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3"/>
            </p:custDataLst>
          </p:nvPr>
        </p:nvSpPr>
        <p:spPr>
          <a:xfrm>
            <a:off x="419098" y="2425700"/>
            <a:ext cx="5600700" cy="3848100"/>
          </a:xfrm>
        </p:spPr>
        <p:txBody>
          <a:bodyPr vert="horz" lIns="0" tIns="45720" rIns="91440" bIns="45720" rtlCol="0" anchor="t">
            <a:normAutofit/>
          </a:bodyPr>
          <a:lstStyle/>
          <a:p>
            <a:pPr marL="407988" indent="-284163">
              <a:lnSpc>
                <a:spcPct val="114000"/>
              </a:lnSpc>
              <a:buClr>
                <a:schemeClr val="accent1"/>
              </a:buClr>
            </a:pPr>
            <a:r>
              <a:rPr lang="en-US" noProof="1"/>
              <a:t>Foot traffic peaked early 2020, fell sharply during lockdowns, then rebounded at major office supply stores.
Specialty stores had fewer visits but longer dwell times, indicating focused and high-intent customers.
Suburban family areas showed increased visits, while urban shoppers preferred quick, goal-oriented trips.</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4"/>
            </p:custDataLst>
          </p:nvPr>
        </p:nvSpPr>
        <p:spPr>
          <a:xfrm>
            <a:off x="6172201" y="1886011"/>
            <a:ext cx="5600700" cy="548640"/>
          </a:xfrm>
        </p:spPr>
        <p:txBody>
          <a:bodyPr lIns="0" anchor="ctr">
            <a:normAutofit/>
          </a:bodyPr>
          <a:lstStyle/>
          <a:p>
            <a:pPr marL="11111" indent="0">
              <a:lnSpc>
                <a:spcPct val="100000"/>
              </a:lnSpc>
              <a:buNone/>
            </a:pPr>
            <a:r>
              <a:rPr lang="en-US" sz="2000" b="1" noProof="1">
                <a:latin typeface="+mj-lt"/>
              </a:rPr>
              <a:t>Demographic Factors and Store Opportunities</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6172201" y="2425700"/>
            <a:ext cx="5600699" cy="3848100"/>
          </a:xfrm>
        </p:spPr>
        <p:txBody>
          <a:bodyPr vert="horz" lIns="0" tIns="45720" rIns="91440" bIns="45720" rtlCol="0" anchor="t">
            <a:normAutofit/>
          </a:bodyPr>
          <a:lstStyle/>
          <a:p>
            <a:pPr marL="407988" indent="-284163">
              <a:lnSpc>
                <a:spcPct val="114000"/>
              </a:lnSpc>
              <a:buClr>
                <a:schemeClr val="accent1"/>
              </a:buClr>
            </a:pPr>
            <a:r>
              <a:rPr lang="en-US" noProof="1"/>
              <a:t>Regions with higher education levels experienced longer store visits, reflecting preference for personalized shopping.
Working-age populations (18-64) contributed to weekday traffic fluctuations.
K-12 (5-17) households influenced weekend and after-school visit spikes.
Demographic data can help identify hot spots for concept stores or expanded community services.</a:t>
            </a:r>
          </a:p>
        </p:txBody>
      </p:sp>
      <p:sp>
        <p:nvSpPr>
          <p:cNvPr id="9" name="Rectangle 8">
            <a:extLst>
              <a:ext uri="{FF2B5EF4-FFF2-40B4-BE49-F238E27FC236}">
                <a16:creationId xmlns:a16="http://schemas.microsoft.com/office/drawing/2014/main" id="{5C9B4219-52FB-9E5E-4BA5-21DD097D59D4}"/>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10" name="TextBox 9">
            <a:extLst>
              <a:ext uri="{FF2B5EF4-FFF2-40B4-BE49-F238E27FC236}">
                <a16:creationId xmlns:a16="http://schemas.microsoft.com/office/drawing/2014/main" id="{E81F9835-5037-CA81-CFC2-990E765B5847}"/>
              </a:ext>
            </a:extLst>
          </p:cNvPr>
          <p:cNvSpPr txBox="1"/>
          <p:nvPr>
            <p:custDataLst>
              <p:tags r:id="rId7"/>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Analysis</a:t>
            </a:r>
          </a:p>
        </p:txBody>
      </p:sp>
      <p:sp>
        <p:nvSpPr>
          <p:cNvPr id="11" name="TextBox 10">
            <a:extLst>
              <a:ext uri="{FF2B5EF4-FFF2-40B4-BE49-F238E27FC236}">
                <a16:creationId xmlns:a16="http://schemas.microsoft.com/office/drawing/2014/main" id="{3E1D510F-4795-A7E4-5248-292427F46B62}"/>
              </a:ext>
            </a:extLst>
          </p:cNvPr>
          <p:cNvSpPr txBox="1"/>
          <p:nvPr/>
        </p:nvSpPr>
        <p:spPr>
          <a:xfrm>
            <a:off x="419096" y="1485900"/>
            <a:ext cx="842353" cy="369332"/>
          </a:xfrm>
          <a:prstGeom prst="rect">
            <a:avLst/>
          </a:prstGeom>
          <a:noFill/>
        </p:spPr>
        <p:txBody>
          <a:bodyPr wrap="square" lIns="0" rtlCol="0">
            <a:spAutoFit/>
          </a:bodyPr>
          <a:lstStyle/>
          <a:p>
            <a:r>
              <a:rPr lang="en-US" b="1" noProof="1">
                <a:solidFill>
                  <a:schemeClr val="accent1"/>
                </a:solidFill>
              </a:rPr>
              <a:t>01</a:t>
            </a:r>
          </a:p>
        </p:txBody>
      </p:sp>
      <p:sp>
        <p:nvSpPr>
          <p:cNvPr id="12" name="TextBox 11">
            <a:extLst>
              <a:ext uri="{FF2B5EF4-FFF2-40B4-BE49-F238E27FC236}">
                <a16:creationId xmlns:a16="http://schemas.microsoft.com/office/drawing/2014/main" id="{AC14B40C-92A8-CC3A-82F0-EA3582D882AE}"/>
              </a:ext>
            </a:extLst>
          </p:cNvPr>
          <p:cNvSpPr txBox="1"/>
          <p:nvPr/>
        </p:nvSpPr>
        <p:spPr>
          <a:xfrm>
            <a:off x="6172200" y="1485900"/>
            <a:ext cx="823784" cy="369332"/>
          </a:xfrm>
          <a:prstGeom prst="rect">
            <a:avLst/>
          </a:prstGeom>
          <a:noFill/>
        </p:spPr>
        <p:txBody>
          <a:bodyPr wrap="square" lIns="0" rtlCol="0">
            <a:spAutoFit/>
          </a:bodyPr>
          <a:lstStyle/>
          <a:p>
            <a:r>
              <a:rPr lang="en-US" b="1" noProof="1">
                <a:solidFill>
                  <a:schemeClr val="accent1"/>
                </a:solidFill>
              </a:rPr>
              <a:t>02</a:t>
            </a:r>
          </a:p>
        </p:txBody>
      </p:sp>
    </p:spTree>
    <p:extLst>
      <p:ext uri="{BB962C8B-B14F-4D97-AF65-F5344CB8AC3E}">
        <p14:creationId xmlns:p14="http://schemas.microsoft.com/office/powerpoint/2010/main" val="89318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8A7D2-0510-3D46-0EAB-EF200C7478DE}"/>
            </a:ext>
          </a:extLst>
        </p:cNvPr>
        <p:cNvGrpSpPr/>
        <p:nvPr/>
      </p:nvGrpSpPr>
      <p:grpSpPr>
        <a:xfrm>
          <a:off x="0" y="0"/>
          <a:ext cx="0" cy="0"/>
          <a:chOff x="0" y="0"/>
          <a:chExt cx="0" cy="0"/>
        </a:xfrm>
      </p:grpSpPr>
      <p:graphicFrame>
        <p:nvGraphicFramePr>
          <p:cNvPr id="16" name="Content Placeholder 8">
            <a:extLst>
              <a:ext uri="{FF2B5EF4-FFF2-40B4-BE49-F238E27FC236}">
                <a16:creationId xmlns:a16="http://schemas.microsoft.com/office/drawing/2014/main" id="{532662F3-7F4A-B97B-1DAF-9FA1C66E9CC7}"/>
              </a:ext>
            </a:extLst>
          </p:cNvPr>
          <p:cNvGraphicFramePr>
            <a:graphicFrameLocks/>
          </p:cNvGraphicFramePr>
          <p:nvPr>
            <p:custDataLst>
              <p:tags r:id="rId1"/>
            </p:custDataLst>
          </p:nvPr>
        </p:nvGraphicFramePr>
        <p:xfrm>
          <a:off x="4264914" y="1905001"/>
          <a:ext cx="3657600" cy="2933699"/>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15" name="Content Placeholder 8">
            <a:extLst>
              <a:ext uri="{FF2B5EF4-FFF2-40B4-BE49-F238E27FC236}">
                <a16:creationId xmlns:a16="http://schemas.microsoft.com/office/drawing/2014/main" id="{6259D781-0F49-866F-201E-07E349022E60}"/>
              </a:ext>
            </a:extLst>
          </p:cNvPr>
          <p:cNvGraphicFramePr>
            <a:graphicFrameLocks/>
          </p:cNvGraphicFramePr>
          <p:nvPr>
            <p:custDataLst>
              <p:tags r:id="rId2"/>
            </p:custDataLst>
          </p:nvPr>
        </p:nvGraphicFramePr>
        <p:xfrm>
          <a:off x="419100" y="1903657"/>
          <a:ext cx="3657600" cy="2933699"/>
        </p:xfrm>
        <a:graphic>
          <a:graphicData uri="http://schemas.openxmlformats.org/drawingml/2006/chart">
            <c:chart xmlns:c="http://schemas.openxmlformats.org/drawingml/2006/chart" xmlns:r="http://schemas.openxmlformats.org/officeDocument/2006/relationships" r:id="rId15"/>
          </a:graphicData>
        </a:graphic>
      </p:graphicFrame>
      <p:sp>
        <p:nvSpPr>
          <p:cNvPr id="2" name="Title 1">
            <a:extLst>
              <a:ext uri="{FF2B5EF4-FFF2-40B4-BE49-F238E27FC236}">
                <a16:creationId xmlns:a16="http://schemas.microsoft.com/office/drawing/2014/main" id="{4FA56E3B-CACD-E87B-27F7-A1363C96D6F9}"/>
              </a:ext>
            </a:extLst>
          </p:cNvPr>
          <p:cNvSpPr>
            <a:spLocks noGrp="1"/>
          </p:cNvSpPr>
          <p:nvPr>
            <p:ph type="title"/>
            <p:custDataLst>
              <p:tags r:id="rId3"/>
            </p:custDataLst>
          </p:nvPr>
        </p:nvSpPr>
        <p:spPr/>
        <p:txBody>
          <a:bodyPr lIns="0"/>
          <a:lstStyle/>
          <a:p>
            <a:r>
              <a:rPr lang="en-US" dirty="0"/>
              <a:t>Office Supply Brands: Visits and Market Trends (2020-2023)</a:t>
            </a:r>
          </a:p>
        </p:txBody>
      </p:sp>
      <p:sp>
        <p:nvSpPr>
          <p:cNvPr id="4" name="Content Placeholder 3">
            <a:extLst>
              <a:ext uri="{FF2B5EF4-FFF2-40B4-BE49-F238E27FC236}">
                <a16:creationId xmlns:a16="http://schemas.microsoft.com/office/drawing/2014/main" id="{6145ACAA-FCA9-196E-4C83-600D63CCB68E}"/>
              </a:ext>
            </a:extLst>
          </p:cNvPr>
          <p:cNvSpPr>
            <a:spLocks noGrp="1"/>
          </p:cNvSpPr>
          <p:nvPr>
            <p:ph sz="half" idx="4294967295"/>
            <p:custDataLst>
              <p:tags r:id="rId4"/>
            </p:custDataLst>
          </p:nvPr>
        </p:nvSpPr>
        <p:spPr>
          <a:xfrm>
            <a:off x="4264913" y="4952999"/>
            <a:ext cx="3657600" cy="1280160"/>
          </a:xfrm>
        </p:spPr>
        <p:txBody>
          <a:bodyPr vert="horz" lIns="0" tIns="45720" rIns="91440" bIns="45720" rtlCol="0">
            <a:normAutofit/>
          </a:bodyPr>
          <a:lstStyle/>
          <a:p>
            <a:pPr marL="11113" indent="0">
              <a:lnSpc>
                <a:spcPct val="114000"/>
              </a:lnSpc>
              <a:buNone/>
            </a:pPr>
            <a:r>
              <a:rPr lang="en-US" sz="1400" dirty="0"/>
              <a:t>Staples holds the largest market share among office supply brands, followed by Office Depot and OfficeMax, while smaller brands capture a minimal share.</a:t>
            </a:r>
          </a:p>
        </p:txBody>
      </p:sp>
      <p:sp>
        <p:nvSpPr>
          <p:cNvPr id="5" name="Content Placeholder 4">
            <a:extLst>
              <a:ext uri="{FF2B5EF4-FFF2-40B4-BE49-F238E27FC236}">
                <a16:creationId xmlns:a16="http://schemas.microsoft.com/office/drawing/2014/main" id="{3C150909-EAA2-DA87-526C-F41084E45EC9}"/>
              </a:ext>
            </a:extLst>
          </p:cNvPr>
          <p:cNvSpPr>
            <a:spLocks noGrp="1"/>
          </p:cNvSpPr>
          <p:nvPr>
            <p:ph sz="half" idx="4294967295"/>
            <p:custDataLst>
              <p:tags r:id="rId5"/>
            </p:custDataLst>
          </p:nvPr>
        </p:nvSpPr>
        <p:spPr>
          <a:xfrm>
            <a:off x="8110728" y="4952999"/>
            <a:ext cx="3657600" cy="1280160"/>
          </a:xfrm>
        </p:spPr>
        <p:txBody>
          <a:bodyPr vert="horz" lIns="0" tIns="45720" rIns="91440" bIns="45720" rtlCol="0">
            <a:normAutofit/>
          </a:bodyPr>
          <a:lstStyle/>
          <a:p>
            <a:pPr marL="11113" indent="0">
              <a:lnSpc>
                <a:spcPct val="114000"/>
              </a:lnSpc>
              <a:buNone/>
            </a:pPr>
            <a:r>
              <a:rPr lang="en-US" sz="1400" dirty="0"/>
              <a:t>Average dwell time varies significantly, with some brands attracting customers for longer visits, indicating differences in in-store engagement strategies.</a:t>
            </a:r>
          </a:p>
        </p:txBody>
      </p:sp>
      <p:sp>
        <p:nvSpPr>
          <p:cNvPr id="12" name="Rectangle 11">
            <a:extLst>
              <a:ext uri="{FF2B5EF4-FFF2-40B4-BE49-F238E27FC236}">
                <a16:creationId xmlns:a16="http://schemas.microsoft.com/office/drawing/2014/main" id="{AD057C64-B6DF-0C32-9BC3-F746E58E9EBF}"/>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graphicFrame>
        <p:nvGraphicFramePr>
          <p:cNvPr id="17" name="Content Placeholder 8">
            <a:extLst>
              <a:ext uri="{FF2B5EF4-FFF2-40B4-BE49-F238E27FC236}">
                <a16:creationId xmlns:a16="http://schemas.microsoft.com/office/drawing/2014/main" id="{B3B94B73-7431-E083-B2D0-3FD2EE655C7F}"/>
              </a:ext>
            </a:extLst>
          </p:cNvPr>
          <p:cNvGraphicFramePr>
            <a:graphicFrameLocks/>
          </p:cNvGraphicFramePr>
          <p:nvPr>
            <p:custDataLst>
              <p:tags r:id="rId7"/>
            </p:custDataLst>
          </p:nvPr>
        </p:nvGraphicFramePr>
        <p:xfrm>
          <a:off x="8110728" y="1903657"/>
          <a:ext cx="3657600" cy="2933699"/>
        </p:xfrm>
        <a:graphic>
          <a:graphicData uri="http://schemas.openxmlformats.org/drawingml/2006/chart">
            <c:chart xmlns:c="http://schemas.openxmlformats.org/drawingml/2006/chart" xmlns:r="http://schemas.openxmlformats.org/officeDocument/2006/relationships" r:id="rId16"/>
          </a:graphicData>
        </a:graphic>
      </p:graphicFrame>
      <p:sp>
        <p:nvSpPr>
          <p:cNvPr id="14" name="TextBox 13">
            <a:extLst>
              <a:ext uri="{FF2B5EF4-FFF2-40B4-BE49-F238E27FC236}">
                <a16:creationId xmlns:a16="http://schemas.microsoft.com/office/drawing/2014/main" id="{B70BD715-DCCD-4AFF-3022-D262DE9A842B}"/>
              </a:ext>
            </a:extLst>
          </p:cNvPr>
          <p:cNvSpPr txBox="1"/>
          <p:nvPr>
            <p:custDataLst>
              <p:tags r:id="rId8"/>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Market Analysis</a:t>
            </a:r>
          </a:p>
        </p:txBody>
      </p:sp>
      <p:sp>
        <p:nvSpPr>
          <p:cNvPr id="26" name="Text Placeholder 5">
            <a:extLst>
              <a:ext uri="{FF2B5EF4-FFF2-40B4-BE49-F238E27FC236}">
                <a16:creationId xmlns:a16="http://schemas.microsoft.com/office/drawing/2014/main" id="{3DBBF6B4-FEE3-5001-9608-1A5A492B51D0}"/>
              </a:ext>
            </a:extLst>
          </p:cNvPr>
          <p:cNvSpPr txBox="1">
            <a:spLocks/>
          </p:cNvSpPr>
          <p:nvPr>
            <p:custDataLst>
              <p:tags r:id="rId9"/>
            </p:custDataLst>
          </p:nvPr>
        </p:nvSpPr>
        <p:spPr>
          <a:xfrm>
            <a:off x="419100" y="1497735"/>
            <a:ext cx="3657600" cy="431905"/>
          </a:xfrm>
          <a:prstGeom prst="rect">
            <a:avLst/>
          </a:prstGeom>
        </p:spPr>
        <p:txBody>
          <a:bodyPr vert="horz" lIns="0" tIns="45720" rIns="91440" bIns="45720" rtlCol="0">
            <a:normAutofit/>
          </a:bodyPr>
          <a:lstStyle>
            <a:defPPr>
              <a:defRPr lang="en-US"/>
            </a:defPPr>
            <a:lvl1pPr marL="11111" indent="0" defTabSz="914354">
              <a:lnSpc>
                <a:spcPct val="110000"/>
              </a:lnSpc>
              <a:spcBef>
                <a:spcPts val="1200"/>
              </a:spcBef>
              <a:buFont typeface="Arial" panose="020B0604020202020204" pitchFamily="34" charset="0"/>
              <a:buNone/>
              <a:tabLst/>
              <a:defRPr b="1">
                <a:latin typeface="+mj-lt"/>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dirty="0"/>
              <a:t>Weekly Visits by Brand (2020-2023)</a:t>
            </a:r>
          </a:p>
        </p:txBody>
      </p:sp>
      <p:sp>
        <p:nvSpPr>
          <p:cNvPr id="27" name="Text Placeholder 6">
            <a:extLst>
              <a:ext uri="{FF2B5EF4-FFF2-40B4-BE49-F238E27FC236}">
                <a16:creationId xmlns:a16="http://schemas.microsoft.com/office/drawing/2014/main" id="{604707C0-D85C-AEDB-E756-B831AE55A2A6}"/>
              </a:ext>
            </a:extLst>
          </p:cNvPr>
          <p:cNvSpPr txBox="1">
            <a:spLocks/>
          </p:cNvSpPr>
          <p:nvPr>
            <p:custDataLst>
              <p:tags r:id="rId10"/>
            </p:custDataLst>
          </p:nvPr>
        </p:nvSpPr>
        <p:spPr>
          <a:xfrm>
            <a:off x="4264914" y="1497735"/>
            <a:ext cx="3657600" cy="431905"/>
          </a:xfrm>
          <a:prstGeom prst="rect">
            <a:avLst/>
          </a:prstGeom>
        </p:spPr>
        <p:txBody>
          <a:bodyPr vert="horz" lIns="0" tIns="45720" rIns="91440" bIns="45720" rtlCol="0">
            <a:normAutofit/>
          </a:bodyPr>
          <a:lstStyle>
            <a:defPPr>
              <a:defRPr lang="en-US"/>
            </a:defPPr>
            <a:lvl1pPr marL="11111" indent="0" defTabSz="914354">
              <a:lnSpc>
                <a:spcPct val="110000"/>
              </a:lnSpc>
              <a:spcBef>
                <a:spcPts val="1200"/>
              </a:spcBef>
              <a:buFont typeface="Arial" panose="020B0604020202020204" pitchFamily="34" charset="0"/>
              <a:buNone/>
              <a:tabLst/>
              <a:defRPr b="1">
                <a:latin typeface="+mj-lt"/>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t>Brand Wise Market Share %</a:t>
            </a:r>
            <a:endParaRPr lang="en-US" dirty="0"/>
          </a:p>
        </p:txBody>
      </p:sp>
      <p:sp>
        <p:nvSpPr>
          <p:cNvPr id="28" name="Text Placeholder 7">
            <a:extLst>
              <a:ext uri="{FF2B5EF4-FFF2-40B4-BE49-F238E27FC236}">
                <a16:creationId xmlns:a16="http://schemas.microsoft.com/office/drawing/2014/main" id="{3DBE3627-64A6-2C72-CFA3-78D493448142}"/>
              </a:ext>
            </a:extLst>
          </p:cNvPr>
          <p:cNvSpPr txBox="1">
            <a:spLocks/>
          </p:cNvSpPr>
          <p:nvPr>
            <p:custDataLst>
              <p:tags r:id="rId11"/>
            </p:custDataLst>
          </p:nvPr>
        </p:nvSpPr>
        <p:spPr>
          <a:xfrm>
            <a:off x="8110728" y="1497735"/>
            <a:ext cx="3657600" cy="431905"/>
          </a:xfrm>
          <a:prstGeom prst="rect">
            <a:avLst/>
          </a:prstGeom>
        </p:spPr>
        <p:txBody>
          <a:bodyPr vert="horz" lIns="0" tIns="45720" rIns="91440" bIns="45720" rtlCol="0">
            <a:normAutofit/>
          </a:bodyPr>
          <a:lstStyle>
            <a:defPPr>
              <a:defRPr lang="en-US"/>
            </a:defPPr>
            <a:lvl1pPr marL="11111" indent="0" defTabSz="914354">
              <a:lnSpc>
                <a:spcPct val="110000"/>
              </a:lnSpc>
              <a:spcBef>
                <a:spcPts val="1200"/>
              </a:spcBef>
              <a:buFont typeface="Arial" panose="020B0604020202020204" pitchFamily="34" charset="0"/>
              <a:buNone/>
              <a:tabLst/>
              <a:defRPr b="1">
                <a:latin typeface="+mj-lt"/>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a:t>Average Dwell Time by Brand</a:t>
            </a:r>
            <a:endParaRPr lang="en-US" dirty="0"/>
          </a:p>
        </p:txBody>
      </p:sp>
      <p:sp>
        <p:nvSpPr>
          <p:cNvPr id="29" name="Content Placeholder 3">
            <a:extLst>
              <a:ext uri="{FF2B5EF4-FFF2-40B4-BE49-F238E27FC236}">
                <a16:creationId xmlns:a16="http://schemas.microsoft.com/office/drawing/2014/main" id="{767E2E4D-D3C4-03AE-624F-27EAB7C134F3}"/>
              </a:ext>
            </a:extLst>
          </p:cNvPr>
          <p:cNvSpPr txBox="1">
            <a:spLocks/>
          </p:cNvSpPr>
          <p:nvPr>
            <p:custDataLst>
              <p:tags r:id="rId12"/>
            </p:custDataLst>
          </p:nvPr>
        </p:nvSpPr>
        <p:spPr>
          <a:xfrm>
            <a:off x="419098" y="4953000"/>
            <a:ext cx="3657600" cy="1280160"/>
          </a:xfrm>
          <a:prstGeom prst="rect">
            <a:avLst/>
          </a:prstGeom>
        </p:spPr>
        <p:txBody>
          <a:bodyPr vert="horz" lIns="0" tIns="45720" rIns="91440" bIns="45720" rtlCol="0">
            <a:normAutofit/>
          </a:bodyPr>
          <a:lstStyle>
            <a:defPPr>
              <a:defRPr lang="en-US"/>
            </a:defPPr>
            <a:lvl1pPr marL="11113" indent="0" defTabSz="914354">
              <a:lnSpc>
                <a:spcPct val="114000"/>
              </a:lnSpc>
              <a:spcBef>
                <a:spcPts val="1200"/>
              </a:spcBef>
              <a:buFont typeface="Arial" panose="020B0604020202020204" pitchFamily="34" charset="0"/>
              <a:buNone/>
              <a:tabLst/>
              <a:defRPr sz="1500">
                <a:solidFill>
                  <a:schemeClr val="tx2"/>
                </a:solidFill>
                <a:cs typeface="Arial" panose="020B0604020202020204" pitchFamily="34" charset="0"/>
              </a:defRPr>
            </a:lvl1pPr>
            <a:lvl2pPr marL="628635"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2pPr>
            <a:lvl3pPr marL="1085824"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3pPr>
            <a:lvl4pPr marL="1543012"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4pPr>
            <a:lvl5pPr marL="2001789" indent="-285744" defTabSz="914354">
              <a:lnSpc>
                <a:spcPct val="150000"/>
              </a:lnSpc>
              <a:spcBef>
                <a:spcPts val="1200"/>
              </a:spcBef>
              <a:buFont typeface="Arial" panose="020B0604020202020204" pitchFamily="34" charset="0"/>
              <a:buChar char="•"/>
              <a:tabLst/>
              <a:defRPr sz="1600">
                <a:cs typeface="Arial" panose="020B0604020202020204" pitchFamily="34" charset="0"/>
              </a:defRPr>
            </a:lvl5pPr>
            <a:lvl6pPr marL="2514474" indent="-228589" defTabSz="914354">
              <a:lnSpc>
                <a:spcPct val="90000"/>
              </a:lnSpc>
              <a:spcBef>
                <a:spcPts val="500"/>
              </a:spcBef>
              <a:buFont typeface="Arial" panose="020B0604020202020204" pitchFamily="34" charset="0"/>
              <a:buChar char="•"/>
            </a:lvl6pPr>
            <a:lvl7pPr marL="2971652" indent="-228589" defTabSz="914354">
              <a:lnSpc>
                <a:spcPct val="90000"/>
              </a:lnSpc>
              <a:spcBef>
                <a:spcPts val="500"/>
              </a:spcBef>
              <a:buFont typeface="Arial" panose="020B0604020202020204" pitchFamily="34" charset="0"/>
              <a:buChar char="•"/>
            </a:lvl7pPr>
            <a:lvl8pPr marL="3428829" indent="-228589" defTabSz="914354">
              <a:lnSpc>
                <a:spcPct val="90000"/>
              </a:lnSpc>
              <a:spcBef>
                <a:spcPts val="500"/>
              </a:spcBef>
              <a:buFont typeface="Arial" panose="020B0604020202020204" pitchFamily="34" charset="0"/>
              <a:buChar char="•"/>
            </a:lvl8pPr>
            <a:lvl9pPr marL="3886006" indent="-228589" defTabSz="914354">
              <a:lnSpc>
                <a:spcPct val="90000"/>
              </a:lnSpc>
              <a:spcBef>
                <a:spcPts val="500"/>
              </a:spcBef>
              <a:buFont typeface="Arial" panose="020B0604020202020204" pitchFamily="34" charset="0"/>
              <a:buChar char="•"/>
            </a:lvl9pPr>
          </a:lstStyle>
          <a:p>
            <a:r>
              <a:rPr lang="en-US" sz="1400" dirty="0">
                <a:solidFill>
                  <a:schemeClr val="tx1"/>
                </a:solidFill>
              </a:rPr>
              <a:t>Staples and Office Depot consistently lead in weekly visits, with a notable decline in overall visits across all brands from 2020 to 2023.</a:t>
            </a:r>
          </a:p>
        </p:txBody>
      </p:sp>
    </p:spTree>
    <p:extLst>
      <p:ext uri="{BB962C8B-B14F-4D97-AF65-F5344CB8AC3E}">
        <p14:creationId xmlns:p14="http://schemas.microsoft.com/office/powerpoint/2010/main" val="2802003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lIns="0">
            <a:normAutofit fontScale="90000"/>
          </a:bodyPr>
          <a:lstStyle/>
          <a:p>
            <a:r>
              <a:rPr lang="en-US" noProof="1"/>
              <a:t>Suburban vs. Urban Office Supply Store Visits During Remote Work Shift</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4294967295"/>
            <p:custDataLst>
              <p:tags r:id="rId2"/>
            </p:custDataLst>
          </p:nvPr>
        </p:nvSpPr>
        <p:spPr>
          <a:xfrm>
            <a:off x="419099" y="1485900"/>
            <a:ext cx="5600700" cy="640080"/>
          </a:xfrm>
        </p:spPr>
        <p:txBody>
          <a:bodyPr vert="horz" lIns="0" tIns="45720" rIns="91440" bIns="45720" rtlCol="0">
            <a:normAutofit/>
          </a:bodyPr>
          <a:lstStyle/>
          <a:p>
            <a:pPr marL="11111" indent="0">
              <a:buNone/>
            </a:pPr>
            <a:r>
              <a:rPr lang="en-US" sz="2000" b="1" noProof="1">
                <a:solidFill>
                  <a:schemeClr val="accent1"/>
                </a:solidFill>
                <a:latin typeface="+mj-lt"/>
              </a:rPr>
              <a:t>Suburban and Urban Shopping Patterns</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4294967295"/>
            <p:custDataLst>
              <p:tags r:id="rId3"/>
            </p:custDataLst>
          </p:nvPr>
        </p:nvSpPr>
        <p:spPr>
          <a:xfrm>
            <a:off x="419099" y="2171700"/>
            <a:ext cx="5600700" cy="4121150"/>
          </a:xfrm>
        </p:spPr>
        <p:txBody>
          <a:bodyPr vert="horz" lIns="0" tIns="45720" rIns="91440" bIns="45720" rtlCol="0" anchor="t">
            <a:normAutofit/>
          </a:bodyPr>
          <a:lstStyle/>
          <a:p>
            <a:pPr marL="407988" indent="-284163">
              <a:lnSpc>
                <a:spcPct val="114000"/>
              </a:lnSpc>
              <a:buClr>
                <a:schemeClr val="accent1"/>
              </a:buClr>
            </a:pPr>
            <a:r>
              <a:rPr lang="en-US" noProof="1"/>
              <a:t>Suburban counties showed the strongest recovery in foot traffic and dwell time at office supply stores.
Staples and Office Depot were key drivers of suburban recovery.
Urban centers had slightly fewer visits but maintained similar dwell times.
Urban shoppers reflected efficient and purpose-driven shopping habits.</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4294967295"/>
            <p:custDataLst>
              <p:tags r:id="rId4"/>
            </p:custDataLst>
          </p:nvPr>
        </p:nvSpPr>
        <p:spPr>
          <a:xfrm>
            <a:off x="6172202" y="1485900"/>
            <a:ext cx="5600700" cy="640080"/>
          </a:xfrm>
        </p:spPr>
        <p:txBody>
          <a:bodyPr vert="horz" lIns="0" tIns="45720" rIns="91440" bIns="45720" rtlCol="0">
            <a:normAutofit/>
          </a:bodyPr>
          <a:lstStyle/>
          <a:p>
            <a:pPr marL="11111" indent="0">
              <a:buNone/>
            </a:pPr>
            <a:r>
              <a:rPr lang="en-US" sz="2000" b="1" noProof="1">
                <a:solidFill>
                  <a:schemeClr val="accent1"/>
                </a:solidFill>
                <a:latin typeface="+mj-lt"/>
              </a:rPr>
              <a:t>Rural Dynamics and Regional Insights</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294967295"/>
            <p:custDataLst>
              <p:tags r:id="rId5"/>
            </p:custDataLst>
          </p:nvPr>
        </p:nvSpPr>
        <p:spPr>
          <a:xfrm>
            <a:off x="6172201" y="2171882"/>
            <a:ext cx="5600699" cy="4117794"/>
          </a:xfrm>
        </p:spPr>
        <p:txBody>
          <a:bodyPr vert="horz" lIns="0" tIns="45720" rIns="91440" bIns="45720" rtlCol="0" anchor="t">
            <a:normAutofit/>
          </a:bodyPr>
          <a:lstStyle/>
          <a:p>
            <a:pPr marL="407988" indent="-284163">
              <a:lnSpc>
                <a:spcPct val="114000"/>
              </a:lnSpc>
              <a:buClr>
                <a:schemeClr val="accent1"/>
              </a:buClr>
            </a:pPr>
            <a:r>
              <a:rPr lang="en-US" noProof="1"/>
              <a:t>Rural areas experienced fewer visits but longer dwell times.
This indicates more deliberate and extended shopping approaches in rural counties.
Los Angeles County was a hotspot for office supply demand.
Significant regional variations highlight the importance of local dynamics in recovery patterns.</a:t>
            </a:r>
          </a:p>
        </p:txBody>
      </p:sp>
      <p:sp>
        <p:nvSpPr>
          <p:cNvPr id="5" name="Rectangle 4">
            <a:extLst>
              <a:ext uri="{FF2B5EF4-FFF2-40B4-BE49-F238E27FC236}">
                <a16:creationId xmlns:a16="http://schemas.microsoft.com/office/drawing/2014/main" id="{054A1649-838B-F2D3-A35B-7C6DB8137E70}"/>
              </a:ext>
            </a:extLst>
          </p:cNvPr>
          <p:cNvSpPr/>
          <p:nvPr>
            <p:custDataLst>
              <p:tags r:id="rId6"/>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6" name="TextBox 5">
            <a:extLst>
              <a:ext uri="{FF2B5EF4-FFF2-40B4-BE49-F238E27FC236}">
                <a16:creationId xmlns:a16="http://schemas.microsoft.com/office/drawing/2014/main" id="{D90B9BA6-3C2D-AC93-3A48-4724EE100410}"/>
              </a:ext>
            </a:extLst>
          </p:cNvPr>
          <p:cNvSpPr txBox="1"/>
          <p:nvPr>
            <p:custDataLst>
              <p:tags r:id="rId7"/>
            </p:custDataLst>
          </p:nvPr>
        </p:nvSpPr>
        <p:spPr>
          <a:xfrm>
            <a:off x="419100" y="250788"/>
            <a:ext cx="3581400" cy="414150"/>
          </a:xfrm>
          <a:prstGeom prst="rect">
            <a:avLst/>
          </a:prstGeom>
          <a:noFill/>
        </p:spPr>
        <p:txBody>
          <a:bodyPr wrap="square" lIns="0">
            <a:spAutoFit/>
          </a:bodyPr>
          <a:lstStyle/>
          <a:p>
            <a:r>
              <a:rPr lang="en-US" sz="1400" noProof="1">
                <a:solidFill>
                  <a:schemeClr val="tx2"/>
                </a:solidFill>
              </a:rPr>
              <a:t>Regional Trends</a:t>
            </a:r>
          </a:p>
        </p:txBody>
      </p:sp>
    </p:spTree>
    <p:extLst>
      <p:ext uri="{BB962C8B-B14F-4D97-AF65-F5344CB8AC3E}">
        <p14:creationId xmlns:p14="http://schemas.microsoft.com/office/powerpoint/2010/main" val="1391649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9">
            <a:extLst>
              <a:ext uri="{FF2B5EF4-FFF2-40B4-BE49-F238E27FC236}">
                <a16:creationId xmlns:a16="http://schemas.microsoft.com/office/drawing/2014/main" id="{608BE3A0-BE77-14CB-86FA-D0F458B771F9}"/>
              </a:ext>
            </a:extLst>
          </p:cNvPr>
          <p:cNvPicPr>
            <a:picLocks/>
          </p:cNvPicPr>
          <p:nvPr>
            <p:custDataLst>
              <p:tags r:id="rId1"/>
            </p:custDataLst>
          </p:nvPr>
        </p:nvPicPr>
        <p:blipFill rotWithShape="1">
          <a:blip r:embed="rId11" cstate="screen">
            <a:extLst>
              <a:ext uri="{28A0092B-C50C-407E-A947-70E740481C1C}">
                <a14:useLocalDpi xmlns:a14="http://schemas.microsoft.com/office/drawing/2010/main"/>
              </a:ext>
            </a:extLst>
          </a:blip>
          <a:srcRect t="11232" b="11232"/>
          <a:stretch/>
        </p:blipFill>
        <p:spPr>
          <a:xfrm>
            <a:off x="4229100" y="228600"/>
            <a:ext cx="3767328" cy="2921000"/>
          </a:xfrm>
          <a:prstGeom prst="roundRect">
            <a:avLst>
              <a:gd name="adj" fmla="val 1699"/>
            </a:avLst>
          </a:prstGeom>
        </p:spPr>
      </p:pic>
      <p:pic>
        <p:nvPicPr>
          <p:cNvPr id="13" name="Picture Placeholder 11">
            <a:extLst>
              <a:ext uri="{FF2B5EF4-FFF2-40B4-BE49-F238E27FC236}">
                <a16:creationId xmlns:a16="http://schemas.microsoft.com/office/drawing/2014/main" id="{0B963D04-033A-6EE8-B335-5642AC7BBBE6}"/>
              </a:ext>
            </a:extLst>
          </p:cNvPr>
          <p:cNvPicPr>
            <a:picLocks/>
          </p:cNvPicPr>
          <p:nvPr>
            <p:custDataLst>
              <p:tags r:id="rId2"/>
            </p:custDataLst>
          </p:nvPr>
        </p:nvPicPr>
        <p:blipFill rotWithShape="1">
          <a:blip r:embed="rId12" cstate="screen">
            <a:extLst>
              <a:ext uri="{28A0092B-C50C-407E-A947-70E740481C1C}">
                <a14:useLocalDpi xmlns:a14="http://schemas.microsoft.com/office/drawing/2010/main"/>
              </a:ext>
            </a:extLst>
          </a:blip>
          <a:srcRect t="11232" b="11232"/>
          <a:stretch/>
        </p:blipFill>
        <p:spPr>
          <a:xfrm>
            <a:off x="4229100" y="3372856"/>
            <a:ext cx="3767328" cy="2921000"/>
          </a:xfrm>
          <a:prstGeom prst="roundRect">
            <a:avLst>
              <a:gd name="adj" fmla="val 1699"/>
            </a:avLst>
          </a:prstGeom>
        </p:spPr>
      </p:pic>
      <p:sp>
        <p:nvSpPr>
          <p:cNvPr id="21" name="Rounded Rectangle 20">
            <a:extLst>
              <a:ext uri="{FF2B5EF4-FFF2-40B4-BE49-F238E27FC236}">
                <a16:creationId xmlns:a16="http://schemas.microsoft.com/office/drawing/2014/main" id="{78200640-6C1F-575B-4462-C9235B657384}"/>
              </a:ext>
            </a:extLst>
          </p:cNvPr>
          <p:cNvSpPr/>
          <p:nvPr/>
        </p:nvSpPr>
        <p:spPr>
          <a:xfrm>
            <a:off x="8191500" y="228600"/>
            <a:ext cx="3767328" cy="2921000"/>
          </a:xfrm>
          <a:prstGeom prst="roundRect">
            <a:avLst>
              <a:gd name="adj" fmla="val 169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22" name="Rounded Rectangle 21">
            <a:extLst>
              <a:ext uri="{FF2B5EF4-FFF2-40B4-BE49-F238E27FC236}">
                <a16:creationId xmlns:a16="http://schemas.microsoft.com/office/drawing/2014/main" id="{C6FE6C97-0D20-8FBE-CF4A-611B41329D6B}"/>
              </a:ext>
            </a:extLst>
          </p:cNvPr>
          <p:cNvSpPr/>
          <p:nvPr/>
        </p:nvSpPr>
        <p:spPr>
          <a:xfrm>
            <a:off x="8191500" y="3372856"/>
            <a:ext cx="3767328" cy="2921000"/>
          </a:xfrm>
          <a:prstGeom prst="roundRect">
            <a:avLst>
              <a:gd name="adj" fmla="val 169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315CEE83-5E94-96A5-29BD-F5364172E762}"/>
              </a:ext>
            </a:extLst>
          </p:cNvPr>
          <p:cNvSpPr txBox="1"/>
          <p:nvPr>
            <p:custDataLst>
              <p:tags r:id="rId3"/>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Brand Analysis</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4"/>
            </p:custDataLst>
          </p:nvPr>
        </p:nvSpPr>
        <p:spPr/>
        <p:txBody>
          <a:bodyPr lIns="0">
            <a:normAutofit/>
          </a:bodyPr>
          <a:lstStyle/>
          <a:p>
            <a:r>
              <a:rPr lang="en-US" noProof="1"/>
              <a:t>Brand Stabilization and Loyalty in Office Supply Retail</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idx="1"/>
            <p:custDataLst>
              <p:tags r:id="rId5"/>
            </p:custDataLst>
          </p:nvPr>
        </p:nvSpPr>
        <p:spPr>
          <a:xfrm>
            <a:off x="8269224" y="868680"/>
            <a:ext cx="3611880" cy="2286000"/>
          </a:xfrm>
        </p:spPr>
        <p:txBody>
          <a:bodyPr vert="horz" lIns="91440" tIns="45720" rIns="91440" bIns="45720" rtlCol="0">
            <a:normAutofit/>
          </a:bodyPr>
          <a:lstStyle/>
          <a:p>
            <a:pPr marL="11113" indent="0">
              <a:lnSpc>
                <a:spcPct val="114000"/>
              </a:lnSpc>
              <a:spcBef>
                <a:spcPts val="1000"/>
              </a:spcBef>
              <a:buNone/>
            </a:pPr>
            <a:r>
              <a:rPr lang="en-US" sz="1400" noProof="1"/>
              <a:t>Staples and Office Depot showed early recovery in visits and dwell times, highlighting strong consumer loyalty. By contrast, Office Depot’s steady recovery contrasted with OfficeMax’s lag, reflecting brand overlap and diluted traffic.</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half" idx="4294967295"/>
            <p:custDataLst>
              <p:tags r:id="rId6"/>
            </p:custDataLst>
          </p:nvPr>
        </p:nvSpPr>
        <p:spPr>
          <a:xfrm>
            <a:off x="8269224" y="4012936"/>
            <a:ext cx="3611880" cy="2286000"/>
          </a:xfrm>
        </p:spPr>
        <p:txBody>
          <a:bodyPr vert="horz" lIns="91440" tIns="45720" rIns="91440" bIns="45720" rtlCol="0">
            <a:normAutofit/>
          </a:bodyPr>
          <a:lstStyle/>
          <a:p>
            <a:pPr marL="11113" indent="0">
              <a:lnSpc>
                <a:spcPct val="114000"/>
              </a:lnSpc>
              <a:spcBef>
                <a:spcPts val="1000"/>
              </a:spcBef>
              <a:buNone/>
            </a:pPr>
            <a:r>
              <a:rPr lang="en-US" sz="1400" noProof="1"/>
              <a:t>Specialty brands had low traffic but high dwell times, indicating deep engagement from niche audiences. Essential status and reliable supply chains influenced consumer behavior and brand trust during reopening.</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7"/>
            </p:custDataLst>
          </p:nvPr>
        </p:nvSpPr>
        <p:spPr>
          <a:xfrm>
            <a:off x="8269224" y="406643"/>
            <a:ext cx="3611880" cy="457200"/>
          </a:xfrm>
        </p:spPr>
        <p:txBody>
          <a:bodyPr vert="horz" lIns="91440" tIns="45720" rIns="91440" bIns="45720" rtlCol="0" anchor="t">
            <a:normAutofit fontScale="85000" lnSpcReduction="10000"/>
          </a:bodyPr>
          <a:lstStyle/>
          <a:p>
            <a:pPr marL="0" indent="0">
              <a:lnSpc>
                <a:spcPct val="100000"/>
              </a:lnSpc>
              <a:buNone/>
            </a:pPr>
            <a:r>
              <a:rPr lang="en-US" b="1" noProof="1">
                <a:latin typeface="+mj-lt"/>
              </a:rPr>
              <a:t>Early Brand Stabilization &amp; Divergent Paths</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idx="4294967295"/>
            <p:custDataLst>
              <p:tags r:id="rId8"/>
            </p:custDataLst>
          </p:nvPr>
        </p:nvSpPr>
        <p:spPr>
          <a:xfrm>
            <a:off x="8269224" y="3549948"/>
            <a:ext cx="3611880" cy="457200"/>
          </a:xfrm>
        </p:spPr>
        <p:txBody>
          <a:bodyPr vert="horz" lIns="91440" tIns="45720" rIns="91440" bIns="45720" rtlCol="0" anchor="t">
            <a:normAutofit/>
          </a:bodyPr>
          <a:lstStyle/>
          <a:p>
            <a:pPr marL="0" indent="0">
              <a:lnSpc>
                <a:spcPct val="100000"/>
              </a:lnSpc>
              <a:buNone/>
            </a:pPr>
            <a:r>
              <a:rPr lang="en-US" b="1" noProof="1">
                <a:latin typeface="+mj-lt"/>
              </a:rPr>
              <a:t>Niche Engagement &amp; Essential Status</a:t>
            </a:r>
          </a:p>
        </p:txBody>
      </p:sp>
      <p:sp>
        <p:nvSpPr>
          <p:cNvPr id="9" name="Rectangle 8">
            <a:extLst>
              <a:ext uri="{FF2B5EF4-FFF2-40B4-BE49-F238E27FC236}">
                <a16:creationId xmlns:a16="http://schemas.microsoft.com/office/drawing/2014/main" id="{4F896AD3-0045-EF0A-CA39-9CB4C30AB43C}"/>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94244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9">
            <a:extLst>
              <a:ext uri="{FF2B5EF4-FFF2-40B4-BE49-F238E27FC236}">
                <a16:creationId xmlns:a16="http://schemas.microsoft.com/office/drawing/2014/main" id="{608BE3A0-BE77-14CB-86FA-D0F458B771F9}"/>
              </a:ext>
            </a:extLst>
          </p:cNvPr>
          <p:cNvPicPr>
            <a:picLocks/>
          </p:cNvPicPr>
          <p:nvPr>
            <p:custDataLst>
              <p:tags r:id="rId1"/>
            </p:custDataLst>
          </p:nvPr>
        </p:nvPicPr>
        <p:blipFill rotWithShape="1">
          <a:blip r:embed="rId11" cstate="screen">
            <a:extLst>
              <a:ext uri="{28A0092B-C50C-407E-A947-70E740481C1C}">
                <a14:useLocalDpi xmlns:a14="http://schemas.microsoft.com/office/drawing/2010/main"/>
              </a:ext>
            </a:extLst>
          </a:blip>
          <a:srcRect t="11232" b="11232"/>
          <a:stretch/>
        </p:blipFill>
        <p:spPr>
          <a:xfrm>
            <a:off x="4229100" y="228600"/>
            <a:ext cx="3767328" cy="2921000"/>
          </a:xfrm>
          <a:prstGeom prst="roundRect">
            <a:avLst>
              <a:gd name="adj" fmla="val 1699"/>
            </a:avLst>
          </a:prstGeom>
        </p:spPr>
      </p:pic>
      <p:pic>
        <p:nvPicPr>
          <p:cNvPr id="13" name="Picture Placeholder 11">
            <a:extLst>
              <a:ext uri="{FF2B5EF4-FFF2-40B4-BE49-F238E27FC236}">
                <a16:creationId xmlns:a16="http://schemas.microsoft.com/office/drawing/2014/main" id="{0B963D04-033A-6EE8-B335-5642AC7BBBE6}"/>
              </a:ext>
            </a:extLst>
          </p:cNvPr>
          <p:cNvPicPr>
            <a:picLocks/>
          </p:cNvPicPr>
          <p:nvPr>
            <p:custDataLst>
              <p:tags r:id="rId2"/>
            </p:custDataLst>
          </p:nvPr>
        </p:nvPicPr>
        <p:blipFill rotWithShape="1">
          <a:blip r:embed="rId12" cstate="screen">
            <a:extLst>
              <a:ext uri="{28A0092B-C50C-407E-A947-70E740481C1C}">
                <a14:useLocalDpi xmlns:a14="http://schemas.microsoft.com/office/drawing/2010/main"/>
              </a:ext>
            </a:extLst>
          </a:blip>
          <a:srcRect t="11232" b="11232"/>
          <a:stretch/>
        </p:blipFill>
        <p:spPr>
          <a:xfrm>
            <a:off x="4229100" y="3372856"/>
            <a:ext cx="3767328" cy="2921000"/>
          </a:xfrm>
          <a:prstGeom prst="roundRect">
            <a:avLst>
              <a:gd name="adj" fmla="val 1699"/>
            </a:avLst>
          </a:prstGeom>
        </p:spPr>
      </p:pic>
      <p:sp>
        <p:nvSpPr>
          <p:cNvPr id="21" name="Rounded Rectangle 20">
            <a:extLst>
              <a:ext uri="{FF2B5EF4-FFF2-40B4-BE49-F238E27FC236}">
                <a16:creationId xmlns:a16="http://schemas.microsoft.com/office/drawing/2014/main" id="{78200640-6C1F-575B-4462-C9235B657384}"/>
              </a:ext>
            </a:extLst>
          </p:cNvPr>
          <p:cNvSpPr/>
          <p:nvPr/>
        </p:nvSpPr>
        <p:spPr>
          <a:xfrm>
            <a:off x="8191500" y="228600"/>
            <a:ext cx="3767328" cy="2921000"/>
          </a:xfrm>
          <a:prstGeom prst="roundRect">
            <a:avLst>
              <a:gd name="adj" fmla="val 169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22" name="Rounded Rectangle 21">
            <a:extLst>
              <a:ext uri="{FF2B5EF4-FFF2-40B4-BE49-F238E27FC236}">
                <a16:creationId xmlns:a16="http://schemas.microsoft.com/office/drawing/2014/main" id="{C6FE6C97-0D20-8FBE-CF4A-611B41329D6B}"/>
              </a:ext>
            </a:extLst>
          </p:cNvPr>
          <p:cNvSpPr/>
          <p:nvPr/>
        </p:nvSpPr>
        <p:spPr>
          <a:xfrm>
            <a:off x="8191500" y="3372856"/>
            <a:ext cx="3767328" cy="2921000"/>
          </a:xfrm>
          <a:prstGeom prst="roundRect">
            <a:avLst>
              <a:gd name="adj" fmla="val 1699"/>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1">
              <a:ln>
                <a:noFill/>
              </a:ln>
              <a:solidFill>
                <a:srgbClr val="FFFFFF"/>
              </a:solidFill>
              <a:effectLs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315CEE83-5E94-96A5-29BD-F5364172E762}"/>
              </a:ext>
            </a:extLst>
          </p:cNvPr>
          <p:cNvSpPr txBox="1"/>
          <p:nvPr>
            <p:custDataLst>
              <p:tags r:id="rId3"/>
            </p:custDataLst>
          </p:nvPr>
        </p:nvSpPr>
        <p:spPr>
          <a:xfrm>
            <a:off x="419100" y="249300"/>
            <a:ext cx="3581400" cy="414150"/>
          </a:xfrm>
          <a:prstGeom prst="rect">
            <a:avLst/>
          </a:prstGeom>
          <a:noFill/>
        </p:spPr>
        <p:txBody>
          <a:bodyPr wrap="square" lIns="0">
            <a:spAutoFit/>
          </a:bodyPr>
          <a:lstStyle/>
          <a:p>
            <a:r>
              <a:rPr lang="en-US" sz="1400" noProof="1">
                <a:solidFill>
                  <a:schemeClr val="tx2"/>
                </a:solidFill>
              </a:rPr>
              <a:t>Insights</a:t>
            </a:r>
          </a:p>
        </p:txBody>
      </p:sp>
      <p:sp>
        <p:nvSpPr>
          <p:cNvPr id="2" name="Title 1">
            <a:extLst>
              <a:ext uri="{FF2B5EF4-FFF2-40B4-BE49-F238E27FC236}">
                <a16:creationId xmlns:a16="http://schemas.microsoft.com/office/drawing/2014/main" id="{EBA6586C-1FA9-6842-68E8-90655E0DB317}"/>
              </a:ext>
            </a:extLst>
          </p:cNvPr>
          <p:cNvSpPr>
            <a:spLocks noGrp="1"/>
          </p:cNvSpPr>
          <p:nvPr>
            <p:ph type="title"/>
            <p:custDataLst>
              <p:tags r:id="rId4"/>
            </p:custDataLst>
          </p:nvPr>
        </p:nvSpPr>
        <p:spPr/>
        <p:txBody>
          <a:bodyPr lIns="0">
            <a:normAutofit/>
          </a:bodyPr>
          <a:lstStyle/>
          <a:p>
            <a:r>
              <a:rPr lang="en-US" noProof="1"/>
              <a:t>Summary of Insights and Implications</a:t>
            </a:r>
          </a:p>
        </p:txBody>
      </p:sp>
      <p:sp>
        <p:nvSpPr>
          <p:cNvPr id="4" name="Content Placeholder 3">
            <a:extLst>
              <a:ext uri="{FF2B5EF4-FFF2-40B4-BE49-F238E27FC236}">
                <a16:creationId xmlns:a16="http://schemas.microsoft.com/office/drawing/2014/main" id="{220817A8-0C99-2773-9EB3-AF980A0543DA}"/>
              </a:ext>
            </a:extLst>
          </p:cNvPr>
          <p:cNvSpPr>
            <a:spLocks noGrp="1"/>
          </p:cNvSpPr>
          <p:nvPr>
            <p:ph idx="1"/>
            <p:custDataLst>
              <p:tags r:id="rId5"/>
            </p:custDataLst>
          </p:nvPr>
        </p:nvSpPr>
        <p:spPr>
          <a:xfrm>
            <a:off x="8269224" y="868680"/>
            <a:ext cx="3611880" cy="2286000"/>
          </a:xfrm>
        </p:spPr>
        <p:txBody>
          <a:bodyPr vert="horz" lIns="91440" tIns="45720" rIns="91440" bIns="45720" rtlCol="0">
            <a:normAutofit/>
          </a:bodyPr>
          <a:lstStyle/>
          <a:p>
            <a:pPr marL="11113" indent="0">
              <a:lnSpc>
                <a:spcPct val="114000"/>
              </a:lnSpc>
              <a:spcBef>
                <a:spcPts val="1000"/>
              </a:spcBef>
              <a:buNone/>
            </a:pPr>
            <a:r>
              <a:rPr lang="en-US" sz="1400" noProof="1"/>
              <a:t>Suburban consumers quickly adapted to remote work, boosting early recovery in office supply retail sectors. Staples and Office Depot led recovery due to essential status and strong customer loyalty.</a:t>
            </a:r>
          </a:p>
        </p:txBody>
      </p:sp>
      <p:sp>
        <p:nvSpPr>
          <p:cNvPr id="6" name="Content Placeholder 5">
            <a:extLst>
              <a:ext uri="{FF2B5EF4-FFF2-40B4-BE49-F238E27FC236}">
                <a16:creationId xmlns:a16="http://schemas.microsoft.com/office/drawing/2014/main" id="{04C6A205-D944-C4A3-0737-C9B40D30FE5E}"/>
              </a:ext>
            </a:extLst>
          </p:cNvPr>
          <p:cNvSpPr>
            <a:spLocks noGrp="1"/>
          </p:cNvSpPr>
          <p:nvPr>
            <p:ph sz="half" idx="4294967295"/>
            <p:custDataLst>
              <p:tags r:id="rId6"/>
            </p:custDataLst>
          </p:nvPr>
        </p:nvSpPr>
        <p:spPr>
          <a:xfrm>
            <a:off x="8269224" y="4012936"/>
            <a:ext cx="3611880" cy="2286000"/>
          </a:xfrm>
        </p:spPr>
        <p:txBody>
          <a:bodyPr vert="horz" lIns="91440" tIns="45720" rIns="91440" bIns="45720" rtlCol="0">
            <a:normAutofit/>
          </a:bodyPr>
          <a:lstStyle/>
          <a:p>
            <a:pPr marL="11113" indent="0">
              <a:lnSpc>
                <a:spcPct val="114000"/>
              </a:lnSpc>
              <a:spcBef>
                <a:spcPts val="1000"/>
              </a:spcBef>
              <a:buNone/>
            </a:pPr>
            <a:r>
              <a:rPr lang="en-US" sz="1400" noProof="1"/>
              <a:t>Education, household makeup, and working-age density shaped consumer shopping behavior. Retailers can tailor store formats and products to meet varied consumer needs in a post-pandemic world.</a:t>
            </a:r>
          </a:p>
        </p:txBody>
      </p:sp>
      <p:sp>
        <p:nvSpPr>
          <p:cNvPr id="3" name="Text Placeholder 2">
            <a:extLst>
              <a:ext uri="{FF2B5EF4-FFF2-40B4-BE49-F238E27FC236}">
                <a16:creationId xmlns:a16="http://schemas.microsoft.com/office/drawing/2014/main" id="{4B515C28-264A-B565-F074-3D37916FC28F}"/>
              </a:ext>
            </a:extLst>
          </p:cNvPr>
          <p:cNvSpPr>
            <a:spLocks noGrp="1"/>
          </p:cNvSpPr>
          <p:nvPr>
            <p:ph type="body" idx="4294967295"/>
            <p:custDataLst>
              <p:tags r:id="rId7"/>
            </p:custDataLst>
          </p:nvPr>
        </p:nvSpPr>
        <p:spPr>
          <a:xfrm>
            <a:off x="8269224" y="406643"/>
            <a:ext cx="3611880" cy="457200"/>
          </a:xfrm>
        </p:spPr>
        <p:txBody>
          <a:bodyPr vert="horz" lIns="91440" tIns="45720" rIns="91440" bIns="45720" rtlCol="0" anchor="t">
            <a:normAutofit fontScale="92500"/>
          </a:bodyPr>
          <a:lstStyle/>
          <a:p>
            <a:pPr marL="0" indent="0">
              <a:lnSpc>
                <a:spcPct val="100000"/>
              </a:lnSpc>
              <a:buNone/>
            </a:pPr>
            <a:r>
              <a:rPr lang="en-US" b="1" noProof="1">
                <a:latin typeface="+mj-lt"/>
              </a:rPr>
              <a:t>Suburban Adaptation &amp; Leading Retailers</a:t>
            </a:r>
          </a:p>
        </p:txBody>
      </p:sp>
      <p:sp>
        <p:nvSpPr>
          <p:cNvPr id="5" name="Text Placeholder 4">
            <a:extLst>
              <a:ext uri="{FF2B5EF4-FFF2-40B4-BE49-F238E27FC236}">
                <a16:creationId xmlns:a16="http://schemas.microsoft.com/office/drawing/2014/main" id="{F8447373-3FA9-37F0-AE75-4F52A99B4525}"/>
              </a:ext>
            </a:extLst>
          </p:cNvPr>
          <p:cNvSpPr>
            <a:spLocks noGrp="1"/>
          </p:cNvSpPr>
          <p:nvPr>
            <p:ph type="body" idx="4294967295"/>
            <p:custDataLst>
              <p:tags r:id="rId8"/>
            </p:custDataLst>
          </p:nvPr>
        </p:nvSpPr>
        <p:spPr>
          <a:xfrm>
            <a:off x="8269224" y="3549948"/>
            <a:ext cx="3611880" cy="457200"/>
          </a:xfrm>
        </p:spPr>
        <p:txBody>
          <a:bodyPr vert="horz" lIns="91440" tIns="45720" rIns="91440" bIns="45720" rtlCol="0" anchor="t">
            <a:normAutofit fontScale="92500"/>
          </a:bodyPr>
          <a:lstStyle/>
          <a:p>
            <a:pPr marL="0" indent="0">
              <a:lnSpc>
                <a:spcPct val="100000"/>
              </a:lnSpc>
              <a:buNone/>
            </a:pPr>
            <a:r>
              <a:rPr lang="en-US" b="1" noProof="1">
                <a:latin typeface="+mj-lt"/>
              </a:rPr>
              <a:t>Demographic Influence &amp; Retail Strategy</a:t>
            </a:r>
          </a:p>
        </p:txBody>
      </p:sp>
      <p:sp>
        <p:nvSpPr>
          <p:cNvPr id="9" name="Rectangle 8">
            <a:extLst>
              <a:ext uri="{FF2B5EF4-FFF2-40B4-BE49-F238E27FC236}">
                <a16:creationId xmlns:a16="http://schemas.microsoft.com/office/drawing/2014/main" id="{4F896AD3-0045-EF0A-CA39-9CB4C30AB43C}"/>
              </a:ext>
            </a:extLst>
          </p:cNvPr>
          <p:cNvSpPr/>
          <p:nvPr>
            <p:custDataLst>
              <p:tags r:id="rId9"/>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942445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d1e65e54-753c-4368-946b-ddb430583b0d"/>
</p:tagLst>
</file>

<file path=ppt/tags/tag2.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3.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5.xml><?xml version="1.0" encoding="utf-8"?>
<p:tagLst xmlns:a="http://schemas.openxmlformats.org/drawingml/2006/main" xmlns:r="http://schemas.openxmlformats.org/officeDocument/2006/relationships" xmlns:p="http://schemas.openxmlformats.org/presentationml/2006/main">
  <p:tag name="PLUS_ID" val="logo"/>
</p:tagLst>
</file>

<file path=ppt/tags/tag6.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7.xml><?xml version="1.0" encoding="utf-8"?>
<p:tagLst xmlns:a="http://schemas.openxmlformats.org/drawingml/2006/main" xmlns:r="http://schemas.openxmlformats.org/officeDocument/2006/relationships" xmlns:p="http://schemas.openxmlformats.org/presentationml/2006/main">
  <p:tag name="PLUS_ID" val="image"/>
</p:tagLst>
</file>

<file path=ppt/tags/tag8.xml><?xml version="1.0" encoding="utf-8"?>
<p:tagLst xmlns:a="http://schemas.openxmlformats.org/drawingml/2006/main" xmlns:r="http://schemas.openxmlformats.org/officeDocument/2006/relationships" xmlns:p="http://schemas.openxmlformats.org/presentationml/2006/main">
  <p:tag name="PLUS_ID" val="title_static"/>
</p:tagLst>
</file>

<file path=ppt/tags/tag9.xml><?xml version="1.0" encoding="utf-8"?>
<p:tagLst xmlns:a="http://schemas.openxmlformats.org/drawingml/2006/main" xmlns:r="http://schemas.openxmlformats.org/officeDocument/2006/relationships" xmlns:p="http://schemas.openxmlformats.org/presentationml/2006/main">
  <p:tag name="PLUS_ID" val="agenda"/>
  <p:tag name="PLUS_THEME" val="font_0"/>
</p:tagLst>
</file>

<file path=ppt/tags/tag10.xml><?xml version="1.0" encoding="utf-8"?>
<p:tagLst xmlns:a="http://schemas.openxmlformats.org/drawingml/2006/main" xmlns:r="http://schemas.openxmlformats.org/officeDocument/2006/relationships" xmlns:p="http://schemas.openxmlformats.org/presentationml/2006/main">
  <p:tag name="PLUS_ID" val="logo"/>
</p:tagLst>
</file>

<file path=ppt/tags/tag11.xml><?xml version="1.0" encoding="utf-8"?>
<p:tagLst xmlns:a="http://schemas.openxmlformats.org/drawingml/2006/main" xmlns:r="http://schemas.openxmlformats.org/officeDocument/2006/relationships" xmlns:p="http://schemas.openxmlformats.org/presentationml/2006/main">
  <p:tag name="PLUS_ID" val="chapter"/>
</p:tagLst>
</file>

<file path=ppt/tags/tag12.xml><?xml version="1.0" encoding="utf-8"?>
<p:tagLst xmlns:a="http://schemas.openxmlformats.org/drawingml/2006/main" xmlns:r="http://schemas.openxmlformats.org/officeDocument/2006/relationships" xmlns:p="http://schemas.openxmlformats.org/presentationml/2006/main">
  <p:tag name="PLUS_ID" val="title"/>
</p:tagLst>
</file>

<file path=ppt/tags/tag13.xml><?xml version="1.0" encoding="utf-8"?>
<p:tagLst xmlns:a="http://schemas.openxmlformats.org/drawingml/2006/main" xmlns:r="http://schemas.openxmlformats.org/officeDocument/2006/relationships" xmlns:p="http://schemas.openxmlformats.org/presentationml/2006/main">
  <p:tag name="PLUS_ID" val="detail_0"/>
</p:tagLst>
</file>

<file path=ppt/tags/tag14.xml><?xml version="1.0" encoding="utf-8"?>
<p:tagLst xmlns:a="http://schemas.openxmlformats.org/drawingml/2006/main" xmlns:r="http://schemas.openxmlformats.org/officeDocument/2006/relationships" xmlns:p="http://schemas.openxmlformats.org/presentationml/2006/main">
  <p:tag name="PLUS_ID" val="detail_1"/>
</p:tagLst>
</file>

<file path=ppt/tags/tag15.xml><?xml version="1.0" encoding="utf-8"?>
<p:tagLst xmlns:a="http://schemas.openxmlformats.org/drawingml/2006/main" xmlns:r="http://schemas.openxmlformats.org/officeDocument/2006/relationships" xmlns:p="http://schemas.openxmlformats.org/presentationml/2006/main">
  <p:tag name="PLUS_ID" val="detail_2"/>
</p:tagLst>
</file>

<file path=ppt/tags/tag16.xml><?xml version="1.0" encoding="utf-8"?>
<p:tagLst xmlns:a="http://schemas.openxmlformats.org/drawingml/2006/main" xmlns:r="http://schemas.openxmlformats.org/officeDocument/2006/relationships" xmlns:p="http://schemas.openxmlformats.org/presentationml/2006/main">
  <p:tag name="PLUS_ID" val="header_0"/>
</p:tagLst>
</file>

<file path=ppt/tags/tag17.xml><?xml version="1.0" encoding="utf-8"?>
<p:tagLst xmlns:a="http://schemas.openxmlformats.org/drawingml/2006/main" xmlns:r="http://schemas.openxmlformats.org/officeDocument/2006/relationships" xmlns:p="http://schemas.openxmlformats.org/presentationml/2006/main">
  <p:tag name="PLUS_ID" val="header_1"/>
</p:tagLst>
</file>

<file path=ppt/tags/tag18.xml><?xml version="1.0" encoding="utf-8"?>
<p:tagLst xmlns:a="http://schemas.openxmlformats.org/drawingml/2006/main" xmlns:r="http://schemas.openxmlformats.org/officeDocument/2006/relationships" xmlns:p="http://schemas.openxmlformats.org/presentationml/2006/main">
  <p:tag name="PLUS_ID" val="header_2"/>
</p:tagLst>
</file>

<file path=ppt/tags/tag19.xml><?xml version="1.0" encoding="utf-8"?>
<p:tagLst xmlns:a="http://schemas.openxmlformats.org/drawingml/2006/main" xmlns:r="http://schemas.openxmlformats.org/officeDocument/2006/relationships" xmlns:p="http://schemas.openxmlformats.org/presentationml/2006/main">
  <p:tag name="PLUS_ID" val="logo"/>
</p:tagLst>
</file>

<file path=ppt/tags/tag20.xml><?xml version="1.0" encoding="utf-8"?>
<p:tagLst xmlns:a="http://schemas.openxmlformats.org/drawingml/2006/main" xmlns:r="http://schemas.openxmlformats.org/officeDocument/2006/relationships" xmlns:p="http://schemas.openxmlformats.org/presentationml/2006/main">
  <p:tag name="PLUS_ID" val="tip_wrapper"/>
</p:tagLst>
</file>

<file path=ppt/tags/tag21.xml><?xml version="1.0" encoding="utf-8"?>
<p:tagLst xmlns:a="http://schemas.openxmlformats.org/drawingml/2006/main" xmlns:r="http://schemas.openxmlformats.org/officeDocument/2006/relationships" xmlns:p="http://schemas.openxmlformats.org/presentationml/2006/main">
  <p:tag name="PLUS_ID" val="plus_tip"/>
</p:tagLst>
</file>

<file path=ppt/tags/tag22.xml><?xml version="1.0" encoding="utf-8"?>
<p:tagLst xmlns:a="http://schemas.openxmlformats.org/drawingml/2006/main" xmlns:r="http://schemas.openxmlformats.org/officeDocument/2006/relationships" xmlns:p="http://schemas.openxmlformats.org/presentationml/2006/main">
  <p:tag name="PLUS_ID" val="image"/>
</p:tagLst>
</file>

<file path=ppt/tags/tag23.xml><?xml version="1.0" encoding="utf-8"?>
<p:tagLst xmlns:a="http://schemas.openxmlformats.org/drawingml/2006/main" xmlns:r="http://schemas.openxmlformats.org/officeDocument/2006/relationships" xmlns:p="http://schemas.openxmlformats.org/presentationml/2006/main">
  <p:tag name="PLUS_ID" val="chapter"/>
</p:tagLst>
</file>

<file path=ppt/tags/tag24.xml><?xml version="1.0" encoding="utf-8"?>
<p:tagLst xmlns:a="http://schemas.openxmlformats.org/drawingml/2006/main" xmlns:r="http://schemas.openxmlformats.org/officeDocument/2006/relationships" xmlns:p="http://schemas.openxmlformats.org/presentationml/2006/main">
  <p:tag name="PLUS_ID" val="title"/>
</p:tagLst>
</file>

<file path=ppt/tags/tag25.xml><?xml version="1.0" encoding="utf-8"?>
<p:tagLst xmlns:a="http://schemas.openxmlformats.org/drawingml/2006/main" xmlns:r="http://schemas.openxmlformats.org/officeDocument/2006/relationships" xmlns:p="http://schemas.openxmlformats.org/presentationml/2006/main">
  <p:tag name="PLUS_ID" val="logo"/>
</p:tagLst>
</file>

<file path=ppt/tags/tag26.xml><?xml version="1.0" encoding="utf-8"?>
<p:tagLst xmlns:a="http://schemas.openxmlformats.org/drawingml/2006/main" xmlns:r="http://schemas.openxmlformats.org/officeDocument/2006/relationships" xmlns:p="http://schemas.openxmlformats.org/presentationml/2006/main">
  <p:tag name="PLUS_ID" val="tip_wrapper"/>
</p:tagLst>
</file>

<file path=ppt/tags/tag27.xml><?xml version="1.0" encoding="utf-8"?>
<p:tagLst xmlns:a="http://schemas.openxmlformats.org/drawingml/2006/main" xmlns:r="http://schemas.openxmlformats.org/officeDocument/2006/relationships" xmlns:p="http://schemas.openxmlformats.org/presentationml/2006/main">
  <p:tag name="PLUS_ID" val="plus_tip"/>
</p:tagLst>
</file>

<file path=ppt/tags/tag28.xml><?xml version="1.0" encoding="utf-8"?>
<p:tagLst xmlns:a="http://schemas.openxmlformats.org/drawingml/2006/main" xmlns:r="http://schemas.openxmlformats.org/officeDocument/2006/relationships" xmlns:p="http://schemas.openxmlformats.org/presentationml/2006/main">
  <p:tag name="PLUS_ID" val="detail_0"/>
</p:tagLst>
</file>

<file path=ppt/tags/tag29.xml><?xml version="1.0" encoding="utf-8"?>
<p:tagLst xmlns:a="http://schemas.openxmlformats.org/drawingml/2006/main" xmlns:r="http://schemas.openxmlformats.org/officeDocument/2006/relationships" xmlns:p="http://schemas.openxmlformats.org/presentationml/2006/main">
  <p:tag name="PLUS_ID" val="detail_1"/>
</p:tagLst>
</file>

<file path=ppt/tags/tag30.xml><?xml version="1.0" encoding="utf-8"?>
<p:tagLst xmlns:a="http://schemas.openxmlformats.org/drawingml/2006/main" xmlns:r="http://schemas.openxmlformats.org/officeDocument/2006/relationships" xmlns:p="http://schemas.openxmlformats.org/presentationml/2006/main">
  <p:tag name="PLUS_ID" val="detail_2"/>
</p:tagLst>
</file>

<file path=ppt/tags/tag31.xml><?xml version="1.0" encoding="utf-8"?>
<p:tagLst xmlns:a="http://schemas.openxmlformats.org/drawingml/2006/main" xmlns:r="http://schemas.openxmlformats.org/officeDocument/2006/relationships" xmlns:p="http://schemas.openxmlformats.org/presentationml/2006/main">
  <p:tag name="PLUS_ID" val="header_0"/>
</p:tagLst>
</file>

<file path=ppt/tags/tag32.xml><?xml version="1.0" encoding="utf-8"?>
<p:tagLst xmlns:a="http://schemas.openxmlformats.org/drawingml/2006/main" xmlns:r="http://schemas.openxmlformats.org/officeDocument/2006/relationships" xmlns:p="http://schemas.openxmlformats.org/presentationml/2006/main">
  <p:tag name="PLUS_ID" val="header_1"/>
</p:tagLst>
</file>

<file path=ppt/tags/tag33.xml><?xml version="1.0" encoding="utf-8"?>
<p:tagLst xmlns:a="http://schemas.openxmlformats.org/drawingml/2006/main" xmlns:r="http://schemas.openxmlformats.org/officeDocument/2006/relationships" xmlns:p="http://schemas.openxmlformats.org/presentationml/2006/main">
  <p:tag name="PLUS_ID" val="header_2"/>
</p:tagLst>
</file>

<file path=ppt/tags/tag34.xml><?xml version="1.0" encoding="utf-8"?>
<p:tagLst xmlns:a="http://schemas.openxmlformats.org/drawingml/2006/main" xmlns:r="http://schemas.openxmlformats.org/officeDocument/2006/relationships" xmlns:p="http://schemas.openxmlformats.org/presentationml/2006/main">
  <p:tag name="PLUS_ID" val="detail_3"/>
</p:tagLst>
</file>

<file path=ppt/tags/tag35.xml><?xml version="1.0" encoding="utf-8"?>
<p:tagLst xmlns:a="http://schemas.openxmlformats.org/drawingml/2006/main" xmlns:r="http://schemas.openxmlformats.org/officeDocument/2006/relationships" xmlns:p="http://schemas.openxmlformats.org/presentationml/2006/main">
  <p:tag name="PLUS_ID" val="header_3"/>
</p:tagLst>
</file>

<file path=ppt/tags/tag36.xml><?xml version="1.0" encoding="utf-8"?>
<p:tagLst xmlns:a="http://schemas.openxmlformats.org/drawingml/2006/main" xmlns:r="http://schemas.openxmlformats.org/officeDocument/2006/relationships" xmlns:p="http://schemas.openxmlformats.org/presentationml/2006/main">
  <p:tag name="PLUS_ID" val="chapter"/>
</p:tagLst>
</file>

<file path=ppt/tags/tag37.xml><?xml version="1.0" encoding="utf-8"?>
<p:tagLst xmlns:a="http://schemas.openxmlformats.org/drawingml/2006/main" xmlns:r="http://schemas.openxmlformats.org/officeDocument/2006/relationships" xmlns:p="http://schemas.openxmlformats.org/presentationml/2006/main">
  <p:tag name="PLUS_ID" val="title"/>
</p:tagLst>
</file>

<file path=ppt/tags/tag38.xml><?xml version="1.0" encoding="utf-8"?>
<p:tagLst xmlns:a="http://schemas.openxmlformats.org/drawingml/2006/main" xmlns:r="http://schemas.openxmlformats.org/officeDocument/2006/relationships" xmlns:p="http://schemas.openxmlformats.org/presentationml/2006/main">
  <p:tag name="PLUS_ID" val="logo"/>
</p:tagLst>
</file>

<file path=ppt/tags/tag39.xml><?xml version="1.0" encoding="utf-8"?>
<p:tagLst xmlns:a="http://schemas.openxmlformats.org/drawingml/2006/main" xmlns:r="http://schemas.openxmlformats.org/officeDocument/2006/relationships" xmlns:p="http://schemas.openxmlformats.org/presentationml/2006/main">
  <p:tag name="PLUS_ID" val="detail_0"/>
</p:tagLst>
</file>

<file path=ppt/tags/tag40.xml><?xml version="1.0" encoding="utf-8"?>
<p:tagLst xmlns:a="http://schemas.openxmlformats.org/drawingml/2006/main" xmlns:r="http://schemas.openxmlformats.org/officeDocument/2006/relationships" xmlns:p="http://schemas.openxmlformats.org/presentationml/2006/main">
  <p:tag name="PLUS_ID" val="detail_1"/>
</p:tagLst>
</file>

<file path=ppt/tags/tag41.xml><?xml version="1.0" encoding="utf-8"?>
<p:tagLst xmlns:a="http://schemas.openxmlformats.org/drawingml/2006/main" xmlns:r="http://schemas.openxmlformats.org/officeDocument/2006/relationships" xmlns:p="http://schemas.openxmlformats.org/presentationml/2006/main">
  <p:tag name="PLUS_ID" val="detail_2"/>
</p:tagLst>
</file>

<file path=ppt/tags/tag42.xml><?xml version="1.0" encoding="utf-8"?>
<p:tagLst xmlns:a="http://schemas.openxmlformats.org/drawingml/2006/main" xmlns:r="http://schemas.openxmlformats.org/officeDocument/2006/relationships" xmlns:p="http://schemas.openxmlformats.org/presentationml/2006/main">
  <p:tag name="PLUS_ID" val="header_1"/>
</p:tagLst>
</file>

<file path=ppt/tags/tag43.xml><?xml version="1.0" encoding="utf-8"?>
<p:tagLst xmlns:a="http://schemas.openxmlformats.org/drawingml/2006/main" xmlns:r="http://schemas.openxmlformats.org/officeDocument/2006/relationships" xmlns:p="http://schemas.openxmlformats.org/presentationml/2006/main">
  <p:tag name="PLUS_ID" val="header_2"/>
</p:tagLst>
</file>

<file path=ppt/tags/tag44.xml><?xml version="1.0" encoding="utf-8"?>
<p:tagLst xmlns:a="http://schemas.openxmlformats.org/drawingml/2006/main" xmlns:r="http://schemas.openxmlformats.org/officeDocument/2006/relationships" xmlns:p="http://schemas.openxmlformats.org/presentationml/2006/main">
  <p:tag name="PLUS_ID" val="detail_3"/>
</p:tagLst>
</file>

<file path=ppt/tags/tag45.xml><?xml version="1.0" encoding="utf-8"?>
<p:tagLst xmlns:a="http://schemas.openxmlformats.org/drawingml/2006/main" xmlns:r="http://schemas.openxmlformats.org/officeDocument/2006/relationships" xmlns:p="http://schemas.openxmlformats.org/presentationml/2006/main">
  <p:tag name="PLUS_ID" val="header_3"/>
</p:tagLst>
</file>

<file path=ppt/tags/tag46.xml><?xml version="1.0" encoding="utf-8"?>
<p:tagLst xmlns:a="http://schemas.openxmlformats.org/drawingml/2006/main" xmlns:r="http://schemas.openxmlformats.org/officeDocument/2006/relationships" xmlns:p="http://schemas.openxmlformats.org/presentationml/2006/main">
  <p:tag name="PLUS_ID" val="detail_4"/>
</p:tagLst>
</file>

<file path=ppt/tags/tag47.xml><?xml version="1.0" encoding="utf-8"?>
<p:tagLst xmlns:a="http://schemas.openxmlformats.org/drawingml/2006/main" xmlns:r="http://schemas.openxmlformats.org/officeDocument/2006/relationships" xmlns:p="http://schemas.openxmlformats.org/presentationml/2006/main">
  <p:tag name="PLUS_ID" val="header_4"/>
</p:tagLst>
</file>

<file path=ppt/tags/tag48.xml><?xml version="1.0" encoding="utf-8"?>
<p:tagLst xmlns:a="http://schemas.openxmlformats.org/drawingml/2006/main" xmlns:r="http://schemas.openxmlformats.org/officeDocument/2006/relationships" xmlns:p="http://schemas.openxmlformats.org/presentationml/2006/main">
  <p:tag name="PLUS_ID" val="header_0"/>
</p:tagLst>
</file>

<file path=ppt/tags/tag49.xml><?xml version="1.0" encoding="utf-8"?>
<p:tagLst xmlns:a="http://schemas.openxmlformats.org/drawingml/2006/main" xmlns:r="http://schemas.openxmlformats.org/officeDocument/2006/relationships" xmlns:p="http://schemas.openxmlformats.org/presentationml/2006/main">
  <p:tag name="PLUS_ID" val="chapter"/>
</p:tagLst>
</file>

<file path=ppt/tags/tag50.xml><?xml version="1.0" encoding="utf-8"?>
<p:tagLst xmlns:a="http://schemas.openxmlformats.org/drawingml/2006/main" xmlns:r="http://schemas.openxmlformats.org/officeDocument/2006/relationships" xmlns:p="http://schemas.openxmlformats.org/presentationml/2006/main">
  <p:tag name="PLUS_ID" val="title"/>
</p:tagLst>
</file>

<file path=ppt/tags/tag51.xml><?xml version="1.0" encoding="utf-8"?>
<p:tagLst xmlns:a="http://schemas.openxmlformats.org/drawingml/2006/main" xmlns:r="http://schemas.openxmlformats.org/officeDocument/2006/relationships" xmlns:p="http://schemas.openxmlformats.org/presentationml/2006/main">
  <p:tag name="PLUS_ID" val="logo"/>
</p:tagLst>
</file>

<file path=ppt/tags/tag52.xml><?xml version="1.0" encoding="utf-8"?>
<p:tagLst xmlns:a="http://schemas.openxmlformats.org/drawingml/2006/main" xmlns:r="http://schemas.openxmlformats.org/officeDocument/2006/relationships" xmlns:p="http://schemas.openxmlformats.org/presentationml/2006/main">
  <p:tag name="PLUS_ID" val="tip_wrapper"/>
</p:tagLst>
</file>

<file path=ppt/tags/tag53.xml><?xml version="1.0" encoding="utf-8"?>
<p:tagLst xmlns:a="http://schemas.openxmlformats.org/drawingml/2006/main" xmlns:r="http://schemas.openxmlformats.org/officeDocument/2006/relationships" xmlns:p="http://schemas.openxmlformats.org/presentationml/2006/main">
  <p:tag name="PLUS_ID" val="plus_tip"/>
</p:tagLst>
</file>

<file path=ppt/tags/tag54.xml><?xml version="1.0" encoding="utf-8"?>
<p:tagLst xmlns:a="http://schemas.openxmlformats.org/drawingml/2006/main" xmlns:r="http://schemas.openxmlformats.org/officeDocument/2006/relationships" xmlns:p="http://schemas.openxmlformats.org/presentationml/2006/main">
  <p:tag name="PLUS_ID" val="detail_3"/>
</p:tagLst>
</file>

<file path=ppt/tags/tag55.xml><?xml version="1.0" encoding="utf-8"?>
<p:tagLst xmlns:a="http://schemas.openxmlformats.org/drawingml/2006/main" xmlns:r="http://schemas.openxmlformats.org/officeDocument/2006/relationships" xmlns:p="http://schemas.openxmlformats.org/presentationml/2006/main">
  <p:tag name="PLUS_ID" val="detail_1"/>
</p:tagLst>
</file>

<file path=ppt/tags/tag56.xml><?xml version="1.0" encoding="utf-8"?>
<p:tagLst xmlns:a="http://schemas.openxmlformats.org/drawingml/2006/main" xmlns:r="http://schemas.openxmlformats.org/officeDocument/2006/relationships" xmlns:p="http://schemas.openxmlformats.org/presentationml/2006/main">
  <p:tag name="PLUS_ID" val="detail_4"/>
</p:tagLst>
</file>

<file path=ppt/tags/tag57.xml><?xml version="1.0" encoding="utf-8"?>
<p:tagLst xmlns:a="http://schemas.openxmlformats.org/drawingml/2006/main" xmlns:r="http://schemas.openxmlformats.org/officeDocument/2006/relationships" xmlns:p="http://schemas.openxmlformats.org/presentationml/2006/main">
  <p:tag name="PLUS_ID" val="detail_2"/>
</p:tagLst>
</file>

<file path=ppt/tags/tag58.xml><?xml version="1.0" encoding="utf-8"?>
<p:tagLst xmlns:a="http://schemas.openxmlformats.org/drawingml/2006/main" xmlns:r="http://schemas.openxmlformats.org/officeDocument/2006/relationships" xmlns:p="http://schemas.openxmlformats.org/presentationml/2006/main">
  <p:tag name="PLUS_ID" val="detail_5"/>
</p:tagLst>
</file>

<file path=ppt/tags/tag59.xml><?xml version="1.0" encoding="utf-8"?>
<p:tagLst xmlns:a="http://schemas.openxmlformats.org/drawingml/2006/main" xmlns:r="http://schemas.openxmlformats.org/officeDocument/2006/relationships" xmlns:p="http://schemas.openxmlformats.org/presentationml/2006/main">
  <p:tag name="PLUS_ID" val="header_1"/>
</p:tagLst>
</file>

<file path=ppt/tags/tag60.xml><?xml version="1.0" encoding="utf-8"?>
<p:tagLst xmlns:a="http://schemas.openxmlformats.org/drawingml/2006/main" xmlns:r="http://schemas.openxmlformats.org/officeDocument/2006/relationships" xmlns:p="http://schemas.openxmlformats.org/presentationml/2006/main">
  <p:tag name="PLUS_ID" val="header_2"/>
</p:tagLst>
</file>

<file path=ppt/tags/tag61.xml><?xml version="1.0" encoding="utf-8"?>
<p:tagLst xmlns:a="http://schemas.openxmlformats.org/drawingml/2006/main" xmlns:r="http://schemas.openxmlformats.org/officeDocument/2006/relationships" xmlns:p="http://schemas.openxmlformats.org/presentationml/2006/main">
  <p:tag name="PLUS_ID" val="header_5"/>
</p:tagLst>
</file>

<file path=ppt/tags/tag62.xml><?xml version="1.0" encoding="utf-8"?>
<p:tagLst xmlns:a="http://schemas.openxmlformats.org/drawingml/2006/main" xmlns:r="http://schemas.openxmlformats.org/officeDocument/2006/relationships" xmlns:p="http://schemas.openxmlformats.org/presentationml/2006/main">
  <p:tag name="PLUS_ID" val="header_4"/>
</p:tagLst>
</file>

<file path=ppt/tags/tag63.xml><?xml version="1.0" encoding="utf-8"?>
<p:tagLst xmlns:a="http://schemas.openxmlformats.org/drawingml/2006/main" xmlns:r="http://schemas.openxmlformats.org/officeDocument/2006/relationships" xmlns:p="http://schemas.openxmlformats.org/presentationml/2006/main">
  <p:tag name="PLUS_ID" val="header_3"/>
</p:tagLst>
</file>

<file path=ppt/tags/tag64.xml><?xml version="1.0" encoding="utf-8"?>
<p:tagLst xmlns:a="http://schemas.openxmlformats.org/drawingml/2006/main" xmlns:r="http://schemas.openxmlformats.org/officeDocument/2006/relationships" xmlns:p="http://schemas.openxmlformats.org/presentationml/2006/main">
  <p:tag name="PLUS_ID" val="detail_0"/>
</p:tagLst>
</file>

<file path=ppt/tags/tag65.xml><?xml version="1.0" encoding="utf-8"?>
<p:tagLst xmlns:a="http://schemas.openxmlformats.org/drawingml/2006/main" xmlns:r="http://schemas.openxmlformats.org/officeDocument/2006/relationships" xmlns:p="http://schemas.openxmlformats.org/presentationml/2006/main">
  <p:tag name="PLUS_ID" val="header_0"/>
</p:tagLst>
</file>

<file path=ppt/tags/tag66.xml><?xml version="1.0" encoding="utf-8"?>
<p:tagLst xmlns:a="http://schemas.openxmlformats.org/drawingml/2006/main" xmlns:r="http://schemas.openxmlformats.org/officeDocument/2006/relationships" xmlns:p="http://schemas.openxmlformats.org/presentationml/2006/main">
  <p:tag name="PLUS_ID" val="chapter"/>
</p:tagLst>
</file>

<file path=ppt/tags/tag67.xml><?xml version="1.0" encoding="utf-8"?>
<p:tagLst xmlns:a="http://schemas.openxmlformats.org/drawingml/2006/main" xmlns:r="http://schemas.openxmlformats.org/officeDocument/2006/relationships" xmlns:p="http://schemas.openxmlformats.org/presentationml/2006/main">
  <p:tag name="PLUS_ID" val="title"/>
</p:tagLst>
</file>

<file path=ppt/tags/tag68.xml><?xml version="1.0" encoding="utf-8"?>
<p:tagLst xmlns:a="http://schemas.openxmlformats.org/drawingml/2006/main" xmlns:r="http://schemas.openxmlformats.org/officeDocument/2006/relationships" xmlns:p="http://schemas.openxmlformats.org/presentationml/2006/main">
  <p:tag name="PLUS_ID" val="header_0"/>
</p:tagLst>
</file>

<file path=ppt/tags/tag69.xml><?xml version="1.0" encoding="utf-8"?>
<p:tagLst xmlns:a="http://schemas.openxmlformats.org/drawingml/2006/main" xmlns:r="http://schemas.openxmlformats.org/officeDocument/2006/relationships" xmlns:p="http://schemas.openxmlformats.org/presentationml/2006/main">
  <p:tag name="PLUS_ID" val="detail_0"/>
</p:tagLst>
</file>

<file path=ppt/tags/tag70.xml><?xml version="1.0" encoding="utf-8"?>
<p:tagLst xmlns:a="http://schemas.openxmlformats.org/drawingml/2006/main" xmlns:r="http://schemas.openxmlformats.org/officeDocument/2006/relationships" xmlns:p="http://schemas.openxmlformats.org/presentationml/2006/main">
  <p:tag name="PLUS_ID" val="header_1"/>
</p:tagLst>
</file>

<file path=ppt/tags/tag71.xml><?xml version="1.0" encoding="utf-8"?>
<p:tagLst xmlns:a="http://schemas.openxmlformats.org/drawingml/2006/main" xmlns:r="http://schemas.openxmlformats.org/officeDocument/2006/relationships" xmlns:p="http://schemas.openxmlformats.org/presentationml/2006/main">
  <p:tag name="PLUS_ID" val="detail_1"/>
</p:tagLst>
</file>

<file path=ppt/tags/tag72.xml><?xml version="1.0" encoding="utf-8"?>
<p:tagLst xmlns:a="http://schemas.openxmlformats.org/drawingml/2006/main" xmlns:r="http://schemas.openxmlformats.org/officeDocument/2006/relationships" xmlns:p="http://schemas.openxmlformats.org/presentationml/2006/main">
  <p:tag name="PLUS_ID" val="image_0"/>
</p:tagLst>
</file>

<file path=ppt/tags/tag73.xml><?xml version="1.0" encoding="utf-8"?>
<p:tagLst xmlns:a="http://schemas.openxmlformats.org/drawingml/2006/main" xmlns:r="http://schemas.openxmlformats.org/officeDocument/2006/relationships" xmlns:p="http://schemas.openxmlformats.org/presentationml/2006/main">
  <p:tag name="PLUS_ID" val="image_1"/>
</p:tagLst>
</file>

<file path=ppt/tags/tag74.xml><?xml version="1.0" encoding="utf-8"?>
<p:tagLst xmlns:a="http://schemas.openxmlformats.org/drawingml/2006/main" xmlns:r="http://schemas.openxmlformats.org/officeDocument/2006/relationships" xmlns:p="http://schemas.openxmlformats.org/presentationml/2006/main">
  <p:tag name="PLUS_ID" val="logo"/>
</p:tagLst>
</file>

<file path=ppt/tags/tag75.xml><?xml version="1.0" encoding="utf-8"?>
<p:tagLst xmlns:a="http://schemas.openxmlformats.org/drawingml/2006/main" xmlns:r="http://schemas.openxmlformats.org/officeDocument/2006/relationships" xmlns:p="http://schemas.openxmlformats.org/presentationml/2006/main">
  <p:tag name="PLUS_ID" val="image_1"/>
</p:tagLst>
</file>

<file path=ppt/tags/tag76.xml><?xml version="1.0" encoding="utf-8"?>
<p:tagLst xmlns:a="http://schemas.openxmlformats.org/drawingml/2006/main" xmlns:r="http://schemas.openxmlformats.org/officeDocument/2006/relationships" xmlns:p="http://schemas.openxmlformats.org/presentationml/2006/main">
  <p:tag name="PLUS_ID" val="image_0"/>
</p:tagLst>
</file>

<file path=ppt/tags/tag77.xml><?xml version="1.0" encoding="utf-8"?>
<p:tagLst xmlns:a="http://schemas.openxmlformats.org/drawingml/2006/main" xmlns:r="http://schemas.openxmlformats.org/officeDocument/2006/relationships" xmlns:p="http://schemas.openxmlformats.org/presentationml/2006/main">
  <p:tag name="PLUS_ID" val="chapter"/>
</p:tagLst>
</file>

<file path=ppt/tags/tag78.xml><?xml version="1.0" encoding="utf-8"?>
<p:tagLst xmlns:a="http://schemas.openxmlformats.org/drawingml/2006/main" xmlns:r="http://schemas.openxmlformats.org/officeDocument/2006/relationships" xmlns:p="http://schemas.openxmlformats.org/presentationml/2006/main">
  <p:tag name="PLUS_ID" val="title"/>
</p:tagLst>
</file>

<file path=ppt/tags/tag79.xml><?xml version="1.0" encoding="utf-8"?>
<p:tagLst xmlns:a="http://schemas.openxmlformats.org/drawingml/2006/main" xmlns:r="http://schemas.openxmlformats.org/officeDocument/2006/relationships" xmlns:p="http://schemas.openxmlformats.org/presentationml/2006/main">
  <p:tag name="PLUS_ID" val="detail_0"/>
</p:tagLst>
</file>

<file path=ppt/tags/tag80.xml><?xml version="1.0" encoding="utf-8"?>
<p:tagLst xmlns:a="http://schemas.openxmlformats.org/drawingml/2006/main" xmlns:r="http://schemas.openxmlformats.org/officeDocument/2006/relationships" xmlns:p="http://schemas.openxmlformats.org/presentationml/2006/main">
  <p:tag name="PLUS_ID" val="detail_1"/>
</p:tagLst>
</file>

<file path=ppt/tags/tag81.xml><?xml version="1.0" encoding="utf-8"?>
<p:tagLst xmlns:a="http://schemas.openxmlformats.org/drawingml/2006/main" xmlns:r="http://schemas.openxmlformats.org/officeDocument/2006/relationships" xmlns:p="http://schemas.openxmlformats.org/presentationml/2006/main">
  <p:tag name="PLUS_ID" val="header_0"/>
</p:tagLst>
</file>

<file path=ppt/tags/tag82.xml><?xml version="1.0" encoding="utf-8"?>
<p:tagLst xmlns:a="http://schemas.openxmlformats.org/drawingml/2006/main" xmlns:r="http://schemas.openxmlformats.org/officeDocument/2006/relationships" xmlns:p="http://schemas.openxmlformats.org/presentationml/2006/main">
  <p:tag name="PLUS_ID" val="header_1"/>
</p:tagLst>
</file>

<file path=ppt/tags/tag83.xml><?xml version="1.0" encoding="utf-8"?>
<p:tagLst xmlns:a="http://schemas.openxmlformats.org/drawingml/2006/main" xmlns:r="http://schemas.openxmlformats.org/officeDocument/2006/relationships" xmlns:p="http://schemas.openxmlformats.org/presentationml/2006/main">
  <p:tag name="PLUS_ID" val="logo"/>
</p:tagLst>
</file>

<file path=ppt/tags/tag84.xml><?xml version="1.0" encoding="utf-8"?>
<p:tagLst xmlns:a="http://schemas.openxmlformats.org/drawingml/2006/main" xmlns:r="http://schemas.openxmlformats.org/officeDocument/2006/relationships" xmlns:p="http://schemas.openxmlformats.org/presentationml/2006/main">
  <p:tag name="PLUS_ID" val="title"/>
</p:tagLst>
</file>

<file path=ppt/tags/tag85.xml><?xml version="1.0" encoding="utf-8"?>
<p:tagLst xmlns:a="http://schemas.openxmlformats.org/drawingml/2006/main" xmlns:r="http://schemas.openxmlformats.org/officeDocument/2006/relationships" xmlns:p="http://schemas.openxmlformats.org/presentationml/2006/main">
  <p:tag name="PLUS_ID" val="header_0"/>
</p:tagLst>
</file>

<file path=ppt/tags/tag86.xml><?xml version="1.0" encoding="utf-8"?>
<p:tagLst xmlns:a="http://schemas.openxmlformats.org/drawingml/2006/main" xmlns:r="http://schemas.openxmlformats.org/officeDocument/2006/relationships" xmlns:p="http://schemas.openxmlformats.org/presentationml/2006/main">
  <p:tag name="PLUS_ID" val="detail_0"/>
</p:tagLst>
</file>

<file path=ppt/tags/tag87.xml><?xml version="1.0" encoding="utf-8"?>
<p:tagLst xmlns:a="http://schemas.openxmlformats.org/drawingml/2006/main" xmlns:r="http://schemas.openxmlformats.org/officeDocument/2006/relationships" xmlns:p="http://schemas.openxmlformats.org/presentationml/2006/main">
  <p:tag name="PLUS_ID" val="header_1"/>
</p:tagLst>
</file>

<file path=ppt/tags/tag88.xml><?xml version="1.0" encoding="utf-8"?>
<p:tagLst xmlns:a="http://schemas.openxmlformats.org/drawingml/2006/main" xmlns:r="http://schemas.openxmlformats.org/officeDocument/2006/relationships" xmlns:p="http://schemas.openxmlformats.org/presentationml/2006/main">
  <p:tag name="PLUS_ID" val="detail_1"/>
</p:tagLst>
</file>

<file path=ppt/tags/tag89.xml><?xml version="1.0" encoding="utf-8"?>
<p:tagLst xmlns:a="http://schemas.openxmlformats.org/drawingml/2006/main" xmlns:r="http://schemas.openxmlformats.org/officeDocument/2006/relationships" xmlns:p="http://schemas.openxmlformats.org/presentationml/2006/main">
  <p:tag name="PLUS_ID" val="logo"/>
</p:tagLst>
</file>

<file path=ppt/tags/tag90.xml><?xml version="1.0" encoding="utf-8"?>
<p:tagLst xmlns:a="http://schemas.openxmlformats.org/drawingml/2006/main" xmlns:r="http://schemas.openxmlformats.org/officeDocument/2006/relationships" xmlns:p="http://schemas.openxmlformats.org/presentationml/2006/main">
  <p:tag name="PLUS_ID" val="chapter"/>
</p:tagLst>
</file>

<file path=ppt/tags/tag91.xml><?xml version="1.0" encoding="utf-8"?>
<p:tagLst xmlns:a="http://schemas.openxmlformats.org/drawingml/2006/main" xmlns:r="http://schemas.openxmlformats.org/officeDocument/2006/relationships" xmlns:p="http://schemas.openxmlformats.org/presentationml/2006/main">
  <p:tag name="PLUS_ID" val="chart_1"/>
</p:tagLst>
</file>

<file path=ppt/tags/tag92.xml><?xml version="1.0" encoding="utf-8"?>
<p:tagLst xmlns:a="http://schemas.openxmlformats.org/drawingml/2006/main" xmlns:r="http://schemas.openxmlformats.org/officeDocument/2006/relationships" xmlns:p="http://schemas.openxmlformats.org/presentationml/2006/main">
  <p:tag name="PLUS_ID" val="chart_0"/>
</p:tagLst>
</file>

<file path=ppt/tags/tag93.xml><?xml version="1.0" encoding="utf-8"?>
<p:tagLst xmlns:a="http://schemas.openxmlformats.org/drawingml/2006/main" xmlns:r="http://schemas.openxmlformats.org/officeDocument/2006/relationships" xmlns:p="http://schemas.openxmlformats.org/presentationml/2006/main">
  <p:tag name="PLUS_ID" val="title"/>
</p:tagLst>
</file>

<file path=ppt/tags/tag94.xml><?xml version="1.0" encoding="utf-8"?>
<p:tagLst xmlns:a="http://schemas.openxmlformats.org/drawingml/2006/main" xmlns:r="http://schemas.openxmlformats.org/officeDocument/2006/relationships" xmlns:p="http://schemas.openxmlformats.org/presentationml/2006/main">
  <p:tag name="PLUS_ID" val="detail_1"/>
</p:tagLst>
</file>

<file path=ppt/tags/tag95.xml><?xml version="1.0" encoding="utf-8"?>
<p:tagLst xmlns:a="http://schemas.openxmlformats.org/drawingml/2006/main" xmlns:r="http://schemas.openxmlformats.org/officeDocument/2006/relationships" xmlns:p="http://schemas.openxmlformats.org/presentationml/2006/main">
  <p:tag name="PLUS_ID" val="detail_2"/>
</p:tagLst>
</file>

<file path=ppt/tags/tag96.xml><?xml version="1.0" encoding="utf-8"?>
<p:tagLst xmlns:a="http://schemas.openxmlformats.org/drawingml/2006/main" xmlns:r="http://schemas.openxmlformats.org/officeDocument/2006/relationships" xmlns:p="http://schemas.openxmlformats.org/presentationml/2006/main">
  <p:tag name="PLUS_ID" val="logo"/>
</p:tagLst>
</file>

<file path=ppt/tags/tag97.xml><?xml version="1.0" encoding="utf-8"?>
<p:tagLst xmlns:a="http://schemas.openxmlformats.org/drawingml/2006/main" xmlns:r="http://schemas.openxmlformats.org/officeDocument/2006/relationships" xmlns:p="http://schemas.openxmlformats.org/presentationml/2006/main">
  <p:tag name="PLUS_ID" val="chart_2"/>
</p:tagLst>
</file>

<file path=ppt/tags/tag98.xml><?xml version="1.0" encoding="utf-8"?>
<p:tagLst xmlns:a="http://schemas.openxmlformats.org/drawingml/2006/main" xmlns:r="http://schemas.openxmlformats.org/officeDocument/2006/relationships" xmlns:p="http://schemas.openxmlformats.org/presentationml/2006/main">
  <p:tag name="PLUS_ID" val="chapter"/>
</p:tagLst>
</file>

<file path=ppt/tags/tag99.xml><?xml version="1.0" encoding="utf-8"?>
<p:tagLst xmlns:a="http://schemas.openxmlformats.org/drawingml/2006/main" xmlns:r="http://schemas.openxmlformats.org/officeDocument/2006/relationships" xmlns:p="http://schemas.openxmlformats.org/presentationml/2006/main">
  <p:tag name="PLUS_ID" val="chart_title_0"/>
</p:tagLst>
</file>

<file path=ppt/tags/tag100.xml><?xml version="1.0" encoding="utf-8"?>
<p:tagLst xmlns:a="http://schemas.openxmlformats.org/drawingml/2006/main" xmlns:r="http://schemas.openxmlformats.org/officeDocument/2006/relationships" xmlns:p="http://schemas.openxmlformats.org/presentationml/2006/main">
  <p:tag name="PLUS_ID" val="chart_title_1"/>
</p:tagLst>
</file>

<file path=ppt/tags/tag101.xml><?xml version="1.0" encoding="utf-8"?>
<p:tagLst xmlns:a="http://schemas.openxmlformats.org/drawingml/2006/main" xmlns:r="http://schemas.openxmlformats.org/officeDocument/2006/relationships" xmlns:p="http://schemas.openxmlformats.org/presentationml/2006/main">
  <p:tag name="PLUS_ID" val="chart_title_2"/>
</p:tagLst>
</file>

<file path=ppt/tags/tag102.xml><?xml version="1.0" encoding="utf-8"?>
<p:tagLst xmlns:a="http://schemas.openxmlformats.org/drawingml/2006/main" xmlns:r="http://schemas.openxmlformats.org/officeDocument/2006/relationships" xmlns:p="http://schemas.openxmlformats.org/presentationml/2006/main">
  <p:tag name="PLUS_ID" val="detail_0"/>
</p:tagLst>
</file>

<file path=ppt/tags/tag103.xml><?xml version="1.0" encoding="utf-8"?>
<p:tagLst xmlns:a="http://schemas.openxmlformats.org/drawingml/2006/main" xmlns:r="http://schemas.openxmlformats.org/officeDocument/2006/relationships" xmlns:p="http://schemas.openxmlformats.org/presentationml/2006/main">
  <p:tag name="PLUS_ID" val="title"/>
</p:tagLst>
</file>

<file path=ppt/tags/tag104.xml><?xml version="1.0" encoding="utf-8"?>
<p:tagLst xmlns:a="http://schemas.openxmlformats.org/drawingml/2006/main" xmlns:r="http://schemas.openxmlformats.org/officeDocument/2006/relationships" xmlns:p="http://schemas.openxmlformats.org/presentationml/2006/main">
  <p:tag name="PLUS_ID" val="header_0"/>
</p:tagLst>
</file>

<file path=ppt/tags/tag105.xml><?xml version="1.0" encoding="utf-8"?>
<p:tagLst xmlns:a="http://schemas.openxmlformats.org/drawingml/2006/main" xmlns:r="http://schemas.openxmlformats.org/officeDocument/2006/relationships" xmlns:p="http://schemas.openxmlformats.org/presentationml/2006/main">
  <p:tag name="PLUS_ID" val="detail_0"/>
</p:tagLst>
</file>

<file path=ppt/tags/tag106.xml><?xml version="1.0" encoding="utf-8"?>
<p:tagLst xmlns:a="http://schemas.openxmlformats.org/drawingml/2006/main" xmlns:r="http://schemas.openxmlformats.org/officeDocument/2006/relationships" xmlns:p="http://schemas.openxmlformats.org/presentationml/2006/main">
  <p:tag name="PLUS_ID" val="header_1"/>
</p:tagLst>
</file>

<file path=ppt/tags/tag107.xml><?xml version="1.0" encoding="utf-8"?>
<p:tagLst xmlns:a="http://schemas.openxmlformats.org/drawingml/2006/main" xmlns:r="http://schemas.openxmlformats.org/officeDocument/2006/relationships" xmlns:p="http://schemas.openxmlformats.org/presentationml/2006/main">
  <p:tag name="PLUS_ID" val="detail_1"/>
</p:tagLst>
</file>

<file path=ppt/tags/tag108.xml><?xml version="1.0" encoding="utf-8"?>
<p:tagLst xmlns:a="http://schemas.openxmlformats.org/drawingml/2006/main" xmlns:r="http://schemas.openxmlformats.org/officeDocument/2006/relationships" xmlns:p="http://schemas.openxmlformats.org/presentationml/2006/main">
  <p:tag name="PLUS_ID" val="logo"/>
</p:tagLst>
</file>

<file path=ppt/tags/tag109.xml><?xml version="1.0" encoding="utf-8"?>
<p:tagLst xmlns:a="http://schemas.openxmlformats.org/drawingml/2006/main" xmlns:r="http://schemas.openxmlformats.org/officeDocument/2006/relationships" xmlns:p="http://schemas.openxmlformats.org/presentationml/2006/main">
  <p:tag name="PLUS_ID" val="chapter"/>
</p:tagLst>
</file>

<file path=ppt/tags/tag110.xml><?xml version="1.0" encoding="utf-8"?>
<p:tagLst xmlns:a="http://schemas.openxmlformats.org/drawingml/2006/main" xmlns:r="http://schemas.openxmlformats.org/officeDocument/2006/relationships" xmlns:p="http://schemas.openxmlformats.org/presentationml/2006/main">
  <p:tag name="PLUS_ID" val="image_0"/>
</p:tagLst>
</file>

<file path=ppt/tags/tag111.xml><?xml version="1.0" encoding="utf-8"?>
<p:tagLst xmlns:a="http://schemas.openxmlformats.org/drawingml/2006/main" xmlns:r="http://schemas.openxmlformats.org/officeDocument/2006/relationships" xmlns:p="http://schemas.openxmlformats.org/presentationml/2006/main">
  <p:tag name="PLUS_ID" val="image_1"/>
</p:tagLst>
</file>

<file path=ppt/tags/tag112.xml><?xml version="1.0" encoding="utf-8"?>
<p:tagLst xmlns:a="http://schemas.openxmlformats.org/drawingml/2006/main" xmlns:r="http://schemas.openxmlformats.org/officeDocument/2006/relationships" xmlns:p="http://schemas.openxmlformats.org/presentationml/2006/main">
  <p:tag name="PLUS_ID" val="chapter"/>
</p:tagLst>
</file>

<file path=ppt/tags/tag113.xml><?xml version="1.0" encoding="utf-8"?>
<p:tagLst xmlns:a="http://schemas.openxmlformats.org/drawingml/2006/main" xmlns:r="http://schemas.openxmlformats.org/officeDocument/2006/relationships" xmlns:p="http://schemas.openxmlformats.org/presentationml/2006/main">
  <p:tag name="PLUS_ID" val="title"/>
</p:tagLst>
</file>

<file path=ppt/tags/tag114.xml><?xml version="1.0" encoding="utf-8"?>
<p:tagLst xmlns:a="http://schemas.openxmlformats.org/drawingml/2006/main" xmlns:r="http://schemas.openxmlformats.org/officeDocument/2006/relationships" xmlns:p="http://schemas.openxmlformats.org/presentationml/2006/main">
  <p:tag name="PLUS_ID" val="detail_0"/>
</p:tagLst>
</file>

<file path=ppt/tags/tag115.xml><?xml version="1.0" encoding="utf-8"?>
<p:tagLst xmlns:a="http://schemas.openxmlformats.org/drawingml/2006/main" xmlns:r="http://schemas.openxmlformats.org/officeDocument/2006/relationships" xmlns:p="http://schemas.openxmlformats.org/presentationml/2006/main">
  <p:tag name="PLUS_ID" val="detail_1"/>
</p:tagLst>
</file>

<file path=ppt/tags/tag116.xml><?xml version="1.0" encoding="utf-8"?>
<p:tagLst xmlns:a="http://schemas.openxmlformats.org/drawingml/2006/main" xmlns:r="http://schemas.openxmlformats.org/officeDocument/2006/relationships" xmlns:p="http://schemas.openxmlformats.org/presentationml/2006/main">
  <p:tag name="PLUS_ID" val="header_0"/>
</p:tagLst>
</file>

<file path=ppt/tags/tag117.xml><?xml version="1.0" encoding="utf-8"?>
<p:tagLst xmlns:a="http://schemas.openxmlformats.org/drawingml/2006/main" xmlns:r="http://schemas.openxmlformats.org/officeDocument/2006/relationships" xmlns:p="http://schemas.openxmlformats.org/presentationml/2006/main">
  <p:tag name="PLUS_ID" val="header_1"/>
</p:tagLst>
</file>

<file path=ppt/tags/tag118.xml><?xml version="1.0" encoding="utf-8"?>
<p:tagLst xmlns:a="http://schemas.openxmlformats.org/drawingml/2006/main" xmlns:r="http://schemas.openxmlformats.org/officeDocument/2006/relationships" xmlns:p="http://schemas.openxmlformats.org/presentationml/2006/main">
  <p:tag name="PLUS_ID" val="logo"/>
</p:tagLst>
</file>

<file path=ppt/tags/tag119.xml><?xml version="1.0" encoding="utf-8"?>
<p:tagLst xmlns:a="http://schemas.openxmlformats.org/drawingml/2006/main" xmlns:r="http://schemas.openxmlformats.org/officeDocument/2006/relationships" xmlns:p="http://schemas.openxmlformats.org/presentationml/2006/main">
  <p:tag name="PLUS_ID" val="image_0"/>
</p:tagLst>
</file>

<file path=ppt/tags/tag120.xml><?xml version="1.0" encoding="utf-8"?>
<p:tagLst xmlns:a="http://schemas.openxmlformats.org/drawingml/2006/main" xmlns:r="http://schemas.openxmlformats.org/officeDocument/2006/relationships" xmlns:p="http://schemas.openxmlformats.org/presentationml/2006/main">
  <p:tag name="PLUS_ID" val="image_1"/>
</p:tagLst>
</file>

<file path=ppt/tags/tag121.xml><?xml version="1.0" encoding="utf-8"?>
<p:tagLst xmlns:a="http://schemas.openxmlformats.org/drawingml/2006/main" xmlns:r="http://schemas.openxmlformats.org/officeDocument/2006/relationships" xmlns:p="http://schemas.openxmlformats.org/presentationml/2006/main">
  <p:tag name="PLUS_ID" val="chapter"/>
</p:tagLst>
</file>

<file path=ppt/tags/tag122.xml><?xml version="1.0" encoding="utf-8"?>
<p:tagLst xmlns:a="http://schemas.openxmlformats.org/drawingml/2006/main" xmlns:r="http://schemas.openxmlformats.org/officeDocument/2006/relationships" xmlns:p="http://schemas.openxmlformats.org/presentationml/2006/main">
  <p:tag name="PLUS_ID" val="title"/>
</p:tagLst>
</file>

<file path=ppt/tags/tag123.xml><?xml version="1.0" encoding="utf-8"?>
<p:tagLst xmlns:a="http://schemas.openxmlformats.org/drawingml/2006/main" xmlns:r="http://schemas.openxmlformats.org/officeDocument/2006/relationships" xmlns:p="http://schemas.openxmlformats.org/presentationml/2006/main">
  <p:tag name="PLUS_ID" val="detail_0"/>
</p:tagLst>
</file>

<file path=ppt/tags/tag124.xml><?xml version="1.0" encoding="utf-8"?>
<p:tagLst xmlns:a="http://schemas.openxmlformats.org/drawingml/2006/main" xmlns:r="http://schemas.openxmlformats.org/officeDocument/2006/relationships" xmlns:p="http://schemas.openxmlformats.org/presentationml/2006/main">
  <p:tag name="PLUS_ID" val="detail_1"/>
</p:tagLst>
</file>

<file path=ppt/tags/tag125.xml><?xml version="1.0" encoding="utf-8"?>
<p:tagLst xmlns:a="http://schemas.openxmlformats.org/drawingml/2006/main" xmlns:r="http://schemas.openxmlformats.org/officeDocument/2006/relationships" xmlns:p="http://schemas.openxmlformats.org/presentationml/2006/main">
  <p:tag name="PLUS_ID" val="header_0"/>
</p:tagLst>
</file>

<file path=ppt/tags/tag126.xml><?xml version="1.0" encoding="utf-8"?>
<p:tagLst xmlns:a="http://schemas.openxmlformats.org/drawingml/2006/main" xmlns:r="http://schemas.openxmlformats.org/officeDocument/2006/relationships" xmlns:p="http://schemas.openxmlformats.org/presentationml/2006/main">
  <p:tag name="PLUS_ID" val="header_1"/>
</p:tagLst>
</file>

<file path=ppt/tags/tag127.xml><?xml version="1.0" encoding="utf-8"?>
<p:tagLst xmlns:a="http://schemas.openxmlformats.org/drawingml/2006/main" xmlns:r="http://schemas.openxmlformats.org/officeDocument/2006/relationships" xmlns:p="http://schemas.openxmlformats.org/presentationml/2006/main">
  <p:tag name="PLUS_ID" val="logo"/>
</p:tagLst>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FB250E1-4082-5E4B-BFAB-DD082031C729}">
  <we:reference id="wa200007130" version="1.0.0.1" store="en-US" storeType="OMEX"/>
  <we:alternateReferences>
    <we:reference id="WA200007130" version="1.0.0.1"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765D7D-D5CE-4522-8099-745D903F48D3}">
  <ds:schemaRefs>
    <ds:schemaRef ds:uri="http://schemas.microsoft.com/office/infopath/2007/PartnerControls"/>
    <ds:schemaRef ds:uri="http://schemas.microsoft.com/office/2006/documentManagement/types"/>
    <ds:schemaRef ds:uri="71af3243-3dd4-4a8d-8c0d-dd76da1f02a5"/>
    <ds:schemaRef ds:uri="http://schemas.openxmlformats.org/package/2006/metadata/core-properties"/>
    <ds:schemaRef ds:uri="http://purl.org/dc/terms/"/>
    <ds:schemaRef ds:uri="http://www.w3.org/XML/1998/namespace"/>
    <ds:schemaRef ds:uri="http://schemas.microsoft.com/office/2006/metadata/properties"/>
    <ds:schemaRef ds:uri="16c05727-aa75-4e4a-9b5f-8a80a1165891"/>
    <ds:schemaRef ds:uri="http://purl.org/dc/elements/1.1/"/>
    <ds:schemaRef ds:uri="230e9df3-be65-4c73-a93b-d1236ebd677e"/>
    <ds:schemaRef ds:uri="http://schemas.microsoft.com/sharepoint/v3"/>
    <ds:schemaRef ds:uri="http://purl.org/dc/dcmitype/"/>
  </ds:schemaRefs>
</ds:datastoreItem>
</file>

<file path=customXml/itemProps2.xml><?xml version="1.0" encoding="utf-8"?>
<ds:datastoreItem xmlns:ds="http://schemas.openxmlformats.org/officeDocument/2006/customXml" ds:itemID="{9145BFBA-5402-4A2B-A3EF-0CBC5F583FFF}">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5CE36B-7578-4CD8-A1EE-AB0D9EA3EA5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Chroma</Template>
  <TotalTime>15</TotalTime>
  <Words>1581</Words>
  <Application>Microsoft Macintosh PowerPoint</Application>
  <PresentationFormat>Widescreen</PresentationFormat>
  <Paragraphs>105</Paragraphs>
  <Slides>13</Slides>
  <Notes>0</Notes>
  <HiddenSlides>0</HiddenSlides>
  <MMClips>0</MMClips>
  <ScaleCrop>false</ScaleCrop>
  <HeadingPairs>
    <vt:vector size="6" baseType="variant">
      <vt:variant>
        <vt:lpstr>Fonts Used</vt:lpstr>
      </vt:variant>
      <vt:variant>
        <vt:i4>6</vt:i4>
      </vt:variant>
      <vt:variant>
        <vt:lpstr>Theme</vt:lpstr>
      </vt:variant>
      <vt:variant>
        <vt:i4>13</vt:i4>
      </vt:variant>
      <vt:variant>
        <vt:lpstr>Slide Titles</vt:lpstr>
      </vt:variant>
      <vt:variant>
        <vt:i4>13</vt:i4>
      </vt:variant>
    </vt:vector>
  </HeadingPairs>
  <TitlesOfParts>
    <vt:vector size="32" baseType="lpstr">
      <vt:lpstr>Aptos</vt:lpstr>
      <vt:lpstr>Aptos Display</vt:lpstr>
      <vt:lpstr>Aptos Light</vt:lpstr>
      <vt:lpstr>Arial</vt:lpstr>
      <vt:lpstr>Calibri</vt:lpstr>
      <vt:lpstr>Franklin Gothic Book</vt:lpstr>
      <vt:lpstr>Chroma</vt:lpstr>
      <vt:lpstr>Office Theme</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Plus Default 2025</vt:lpstr>
      <vt:lpstr>Office Supply Store Trends 2020</vt:lpstr>
      <vt:lpstr>Agenda</vt:lpstr>
      <vt:lpstr>Overview and Research Questions</vt:lpstr>
      <vt:lpstr>Foot Traffic and Dwell Time Insights</vt:lpstr>
      <vt:lpstr>Demographic and Geographic Influences</vt:lpstr>
      <vt:lpstr>Brand Performance, Recovery, and Conclusions</vt:lpstr>
      <vt:lpstr>Office Supply Store Trends</vt:lpstr>
      <vt:lpstr>Context and Objectives</vt:lpstr>
      <vt:lpstr>Research Question 1 guides the direction of our investigation. Foot Traffic and Demographic Insights at Office Supply Stores (Early 2020)</vt:lpstr>
      <vt:lpstr>Office Supply Brands: Visits and Market Trends (2020-2023)</vt:lpstr>
      <vt:lpstr>Suburban vs. Urban Office Supply Store Visits During Remote Work Shift</vt:lpstr>
      <vt:lpstr>Brand Stabilization and Loyalty in Office Supply Retail</vt:lpstr>
      <vt:lpstr>Summary of Insights and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Siddharth Shenoy</dc:creator>
  <cp:lastModifiedBy>Ramana prabhu Sana</cp:lastModifiedBy>
  <cp:revision>4</cp:revision>
  <dcterms:created xsi:type="dcterms:W3CDTF">2025-08-21T22:55:37Z</dcterms:created>
  <dcterms:modified xsi:type="dcterms:W3CDTF">2025-10-12T17:22:30Z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