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59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76" d="100"/>
          <a:sy n="76" d="100"/>
        </p:scale>
        <p:origin x="260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88486-2CE7-4B00-8374-231741A4D7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88C3DD-C382-4BAD-B83A-A1EBAA3383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623CF6-3BCB-4565-B836-CCB095393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E17FED-4672-476A-8757-7EBBBF263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AA34DB-6033-4F22-B3A0-8B39FB932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519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C5408-88FA-4722-A45F-9D984028F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D323C-501B-4232-ACE5-C7B0DA40EC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0CDAF0-F5FD-4836-85D8-72F1C6826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D3139-7530-43AF-904E-B5577EBD0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1BAAC0-A791-49CA-B53E-22499AA2B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325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34643-20CF-467A-9E45-A6A074EBA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8C36F4-FC02-4429-8AC5-DBA4EEBA59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C3850-C43E-4690-9C72-B3D58D173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C89A57-2FDC-4C7E-B8F6-B6BEDA63A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4D344B-31AC-4701-9955-240C227DB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451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918B7-C4AB-47DC-B0B9-CDB103975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41AAE-FA59-4342-B736-16160DD94A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A9959-4F98-4CB2-84F6-AA5ACB73FA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D89EB2-FE51-4702-9B41-015FA9C6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802D4E-CB42-44A6-A6AB-5FF1AF703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3A30B4-59D7-4BD7-8380-F5894D506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700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43B37-B009-4C54-943E-28AE42A05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7550C4-CB79-45F8-9C72-6B2F821A5E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6D125F-9EC3-41F8-A577-6AB4833F4E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BD7C87-F26D-4A09-BA05-3E8B690ED6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90C03-8D6B-4245-B47D-16859ED194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DFFFE9-244F-49DC-A47B-694E86361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76B589-C403-406D-B70F-573DB7F0D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CA1645-0DE6-4253-8A35-69B164BA2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016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C0D46-E5AC-447E-9A23-5A9CB1303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2F2B62-48F9-49FB-B1EA-E22BE1B39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51881C-6CCC-4406-8457-F1F6AAE6A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3267E5-2718-4BE7-ADC7-F49DC32CC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724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0D6C3E-643B-4892-9393-E4D7FCA39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BB5C82-0A83-4137-A620-1DB96A19E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403531-7719-4414-929B-9CD08A006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94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66229-C951-4F9B-B687-CCED89986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0186E2-2A8A-4C4E-96F0-BF7C2009EC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DEFBDF-F46D-4F3A-87E6-3A56ABAD79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41CD6D-CCC0-496E-A7EC-47506A906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B33A58-50FC-43B9-A745-F77E93226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74E901-5577-4EDD-8972-EFB36B430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393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A5514-C09D-49EE-989F-71FD12363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0CFF1D-79E3-4068-A36F-06E27200C6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B4F85D-B97A-415B-9EC6-6BF5328A3A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E442E9-874A-4E6C-8F3F-429BD9F91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AE4524-B093-4D06-92F2-B3851932C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2ADE9E-2047-40D6-9DEA-B6579BEE9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243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30F2E-270F-4546-AA3B-E5DD09794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50A748-D3CE-4C49-9DBE-5ECE093AAB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F91C9-91DD-4DAB-97E6-9B2F61C4C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B6E2F-85CF-45EC-98BC-31AB5B00F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C97FA-DD14-4865-A5F8-111E561A4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237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52D001-B13D-479F-982C-545C072FD7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1A7C3F-4573-4A24-A283-6536D8697C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85C727-2DA8-48BF-BFD3-B376DBAE9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E9CF7-B37A-4643-BCAC-E7383B7BB72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4370FD-BF10-4717-B14C-017C7B578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9B4476-23DA-4ED1-817F-2CB9C4089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674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78030E-B4CF-40FD-8FF9-107380280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45DD19-4123-4620-B5B0-7A1144CCE6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620CF-A2B4-421A-BE7B-B79956B8E4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2E9CF7-B37A-4643-BCAC-E7383B7BB720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D186FC-1449-480E-BBF0-5E780F542E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1597BB-1FCD-455A-B2EA-A51F69B2C1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3D5392-6290-4F8E-B0FF-D87AC1274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838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8F7E6-E213-42E6-9661-56E2B5960F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MGMT 58600: Python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30E5DA-4E35-4F3F-B1FA-07E843829F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  <a:p>
            <a:r>
              <a:rPr lang="en-US" dirty="0"/>
              <a:t>Lecture 13</a:t>
            </a:r>
          </a:p>
          <a:p>
            <a:endParaRPr lang="en-US" dirty="0"/>
          </a:p>
          <a:p>
            <a:r>
              <a:rPr lang="en-US" dirty="0"/>
              <a:t>Dr. Shoaib Khan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700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21060-C685-43DE-BD69-328F743DF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Scraping 101: Automating Data Collection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22E9F-9369-4C47-8116-7A5C24DE36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b="1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  <a:r>
              <a:rPr lang="en-US" sz="2000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The process of automatically extracting data from websites.</a:t>
            </a:r>
            <a:endParaRPr lang="en-US" sz="1800" dirty="0">
              <a:solidFill>
                <a:srgbClr val="0F1115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b="1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Core Idea:</a:t>
            </a:r>
            <a:r>
              <a:rPr lang="en-US" sz="2000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A script acts like a super-fast human, visiting web pages, reading the content, and pulling out specific information into a structured format (like a CSV or database).</a:t>
            </a:r>
            <a:endParaRPr lang="en-US" sz="1800" dirty="0">
              <a:solidFill>
                <a:srgbClr val="0F1115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b="1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Common Use Cases:</a:t>
            </a:r>
            <a:endParaRPr lang="en-US" sz="1800" dirty="0">
              <a:solidFill>
                <a:srgbClr val="0F1115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Price Monitoring (E-commerce)</a:t>
            </a:r>
            <a:endParaRPr lang="en-US" sz="1800" dirty="0">
              <a:solidFill>
                <a:srgbClr val="0F1115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Market Research</a:t>
            </a:r>
            <a:endParaRPr lang="en-US" sz="1800" dirty="0">
              <a:solidFill>
                <a:srgbClr val="0F1115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Lead Generation</a:t>
            </a:r>
            <a:endParaRPr lang="en-US" sz="1800" dirty="0">
              <a:solidFill>
                <a:srgbClr val="0F1115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Sentiment Analysis (from reviews/social media)</a:t>
            </a:r>
            <a:endParaRPr lang="en-US" sz="1800" dirty="0">
              <a:solidFill>
                <a:srgbClr val="0F1115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Aggregating News Articles</a:t>
            </a:r>
            <a:endParaRPr lang="en-US" sz="1800" dirty="0">
              <a:solidFill>
                <a:srgbClr val="0F1115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3532975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0DCC2-D290-4C0D-A98C-855995C39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Python Toolbox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00431F-1019-4DB8-BB46-6FC1675EBA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sz="1800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Python has a powerful ecosystem for web scraping. Here are the key players: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dirty="0">
                <a:solidFill>
                  <a:srgbClr val="0F1115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requests</a:t>
            </a:r>
            <a:r>
              <a:rPr lang="en-US" sz="1800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The foundation. Fetches the raw HTML content of a web page.</a:t>
            </a:r>
            <a:endParaRPr lang="en-US" sz="1600" dirty="0">
              <a:solidFill>
                <a:srgbClr val="0F1115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dirty="0">
                <a:solidFill>
                  <a:srgbClr val="0F1115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 requests</a:t>
            </a:r>
            <a:endParaRPr lang="en-US" sz="1800" dirty="0">
              <a:solidFill>
                <a:srgbClr val="0F1115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dirty="0">
                <a:solidFill>
                  <a:srgbClr val="0F1115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response = </a:t>
            </a:r>
            <a:r>
              <a:rPr lang="en-US" sz="1400" dirty="0" err="1">
                <a:solidFill>
                  <a:srgbClr val="0F1115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requests.get</a:t>
            </a:r>
            <a:r>
              <a:rPr lang="en-US" sz="1400" dirty="0">
                <a:solidFill>
                  <a:srgbClr val="0F1115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("https://example.com")</a:t>
            </a:r>
            <a:endParaRPr lang="en-US" sz="1600" dirty="0">
              <a:solidFill>
                <a:srgbClr val="0F1115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US" sz="1600" dirty="0">
              <a:solidFill>
                <a:srgbClr val="0F1115"/>
              </a:solidFill>
              <a:effectLst/>
              <a:latin typeface="Cascadia Mono" panose="020B06090200000200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dirty="0" err="1">
                <a:solidFill>
                  <a:srgbClr val="0F1115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BeautifulSoup</a:t>
            </a:r>
            <a:r>
              <a:rPr lang="en-US" sz="1800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The parser. Takes the messy HTML and turns it into a navigable tree structure, making it easy to find and extract data.</a:t>
            </a:r>
            <a:endParaRPr lang="en-US" sz="1600" dirty="0">
              <a:solidFill>
                <a:srgbClr val="0F1115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dirty="0">
                <a:solidFill>
                  <a:srgbClr val="0F1115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 bs4 import </a:t>
            </a:r>
            <a:r>
              <a:rPr lang="en-US" sz="1400" dirty="0" err="1">
                <a:solidFill>
                  <a:srgbClr val="0F1115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BeautifulSoup</a:t>
            </a:r>
            <a:endParaRPr lang="en-US" sz="1800" dirty="0">
              <a:solidFill>
                <a:srgbClr val="0F1115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dirty="0">
                <a:solidFill>
                  <a:srgbClr val="0F1115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soup = </a:t>
            </a:r>
            <a:r>
              <a:rPr lang="en-US" sz="1400" dirty="0" err="1">
                <a:solidFill>
                  <a:srgbClr val="0F1115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BeautifulSoup</a:t>
            </a:r>
            <a:r>
              <a:rPr lang="en-US" sz="1400" dirty="0">
                <a:solidFill>
                  <a:srgbClr val="0F1115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 err="1">
                <a:solidFill>
                  <a:srgbClr val="0F1115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response.content</a:t>
            </a:r>
            <a:r>
              <a:rPr lang="en-US" sz="1400" dirty="0">
                <a:solidFill>
                  <a:srgbClr val="0F1115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'</a:t>
            </a:r>
            <a:r>
              <a:rPr lang="en-US" sz="1400" dirty="0" err="1">
                <a:solidFill>
                  <a:srgbClr val="0F1115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html.parser</a:t>
            </a:r>
            <a:r>
              <a:rPr lang="en-US" sz="1400" dirty="0">
                <a:solidFill>
                  <a:srgbClr val="0F1115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’)</a:t>
            </a:r>
            <a:endParaRPr lang="en-US" sz="2000" dirty="0">
              <a:solidFill>
                <a:srgbClr val="0F1115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US" sz="1800" b="1" dirty="0">
              <a:solidFill>
                <a:srgbClr val="0F1115"/>
              </a:solidFill>
              <a:effectLst/>
              <a:latin typeface="Segoe UI" panose="020B0502040204020203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Concept: Selectors</a:t>
            </a:r>
            <a:endParaRPr lang="en-US" sz="1600" dirty="0">
              <a:solidFill>
                <a:srgbClr val="0F1115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800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You tell </a:t>
            </a:r>
            <a:r>
              <a:rPr lang="en-US" sz="1400" dirty="0" err="1">
                <a:solidFill>
                  <a:srgbClr val="0F1115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BeautifulSoup</a:t>
            </a:r>
            <a:r>
              <a:rPr lang="en-US" sz="1800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what to find using HTML tags (</a:t>
            </a:r>
            <a:r>
              <a:rPr lang="en-US" sz="1400" dirty="0">
                <a:solidFill>
                  <a:srgbClr val="0F1115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&lt;h1&gt;</a:t>
            </a:r>
            <a:r>
              <a:rPr lang="en-US" sz="2000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1400" dirty="0">
                <a:solidFill>
                  <a:srgbClr val="0F1115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&lt;p&gt;</a:t>
            </a:r>
            <a:r>
              <a:rPr lang="en-US" sz="1800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), classes (</a:t>
            </a:r>
            <a:r>
              <a:rPr lang="en-US" sz="1400" dirty="0">
                <a:solidFill>
                  <a:srgbClr val="0F1115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.price</a:t>
            </a:r>
            <a:r>
              <a:rPr lang="en-US" sz="1800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), or IDs (</a:t>
            </a:r>
            <a:r>
              <a:rPr lang="en-US" sz="1400" dirty="0">
                <a:solidFill>
                  <a:srgbClr val="0F1115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#main-content</a:t>
            </a:r>
            <a:r>
              <a:rPr lang="en-US" sz="1800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sz="1600" dirty="0">
              <a:solidFill>
                <a:srgbClr val="0F1115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66440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B2C43-5ECB-4663-A2B1-4CDF46994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HTML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52892-DD76-4B6B-97B5-D510398C7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marR="0"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sz="1800" b="1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HTML (</a:t>
            </a:r>
            <a:r>
              <a:rPr lang="en-US" sz="1800" b="1" dirty="0" err="1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HyperText</a:t>
            </a:r>
            <a:r>
              <a:rPr lang="en-US" sz="1800" b="1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Markup Language)</a:t>
            </a:r>
            <a:r>
              <a:rPr lang="en-US" sz="1800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is the skeleton of every web page. As a scraper, you need to understand its structure to extract data effectively.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sz="1800" b="1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Tree Structure (DOM)</a:t>
            </a:r>
            <a:br>
              <a:rPr lang="en-US" sz="1800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HTML is structured as a nested hierarchy of </a:t>
            </a:r>
            <a:r>
              <a:rPr lang="en-US" sz="1800" b="1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tags</a:t>
            </a:r>
            <a:r>
              <a:rPr lang="en-US" sz="1800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like a family tree.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1" indent="0" latinLnBrk="1">
              <a:lnSpc>
                <a:spcPts val="1650"/>
              </a:lnSpc>
              <a:spcBef>
                <a:spcPts val="0"/>
              </a:spcBef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dirty="0">
                <a:solidFill>
                  <a:srgbClr val="383A42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&lt;!DOCTYPE html&gt;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1" indent="0" latinLnBrk="1">
              <a:lnSpc>
                <a:spcPts val="1650"/>
              </a:lnSpc>
              <a:spcBef>
                <a:spcPts val="0"/>
              </a:spcBef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dirty="0">
                <a:solidFill>
                  <a:srgbClr val="383A42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1600" dirty="0">
                <a:solidFill>
                  <a:srgbClr val="E45649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en-US" sz="1600" dirty="0">
                <a:solidFill>
                  <a:srgbClr val="383A42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1" indent="0" latinLnBrk="1">
              <a:lnSpc>
                <a:spcPts val="1650"/>
              </a:lnSpc>
              <a:spcBef>
                <a:spcPts val="0"/>
              </a:spcBef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dirty="0">
                <a:solidFill>
                  <a:srgbClr val="0F1115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600" dirty="0">
                <a:solidFill>
                  <a:srgbClr val="383A42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1600" dirty="0">
                <a:solidFill>
                  <a:srgbClr val="E45649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head</a:t>
            </a:r>
            <a:r>
              <a:rPr lang="en-US" sz="1600" dirty="0">
                <a:solidFill>
                  <a:srgbClr val="383A42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1" indent="0" latinLnBrk="1">
              <a:lnSpc>
                <a:spcPts val="1650"/>
              </a:lnSpc>
              <a:spcBef>
                <a:spcPts val="0"/>
              </a:spcBef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dirty="0">
                <a:solidFill>
                  <a:srgbClr val="0F1115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dirty="0">
                <a:solidFill>
                  <a:srgbClr val="383A42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1600" dirty="0">
                <a:solidFill>
                  <a:srgbClr val="E45649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en-US" sz="1600" dirty="0">
                <a:solidFill>
                  <a:srgbClr val="383A42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sz="1600" dirty="0">
                <a:solidFill>
                  <a:srgbClr val="0F1115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My Page</a:t>
            </a:r>
            <a:r>
              <a:rPr lang="en-US" sz="1600" dirty="0">
                <a:solidFill>
                  <a:srgbClr val="383A42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&lt;/</a:t>
            </a:r>
            <a:r>
              <a:rPr lang="en-US" sz="1600" dirty="0">
                <a:solidFill>
                  <a:srgbClr val="E45649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en-US" sz="1600" dirty="0">
                <a:solidFill>
                  <a:srgbClr val="383A42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1" indent="0" latinLnBrk="1">
              <a:lnSpc>
                <a:spcPts val="1650"/>
              </a:lnSpc>
              <a:spcBef>
                <a:spcPts val="0"/>
              </a:spcBef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dirty="0">
                <a:solidFill>
                  <a:srgbClr val="0F1115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600" dirty="0">
                <a:solidFill>
                  <a:srgbClr val="383A42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&lt;/</a:t>
            </a:r>
            <a:r>
              <a:rPr lang="en-US" sz="1600" dirty="0">
                <a:solidFill>
                  <a:srgbClr val="E45649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head</a:t>
            </a:r>
            <a:r>
              <a:rPr lang="en-US" sz="1600" dirty="0">
                <a:solidFill>
                  <a:srgbClr val="383A42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1" indent="0" latinLnBrk="1">
              <a:lnSpc>
                <a:spcPts val="1650"/>
              </a:lnSpc>
              <a:spcBef>
                <a:spcPts val="0"/>
              </a:spcBef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dirty="0">
                <a:solidFill>
                  <a:srgbClr val="0F1115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600" dirty="0">
                <a:solidFill>
                  <a:srgbClr val="383A42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1600" dirty="0">
                <a:solidFill>
                  <a:srgbClr val="E45649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body</a:t>
            </a:r>
            <a:r>
              <a:rPr lang="en-US" sz="1600" dirty="0">
                <a:solidFill>
                  <a:srgbClr val="383A42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1" indent="0" latinLnBrk="1">
              <a:lnSpc>
                <a:spcPts val="1650"/>
              </a:lnSpc>
              <a:spcBef>
                <a:spcPts val="0"/>
              </a:spcBef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dirty="0">
                <a:solidFill>
                  <a:srgbClr val="0F1115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dirty="0">
                <a:solidFill>
                  <a:srgbClr val="383A42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1600" dirty="0">
                <a:solidFill>
                  <a:srgbClr val="E45649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div </a:t>
            </a:r>
            <a:r>
              <a:rPr lang="en-US" sz="1600" dirty="0">
                <a:solidFill>
                  <a:srgbClr val="B76B01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600" dirty="0">
                <a:solidFill>
                  <a:srgbClr val="383A42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50A14F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"product"</a:t>
            </a:r>
            <a:r>
              <a:rPr lang="en-US" sz="1600" dirty="0">
                <a:solidFill>
                  <a:srgbClr val="383A42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1" indent="0" latinLnBrk="1">
              <a:lnSpc>
                <a:spcPts val="1650"/>
              </a:lnSpc>
              <a:spcBef>
                <a:spcPts val="0"/>
              </a:spcBef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dirty="0">
                <a:solidFill>
                  <a:srgbClr val="0F1115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1600" dirty="0">
                <a:solidFill>
                  <a:srgbClr val="383A42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1600" dirty="0">
                <a:solidFill>
                  <a:srgbClr val="E45649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h1 </a:t>
            </a:r>
            <a:r>
              <a:rPr lang="en-US" sz="1600" dirty="0">
                <a:solidFill>
                  <a:srgbClr val="B76B01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</a:t>
            </a:r>
            <a:r>
              <a:rPr lang="en-US" sz="1600" dirty="0">
                <a:solidFill>
                  <a:srgbClr val="383A42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50A14F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"main-title"</a:t>
            </a:r>
            <a:r>
              <a:rPr lang="en-US" sz="1600" dirty="0">
                <a:solidFill>
                  <a:srgbClr val="383A42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sz="1600" dirty="0">
                <a:solidFill>
                  <a:srgbClr val="0F1115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Cool Widget</a:t>
            </a:r>
            <a:r>
              <a:rPr lang="en-US" sz="1600" dirty="0">
                <a:solidFill>
                  <a:srgbClr val="383A42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&lt;/</a:t>
            </a:r>
            <a:r>
              <a:rPr lang="en-US" sz="1600" dirty="0">
                <a:solidFill>
                  <a:srgbClr val="E45649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h1</a:t>
            </a:r>
            <a:r>
              <a:rPr lang="en-US" sz="1600" dirty="0">
                <a:solidFill>
                  <a:srgbClr val="383A42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1" indent="0" latinLnBrk="1">
              <a:lnSpc>
                <a:spcPts val="1650"/>
              </a:lnSpc>
              <a:spcBef>
                <a:spcPts val="0"/>
              </a:spcBef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dirty="0">
                <a:solidFill>
                  <a:srgbClr val="0F1115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1600" dirty="0">
                <a:solidFill>
                  <a:srgbClr val="383A42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1600" dirty="0">
                <a:solidFill>
                  <a:srgbClr val="E45649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en-US" sz="1600" dirty="0">
                <a:solidFill>
                  <a:srgbClr val="B76B01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600" dirty="0">
                <a:solidFill>
                  <a:srgbClr val="383A42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50A14F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"price"</a:t>
            </a:r>
            <a:r>
              <a:rPr lang="en-US" sz="1600" dirty="0">
                <a:solidFill>
                  <a:srgbClr val="383A42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sz="1600" dirty="0">
                <a:solidFill>
                  <a:srgbClr val="0F1115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$19.99</a:t>
            </a:r>
            <a:r>
              <a:rPr lang="en-US" sz="1600" dirty="0">
                <a:solidFill>
                  <a:srgbClr val="383A42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&lt;/</a:t>
            </a:r>
            <a:r>
              <a:rPr lang="en-US" sz="1600" dirty="0">
                <a:solidFill>
                  <a:srgbClr val="E45649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1600" dirty="0">
                <a:solidFill>
                  <a:srgbClr val="383A42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1" indent="0" latinLnBrk="1">
              <a:lnSpc>
                <a:spcPts val="1650"/>
              </a:lnSpc>
              <a:spcBef>
                <a:spcPts val="0"/>
              </a:spcBef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dirty="0">
                <a:solidFill>
                  <a:srgbClr val="0F1115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1600" dirty="0">
                <a:solidFill>
                  <a:srgbClr val="383A42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1600" dirty="0">
                <a:solidFill>
                  <a:srgbClr val="E45649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en-US" sz="1600" dirty="0">
                <a:solidFill>
                  <a:srgbClr val="B76B01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600" dirty="0">
                <a:solidFill>
                  <a:srgbClr val="383A42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50A14F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"description"</a:t>
            </a:r>
            <a:r>
              <a:rPr lang="en-US" sz="1600" dirty="0">
                <a:solidFill>
                  <a:srgbClr val="383A42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sz="1600" dirty="0">
                <a:solidFill>
                  <a:srgbClr val="0F1115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best widget on the market.</a:t>
            </a:r>
            <a:r>
              <a:rPr lang="en-US" sz="1600" dirty="0">
                <a:solidFill>
                  <a:srgbClr val="383A42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&lt;/</a:t>
            </a:r>
            <a:r>
              <a:rPr lang="en-US" sz="1600" dirty="0">
                <a:solidFill>
                  <a:srgbClr val="E45649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1600" dirty="0">
                <a:solidFill>
                  <a:srgbClr val="383A42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1" indent="0" latinLnBrk="1">
              <a:lnSpc>
                <a:spcPts val="1650"/>
              </a:lnSpc>
              <a:spcBef>
                <a:spcPts val="0"/>
              </a:spcBef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dirty="0">
                <a:solidFill>
                  <a:srgbClr val="0F1115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dirty="0">
                <a:solidFill>
                  <a:srgbClr val="383A42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&lt;/</a:t>
            </a:r>
            <a:r>
              <a:rPr lang="en-US" sz="1600" dirty="0">
                <a:solidFill>
                  <a:srgbClr val="E45649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div</a:t>
            </a:r>
            <a:r>
              <a:rPr lang="en-US" sz="1600" dirty="0">
                <a:solidFill>
                  <a:srgbClr val="383A42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1" indent="0" latinLnBrk="1">
              <a:lnSpc>
                <a:spcPts val="1650"/>
              </a:lnSpc>
              <a:spcBef>
                <a:spcPts val="0"/>
              </a:spcBef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dirty="0">
                <a:solidFill>
                  <a:srgbClr val="0F1115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600" dirty="0">
                <a:solidFill>
                  <a:srgbClr val="383A42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&lt;/</a:t>
            </a:r>
            <a:r>
              <a:rPr lang="en-US" sz="1600" dirty="0">
                <a:solidFill>
                  <a:srgbClr val="E45649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body</a:t>
            </a:r>
            <a:r>
              <a:rPr lang="en-US" sz="1600" dirty="0">
                <a:solidFill>
                  <a:srgbClr val="383A42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1" indent="0" latinLnBrk="1">
              <a:lnSpc>
                <a:spcPts val="1650"/>
              </a:lnSpc>
              <a:spcBef>
                <a:spcPts val="0"/>
              </a:spcBef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 dirty="0">
                <a:solidFill>
                  <a:srgbClr val="383A42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&lt;/</a:t>
            </a:r>
            <a:r>
              <a:rPr lang="en-US" sz="1600" dirty="0">
                <a:solidFill>
                  <a:srgbClr val="E45649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en-US" sz="1600" dirty="0">
                <a:solidFill>
                  <a:srgbClr val="383A42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0503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8BBC1-C214-45D9-8490-E83CFB0C7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HTML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FB3FE-67C0-43EF-9146-65C7E2B1BC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Key Concepts for Scraping:</a:t>
            </a:r>
            <a:endParaRPr lang="en-US" sz="2400" dirty="0"/>
          </a:p>
          <a:p>
            <a:pPr lvl="1"/>
            <a:r>
              <a:rPr lang="en-US" b="1" dirty="0"/>
              <a:t>Tags:</a:t>
            </a:r>
            <a:r>
              <a:rPr lang="en-US" dirty="0"/>
              <a:t> The building blocks (</a:t>
            </a:r>
            <a:r>
              <a:rPr lang="en-US" sz="1600" dirty="0"/>
              <a:t>&lt;html&gt;,</a:t>
            </a:r>
            <a:r>
              <a:rPr lang="en-US" sz="2800" dirty="0"/>
              <a:t> </a:t>
            </a:r>
            <a:r>
              <a:rPr lang="en-US" sz="1600" dirty="0"/>
              <a:t>&lt;div&gt;, &lt;h1&gt;, &lt;p&gt;</a:t>
            </a:r>
            <a:r>
              <a:rPr lang="en-US" dirty="0"/>
              <a:t>).</a:t>
            </a:r>
            <a:endParaRPr lang="en-US" sz="2000" dirty="0"/>
          </a:p>
          <a:p>
            <a:pPr lvl="1"/>
            <a:r>
              <a:rPr lang="en-US" b="1" dirty="0"/>
              <a:t>Elements:</a:t>
            </a:r>
            <a:r>
              <a:rPr lang="en-US" dirty="0"/>
              <a:t> A start tag, content, and end tag (e.g., </a:t>
            </a:r>
            <a:r>
              <a:rPr lang="en-US" sz="1600" dirty="0"/>
              <a:t>&lt;p&gt;Content&lt;/p&gt;</a:t>
            </a:r>
            <a:r>
              <a:rPr lang="en-US" dirty="0"/>
              <a:t>).</a:t>
            </a:r>
            <a:endParaRPr lang="en-US" sz="2000" dirty="0"/>
          </a:p>
          <a:p>
            <a:pPr lvl="1"/>
            <a:r>
              <a:rPr lang="en-US" b="1" dirty="0"/>
              <a:t>Attributes:</a:t>
            </a:r>
            <a:r>
              <a:rPr lang="en-US" dirty="0"/>
              <a:t> Extra information inside a tag used to identify elements.</a:t>
            </a:r>
            <a:endParaRPr lang="en-US" sz="2000" dirty="0"/>
          </a:p>
          <a:p>
            <a:pPr lvl="2"/>
            <a:r>
              <a:rPr lang="en-US" sz="1600" dirty="0"/>
              <a:t>id</a:t>
            </a:r>
            <a:r>
              <a:rPr lang="en-US" dirty="0"/>
              <a:t>: A </a:t>
            </a:r>
            <a:r>
              <a:rPr lang="en-US" i="1" dirty="0"/>
              <a:t>unique</a:t>
            </a:r>
            <a:r>
              <a:rPr lang="en-US" dirty="0"/>
              <a:t> identifier for one element (e.g., </a:t>
            </a:r>
            <a:r>
              <a:rPr lang="en-US" sz="1400" dirty="0"/>
              <a:t>id="main-title"</a:t>
            </a:r>
            <a:r>
              <a:rPr lang="en-US" dirty="0"/>
              <a:t>)</a:t>
            </a:r>
            <a:endParaRPr lang="en-US" sz="1600" dirty="0"/>
          </a:p>
          <a:p>
            <a:pPr lvl="2"/>
            <a:r>
              <a:rPr lang="en-US" sz="1600" dirty="0"/>
              <a:t>class</a:t>
            </a:r>
            <a:r>
              <a:rPr lang="en-US" dirty="0"/>
              <a:t>: A </a:t>
            </a:r>
            <a:r>
              <a:rPr lang="en-US" i="1" dirty="0"/>
              <a:t>reusable</a:t>
            </a:r>
            <a:r>
              <a:rPr lang="en-US" dirty="0"/>
              <a:t> identifier for styling (e.g., </a:t>
            </a:r>
            <a:r>
              <a:rPr lang="en-US" sz="1400" dirty="0"/>
              <a:t>class="price"</a:t>
            </a:r>
            <a:r>
              <a:rPr lang="en-US" dirty="0"/>
              <a:t>)</a:t>
            </a:r>
            <a:endParaRPr lang="en-US" sz="16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50551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76206-8A27-4A42-8063-2FFA256B2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dirty="0"/>
              <a:t>A Simple Scraping Example</a:t>
            </a:r>
            <a:endParaRPr lang="en-US" sz="3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7F774-629E-4B6A-B11D-95FCCA534F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marR="0" indent="0" latinLnBrk="1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100" dirty="0">
                <a:solidFill>
                  <a:srgbClr val="A626A4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US" sz="1100" dirty="0">
                <a:solidFill>
                  <a:srgbClr val="0F1115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requests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latinLnBrk="1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100" dirty="0">
                <a:solidFill>
                  <a:srgbClr val="A626A4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sz="1100" dirty="0">
                <a:solidFill>
                  <a:srgbClr val="0F1115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bs4 </a:t>
            </a:r>
            <a:r>
              <a:rPr lang="en-US" sz="1100" dirty="0">
                <a:solidFill>
                  <a:srgbClr val="A626A4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US" sz="1100" dirty="0">
                <a:solidFill>
                  <a:srgbClr val="0F1115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 err="1">
                <a:solidFill>
                  <a:srgbClr val="0F1115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BeautifulSoup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latinLnBrk="1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100" dirty="0">
                <a:solidFill>
                  <a:srgbClr val="0F1115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latinLnBrk="1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100" i="1" dirty="0">
                <a:solidFill>
                  <a:srgbClr val="A0A1A7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1. Fetch the webpage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latinLnBrk="1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100" dirty="0" err="1">
                <a:solidFill>
                  <a:srgbClr val="0F1115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r>
              <a:rPr lang="en-US" sz="1100" dirty="0">
                <a:solidFill>
                  <a:srgbClr val="0F1115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solidFill>
                  <a:srgbClr val="4078F2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100" dirty="0">
                <a:solidFill>
                  <a:srgbClr val="0F1115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solidFill>
                  <a:srgbClr val="50A14F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"http://example.com"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latinLnBrk="1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100" dirty="0">
                <a:solidFill>
                  <a:srgbClr val="0F1115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response </a:t>
            </a:r>
            <a:r>
              <a:rPr lang="en-US" sz="1100" dirty="0">
                <a:solidFill>
                  <a:srgbClr val="4078F2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100" dirty="0">
                <a:solidFill>
                  <a:srgbClr val="0F1115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 err="1">
                <a:solidFill>
                  <a:srgbClr val="0F1115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requests</a:t>
            </a:r>
            <a:r>
              <a:rPr lang="en-US" sz="1100" dirty="0" err="1">
                <a:solidFill>
                  <a:srgbClr val="383A42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100" dirty="0" err="1">
                <a:solidFill>
                  <a:srgbClr val="0F1115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get</a:t>
            </a:r>
            <a:r>
              <a:rPr lang="en-US" sz="1100" dirty="0">
                <a:solidFill>
                  <a:srgbClr val="383A42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100" dirty="0" err="1">
                <a:solidFill>
                  <a:srgbClr val="0F1115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r>
              <a:rPr lang="en-US" sz="1100" dirty="0">
                <a:solidFill>
                  <a:srgbClr val="383A42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latinLnBrk="1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100" dirty="0">
                <a:solidFill>
                  <a:srgbClr val="0F1115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latinLnBrk="1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100" i="1" dirty="0">
                <a:solidFill>
                  <a:srgbClr val="A0A1A7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2. Parse the HTML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latinLnBrk="1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100" dirty="0">
                <a:solidFill>
                  <a:srgbClr val="0F1115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soup </a:t>
            </a:r>
            <a:r>
              <a:rPr lang="en-US" sz="1100" dirty="0">
                <a:solidFill>
                  <a:srgbClr val="4078F2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100" dirty="0">
                <a:solidFill>
                  <a:srgbClr val="0F1115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 err="1">
                <a:solidFill>
                  <a:srgbClr val="0F1115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BeautifulSoup</a:t>
            </a:r>
            <a:r>
              <a:rPr lang="en-US" sz="1100" dirty="0">
                <a:solidFill>
                  <a:srgbClr val="383A42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100" dirty="0" err="1">
                <a:solidFill>
                  <a:srgbClr val="0F1115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response</a:t>
            </a:r>
            <a:r>
              <a:rPr lang="en-US" sz="1100" dirty="0" err="1">
                <a:solidFill>
                  <a:srgbClr val="383A42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100" dirty="0" err="1">
                <a:solidFill>
                  <a:srgbClr val="0F1115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  <a:r>
              <a:rPr lang="en-US" sz="1100" dirty="0">
                <a:solidFill>
                  <a:srgbClr val="383A42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100" dirty="0">
                <a:solidFill>
                  <a:srgbClr val="0F1115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solidFill>
                  <a:srgbClr val="50A14F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1100" dirty="0" err="1">
                <a:solidFill>
                  <a:srgbClr val="50A14F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html.parser</a:t>
            </a:r>
            <a:r>
              <a:rPr lang="en-US" sz="1100" dirty="0">
                <a:solidFill>
                  <a:srgbClr val="50A14F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1100" dirty="0">
                <a:solidFill>
                  <a:srgbClr val="383A42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latinLnBrk="1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100" dirty="0">
                <a:solidFill>
                  <a:srgbClr val="0F1115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latinLnBrk="1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100" i="1" dirty="0">
                <a:solidFill>
                  <a:srgbClr val="A0A1A7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3. Find and extract data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latinLnBrk="1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100" dirty="0">
                <a:solidFill>
                  <a:srgbClr val="0F1115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title </a:t>
            </a:r>
            <a:r>
              <a:rPr lang="en-US" sz="1100" dirty="0">
                <a:solidFill>
                  <a:srgbClr val="4078F2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100" dirty="0">
                <a:solidFill>
                  <a:srgbClr val="0F1115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 err="1">
                <a:solidFill>
                  <a:srgbClr val="0F1115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soup</a:t>
            </a:r>
            <a:r>
              <a:rPr lang="en-US" sz="1100" dirty="0" err="1">
                <a:solidFill>
                  <a:srgbClr val="383A42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100" dirty="0" err="1">
                <a:solidFill>
                  <a:srgbClr val="0F1115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find</a:t>
            </a:r>
            <a:r>
              <a:rPr lang="en-US" sz="1100" dirty="0">
                <a:solidFill>
                  <a:srgbClr val="383A42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100" dirty="0">
                <a:solidFill>
                  <a:srgbClr val="50A14F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'h1'</a:t>
            </a:r>
            <a:r>
              <a:rPr lang="en-US" sz="1100" dirty="0">
                <a:solidFill>
                  <a:srgbClr val="383A42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r>
              <a:rPr lang="en-US" sz="1100" dirty="0">
                <a:solidFill>
                  <a:srgbClr val="0F1115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text          </a:t>
            </a:r>
            <a:r>
              <a:rPr lang="en-US" sz="1100" i="1" dirty="0">
                <a:solidFill>
                  <a:srgbClr val="A0A1A7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Find the first &lt;h1&gt; tag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latinLnBrk="1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100" dirty="0">
                <a:solidFill>
                  <a:srgbClr val="0F1115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paragraphs </a:t>
            </a:r>
            <a:r>
              <a:rPr lang="en-US" sz="1100" dirty="0">
                <a:solidFill>
                  <a:srgbClr val="4078F2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100" dirty="0">
                <a:solidFill>
                  <a:srgbClr val="0F1115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 err="1">
                <a:solidFill>
                  <a:srgbClr val="0F1115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soup</a:t>
            </a:r>
            <a:r>
              <a:rPr lang="en-US" sz="1100" dirty="0" err="1">
                <a:solidFill>
                  <a:srgbClr val="383A42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100" dirty="0" err="1">
                <a:solidFill>
                  <a:srgbClr val="0F1115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find_all</a:t>
            </a:r>
            <a:r>
              <a:rPr lang="en-US" sz="1100" dirty="0">
                <a:solidFill>
                  <a:srgbClr val="383A42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100" dirty="0">
                <a:solidFill>
                  <a:srgbClr val="50A14F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'p'</a:t>
            </a:r>
            <a:r>
              <a:rPr lang="en-US" sz="1100" dirty="0">
                <a:solidFill>
                  <a:srgbClr val="383A42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100" dirty="0">
                <a:solidFill>
                  <a:srgbClr val="0F1115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1100" i="1" dirty="0">
                <a:solidFill>
                  <a:srgbClr val="A0A1A7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Find all &lt;p&gt; tags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latinLnBrk="1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100" dirty="0">
                <a:solidFill>
                  <a:srgbClr val="0F1115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latinLnBrk="1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100" dirty="0">
                <a:solidFill>
                  <a:srgbClr val="A626A4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100" dirty="0">
                <a:solidFill>
                  <a:srgbClr val="383A42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100" dirty="0" err="1">
                <a:solidFill>
                  <a:srgbClr val="50A14F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f"Title</a:t>
            </a:r>
            <a:r>
              <a:rPr lang="en-US" sz="1100" dirty="0">
                <a:solidFill>
                  <a:srgbClr val="50A14F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100" dirty="0">
                <a:solidFill>
                  <a:srgbClr val="383A42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1100" dirty="0">
                <a:solidFill>
                  <a:srgbClr val="0F1115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en-US" sz="1100" dirty="0">
                <a:solidFill>
                  <a:srgbClr val="383A42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sz="1100" dirty="0">
                <a:solidFill>
                  <a:srgbClr val="50A14F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100" dirty="0">
                <a:solidFill>
                  <a:srgbClr val="383A42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latinLnBrk="1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100" dirty="0">
                <a:solidFill>
                  <a:srgbClr val="A626A4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sz="1100" dirty="0">
                <a:solidFill>
                  <a:srgbClr val="0F1115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 </a:t>
            </a:r>
            <a:r>
              <a:rPr lang="en-US" sz="1100" dirty="0">
                <a:solidFill>
                  <a:srgbClr val="A626A4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z="1100" dirty="0">
                <a:solidFill>
                  <a:srgbClr val="0F1115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paragraphs</a:t>
            </a:r>
            <a:r>
              <a:rPr lang="en-US" sz="1100" dirty="0">
                <a:solidFill>
                  <a:srgbClr val="383A42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 latinLnBrk="1">
              <a:lnSpc>
                <a:spcPts val="1650"/>
              </a:lnSpc>
              <a:spcBef>
                <a:spcPts val="0"/>
              </a:spcBef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100" dirty="0">
                <a:solidFill>
                  <a:srgbClr val="0F1115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100" dirty="0">
                <a:solidFill>
                  <a:srgbClr val="A626A4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100" dirty="0">
                <a:solidFill>
                  <a:srgbClr val="383A42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100" dirty="0" err="1">
                <a:solidFill>
                  <a:srgbClr val="0F1115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1100" dirty="0" err="1">
                <a:solidFill>
                  <a:srgbClr val="383A42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100" dirty="0" err="1">
                <a:solidFill>
                  <a:srgbClr val="0F1115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  <a:r>
              <a:rPr lang="en-US" sz="1100" dirty="0">
                <a:solidFill>
                  <a:srgbClr val="383A42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0F1115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br>
              <a:rPr lang="en-US" sz="1400" b="1" dirty="0">
                <a:solidFill>
                  <a:srgbClr val="0F1115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dirty="0">
                <a:solidFill>
                  <a:srgbClr val="0F1115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Title: Example Domain</a:t>
            </a:r>
            <a:b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dirty="0">
                <a:solidFill>
                  <a:srgbClr val="0F1115"/>
                </a:solidFill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 domain is for use in illustrative examples in documents...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859098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F8B79-7A3F-4A81-B239-29A17ED42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&amp; Best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2E1DF-EA9A-491E-A96E-AB06B4D193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b="1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Respect </a:t>
            </a:r>
            <a:r>
              <a:rPr lang="en-US" sz="1400" dirty="0">
                <a:solidFill>
                  <a:srgbClr val="0F1115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robots.txt</a:t>
            </a:r>
            <a:endParaRPr lang="en-US" sz="1400" dirty="0">
              <a:solidFill>
                <a:srgbClr val="0F1115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Check </a:t>
            </a:r>
            <a:r>
              <a:rPr lang="en-US" sz="1400" dirty="0">
                <a:solidFill>
                  <a:srgbClr val="0F1115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website.com/robots.txt</a:t>
            </a:r>
            <a:r>
              <a:rPr lang="en-US" sz="1600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to see what the site owner allows.</a:t>
            </a:r>
            <a:endParaRPr lang="en-US" sz="1400" dirty="0">
              <a:solidFill>
                <a:srgbClr val="0F1115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b="1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 Polite: Don't Overload Servers</a:t>
            </a:r>
            <a:endParaRPr lang="en-US" sz="1400" dirty="0">
              <a:solidFill>
                <a:srgbClr val="0F1115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Add delays between requests (</a:t>
            </a:r>
            <a:r>
              <a:rPr lang="en-US" sz="1400" dirty="0" err="1">
                <a:solidFill>
                  <a:srgbClr val="0F1115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time.sleep</a:t>
            </a:r>
            <a:r>
              <a:rPr lang="en-US" sz="1400" dirty="0">
                <a:solidFill>
                  <a:srgbClr val="0F1115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n-US" sz="1600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sz="1400" dirty="0">
              <a:solidFill>
                <a:srgbClr val="0F1115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 prevents your script from being mistaken for a malicious attack.</a:t>
            </a:r>
            <a:endParaRPr lang="en-US" sz="1400" dirty="0">
              <a:solidFill>
                <a:srgbClr val="0F1115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b="1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Websites Change!</a:t>
            </a:r>
            <a:endParaRPr lang="en-US" sz="1400" dirty="0">
              <a:solidFill>
                <a:srgbClr val="0F1115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Your script will break if the website's HTML structure changes. Your selectors (e.g., </a:t>
            </a:r>
            <a:r>
              <a:rPr lang="en-US" sz="1400" dirty="0">
                <a:solidFill>
                  <a:srgbClr val="0F1115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.find('h1')</a:t>
            </a:r>
            <a:r>
              <a:rPr lang="en-US" sz="1600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need to be updated.</a:t>
            </a:r>
            <a:endParaRPr lang="en-US" sz="1400" dirty="0">
              <a:solidFill>
                <a:srgbClr val="0F1115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b="1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Handle Dynamic Content</a:t>
            </a:r>
            <a:endParaRPr lang="en-US" sz="1400" dirty="0">
              <a:solidFill>
                <a:srgbClr val="0F1115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Some sites load data with JavaScript after the initial page load. For these, you might need tools like </a:t>
            </a:r>
            <a:r>
              <a:rPr lang="en-US" sz="1400" dirty="0">
                <a:solidFill>
                  <a:srgbClr val="0F1115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Selenium</a:t>
            </a:r>
            <a:r>
              <a:rPr lang="en-US" sz="1600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or </a:t>
            </a:r>
            <a:r>
              <a:rPr lang="en-US" sz="1400" dirty="0">
                <a:solidFill>
                  <a:srgbClr val="0F1115"/>
                </a:solidFill>
                <a:effectLst/>
                <a:latin typeface="Cascadia Mono" panose="020B06090200000200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Scrapy</a:t>
            </a:r>
            <a:r>
              <a:rPr lang="en-US" sz="1600" dirty="0">
                <a:solidFill>
                  <a:srgbClr val="0F1115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dirty="0">
              <a:solidFill>
                <a:srgbClr val="0F1115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706093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25161</TotalTime>
  <Words>687</Words>
  <Application>Microsoft Office PowerPoint</Application>
  <PresentationFormat>Widescreen</PresentationFormat>
  <Paragraphs>78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Calibri</vt:lpstr>
      <vt:lpstr>Calibri Light</vt:lpstr>
      <vt:lpstr>Cascadia Mono</vt:lpstr>
      <vt:lpstr>Courier New</vt:lpstr>
      <vt:lpstr>Segoe UI</vt:lpstr>
      <vt:lpstr>Symbol</vt:lpstr>
      <vt:lpstr>Office Theme</vt:lpstr>
      <vt:lpstr>MGMT 58600: Python Programming</vt:lpstr>
      <vt:lpstr>Web Scraping 101: Automating Data Collection</vt:lpstr>
      <vt:lpstr>The Python Toolbox</vt:lpstr>
      <vt:lpstr>Understanding HTML Structure</vt:lpstr>
      <vt:lpstr>Understanding HTML Structure</vt:lpstr>
      <vt:lpstr>A Simple Scraping Example</vt:lpstr>
      <vt:lpstr>Challenges &amp; Best Practices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MGMT 288-IBE: Programming for Business Applications</dc:title>
  <dc:creator>Khan, Shoaib Amjad</dc:creator>
  <cp:lastModifiedBy>Shoaib Amjad Khan</cp:lastModifiedBy>
  <cp:revision>97</cp:revision>
  <dcterms:created xsi:type="dcterms:W3CDTF">2024-01-10T16:08:38Z</dcterms:created>
  <dcterms:modified xsi:type="dcterms:W3CDTF">2025-10-07T13:56:06Z</dcterms:modified>
</cp:coreProperties>
</file>