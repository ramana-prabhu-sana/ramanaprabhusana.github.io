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han, Shoaib Amjad" initials="KSA" lastIdx="1" clrIdx="0">
    <p:extLst>
      <p:ext uri="{19B8F6BF-5375-455C-9EA6-DF929625EA0E}">
        <p15:presenceInfo xmlns:p15="http://schemas.microsoft.com/office/powerpoint/2012/main" userId="S::khan180@purdue.edu::47d956e2-a938-471f-b472-8edd5c0d0fe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72" d="100"/>
          <a:sy n="72" d="100"/>
        </p:scale>
        <p:origin x="4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35476F-E0E6-4988-AD3F-B0598014E187}"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4FDE60-5CE9-43EE-A71C-3C6F9C761983}" type="slidenum">
              <a:rPr lang="en-US" smtClean="0"/>
              <a:t>‹#›</a:t>
            </a:fld>
            <a:endParaRPr lang="en-US"/>
          </a:p>
        </p:txBody>
      </p:sp>
    </p:spTree>
    <p:extLst>
      <p:ext uri="{BB962C8B-B14F-4D97-AF65-F5344CB8AC3E}">
        <p14:creationId xmlns:p14="http://schemas.microsoft.com/office/powerpoint/2010/main" val="1368285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242424"/>
              </a:solidFill>
              <a:effectLst/>
              <a:latin typeface="source-serif-pro"/>
            </a:endParaRPr>
          </a:p>
        </p:txBody>
      </p:sp>
      <p:sp>
        <p:nvSpPr>
          <p:cNvPr id="4" name="Slide Number Placeholder 3"/>
          <p:cNvSpPr>
            <a:spLocks noGrp="1"/>
          </p:cNvSpPr>
          <p:nvPr>
            <p:ph type="sldNum" sz="quarter" idx="5"/>
          </p:nvPr>
        </p:nvSpPr>
        <p:spPr/>
        <p:txBody>
          <a:bodyPr/>
          <a:lstStyle/>
          <a:p>
            <a:fld id="{664FDE60-5CE9-43EE-A71C-3C6F9C761983}" type="slidenum">
              <a:rPr lang="en-US" smtClean="0"/>
              <a:t>5</a:t>
            </a:fld>
            <a:endParaRPr lang="en-US"/>
          </a:p>
        </p:txBody>
      </p:sp>
    </p:spTree>
    <p:extLst>
      <p:ext uri="{BB962C8B-B14F-4D97-AF65-F5344CB8AC3E}">
        <p14:creationId xmlns:p14="http://schemas.microsoft.com/office/powerpoint/2010/main" val="340615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B775-FEC8-414D-9047-75C76B832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CDE642-6B6D-4198-86C6-08DC5EBF42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0B74C-7087-4256-A50B-1569C02D8E5D}"/>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E6D1CACD-CD04-4193-BCE0-EEABC28A1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DC53E9-EEAA-49AF-AFE3-3D43672428B7}"/>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2413983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46E3-6D1F-47DF-8945-FD0ECEB407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A8C440-EA3F-487D-8C01-5FFF270472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5AAC40-DFBC-461D-8403-63D66F8AC452}"/>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8F4D65E2-5C14-470E-B6EC-63123868B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92EE47-50A1-4D54-9D97-CA3275973BF2}"/>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1129501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DA79-F58F-4D96-BD1B-F61BAEC79F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14D5D5-C061-4062-83D5-A3564F6B3E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E93BEF-3F77-4C99-93A2-64FA09919575}"/>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FDD6E417-E77B-47DC-AD38-92A73FCD5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C9AB3-56E4-444D-97CD-D5B1E4FC8165}"/>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3509476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1B87-A758-4832-A38E-CE6573B809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F3D7E-A258-4999-97BD-A281D67305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24A2A6-17AD-4FAE-9038-A0BCEDDD29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7948B-075F-4DE1-A2DB-FD0D92F964C2}"/>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6" name="Footer Placeholder 5">
            <a:extLst>
              <a:ext uri="{FF2B5EF4-FFF2-40B4-BE49-F238E27FC236}">
                <a16:creationId xmlns:a16="http://schemas.microsoft.com/office/drawing/2014/main" id="{EB80AF52-1840-4FC7-AF08-0827CD561C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62E169-5354-4A9E-BF6E-7F40FF44BE26}"/>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78542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7D98-CE3F-4500-897C-889A83AC09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6D67EB-AA2F-43E0-BFB6-B0C5098C97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9D2E96-C7B5-4B32-AE08-72B86B4791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E60F7D-1DB0-41F0-9608-D144A0FD7F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12C1FA-27F8-40CF-AE62-74CBC89F96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2FCC84-67BD-44CE-86C9-596D1D566042}"/>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8" name="Footer Placeholder 7">
            <a:extLst>
              <a:ext uri="{FF2B5EF4-FFF2-40B4-BE49-F238E27FC236}">
                <a16:creationId xmlns:a16="http://schemas.microsoft.com/office/drawing/2014/main" id="{FFD37319-1917-40C1-ACA2-FCD2737B0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B29AE1-B6E8-42AF-91EF-74A8769ED9BB}"/>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1506850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D5D6-6FCE-4DD7-B83C-581CDF179B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26005A-8D36-4B8A-A433-59D36B4D906C}"/>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4" name="Footer Placeholder 3">
            <a:extLst>
              <a:ext uri="{FF2B5EF4-FFF2-40B4-BE49-F238E27FC236}">
                <a16:creationId xmlns:a16="http://schemas.microsoft.com/office/drawing/2014/main" id="{330DE3C4-3453-4034-B7EF-25844042D3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4A6212-A0FA-499F-B2F0-F6E49D31ECBA}"/>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4244307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43841A-0D99-45FF-B7D7-CD0C827199B1}"/>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3" name="Footer Placeholder 2">
            <a:extLst>
              <a:ext uri="{FF2B5EF4-FFF2-40B4-BE49-F238E27FC236}">
                <a16:creationId xmlns:a16="http://schemas.microsoft.com/office/drawing/2014/main" id="{20184A42-CE5E-425C-96A6-FE962BD3F1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A3D4E6-965C-477E-9631-677BAECF89A3}"/>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50667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9E03-0EF4-4048-92B9-D98E5EE1B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9830C0-3565-405D-AB94-8011D8767C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1EC657-608E-4E52-BFE0-A75184861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83704-92F6-42AD-AF0D-9ACDF793CC1C}"/>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6" name="Footer Placeholder 5">
            <a:extLst>
              <a:ext uri="{FF2B5EF4-FFF2-40B4-BE49-F238E27FC236}">
                <a16:creationId xmlns:a16="http://schemas.microsoft.com/office/drawing/2014/main" id="{72DC4F2C-352C-4FFC-84EA-14F9058C64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5B141F-CAAE-477C-9CCF-934B2C9EEC11}"/>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2020821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F6B3A-CB02-404E-B6FB-6054827CEF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D96886-9424-4B37-B8BC-EF59B080F6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9A4249-435D-458A-B1EE-B02D059BA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07D8-4C9D-4724-8A21-4AEBEC85391B}"/>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6" name="Footer Placeholder 5">
            <a:extLst>
              <a:ext uri="{FF2B5EF4-FFF2-40B4-BE49-F238E27FC236}">
                <a16:creationId xmlns:a16="http://schemas.microsoft.com/office/drawing/2014/main" id="{B99A6525-C3F3-4DE6-9366-809296C2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A5280-2490-4439-9FE2-71380E1C7537}"/>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2854883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92CEC-B395-4111-98AF-3333B70A6E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CFE5FB-17B9-4F05-9B34-4EDB3B06EC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EEF93-11AA-4F21-9D1D-072970454719}"/>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4548EE81-8F92-4438-A8E3-75F048A909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730CF-2886-4DF8-9C70-32DE4974863B}"/>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802156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8F73B5-6888-465A-8357-F6C3AC75EB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DB4B92-6A8E-4CD1-A513-946A3E397B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93564-ED41-408D-BAAF-6F795A57780D}"/>
              </a:ext>
            </a:extLst>
          </p:cNvPr>
          <p:cNvSpPr>
            <a:spLocks noGrp="1"/>
          </p:cNvSpPr>
          <p:nvPr>
            <p:ph type="dt" sz="half" idx="10"/>
          </p:nvPr>
        </p:nvSpPr>
        <p:spPr/>
        <p:txBody>
          <a:body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7CCC6E8F-1A91-4E31-BEC7-AA508A3182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FDA68-4AD1-47E0-B249-EED35593EB87}"/>
              </a:ext>
            </a:extLst>
          </p:cNvPr>
          <p:cNvSpPr>
            <a:spLocks noGrp="1"/>
          </p:cNvSpPr>
          <p:nvPr>
            <p:ph type="sldNum" sz="quarter" idx="12"/>
          </p:nvPr>
        </p:nvSpPr>
        <p:spPr/>
        <p:txBody>
          <a:bodyPr/>
          <a:lstStyle/>
          <a:p>
            <a:fld id="{FDF5F5EC-72BE-4F89-B81A-3C475A4DE39E}" type="slidenum">
              <a:rPr lang="en-US" smtClean="0"/>
              <a:t>‹#›</a:t>
            </a:fld>
            <a:endParaRPr lang="en-US"/>
          </a:p>
        </p:txBody>
      </p:sp>
    </p:spTree>
    <p:extLst>
      <p:ext uri="{BB962C8B-B14F-4D97-AF65-F5344CB8AC3E}">
        <p14:creationId xmlns:p14="http://schemas.microsoft.com/office/powerpoint/2010/main" val="766621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59B331-09E7-4419-AE29-D17F0F6E76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EA4A9B-6F32-4A2E-8624-47BD773189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6158-A29C-40C2-BF60-E27CBE4BF3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E28E17-AD73-42E0-9CF6-767D8E32F49F}" type="datetimeFigureOut">
              <a:rPr lang="en-US" smtClean="0"/>
              <a:t>8/26/2025</a:t>
            </a:fld>
            <a:endParaRPr lang="en-US"/>
          </a:p>
        </p:txBody>
      </p:sp>
      <p:sp>
        <p:nvSpPr>
          <p:cNvPr id="5" name="Footer Placeholder 4">
            <a:extLst>
              <a:ext uri="{FF2B5EF4-FFF2-40B4-BE49-F238E27FC236}">
                <a16:creationId xmlns:a16="http://schemas.microsoft.com/office/drawing/2014/main" id="{99DB913C-F888-4BC4-A722-2A51A0E21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66E26B-E659-4CED-9E5D-D640B9D31F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F5F5EC-72BE-4F89-B81A-3C475A4DE39E}" type="slidenum">
              <a:rPr lang="en-US" smtClean="0"/>
              <a:t>‹#›</a:t>
            </a:fld>
            <a:endParaRPr lang="en-US"/>
          </a:p>
        </p:txBody>
      </p:sp>
    </p:spTree>
    <p:extLst>
      <p:ext uri="{BB962C8B-B14F-4D97-AF65-F5344CB8AC3E}">
        <p14:creationId xmlns:p14="http://schemas.microsoft.com/office/powerpoint/2010/main" val="3802523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7ABD-5D78-45AC-9D70-491AB23D7CB0}"/>
              </a:ext>
            </a:extLst>
          </p:cNvPr>
          <p:cNvSpPr>
            <a:spLocks noGrp="1"/>
          </p:cNvSpPr>
          <p:nvPr>
            <p:ph type="ctrTitle"/>
          </p:nvPr>
        </p:nvSpPr>
        <p:spPr/>
        <p:txBody>
          <a:bodyPr>
            <a:normAutofit/>
          </a:bodyPr>
          <a:lstStyle/>
          <a:p>
            <a:r>
              <a:rPr lang="en-US" sz="4800" dirty="0"/>
              <a:t>MGMT 58600: Python Programming </a:t>
            </a:r>
          </a:p>
        </p:txBody>
      </p:sp>
      <p:sp>
        <p:nvSpPr>
          <p:cNvPr id="3" name="Subtitle 2">
            <a:extLst>
              <a:ext uri="{FF2B5EF4-FFF2-40B4-BE49-F238E27FC236}">
                <a16:creationId xmlns:a16="http://schemas.microsoft.com/office/drawing/2014/main" id="{F84FF106-BD7D-461B-97B9-60784B56E201}"/>
              </a:ext>
            </a:extLst>
          </p:cNvPr>
          <p:cNvSpPr>
            <a:spLocks noGrp="1"/>
          </p:cNvSpPr>
          <p:nvPr>
            <p:ph type="subTitle" idx="1"/>
          </p:nvPr>
        </p:nvSpPr>
        <p:spPr/>
        <p:txBody>
          <a:bodyPr>
            <a:normAutofit lnSpcReduction="10000"/>
          </a:bodyPr>
          <a:lstStyle/>
          <a:p>
            <a:endParaRPr lang="en-US" dirty="0"/>
          </a:p>
          <a:p>
            <a:r>
              <a:rPr lang="en-US" dirty="0"/>
              <a:t>Lecture 1</a:t>
            </a:r>
          </a:p>
          <a:p>
            <a:endParaRPr lang="en-US" dirty="0"/>
          </a:p>
          <a:p>
            <a:r>
              <a:rPr lang="en-US" dirty="0"/>
              <a:t>Dr. Shoaib Khan</a:t>
            </a:r>
          </a:p>
        </p:txBody>
      </p:sp>
    </p:spTree>
    <p:extLst>
      <p:ext uri="{BB962C8B-B14F-4D97-AF65-F5344CB8AC3E}">
        <p14:creationId xmlns:p14="http://schemas.microsoft.com/office/powerpoint/2010/main" val="273117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60730-7518-42FF-8114-410F23F743A1}"/>
              </a:ext>
            </a:extLst>
          </p:cNvPr>
          <p:cNvSpPr>
            <a:spLocks noGrp="1"/>
          </p:cNvSpPr>
          <p:nvPr>
            <p:ph type="title"/>
          </p:nvPr>
        </p:nvSpPr>
        <p:spPr/>
        <p:txBody>
          <a:bodyPr/>
          <a:lstStyle/>
          <a:p>
            <a:pPr algn="l"/>
            <a:r>
              <a:rPr lang="en-US" i="0" dirty="0">
                <a:solidFill>
                  <a:srgbClr val="1F1F1F"/>
                </a:solidFill>
                <a:effectLst/>
                <a:latin typeface="Source Sans Pro" panose="020B0604020202020204" pitchFamily="34" charset="0"/>
              </a:rPr>
              <a:t>What is Programming?</a:t>
            </a:r>
          </a:p>
        </p:txBody>
      </p:sp>
      <p:sp>
        <p:nvSpPr>
          <p:cNvPr id="3" name="Content Placeholder 2">
            <a:extLst>
              <a:ext uri="{FF2B5EF4-FFF2-40B4-BE49-F238E27FC236}">
                <a16:creationId xmlns:a16="http://schemas.microsoft.com/office/drawing/2014/main" id="{3F9D1D12-7058-48E5-9D63-4E9D5DE1E4B7}"/>
              </a:ext>
            </a:extLst>
          </p:cNvPr>
          <p:cNvSpPr>
            <a:spLocks noGrp="1"/>
          </p:cNvSpPr>
          <p:nvPr>
            <p:ph idx="1"/>
          </p:nvPr>
        </p:nvSpPr>
        <p:spPr/>
        <p:txBody>
          <a:bodyPr/>
          <a:lstStyle/>
          <a:p>
            <a:r>
              <a:rPr lang="en-US" b="0" i="0" dirty="0">
                <a:solidFill>
                  <a:srgbClr val="1F1F1F"/>
                </a:solidFill>
                <a:effectLst/>
              </a:rPr>
              <a:t>Programming refers to the process of telling a computer which tasks to perform in order to solve a problem.</a:t>
            </a:r>
          </a:p>
          <a:p>
            <a:endParaRPr lang="en-US" b="0" i="0" dirty="0">
              <a:solidFill>
                <a:srgbClr val="1F1F1F"/>
              </a:solidFill>
              <a:effectLst/>
            </a:endParaRPr>
          </a:p>
          <a:p>
            <a:r>
              <a:rPr lang="en-US" b="0" i="0" dirty="0">
                <a:solidFill>
                  <a:srgbClr val="1F1F1F"/>
                </a:solidFill>
                <a:effectLst/>
              </a:rPr>
              <a:t>You can think of programming as a collaboration between humans and computers.</a:t>
            </a:r>
          </a:p>
          <a:p>
            <a:endParaRPr lang="en-US" b="0" i="0" dirty="0">
              <a:solidFill>
                <a:srgbClr val="1F1F1F"/>
              </a:solidFill>
              <a:effectLst/>
            </a:endParaRPr>
          </a:p>
          <a:p>
            <a:r>
              <a:rPr lang="en-US" dirty="0">
                <a:solidFill>
                  <a:srgbClr val="1F1F1F"/>
                </a:solidFill>
              </a:rPr>
              <a:t>H</a:t>
            </a:r>
            <a:r>
              <a:rPr lang="en-US" b="0" i="0" dirty="0">
                <a:solidFill>
                  <a:srgbClr val="1F1F1F"/>
                </a:solidFill>
                <a:effectLst/>
              </a:rPr>
              <a:t>umans write a set of instructions (the program) for a computer to follow in a language computers can understand. </a:t>
            </a:r>
          </a:p>
          <a:p>
            <a:endParaRPr lang="en-US" dirty="0"/>
          </a:p>
        </p:txBody>
      </p:sp>
    </p:spTree>
    <p:extLst>
      <p:ext uri="{BB962C8B-B14F-4D97-AF65-F5344CB8AC3E}">
        <p14:creationId xmlns:p14="http://schemas.microsoft.com/office/powerpoint/2010/main" val="2149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E473-B493-4F52-B138-AD82B75899C0}"/>
              </a:ext>
            </a:extLst>
          </p:cNvPr>
          <p:cNvSpPr>
            <a:spLocks noGrp="1"/>
          </p:cNvSpPr>
          <p:nvPr>
            <p:ph type="title"/>
          </p:nvPr>
        </p:nvSpPr>
        <p:spPr/>
        <p:txBody>
          <a:bodyPr/>
          <a:lstStyle/>
          <a:p>
            <a:r>
              <a:rPr lang="en-US" dirty="0"/>
              <a:t>What is Python?</a:t>
            </a:r>
          </a:p>
        </p:txBody>
      </p:sp>
      <p:sp>
        <p:nvSpPr>
          <p:cNvPr id="3" name="Content Placeholder 2">
            <a:extLst>
              <a:ext uri="{FF2B5EF4-FFF2-40B4-BE49-F238E27FC236}">
                <a16:creationId xmlns:a16="http://schemas.microsoft.com/office/drawing/2014/main" id="{0A95D4A0-10F6-4F5F-A31E-7C6295FA5A13}"/>
              </a:ext>
            </a:extLst>
          </p:cNvPr>
          <p:cNvSpPr>
            <a:spLocks noGrp="1"/>
          </p:cNvSpPr>
          <p:nvPr>
            <p:ph idx="1"/>
          </p:nvPr>
        </p:nvSpPr>
        <p:spPr/>
        <p:txBody>
          <a:bodyPr/>
          <a:lstStyle/>
          <a:p>
            <a:r>
              <a:rPr lang="en-US" b="0" i="0" dirty="0">
                <a:solidFill>
                  <a:srgbClr val="05192D"/>
                </a:solidFill>
                <a:effectLst/>
              </a:rPr>
              <a:t>Python is an open-source, object-oriented, high-level, general purpose programming language.</a:t>
            </a:r>
          </a:p>
          <a:p>
            <a:pPr lvl="1"/>
            <a:r>
              <a:rPr lang="en-US" b="0" i="0" dirty="0">
                <a:solidFill>
                  <a:srgbClr val="05192D"/>
                </a:solidFill>
                <a:effectLst/>
              </a:rPr>
              <a:t>Open-source: it's free and source code is available for further improvements, like adding helpful features or fixing bugs</a:t>
            </a:r>
          </a:p>
          <a:p>
            <a:pPr lvl="1"/>
            <a:r>
              <a:rPr lang="en-US" b="0" i="0" dirty="0">
                <a:solidFill>
                  <a:srgbClr val="05192D"/>
                </a:solidFill>
                <a:effectLst/>
              </a:rPr>
              <a:t>Object-oriented: based not on functions but on data abstractions called classes/objects with defined attributes and methods</a:t>
            </a:r>
          </a:p>
          <a:p>
            <a:pPr lvl="1"/>
            <a:r>
              <a:rPr lang="en-US" b="0" i="0" dirty="0">
                <a:solidFill>
                  <a:srgbClr val="05192D"/>
                </a:solidFill>
                <a:effectLst/>
              </a:rPr>
              <a:t>High-level: human-friendly rather than computer-friendly</a:t>
            </a:r>
          </a:p>
          <a:p>
            <a:pPr lvl="1"/>
            <a:r>
              <a:rPr lang="en-US" b="0" i="0" dirty="0">
                <a:solidFill>
                  <a:srgbClr val="05192D"/>
                </a:solidFill>
                <a:effectLst/>
              </a:rPr>
              <a:t>General purpose: can be used to create any kind of programs</a:t>
            </a:r>
          </a:p>
          <a:p>
            <a:endParaRPr lang="en-US" dirty="0"/>
          </a:p>
        </p:txBody>
      </p:sp>
    </p:spTree>
    <p:extLst>
      <p:ext uri="{BB962C8B-B14F-4D97-AF65-F5344CB8AC3E}">
        <p14:creationId xmlns:p14="http://schemas.microsoft.com/office/powerpoint/2010/main" val="272788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E66F-0F25-4D5F-BFE8-F57B7FD1AF29}"/>
              </a:ext>
            </a:extLst>
          </p:cNvPr>
          <p:cNvSpPr>
            <a:spLocks noGrp="1"/>
          </p:cNvSpPr>
          <p:nvPr>
            <p:ph type="title"/>
          </p:nvPr>
        </p:nvSpPr>
        <p:spPr/>
        <p:txBody>
          <a:bodyPr/>
          <a:lstStyle/>
          <a:p>
            <a:r>
              <a:rPr lang="en-US" dirty="0"/>
              <a:t>Why Python? </a:t>
            </a:r>
          </a:p>
        </p:txBody>
      </p:sp>
      <p:pic>
        <p:nvPicPr>
          <p:cNvPr id="5" name="Content Placeholder 4">
            <a:extLst>
              <a:ext uri="{FF2B5EF4-FFF2-40B4-BE49-F238E27FC236}">
                <a16:creationId xmlns:a16="http://schemas.microsoft.com/office/drawing/2014/main" id="{4997BC29-29F3-4023-B2F6-CE5D462F3C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9851" y="1690688"/>
            <a:ext cx="6577820" cy="4686697"/>
          </a:xfrm>
        </p:spPr>
      </p:pic>
    </p:spTree>
    <p:extLst>
      <p:ext uri="{BB962C8B-B14F-4D97-AF65-F5344CB8AC3E}">
        <p14:creationId xmlns:p14="http://schemas.microsoft.com/office/powerpoint/2010/main" val="4175290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A52AD-4CE5-492D-8E09-2CF3F0694FC6}"/>
              </a:ext>
            </a:extLst>
          </p:cNvPr>
          <p:cNvSpPr>
            <a:spLocks noGrp="1"/>
          </p:cNvSpPr>
          <p:nvPr>
            <p:ph type="title"/>
          </p:nvPr>
        </p:nvSpPr>
        <p:spPr/>
        <p:txBody>
          <a:bodyPr/>
          <a:lstStyle/>
          <a:p>
            <a:r>
              <a:rPr lang="en-US" dirty="0"/>
              <a:t>Demand for Python Programming</a:t>
            </a:r>
          </a:p>
        </p:txBody>
      </p:sp>
      <p:sp>
        <p:nvSpPr>
          <p:cNvPr id="7" name="Content Placeholder 6">
            <a:extLst>
              <a:ext uri="{FF2B5EF4-FFF2-40B4-BE49-F238E27FC236}">
                <a16:creationId xmlns:a16="http://schemas.microsoft.com/office/drawing/2014/main" id="{1318E0A6-5FD3-4C45-801A-2354E46DF5D7}"/>
              </a:ext>
            </a:extLst>
          </p:cNvPr>
          <p:cNvSpPr>
            <a:spLocks noGrp="1"/>
          </p:cNvSpPr>
          <p:nvPr>
            <p:ph idx="1"/>
          </p:nvPr>
        </p:nvSpPr>
        <p:spPr/>
        <p:txBody>
          <a:bodyPr/>
          <a:lstStyle/>
          <a:p>
            <a:r>
              <a:rPr lang="en-US" b="0" i="0" dirty="0">
                <a:solidFill>
                  <a:srgbClr val="242424"/>
                </a:solidFill>
                <a:effectLst/>
                <a:latin typeface="source-serif-pro"/>
              </a:rPr>
              <a:t>Python is on a major growth trajectory.</a:t>
            </a:r>
          </a:p>
          <a:p>
            <a:endParaRPr lang="en-US" dirty="0"/>
          </a:p>
        </p:txBody>
      </p:sp>
      <p:pic>
        <p:nvPicPr>
          <p:cNvPr id="9" name="Picture 8">
            <a:extLst>
              <a:ext uri="{FF2B5EF4-FFF2-40B4-BE49-F238E27FC236}">
                <a16:creationId xmlns:a16="http://schemas.microsoft.com/office/drawing/2014/main" id="{4A863F47-AB4F-4B1F-AB67-69139F694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5100" y="2386312"/>
            <a:ext cx="6592168" cy="4471688"/>
          </a:xfrm>
          <a:prstGeom prst="rect">
            <a:avLst/>
          </a:prstGeom>
        </p:spPr>
      </p:pic>
    </p:spTree>
    <p:extLst>
      <p:ext uri="{BB962C8B-B14F-4D97-AF65-F5344CB8AC3E}">
        <p14:creationId xmlns:p14="http://schemas.microsoft.com/office/powerpoint/2010/main" val="2197189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070E-CFE7-4408-BE83-73FEE7AEAE71}"/>
              </a:ext>
            </a:extLst>
          </p:cNvPr>
          <p:cNvSpPr>
            <a:spLocks noGrp="1"/>
          </p:cNvSpPr>
          <p:nvPr>
            <p:ph type="title"/>
          </p:nvPr>
        </p:nvSpPr>
        <p:spPr/>
        <p:txBody>
          <a:bodyPr/>
          <a:lstStyle/>
          <a:p>
            <a:r>
              <a:rPr lang="en-US" dirty="0"/>
              <a:t>Why is Python so Popular?</a:t>
            </a:r>
          </a:p>
        </p:txBody>
      </p:sp>
      <p:sp>
        <p:nvSpPr>
          <p:cNvPr id="3" name="Content Placeholder 2">
            <a:extLst>
              <a:ext uri="{FF2B5EF4-FFF2-40B4-BE49-F238E27FC236}">
                <a16:creationId xmlns:a16="http://schemas.microsoft.com/office/drawing/2014/main" id="{987CE334-8588-4485-BA2B-3196D5035B99}"/>
              </a:ext>
            </a:extLst>
          </p:cNvPr>
          <p:cNvSpPr>
            <a:spLocks noGrp="1"/>
          </p:cNvSpPr>
          <p:nvPr>
            <p:ph idx="1"/>
          </p:nvPr>
        </p:nvSpPr>
        <p:spPr/>
        <p:txBody>
          <a:bodyPr>
            <a:normAutofit fontScale="85000" lnSpcReduction="20000"/>
          </a:bodyPr>
          <a:lstStyle/>
          <a:p>
            <a:r>
              <a:rPr lang="en-US" b="0" i="0" dirty="0">
                <a:solidFill>
                  <a:srgbClr val="05192D"/>
                </a:solidFill>
                <a:effectLst/>
              </a:rPr>
              <a:t>It's </a:t>
            </a:r>
            <a:r>
              <a:rPr lang="en-US" b="1" i="0" dirty="0">
                <a:solidFill>
                  <a:srgbClr val="05192D"/>
                </a:solidFill>
                <a:effectLst/>
              </a:rPr>
              <a:t>free</a:t>
            </a:r>
            <a:r>
              <a:rPr lang="en-US" b="0" i="0" dirty="0">
                <a:solidFill>
                  <a:srgbClr val="05192D"/>
                </a:solidFill>
                <a:effectLst/>
              </a:rPr>
              <a:t> both for individuals and businesses</a:t>
            </a:r>
          </a:p>
          <a:p>
            <a:pPr algn="l">
              <a:buFont typeface="Arial" panose="020B0604020202020204" pitchFamily="34" charset="0"/>
              <a:buChar char="•"/>
            </a:pPr>
            <a:r>
              <a:rPr lang="en-US" b="0" i="0" dirty="0">
                <a:solidFill>
                  <a:srgbClr val="05192D"/>
                </a:solidFill>
                <a:effectLst/>
              </a:rPr>
              <a:t>It has an intuitive syntax that resembles natural English language and hence is </a:t>
            </a:r>
            <a:r>
              <a:rPr lang="en-US" b="1" i="0" dirty="0">
                <a:solidFill>
                  <a:srgbClr val="05192D"/>
                </a:solidFill>
                <a:effectLst/>
              </a:rPr>
              <a:t>easy to learn</a:t>
            </a:r>
            <a:endParaRPr lang="en-US" b="0" i="0" dirty="0">
              <a:solidFill>
                <a:srgbClr val="05192D"/>
              </a:solidFill>
              <a:effectLst/>
            </a:endParaRPr>
          </a:p>
          <a:p>
            <a:pPr algn="l">
              <a:buFont typeface="Arial" panose="020B0604020202020204" pitchFamily="34" charset="0"/>
              <a:buChar char="•"/>
            </a:pPr>
            <a:r>
              <a:rPr lang="en-US" b="0" i="0" dirty="0">
                <a:solidFill>
                  <a:srgbClr val="05192D"/>
                </a:solidFill>
                <a:effectLst/>
              </a:rPr>
              <a:t>Because of its human-friendly syntax, it's </a:t>
            </a:r>
            <a:r>
              <a:rPr lang="en-US" b="1" i="0" dirty="0">
                <a:solidFill>
                  <a:srgbClr val="05192D"/>
                </a:solidFill>
                <a:effectLst/>
              </a:rPr>
              <a:t>easy to write, read, and debug</a:t>
            </a:r>
            <a:endParaRPr lang="en-US" b="0" i="0" dirty="0">
              <a:solidFill>
                <a:srgbClr val="05192D"/>
              </a:solidFill>
              <a:effectLst/>
            </a:endParaRPr>
          </a:p>
          <a:p>
            <a:pPr algn="l">
              <a:buFont typeface="Arial" panose="020B0604020202020204" pitchFamily="34" charset="0"/>
              <a:buChar char="•"/>
            </a:pPr>
            <a:r>
              <a:rPr lang="en-US" b="0" i="0" dirty="0">
                <a:solidFill>
                  <a:srgbClr val="05192D"/>
                </a:solidFill>
                <a:effectLst/>
              </a:rPr>
              <a:t>It provides an </a:t>
            </a:r>
            <a:r>
              <a:rPr lang="en-US" b="1" i="0" dirty="0">
                <a:solidFill>
                  <a:srgbClr val="05192D"/>
                </a:solidFill>
                <a:effectLst/>
              </a:rPr>
              <a:t>extensive standard library</a:t>
            </a:r>
            <a:r>
              <a:rPr lang="en-US" b="0" i="0" dirty="0">
                <a:solidFill>
                  <a:srgbClr val="05192D"/>
                </a:solidFill>
                <a:effectLst/>
              </a:rPr>
              <a:t> and a wide choice of well-documented and comprehensive </a:t>
            </a:r>
            <a:r>
              <a:rPr lang="en-US" b="1" i="0" dirty="0">
                <a:solidFill>
                  <a:srgbClr val="05192D"/>
                </a:solidFill>
                <a:effectLst/>
              </a:rPr>
              <a:t>additional libraries and modules</a:t>
            </a:r>
          </a:p>
          <a:p>
            <a:r>
              <a:rPr lang="en-US" dirty="0">
                <a:solidFill>
                  <a:srgbClr val="05192D"/>
                </a:solidFill>
              </a:rPr>
              <a:t>Python is a </a:t>
            </a:r>
            <a:r>
              <a:rPr lang="en-US" b="1" dirty="0">
                <a:solidFill>
                  <a:srgbClr val="05192D"/>
                </a:solidFill>
              </a:rPr>
              <a:t>cross-platform</a:t>
            </a:r>
            <a:r>
              <a:rPr lang="en-US" dirty="0">
                <a:solidFill>
                  <a:srgbClr val="05192D"/>
                </a:solidFill>
              </a:rPr>
              <a:t> programming language that allows code to run on different operating systems with minimal changes</a:t>
            </a:r>
            <a:endParaRPr lang="en-US" b="0" i="0" dirty="0">
              <a:solidFill>
                <a:srgbClr val="05192D"/>
              </a:solidFill>
              <a:effectLst/>
            </a:endParaRPr>
          </a:p>
          <a:p>
            <a:pPr algn="l">
              <a:buFont typeface="Arial" panose="020B0604020202020204" pitchFamily="34" charset="0"/>
              <a:buChar char="•"/>
            </a:pPr>
            <a:r>
              <a:rPr lang="en-US" b="0" i="0" dirty="0">
                <a:solidFill>
                  <a:srgbClr val="05192D"/>
                </a:solidFill>
                <a:effectLst/>
              </a:rPr>
              <a:t>Thanks to its</a:t>
            </a:r>
            <a:r>
              <a:rPr lang="en-US" b="1" i="0" dirty="0">
                <a:solidFill>
                  <a:srgbClr val="05192D"/>
                </a:solidFill>
                <a:effectLst/>
              </a:rPr>
              <a:t> huge supporting community</a:t>
            </a:r>
            <a:r>
              <a:rPr lang="en-US" b="0" i="0" dirty="0">
                <a:solidFill>
                  <a:srgbClr val="05192D"/>
                </a:solidFill>
                <a:effectLst/>
              </a:rPr>
              <a:t>, Python is constantly developed, improved, and expanded</a:t>
            </a:r>
          </a:p>
          <a:p>
            <a:pPr algn="l">
              <a:buFont typeface="Arial" panose="020B0604020202020204" pitchFamily="34" charset="0"/>
              <a:buChar char="•"/>
            </a:pPr>
            <a:r>
              <a:rPr lang="en-US" b="0" i="0" dirty="0">
                <a:solidFill>
                  <a:srgbClr val="05192D"/>
                </a:solidFill>
                <a:effectLst/>
              </a:rPr>
              <a:t>It can be integrated into any project and used for </a:t>
            </a:r>
            <a:r>
              <a:rPr lang="en-US" b="1" i="0" dirty="0">
                <a:solidFill>
                  <a:srgbClr val="05192D"/>
                </a:solidFill>
                <a:effectLst/>
              </a:rPr>
              <a:t>solving advanced problems</a:t>
            </a:r>
            <a:endParaRPr lang="en-US" b="0" i="0" dirty="0">
              <a:solidFill>
                <a:srgbClr val="05192D"/>
              </a:solidFill>
              <a:effectLst/>
            </a:endParaRPr>
          </a:p>
          <a:p>
            <a:pPr algn="l">
              <a:buFont typeface="Arial" panose="020B0604020202020204" pitchFamily="34" charset="0"/>
              <a:buChar char="•"/>
            </a:pPr>
            <a:r>
              <a:rPr lang="en-US" b="0" i="0" dirty="0">
                <a:solidFill>
                  <a:srgbClr val="05192D"/>
                </a:solidFill>
                <a:effectLst/>
              </a:rPr>
              <a:t>Being a general-purpose language, it has various </a:t>
            </a:r>
            <a:r>
              <a:rPr lang="en-US" b="1" i="0" dirty="0">
                <a:solidFill>
                  <a:srgbClr val="05192D"/>
                </a:solidFill>
                <a:effectLst/>
              </a:rPr>
              <a:t>applications in many industries</a:t>
            </a:r>
            <a:endParaRPr lang="en-US" b="0" i="0" dirty="0">
              <a:solidFill>
                <a:srgbClr val="05192D"/>
              </a:solidFill>
              <a:effectLst/>
            </a:endParaRPr>
          </a:p>
          <a:p>
            <a:endParaRPr lang="en-US" dirty="0"/>
          </a:p>
        </p:txBody>
      </p:sp>
    </p:spTree>
    <p:extLst>
      <p:ext uri="{BB962C8B-B14F-4D97-AF65-F5344CB8AC3E}">
        <p14:creationId xmlns:p14="http://schemas.microsoft.com/office/powerpoint/2010/main" val="315258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9647-FEC9-43BF-8AE8-61ACB43BF99C}"/>
              </a:ext>
            </a:extLst>
          </p:cNvPr>
          <p:cNvSpPr>
            <a:spLocks noGrp="1"/>
          </p:cNvSpPr>
          <p:nvPr>
            <p:ph type="title"/>
          </p:nvPr>
        </p:nvSpPr>
        <p:spPr/>
        <p:txBody>
          <a:bodyPr/>
          <a:lstStyle/>
          <a:p>
            <a:r>
              <a:rPr lang="en-US" dirty="0"/>
              <a:t>What is Python Used For?</a:t>
            </a:r>
          </a:p>
        </p:txBody>
      </p:sp>
      <p:sp>
        <p:nvSpPr>
          <p:cNvPr id="3" name="Content Placeholder 2">
            <a:extLst>
              <a:ext uri="{FF2B5EF4-FFF2-40B4-BE49-F238E27FC236}">
                <a16:creationId xmlns:a16="http://schemas.microsoft.com/office/drawing/2014/main" id="{19BDC866-CC4E-4625-A485-C8338C288106}"/>
              </a:ext>
            </a:extLst>
          </p:cNvPr>
          <p:cNvSpPr>
            <a:spLocks noGrp="1"/>
          </p:cNvSpPr>
          <p:nvPr>
            <p:ph idx="1"/>
          </p:nvPr>
        </p:nvSpPr>
        <p:spPr/>
        <p:txBody>
          <a:bodyPr>
            <a:normAutofit/>
          </a:bodyPr>
          <a:lstStyle/>
          <a:p>
            <a:pPr marL="0" indent="0">
              <a:buNone/>
            </a:pPr>
            <a:r>
              <a:rPr lang="en-US" i="0" dirty="0">
                <a:solidFill>
                  <a:srgbClr val="05192D"/>
                </a:solidFill>
                <a:effectLst/>
              </a:rPr>
              <a:t>1. Python for Data Analysis</a:t>
            </a:r>
          </a:p>
          <a:p>
            <a:pPr lvl="1"/>
            <a:r>
              <a:rPr lang="en-US" b="0" i="0" dirty="0">
                <a:solidFill>
                  <a:srgbClr val="05192D"/>
                </a:solidFill>
                <a:effectLst/>
                <a:latin typeface="Studio-Feixen-Sans"/>
              </a:rPr>
              <a:t>Data has become a truly precious asset in any modern industry</a:t>
            </a:r>
            <a:endParaRPr lang="en-US" b="0" dirty="0">
              <a:solidFill>
                <a:srgbClr val="05192D"/>
              </a:solidFill>
              <a:latin typeface="Studio-Feixen-Sans"/>
            </a:endParaRPr>
          </a:p>
          <a:p>
            <a:pPr lvl="1"/>
            <a:r>
              <a:rPr lang="en-US" b="0" i="0" dirty="0">
                <a:solidFill>
                  <a:srgbClr val="05192D"/>
                </a:solidFill>
                <a:effectLst/>
                <a:latin typeface="Studio-Feixen-Sans"/>
              </a:rPr>
              <a:t>Companies are interested in gathering, manipulating, and analyzing relevant data to extract meaningful business insights from it</a:t>
            </a:r>
          </a:p>
          <a:p>
            <a:pPr lvl="1"/>
            <a:r>
              <a:rPr lang="en-US" b="0" i="0" dirty="0">
                <a:solidFill>
                  <a:srgbClr val="05192D"/>
                </a:solidFill>
                <a:effectLst/>
                <a:latin typeface="Studio-Feixen-Sans"/>
              </a:rPr>
              <a:t>This is where Python goes beyond any competition with libraries like </a:t>
            </a:r>
            <a:r>
              <a:rPr lang="en-US" b="0" i="0" dirty="0">
                <a:solidFill>
                  <a:srgbClr val="0070C0"/>
                </a:solidFill>
                <a:effectLst/>
                <a:latin typeface="Studio-Feixen-Sans"/>
              </a:rPr>
              <a:t>Pandas</a:t>
            </a:r>
            <a:r>
              <a:rPr lang="en-US" b="0" i="0" dirty="0">
                <a:solidFill>
                  <a:srgbClr val="05192D"/>
                </a:solidFill>
                <a:effectLst/>
                <a:latin typeface="Studio-Feixen-Sans"/>
              </a:rPr>
              <a:t> and </a:t>
            </a:r>
            <a:r>
              <a:rPr lang="en-US" b="0" i="0" dirty="0" err="1">
                <a:solidFill>
                  <a:srgbClr val="0070C0"/>
                </a:solidFill>
                <a:effectLst/>
                <a:latin typeface="Studio-Feixen-Sans"/>
              </a:rPr>
              <a:t>Numpy</a:t>
            </a:r>
            <a:endParaRPr lang="en-US" b="0" i="0" dirty="0">
              <a:solidFill>
                <a:srgbClr val="05192D"/>
              </a:solidFill>
              <a:effectLst/>
              <a:latin typeface="Studio-Feixen-Sans"/>
            </a:endParaRPr>
          </a:p>
          <a:p>
            <a:pPr marL="0" indent="0">
              <a:buNone/>
            </a:pPr>
            <a:r>
              <a:rPr lang="en-US" b="0" i="0" dirty="0">
                <a:solidFill>
                  <a:srgbClr val="05192D"/>
                </a:solidFill>
                <a:effectLst/>
                <a:latin typeface="Studio-Feixen-Sans"/>
              </a:rPr>
              <a:t>2. Python for Data Visualization </a:t>
            </a:r>
          </a:p>
          <a:p>
            <a:pPr lvl="1"/>
            <a:r>
              <a:rPr lang="en-US" b="0" i="0" dirty="0">
                <a:solidFill>
                  <a:srgbClr val="05192D"/>
                </a:solidFill>
                <a:effectLst/>
                <a:latin typeface="Studio-Feixen-Sans"/>
              </a:rPr>
              <a:t>Data visualization is an essential part of data analysis that helps us represent information in a more compelling and insightful form</a:t>
            </a:r>
          </a:p>
          <a:p>
            <a:pPr lvl="1"/>
            <a:r>
              <a:rPr lang="en-US" i="0" dirty="0">
                <a:solidFill>
                  <a:srgbClr val="05192D"/>
                </a:solidFill>
                <a:effectLst/>
              </a:rPr>
              <a:t>Python offers a wide spectrum of tools for visualizing the data. The most popular of them are </a:t>
            </a:r>
            <a:r>
              <a:rPr lang="en-US" i="0" dirty="0">
                <a:solidFill>
                  <a:srgbClr val="0070C0"/>
                </a:solidFill>
                <a:effectLst/>
              </a:rPr>
              <a:t>Matplotlib </a:t>
            </a:r>
            <a:r>
              <a:rPr lang="en-US" i="0" dirty="0">
                <a:solidFill>
                  <a:srgbClr val="05192D"/>
                </a:solidFill>
                <a:effectLst/>
              </a:rPr>
              <a:t>and </a:t>
            </a:r>
            <a:r>
              <a:rPr lang="en-US" i="0" dirty="0">
                <a:solidFill>
                  <a:srgbClr val="0070C0"/>
                </a:solidFill>
                <a:effectLst/>
              </a:rPr>
              <a:t>Seaborn</a:t>
            </a:r>
            <a:r>
              <a:rPr lang="en-US" i="0" dirty="0">
                <a:solidFill>
                  <a:srgbClr val="05192D"/>
                </a:solidFill>
                <a:effectLst/>
              </a:rPr>
              <a:t> </a:t>
            </a:r>
          </a:p>
          <a:p>
            <a:endParaRPr lang="en-US" dirty="0"/>
          </a:p>
        </p:txBody>
      </p:sp>
    </p:spTree>
    <p:extLst>
      <p:ext uri="{BB962C8B-B14F-4D97-AF65-F5344CB8AC3E}">
        <p14:creationId xmlns:p14="http://schemas.microsoft.com/office/powerpoint/2010/main" val="27566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26CB-96B1-4365-8194-FEEBD6CE5B8E}"/>
              </a:ext>
            </a:extLst>
          </p:cNvPr>
          <p:cNvSpPr>
            <a:spLocks noGrp="1"/>
          </p:cNvSpPr>
          <p:nvPr>
            <p:ph type="title"/>
          </p:nvPr>
        </p:nvSpPr>
        <p:spPr/>
        <p:txBody>
          <a:bodyPr/>
          <a:lstStyle/>
          <a:p>
            <a:r>
              <a:rPr lang="en-US" dirty="0"/>
              <a:t>What is Python Used For?</a:t>
            </a:r>
          </a:p>
        </p:txBody>
      </p:sp>
      <p:sp>
        <p:nvSpPr>
          <p:cNvPr id="3" name="Content Placeholder 2">
            <a:extLst>
              <a:ext uri="{FF2B5EF4-FFF2-40B4-BE49-F238E27FC236}">
                <a16:creationId xmlns:a16="http://schemas.microsoft.com/office/drawing/2014/main" id="{53D0FB02-F60F-405E-82DA-2019717A0F6E}"/>
              </a:ext>
            </a:extLst>
          </p:cNvPr>
          <p:cNvSpPr>
            <a:spLocks noGrp="1"/>
          </p:cNvSpPr>
          <p:nvPr>
            <p:ph idx="1"/>
          </p:nvPr>
        </p:nvSpPr>
        <p:spPr/>
        <p:txBody>
          <a:bodyPr/>
          <a:lstStyle/>
          <a:p>
            <a:pPr marL="0" indent="0">
              <a:buNone/>
            </a:pPr>
            <a:r>
              <a:rPr lang="en-US" dirty="0"/>
              <a:t>3. Python for Machine Learning</a:t>
            </a:r>
          </a:p>
          <a:p>
            <a:pPr lvl="1"/>
            <a:r>
              <a:rPr lang="en-US" b="0" i="0" dirty="0">
                <a:solidFill>
                  <a:srgbClr val="05192D"/>
                </a:solidFill>
                <a:effectLst/>
                <a:latin typeface="Studio-Feixen-Sans"/>
              </a:rPr>
              <a:t>Machine learning (ML) is at the core of the majority of data science tasks</a:t>
            </a:r>
          </a:p>
          <a:p>
            <a:pPr lvl="1"/>
            <a:r>
              <a:rPr lang="en-US" dirty="0"/>
              <a:t>It is a field of artificial intelligence (AI) that uses algorithms to enable machines to learn patterns and trends from historical data and make predictions on new data.</a:t>
            </a:r>
          </a:p>
          <a:p>
            <a:pPr lvl="1"/>
            <a:r>
              <a:rPr lang="en-US" b="0" i="0" dirty="0">
                <a:solidFill>
                  <a:srgbClr val="05192D"/>
                </a:solidFill>
                <a:effectLst/>
                <a:latin typeface="Studio-Feixen-Sans"/>
              </a:rPr>
              <a:t>Using ML techniques, we can create models that can, for instance:</a:t>
            </a:r>
          </a:p>
          <a:p>
            <a:pPr lvl="2"/>
            <a:r>
              <a:rPr lang="en-US" b="0" i="0" dirty="0">
                <a:solidFill>
                  <a:srgbClr val="05192D"/>
                </a:solidFill>
                <a:effectLst/>
                <a:latin typeface="Studio-Feixen-Sans"/>
              </a:rPr>
              <a:t> accurately predict the customer churn rate of the company</a:t>
            </a:r>
          </a:p>
          <a:p>
            <a:pPr lvl="2"/>
            <a:r>
              <a:rPr lang="en-US" dirty="0"/>
              <a:t> estimate the risk of a person having a certain disease </a:t>
            </a:r>
          </a:p>
          <a:p>
            <a:pPr lvl="2"/>
            <a:r>
              <a:rPr lang="en-US" dirty="0"/>
              <a:t> identify the optimal positioning of taxi vehicles, etc.</a:t>
            </a:r>
          </a:p>
          <a:p>
            <a:pPr lvl="1"/>
            <a:r>
              <a:rPr lang="en-US" dirty="0"/>
              <a:t>Python offers powerful ML libraries like </a:t>
            </a:r>
            <a:r>
              <a:rPr lang="en-US" dirty="0">
                <a:solidFill>
                  <a:srgbClr val="0070C0"/>
                </a:solidFill>
              </a:rPr>
              <a:t>scikit-learn</a:t>
            </a:r>
            <a:r>
              <a:rPr lang="en-US" dirty="0"/>
              <a:t>, </a:t>
            </a:r>
            <a:r>
              <a:rPr lang="en-US" dirty="0" err="1">
                <a:solidFill>
                  <a:srgbClr val="0070C0"/>
                </a:solidFill>
              </a:rPr>
              <a:t>Keras</a:t>
            </a:r>
            <a:r>
              <a:rPr lang="en-US" dirty="0"/>
              <a:t>, </a:t>
            </a:r>
            <a:r>
              <a:rPr lang="en-US" dirty="0">
                <a:solidFill>
                  <a:srgbClr val="0070C0"/>
                </a:solidFill>
              </a:rPr>
              <a:t>TensorFlow</a:t>
            </a:r>
            <a:r>
              <a:rPr lang="en-US" dirty="0"/>
              <a:t>, and </a:t>
            </a:r>
            <a:r>
              <a:rPr lang="en-US" dirty="0" err="1">
                <a:solidFill>
                  <a:srgbClr val="0070C0"/>
                </a:solidFill>
              </a:rPr>
              <a:t>PyTorch</a:t>
            </a:r>
            <a:r>
              <a:rPr lang="en-US" dirty="0"/>
              <a:t>.</a:t>
            </a:r>
          </a:p>
        </p:txBody>
      </p:sp>
    </p:spTree>
    <p:extLst>
      <p:ext uri="{BB962C8B-B14F-4D97-AF65-F5344CB8AC3E}">
        <p14:creationId xmlns:p14="http://schemas.microsoft.com/office/powerpoint/2010/main" val="145206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2FBF1-2751-4501-921B-C97D2E9F8188}"/>
              </a:ext>
            </a:extLst>
          </p:cNvPr>
          <p:cNvSpPr>
            <a:spLocks noGrp="1"/>
          </p:cNvSpPr>
          <p:nvPr>
            <p:ph type="title"/>
          </p:nvPr>
        </p:nvSpPr>
        <p:spPr/>
        <p:txBody>
          <a:bodyPr/>
          <a:lstStyle/>
          <a:p>
            <a:r>
              <a:rPr lang="en-US" dirty="0"/>
              <a:t>What is Python Used For? </a:t>
            </a:r>
          </a:p>
        </p:txBody>
      </p:sp>
      <p:sp>
        <p:nvSpPr>
          <p:cNvPr id="3" name="Content Placeholder 2">
            <a:extLst>
              <a:ext uri="{FF2B5EF4-FFF2-40B4-BE49-F238E27FC236}">
                <a16:creationId xmlns:a16="http://schemas.microsoft.com/office/drawing/2014/main" id="{0A4B4320-DE5A-4228-A6E1-92C88CEDB1B8}"/>
              </a:ext>
            </a:extLst>
          </p:cNvPr>
          <p:cNvSpPr>
            <a:spLocks noGrp="1"/>
          </p:cNvSpPr>
          <p:nvPr>
            <p:ph idx="1"/>
          </p:nvPr>
        </p:nvSpPr>
        <p:spPr/>
        <p:txBody>
          <a:bodyPr>
            <a:normAutofit fontScale="92500"/>
          </a:bodyPr>
          <a:lstStyle/>
          <a:p>
            <a:pPr marL="0" indent="0">
              <a:buNone/>
            </a:pPr>
            <a:r>
              <a:rPr lang="en-US" dirty="0"/>
              <a:t>4. Python for Software Development</a:t>
            </a:r>
          </a:p>
          <a:p>
            <a:pPr lvl="1"/>
            <a:r>
              <a:rPr lang="en-US" dirty="0"/>
              <a:t>Besides its numerous application in data science areas, Python is used at each stage of software development, including: </a:t>
            </a:r>
          </a:p>
          <a:p>
            <a:pPr lvl="2"/>
            <a:r>
              <a:rPr lang="en-US" dirty="0"/>
              <a:t>build control </a:t>
            </a:r>
          </a:p>
          <a:p>
            <a:pPr lvl="2"/>
            <a:r>
              <a:rPr lang="en-US" dirty="0"/>
              <a:t>automated continuous compilation</a:t>
            </a:r>
          </a:p>
          <a:p>
            <a:pPr lvl="2"/>
            <a:r>
              <a:rPr lang="en-US" dirty="0"/>
              <a:t>prototyping, bug tracking, testing, and software maintenance. </a:t>
            </a:r>
          </a:p>
          <a:p>
            <a:pPr marL="0" indent="0">
              <a:buNone/>
            </a:pPr>
            <a:r>
              <a:rPr lang="en-US" dirty="0"/>
              <a:t>5. Python for Web Development</a:t>
            </a:r>
          </a:p>
          <a:p>
            <a:pPr lvl="1"/>
            <a:r>
              <a:rPr lang="en-US" dirty="0"/>
              <a:t>While for building the front end of a website (the part of a website accessible to its users), we would mostly use the languages such as HTML, CSS, and JavaScript, for its back end (the business logic part of a website), we would often opt for Python.</a:t>
            </a:r>
          </a:p>
          <a:p>
            <a:pPr lvl="1"/>
            <a:r>
              <a:rPr lang="en-US" dirty="0"/>
              <a:t>Among the giant websites and applications created using Python, it's worth mentioning Google, Facebook, Instagram, YouTube, Dropbox, and Reddit. </a:t>
            </a:r>
          </a:p>
        </p:txBody>
      </p:sp>
    </p:spTree>
    <p:extLst>
      <p:ext uri="{BB962C8B-B14F-4D97-AF65-F5344CB8AC3E}">
        <p14:creationId xmlns:p14="http://schemas.microsoft.com/office/powerpoint/2010/main" val="378333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25833-9A33-4388-BE45-76A17C7E057C}"/>
              </a:ext>
            </a:extLst>
          </p:cNvPr>
          <p:cNvSpPr>
            <a:spLocks noGrp="1"/>
          </p:cNvSpPr>
          <p:nvPr>
            <p:ph type="title"/>
          </p:nvPr>
        </p:nvSpPr>
        <p:spPr/>
        <p:txBody>
          <a:bodyPr/>
          <a:lstStyle/>
          <a:p>
            <a:r>
              <a:rPr lang="en-US" dirty="0"/>
              <a:t>What is Python Used For? </a:t>
            </a:r>
          </a:p>
        </p:txBody>
      </p:sp>
      <p:sp>
        <p:nvSpPr>
          <p:cNvPr id="3" name="Content Placeholder 2">
            <a:extLst>
              <a:ext uri="{FF2B5EF4-FFF2-40B4-BE49-F238E27FC236}">
                <a16:creationId xmlns:a16="http://schemas.microsoft.com/office/drawing/2014/main" id="{81D84648-D8C6-404F-9F4C-4FB9A02FD700}"/>
              </a:ext>
            </a:extLst>
          </p:cNvPr>
          <p:cNvSpPr>
            <a:spLocks noGrp="1"/>
          </p:cNvSpPr>
          <p:nvPr>
            <p:ph idx="1"/>
          </p:nvPr>
        </p:nvSpPr>
        <p:spPr/>
        <p:txBody>
          <a:bodyPr/>
          <a:lstStyle/>
          <a:p>
            <a:pPr marL="0" indent="0">
              <a:buNone/>
            </a:pPr>
            <a:r>
              <a:rPr lang="en-US" dirty="0"/>
              <a:t>6. Python for Task Automation/Scripting</a:t>
            </a:r>
          </a:p>
          <a:p>
            <a:pPr lvl="1"/>
            <a:r>
              <a:rPr lang="en-US" dirty="0"/>
              <a:t>Python is a great tool for writing programs to automate different repetitive tasks. This process is also called scripting.</a:t>
            </a:r>
          </a:p>
          <a:p>
            <a:pPr lvl="1"/>
            <a:r>
              <a:rPr lang="en-US" dirty="0"/>
              <a:t>You can do scripting to work with files and folders, e.g., create, rename, or delete files, check them for errors, duplicates, or find certain text patterns, or update the file content.</a:t>
            </a:r>
          </a:p>
          <a:p>
            <a:pPr lvl="1"/>
            <a:r>
              <a:rPr lang="en-US" dirty="0"/>
              <a:t>You can also use Python automation to search and download information from the internet</a:t>
            </a:r>
          </a:p>
          <a:p>
            <a:pPr lvl="1"/>
            <a:r>
              <a:rPr lang="en-US" dirty="0"/>
              <a:t>Complete and submit online forms </a:t>
            </a:r>
          </a:p>
          <a:p>
            <a:pPr lvl="1"/>
            <a:r>
              <a:rPr lang="en-US" dirty="0"/>
              <a:t>Send regular notifications or emails, etc.  </a:t>
            </a:r>
          </a:p>
        </p:txBody>
      </p:sp>
    </p:spTree>
    <p:extLst>
      <p:ext uri="{BB962C8B-B14F-4D97-AF65-F5344CB8AC3E}">
        <p14:creationId xmlns:p14="http://schemas.microsoft.com/office/powerpoint/2010/main" val="250918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07DF-EAB6-48C5-AF0A-F0F1C6DE4117}"/>
              </a:ext>
            </a:extLst>
          </p:cNvPr>
          <p:cNvSpPr>
            <a:spLocks noGrp="1"/>
          </p:cNvSpPr>
          <p:nvPr>
            <p:ph type="title"/>
          </p:nvPr>
        </p:nvSpPr>
        <p:spPr/>
        <p:txBody>
          <a:bodyPr/>
          <a:lstStyle/>
          <a:p>
            <a:r>
              <a:rPr lang="en-US" dirty="0"/>
              <a:t>What is Python Used For?</a:t>
            </a:r>
          </a:p>
        </p:txBody>
      </p:sp>
      <p:sp>
        <p:nvSpPr>
          <p:cNvPr id="3" name="Content Placeholder 2">
            <a:extLst>
              <a:ext uri="{FF2B5EF4-FFF2-40B4-BE49-F238E27FC236}">
                <a16:creationId xmlns:a16="http://schemas.microsoft.com/office/drawing/2014/main" id="{2732F9C3-6244-4415-B120-170BEDCE1FDA}"/>
              </a:ext>
            </a:extLst>
          </p:cNvPr>
          <p:cNvSpPr>
            <a:spLocks noGrp="1"/>
          </p:cNvSpPr>
          <p:nvPr>
            <p:ph idx="1"/>
          </p:nvPr>
        </p:nvSpPr>
        <p:spPr/>
        <p:txBody>
          <a:bodyPr/>
          <a:lstStyle/>
          <a:p>
            <a:pPr marL="0" indent="0">
              <a:buNone/>
            </a:pPr>
            <a:r>
              <a:rPr lang="en-US" i="0" dirty="0">
                <a:solidFill>
                  <a:srgbClr val="05192D"/>
                </a:solidFill>
                <a:effectLst/>
                <a:latin typeface="Studio-Feixen-Sans"/>
              </a:rPr>
              <a:t>7. Miscellaneous Python Uses</a:t>
            </a:r>
          </a:p>
          <a:p>
            <a:pPr lvl="1"/>
            <a:r>
              <a:rPr lang="en-US" b="0" i="0" dirty="0">
                <a:solidFill>
                  <a:srgbClr val="05192D"/>
                </a:solidFill>
                <a:effectLst/>
                <a:latin typeface="Studio-Feixen-Sans"/>
              </a:rPr>
              <a:t>Monitoring the stock market</a:t>
            </a:r>
          </a:p>
          <a:p>
            <a:pPr lvl="1"/>
            <a:r>
              <a:rPr lang="en-US" b="0" i="0" dirty="0">
                <a:solidFill>
                  <a:srgbClr val="05192D"/>
                </a:solidFill>
                <a:effectLst/>
                <a:latin typeface="Studio-Feixen-Sans"/>
              </a:rPr>
              <a:t>Web scraping</a:t>
            </a:r>
          </a:p>
          <a:p>
            <a:pPr lvl="1"/>
            <a:r>
              <a:rPr lang="en-US" b="0" i="0" dirty="0">
                <a:solidFill>
                  <a:srgbClr val="05192D"/>
                </a:solidFill>
                <a:effectLst/>
                <a:latin typeface="Studio-Feixen-Sans"/>
              </a:rPr>
              <a:t>Keeping updated a to-do list</a:t>
            </a:r>
          </a:p>
          <a:p>
            <a:pPr lvl="1"/>
            <a:r>
              <a:rPr lang="en-US" dirty="0">
                <a:solidFill>
                  <a:srgbClr val="05192D"/>
                </a:solidFill>
                <a:latin typeface="Studio-Feixen-Sans"/>
              </a:rPr>
              <a:t>Generating random data.</a:t>
            </a:r>
            <a:endParaRPr lang="en-US" b="0" i="0" dirty="0">
              <a:solidFill>
                <a:srgbClr val="05192D"/>
              </a:solidFill>
              <a:effectLst/>
              <a:latin typeface="Studio-Feixen-Sans"/>
            </a:endParaRPr>
          </a:p>
          <a:p>
            <a:pPr lvl="1"/>
            <a:r>
              <a:rPr lang="en-US" b="0" i="0" dirty="0">
                <a:solidFill>
                  <a:srgbClr val="05192D"/>
                </a:solidFill>
                <a:effectLst/>
                <a:latin typeface="Studio-Feixen-Sans"/>
              </a:rPr>
              <a:t>Creating bots, etc.</a:t>
            </a:r>
          </a:p>
          <a:p>
            <a:pPr marL="0" indent="0">
              <a:buNone/>
            </a:pPr>
            <a:endParaRPr lang="en-US" i="0" dirty="0">
              <a:solidFill>
                <a:srgbClr val="05192D"/>
              </a:solidFill>
              <a:effectLst/>
              <a:latin typeface="Studio-Feixen-Sans"/>
            </a:endParaRPr>
          </a:p>
          <a:p>
            <a:endParaRPr lang="en-US" dirty="0"/>
          </a:p>
        </p:txBody>
      </p:sp>
    </p:spTree>
    <p:extLst>
      <p:ext uri="{BB962C8B-B14F-4D97-AF65-F5344CB8AC3E}">
        <p14:creationId xmlns:p14="http://schemas.microsoft.com/office/powerpoint/2010/main" val="31441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F103-7F1A-4FC4-8A32-99721C58DD5F}"/>
              </a:ext>
            </a:extLst>
          </p:cNvPr>
          <p:cNvSpPr>
            <a:spLocks noGrp="1"/>
          </p:cNvSpPr>
          <p:nvPr>
            <p:ph type="title"/>
          </p:nvPr>
        </p:nvSpPr>
        <p:spPr/>
        <p:txBody>
          <a:bodyPr/>
          <a:lstStyle/>
          <a:p>
            <a:r>
              <a:rPr lang="en-US" dirty="0"/>
              <a:t>Top Companies/Institutions That Use Python</a:t>
            </a:r>
          </a:p>
        </p:txBody>
      </p:sp>
      <p:pic>
        <p:nvPicPr>
          <p:cNvPr id="5" name="Content Placeholder 4">
            <a:extLst>
              <a:ext uri="{FF2B5EF4-FFF2-40B4-BE49-F238E27FC236}">
                <a16:creationId xmlns:a16="http://schemas.microsoft.com/office/drawing/2014/main" id="{E4074BC2-8511-45D6-B69A-AF87C1204EB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195" t="14628"/>
          <a:stretch/>
        </p:blipFill>
        <p:spPr>
          <a:xfrm>
            <a:off x="1260628" y="2068496"/>
            <a:ext cx="9283307" cy="3862847"/>
          </a:xfrm>
        </p:spPr>
      </p:pic>
    </p:spTree>
    <p:extLst>
      <p:ext uri="{BB962C8B-B14F-4D97-AF65-F5344CB8AC3E}">
        <p14:creationId xmlns:p14="http://schemas.microsoft.com/office/powerpoint/2010/main" val="86135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8032-6600-418B-B218-5D4AA544FAA9}"/>
              </a:ext>
            </a:extLst>
          </p:cNvPr>
          <p:cNvSpPr>
            <a:spLocks noGrp="1"/>
          </p:cNvSpPr>
          <p:nvPr>
            <p:ph type="title"/>
          </p:nvPr>
        </p:nvSpPr>
        <p:spPr/>
        <p:txBody>
          <a:bodyPr/>
          <a:lstStyle/>
          <a:p>
            <a:r>
              <a:rPr lang="en-US" b="1" dirty="0"/>
              <a:t>Getting Python </a:t>
            </a:r>
          </a:p>
        </p:txBody>
      </p:sp>
      <p:sp>
        <p:nvSpPr>
          <p:cNvPr id="3" name="Content Placeholder 2">
            <a:extLst>
              <a:ext uri="{FF2B5EF4-FFF2-40B4-BE49-F238E27FC236}">
                <a16:creationId xmlns:a16="http://schemas.microsoft.com/office/drawing/2014/main" id="{B4DB6153-5D18-41DC-AB03-E2339179E4F4}"/>
              </a:ext>
            </a:extLst>
          </p:cNvPr>
          <p:cNvSpPr>
            <a:spLocks noGrp="1"/>
          </p:cNvSpPr>
          <p:nvPr>
            <p:ph idx="1"/>
          </p:nvPr>
        </p:nvSpPr>
        <p:spPr/>
        <p:txBody>
          <a:bodyPr/>
          <a:lstStyle/>
          <a:p>
            <a:r>
              <a:rPr lang="en-US" dirty="0"/>
              <a:t>To install python on your machine, visit </a:t>
            </a:r>
            <a:r>
              <a:rPr lang="en-US" dirty="0">
                <a:hlinkClick r:id="rId2"/>
              </a:rPr>
              <a:t>https://www.python.org/downloads/</a:t>
            </a:r>
            <a:endParaRPr lang="en-US" dirty="0"/>
          </a:p>
          <a:p>
            <a:r>
              <a:rPr lang="en-US" dirty="0"/>
              <a:t>Download the latest version and follow the default installation process.</a:t>
            </a:r>
          </a:p>
          <a:p>
            <a:r>
              <a:rPr lang="en-US" dirty="0"/>
              <a:t>This process will also install IDLE, the interactive Python IDE(Integrated Development Environment).</a:t>
            </a:r>
          </a:p>
          <a:p>
            <a:r>
              <a:rPr lang="en-US" dirty="0"/>
              <a:t>Let’s explore it a bit (Run IDLE before proceeding to next slide). </a:t>
            </a:r>
          </a:p>
          <a:p>
            <a:endParaRPr lang="en-US" dirty="0"/>
          </a:p>
        </p:txBody>
      </p:sp>
    </p:spTree>
    <p:extLst>
      <p:ext uri="{BB962C8B-B14F-4D97-AF65-F5344CB8AC3E}">
        <p14:creationId xmlns:p14="http://schemas.microsoft.com/office/powerpoint/2010/main" val="304284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A5EB-80DB-4BC7-938E-DFB0EA1FD584}"/>
              </a:ext>
            </a:extLst>
          </p:cNvPr>
          <p:cNvSpPr>
            <a:spLocks noGrp="1"/>
          </p:cNvSpPr>
          <p:nvPr>
            <p:ph type="title"/>
          </p:nvPr>
        </p:nvSpPr>
        <p:spPr/>
        <p:txBody>
          <a:bodyPr/>
          <a:lstStyle/>
          <a:p>
            <a:r>
              <a:rPr lang="en-US" b="1" dirty="0"/>
              <a:t>Python Basics</a:t>
            </a:r>
          </a:p>
        </p:txBody>
      </p:sp>
      <p:sp>
        <p:nvSpPr>
          <p:cNvPr id="3" name="Content Placeholder 2">
            <a:extLst>
              <a:ext uri="{FF2B5EF4-FFF2-40B4-BE49-F238E27FC236}">
                <a16:creationId xmlns:a16="http://schemas.microsoft.com/office/drawing/2014/main" id="{B75A3BC7-24EC-4CDE-863E-F50712FE228A}"/>
              </a:ext>
            </a:extLst>
          </p:cNvPr>
          <p:cNvSpPr>
            <a:spLocks noGrp="1"/>
          </p:cNvSpPr>
          <p:nvPr>
            <p:ph idx="1"/>
          </p:nvPr>
        </p:nvSpPr>
        <p:spPr/>
        <p:txBody>
          <a:bodyPr/>
          <a:lstStyle/>
          <a:p>
            <a:endParaRPr lang="en-US" b="1" dirty="0">
              <a:solidFill>
                <a:srgbClr val="000000"/>
              </a:solidFill>
              <a:latin typeface="JansonTextLTStd"/>
            </a:endParaRPr>
          </a:p>
          <a:p>
            <a:r>
              <a:rPr lang="en-US" b="1" dirty="0">
                <a:solidFill>
                  <a:srgbClr val="000000"/>
                </a:solidFill>
                <a:latin typeface="JansonTextLTStd"/>
              </a:rPr>
              <a:t>Entering Expressions:</a:t>
            </a:r>
            <a:endParaRPr lang="en-US" b="1" cap="small" dirty="0"/>
          </a:p>
          <a:p>
            <a:pPr lvl="1"/>
            <a:r>
              <a:rPr lang="en-US" dirty="0">
                <a:solidFill>
                  <a:srgbClr val="000000"/>
                </a:solidFill>
                <a:latin typeface="JansonTextLTStd"/>
              </a:rPr>
              <a:t>Enter </a:t>
            </a:r>
            <a:r>
              <a:rPr lang="en-US" b="1" dirty="0">
                <a:solidFill>
                  <a:srgbClr val="000000"/>
                </a:solidFill>
                <a:latin typeface="Courier New" panose="02070309020205020404" pitchFamily="49" charset="0"/>
              </a:rPr>
              <a:t>2 + 2</a:t>
            </a:r>
            <a:r>
              <a:rPr lang="en-US" dirty="0">
                <a:solidFill>
                  <a:srgbClr val="000000"/>
                </a:solidFill>
                <a:latin typeface="JansonTextLTStd"/>
              </a:rPr>
              <a:t> at the prompt to have Python do some simple math.</a:t>
            </a:r>
          </a:p>
          <a:p>
            <a:pPr lvl="1"/>
            <a:r>
              <a:rPr lang="en-US" dirty="0"/>
              <a:t> </a:t>
            </a:r>
            <a:r>
              <a:rPr lang="en-US" b="1" dirty="0">
                <a:solidFill>
                  <a:srgbClr val="000000"/>
                </a:solidFill>
                <a:latin typeface="Courier New" panose="02070309020205020404" pitchFamily="49" charset="0"/>
              </a:rPr>
              <a:t>2 + 2 </a:t>
            </a:r>
            <a:r>
              <a:rPr lang="en-US" dirty="0"/>
              <a:t>is called an </a:t>
            </a:r>
            <a:r>
              <a:rPr lang="en-US" i="1" dirty="0"/>
              <a:t>expression</a:t>
            </a:r>
            <a:r>
              <a:rPr lang="en-US" dirty="0"/>
              <a:t>, which is the most basic kind of programming instruction in the language.</a:t>
            </a:r>
            <a:endParaRPr lang="en-US" dirty="0">
              <a:solidFill>
                <a:srgbClr val="000000"/>
              </a:solidFill>
              <a:latin typeface="JansonTextLTStd"/>
            </a:endParaRPr>
          </a:p>
          <a:p>
            <a:pPr lvl="1"/>
            <a:r>
              <a:rPr lang="en-US" dirty="0"/>
              <a:t>Expressions consist of </a:t>
            </a:r>
            <a:r>
              <a:rPr lang="en-US" i="1" dirty="0"/>
              <a:t>values</a:t>
            </a:r>
            <a:r>
              <a:rPr lang="en-US" dirty="0"/>
              <a:t> (such as 2) and </a:t>
            </a:r>
            <a:r>
              <a:rPr lang="en-US" i="1" dirty="0"/>
              <a:t>operators</a:t>
            </a:r>
            <a:r>
              <a:rPr lang="en-US" dirty="0"/>
              <a:t> (such as +), and they can always </a:t>
            </a:r>
            <a:r>
              <a:rPr lang="en-US" i="1" dirty="0"/>
              <a:t>evaluate</a:t>
            </a:r>
            <a:r>
              <a:rPr lang="en-US" dirty="0"/>
              <a:t> (that is, reduce) down to a single value.</a:t>
            </a:r>
          </a:p>
          <a:p>
            <a:pPr marL="0" indent="0">
              <a:buNone/>
            </a:pPr>
            <a:endParaRPr lang="en-US" b="1" dirty="0"/>
          </a:p>
        </p:txBody>
      </p:sp>
    </p:spTree>
    <p:extLst>
      <p:ext uri="{BB962C8B-B14F-4D97-AF65-F5344CB8AC3E}">
        <p14:creationId xmlns:p14="http://schemas.microsoft.com/office/powerpoint/2010/main" val="304863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44F-FADA-4842-9421-8595FE79CAE5}"/>
              </a:ext>
            </a:extLst>
          </p:cNvPr>
          <p:cNvSpPr>
            <a:spLocks noGrp="1"/>
          </p:cNvSpPr>
          <p:nvPr>
            <p:ph type="title"/>
          </p:nvPr>
        </p:nvSpPr>
        <p:spPr/>
        <p:txBody>
          <a:bodyPr/>
          <a:lstStyle/>
          <a:p>
            <a:r>
              <a:rPr lang="en-US" b="1" dirty="0"/>
              <a:t>Python Basics</a:t>
            </a:r>
            <a:endParaRPr lang="en-US" dirty="0"/>
          </a:p>
        </p:txBody>
      </p:sp>
      <p:sp>
        <p:nvSpPr>
          <p:cNvPr id="3" name="Content Placeholder 2">
            <a:extLst>
              <a:ext uri="{FF2B5EF4-FFF2-40B4-BE49-F238E27FC236}">
                <a16:creationId xmlns:a16="http://schemas.microsoft.com/office/drawing/2014/main" id="{956243AC-2D67-4E4E-B126-F7CBEC70FF7C}"/>
              </a:ext>
            </a:extLst>
          </p:cNvPr>
          <p:cNvSpPr>
            <a:spLocks noGrp="1"/>
          </p:cNvSpPr>
          <p:nvPr>
            <p:ph idx="1"/>
          </p:nvPr>
        </p:nvSpPr>
        <p:spPr/>
        <p:txBody>
          <a:bodyPr>
            <a:normAutofit/>
          </a:bodyPr>
          <a:lstStyle/>
          <a:p>
            <a:r>
              <a:rPr lang="en-US" b="1" dirty="0"/>
              <a:t>List of Math Operators:</a:t>
            </a:r>
          </a:p>
          <a:p>
            <a:endParaRPr lang="en-US" b="1" dirty="0"/>
          </a:p>
          <a:p>
            <a:endParaRPr lang="en-US" b="1" dirty="0"/>
          </a:p>
          <a:p>
            <a:endParaRPr lang="en-US" b="1" dirty="0"/>
          </a:p>
          <a:p>
            <a:endParaRPr lang="en-US" b="1" dirty="0"/>
          </a:p>
          <a:p>
            <a:r>
              <a:rPr lang="en-US" b="0" i="0" dirty="0">
                <a:solidFill>
                  <a:srgbClr val="000000"/>
                </a:solidFill>
                <a:effectLst/>
              </a:rPr>
              <a:t>The </a:t>
            </a:r>
            <a:r>
              <a:rPr lang="en-US" b="0" i="1" dirty="0">
                <a:solidFill>
                  <a:srgbClr val="000000"/>
                </a:solidFill>
                <a:effectLst/>
              </a:rPr>
              <a:t>order of operations</a:t>
            </a:r>
            <a:r>
              <a:rPr lang="en-US" b="0" i="0" dirty="0">
                <a:solidFill>
                  <a:srgbClr val="000000"/>
                </a:solidFill>
                <a:effectLst/>
              </a:rPr>
              <a:t> </a:t>
            </a:r>
            <a:br>
              <a:rPr lang="en-US" b="0" i="0" dirty="0">
                <a:solidFill>
                  <a:srgbClr val="000000"/>
                </a:solidFill>
                <a:effectLst/>
              </a:rPr>
            </a:br>
            <a:r>
              <a:rPr lang="en-US" b="0" i="0" dirty="0">
                <a:solidFill>
                  <a:srgbClr val="000000"/>
                </a:solidFill>
                <a:effectLst/>
              </a:rPr>
              <a:t>(also called </a:t>
            </a:r>
            <a:r>
              <a:rPr lang="en-US" b="0" i="1" dirty="0">
                <a:solidFill>
                  <a:srgbClr val="000000"/>
                </a:solidFill>
                <a:effectLst/>
              </a:rPr>
              <a:t>precedence</a:t>
            </a:r>
            <a:r>
              <a:rPr lang="en-US" b="0" i="0" dirty="0">
                <a:solidFill>
                  <a:srgbClr val="000000"/>
                </a:solidFill>
                <a:effectLst/>
              </a:rPr>
              <a:t>) </a:t>
            </a:r>
            <a:br>
              <a:rPr lang="en-US" b="0" i="0" dirty="0">
                <a:solidFill>
                  <a:srgbClr val="000000"/>
                </a:solidFill>
                <a:effectLst/>
              </a:rPr>
            </a:br>
            <a:r>
              <a:rPr lang="en-US" b="0" i="0" dirty="0">
                <a:solidFill>
                  <a:srgbClr val="000000"/>
                </a:solidFill>
                <a:effectLst/>
              </a:rPr>
              <a:t>of Python math operators is </a:t>
            </a:r>
            <a:br>
              <a:rPr lang="en-US" b="0" i="0" dirty="0">
                <a:solidFill>
                  <a:srgbClr val="000000"/>
                </a:solidFill>
                <a:effectLst/>
              </a:rPr>
            </a:br>
            <a:r>
              <a:rPr lang="en-US" b="0" i="0" dirty="0">
                <a:solidFill>
                  <a:srgbClr val="000000"/>
                </a:solidFill>
                <a:effectLst/>
              </a:rPr>
              <a:t>similar to that of mathematics (</a:t>
            </a:r>
            <a:r>
              <a:rPr lang="en-US" b="0" i="1" dirty="0">
                <a:solidFill>
                  <a:srgbClr val="000000"/>
                </a:solidFill>
                <a:effectLst/>
              </a:rPr>
              <a:t>PEMDAS evaluated from left to right</a:t>
            </a:r>
            <a:r>
              <a:rPr lang="en-US" b="0" i="0" dirty="0">
                <a:solidFill>
                  <a:srgbClr val="000000"/>
                </a:solidFill>
                <a:effectLst/>
              </a:rPr>
              <a:t>). </a:t>
            </a:r>
            <a:endParaRPr lang="en-US" b="1" dirty="0"/>
          </a:p>
          <a:p>
            <a:endParaRPr lang="en-US" b="1" dirty="0"/>
          </a:p>
          <a:p>
            <a:endParaRPr lang="en-US" b="1" dirty="0"/>
          </a:p>
          <a:p>
            <a:endParaRPr lang="en-US" b="1" dirty="0"/>
          </a:p>
          <a:p>
            <a:endParaRPr lang="en-US" b="1" dirty="0"/>
          </a:p>
          <a:p>
            <a:endParaRPr lang="en-US" b="1" dirty="0"/>
          </a:p>
        </p:txBody>
      </p:sp>
      <p:pic>
        <p:nvPicPr>
          <p:cNvPr id="6" name="Content Placeholder 4">
            <a:extLst>
              <a:ext uri="{FF2B5EF4-FFF2-40B4-BE49-F238E27FC236}">
                <a16:creationId xmlns:a16="http://schemas.microsoft.com/office/drawing/2014/main" id="{57D2ED22-C696-4F9A-81CA-206A207B4782}"/>
              </a:ext>
            </a:extLst>
          </p:cNvPr>
          <p:cNvPicPr>
            <a:picLocks noChangeAspect="1"/>
          </p:cNvPicPr>
          <p:nvPr/>
        </p:nvPicPr>
        <p:blipFill>
          <a:blip r:embed="rId2"/>
          <a:stretch>
            <a:fillRect/>
          </a:stretch>
        </p:blipFill>
        <p:spPr>
          <a:xfrm>
            <a:off x="5137396" y="1825625"/>
            <a:ext cx="6534486" cy="3422826"/>
          </a:xfrm>
          <a:prstGeom prst="rect">
            <a:avLst/>
          </a:prstGeom>
        </p:spPr>
      </p:pic>
    </p:spTree>
    <p:extLst>
      <p:ext uri="{BB962C8B-B14F-4D97-AF65-F5344CB8AC3E}">
        <p14:creationId xmlns:p14="http://schemas.microsoft.com/office/powerpoint/2010/main" val="58286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18F5-1571-4C32-9AFE-1CAC29260211}"/>
              </a:ext>
            </a:extLst>
          </p:cNvPr>
          <p:cNvSpPr>
            <a:spLocks noGrp="1"/>
          </p:cNvSpPr>
          <p:nvPr>
            <p:ph type="title"/>
          </p:nvPr>
        </p:nvSpPr>
        <p:spPr/>
        <p:txBody>
          <a:bodyPr/>
          <a:lstStyle/>
          <a:p>
            <a:r>
              <a:rPr lang="en-US" b="1" dirty="0"/>
              <a:t>Precedence of Operators</a:t>
            </a:r>
          </a:p>
        </p:txBody>
      </p:sp>
      <p:sp>
        <p:nvSpPr>
          <p:cNvPr id="3" name="Content Placeholder 2">
            <a:extLst>
              <a:ext uri="{FF2B5EF4-FFF2-40B4-BE49-F238E27FC236}">
                <a16:creationId xmlns:a16="http://schemas.microsoft.com/office/drawing/2014/main" id="{7B099E23-4CD2-4A19-A1A3-D3F0F274BD09}"/>
              </a:ext>
            </a:extLst>
          </p:cNvPr>
          <p:cNvSpPr>
            <a:spLocks noGrp="1"/>
          </p:cNvSpPr>
          <p:nvPr>
            <p:ph idx="1"/>
          </p:nvPr>
        </p:nvSpPr>
        <p:spPr/>
        <p:txBody>
          <a:bodyPr/>
          <a:lstStyle/>
          <a:p>
            <a:r>
              <a:rPr lang="en-US" dirty="0"/>
              <a:t>Evaluating: </a:t>
            </a:r>
            <a:r>
              <a:rPr lang="en-US" b="0" i="0" dirty="0">
                <a:solidFill>
                  <a:srgbClr val="000000"/>
                </a:solidFill>
                <a:effectLst/>
                <a:latin typeface="Courier New" panose="02070309020205020404" pitchFamily="49" charset="0"/>
              </a:rPr>
              <a:t>&gt;&gt;&gt; </a:t>
            </a:r>
            <a:r>
              <a:rPr lang="en-US" b="1" i="0" dirty="0">
                <a:solidFill>
                  <a:srgbClr val="000000"/>
                </a:solidFill>
                <a:effectLst/>
                <a:latin typeface="Courier New" panose="02070309020205020404" pitchFamily="49" charset="0"/>
              </a:rPr>
              <a:t>(5 - 1) * ((7 + 1) / (3 - 1))</a:t>
            </a:r>
            <a:br>
              <a:rPr lang="en-US" b="1" i="0" dirty="0">
                <a:solidFill>
                  <a:srgbClr val="000000"/>
                </a:solidFill>
                <a:effectLst/>
                <a:latin typeface="Courier New" panose="02070309020205020404" pitchFamily="49" charset="0"/>
              </a:rPr>
            </a:br>
            <a:endParaRPr lang="en-US" b="1" i="0" dirty="0">
              <a:solidFill>
                <a:srgbClr val="000000"/>
              </a:solidFill>
              <a:effectLst/>
              <a:latin typeface="Courier New" panose="02070309020205020404" pitchFamily="49" charset="0"/>
            </a:endParaRPr>
          </a:p>
          <a:p>
            <a:pPr marL="0" indent="0">
              <a:buNone/>
            </a:pPr>
            <a:r>
              <a:rPr lang="en-US" b="0" i="0" dirty="0">
                <a:solidFill>
                  <a:srgbClr val="000000"/>
                </a:solidFill>
                <a:effectLst/>
                <a:latin typeface="Courier New" panose="02070309020205020404" pitchFamily="49" charset="0"/>
              </a:rPr>
              <a:t>16.0</a:t>
            </a:r>
            <a:r>
              <a:rPr lang="en-US" dirty="0"/>
              <a:t> </a:t>
            </a:r>
            <a:br>
              <a:rPr lang="en-US" dirty="0"/>
            </a:br>
            <a:r>
              <a:rPr lang="en-US" dirty="0"/>
              <a:t>	</a:t>
            </a:r>
          </a:p>
        </p:txBody>
      </p:sp>
      <p:pic>
        <p:nvPicPr>
          <p:cNvPr id="5" name="Picture 4">
            <a:extLst>
              <a:ext uri="{FF2B5EF4-FFF2-40B4-BE49-F238E27FC236}">
                <a16:creationId xmlns:a16="http://schemas.microsoft.com/office/drawing/2014/main" id="{E17B7576-F4BD-4D19-89D3-ADA0C414F661}"/>
              </a:ext>
            </a:extLst>
          </p:cNvPr>
          <p:cNvPicPr>
            <a:picLocks noChangeAspect="1"/>
          </p:cNvPicPr>
          <p:nvPr/>
        </p:nvPicPr>
        <p:blipFill>
          <a:blip r:embed="rId2"/>
          <a:stretch>
            <a:fillRect/>
          </a:stretch>
        </p:blipFill>
        <p:spPr>
          <a:xfrm>
            <a:off x="4419600" y="2743921"/>
            <a:ext cx="3352800" cy="3748954"/>
          </a:xfrm>
          <a:prstGeom prst="rect">
            <a:avLst/>
          </a:prstGeom>
        </p:spPr>
      </p:pic>
    </p:spTree>
    <p:extLst>
      <p:ext uri="{BB962C8B-B14F-4D97-AF65-F5344CB8AC3E}">
        <p14:creationId xmlns:p14="http://schemas.microsoft.com/office/powerpoint/2010/main" val="207371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137C7-1F32-4222-A4A6-48193FF88B0E}"/>
              </a:ext>
            </a:extLst>
          </p:cNvPr>
          <p:cNvSpPr>
            <a:spLocks noGrp="1"/>
          </p:cNvSpPr>
          <p:nvPr>
            <p:ph type="title"/>
          </p:nvPr>
        </p:nvSpPr>
        <p:spPr/>
        <p:txBody>
          <a:bodyPr/>
          <a:lstStyle/>
          <a:p>
            <a:r>
              <a:rPr lang="en-US" b="1" dirty="0"/>
              <a:t>Syntax</a:t>
            </a:r>
          </a:p>
        </p:txBody>
      </p:sp>
      <p:sp>
        <p:nvSpPr>
          <p:cNvPr id="3" name="Content Placeholder 2">
            <a:extLst>
              <a:ext uri="{FF2B5EF4-FFF2-40B4-BE49-F238E27FC236}">
                <a16:creationId xmlns:a16="http://schemas.microsoft.com/office/drawing/2014/main" id="{D0E3569F-CE13-4CF4-966C-AB69228FBBDE}"/>
              </a:ext>
            </a:extLst>
          </p:cNvPr>
          <p:cNvSpPr>
            <a:spLocks noGrp="1"/>
          </p:cNvSpPr>
          <p:nvPr>
            <p:ph idx="1"/>
          </p:nvPr>
        </p:nvSpPr>
        <p:spPr>
          <a:xfrm>
            <a:off x="742950" y="1825624"/>
            <a:ext cx="10610850" cy="4899025"/>
          </a:xfrm>
        </p:spPr>
        <p:txBody>
          <a:bodyPr>
            <a:normAutofit fontScale="92500" lnSpcReduction="20000"/>
          </a:bodyPr>
          <a:lstStyle/>
          <a:p>
            <a:pPr algn="just"/>
            <a:r>
              <a:rPr lang="en-US" b="0" i="0" dirty="0">
                <a:solidFill>
                  <a:srgbClr val="000000"/>
                </a:solidFill>
                <a:effectLst/>
              </a:rPr>
              <a:t>The rules for putting operators and values together to form expressions are a fundamental part of Python as a programming language, just like the grammar rules that help us communicate. Here’s an example:</a:t>
            </a:r>
          </a:p>
          <a:p>
            <a:pPr lvl="1" algn="just"/>
            <a:r>
              <a:rPr lang="en-US" b="1" i="0" dirty="0">
                <a:solidFill>
                  <a:srgbClr val="000000"/>
                </a:solidFill>
                <a:effectLst/>
              </a:rPr>
              <a:t>This is a grammatically correct English sentence.</a:t>
            </a:r>
            <a:endParaRPr lang="en-US" b="0" i="0" dirty="0">
              <a:solidFill>
                <a:srgbClr val="000000"/>
              </a:solidFill>
              <a:effectLst/>
            </a:endParaRPr>
          </a:p>
          <a:p>
            <a:pPr lvl="1" algn="just"/>
            <a:r>
              <a:rPr lang="en-US" b="1" i="0" dirty="0">
                <a:solidFill>
                  <a:srgbClr val="000000"/>
                </a:solidFill>
                <a:effectLst/>
              </a:rPr>
              <a:t>This grammatically is sentence not English correct a.</a:t>
            </a:r>
            <a:endParaRPr lang="en-US" b="0" i="0" dirty="0">
              <a:solidFill>
                <a:srgbClr val="000000"/>
              </a:solidFill>
              <a:effectLst/>
            </a:endParaRPr>
          </a:p>
          <a:p>
            <a:r>
              <a:rPr lang="en-US" b="0" i="0" dirty="0">
                <a:solidFill>
                  <a:srgbClr val="000000"/>
                </a:solidFill>
                <a:effectLst/>
              </a:rPr>
              <a:t>The second line is difficult to parse because it doesn’t follow the rules of English. Similarly, if you enter a bad Python instruction, Python won’t be able to understand it and will display a </a:t>
            </a:r>
            <a:r>
              <a:rPr lang="en-US" b="0" i="0" dirty="0" err="1">
                <a:solidFill>
                  <a:srgbClr val="000000"/>
                </a:solidFill>
                <a:effectLst/>
              </a:rPr>
              <a:t>SyntaxError</a:t>
            </a:r>
            <a:r>
              <a:rPr lang="en-US" b="0" i="0" dirty="0">
                <a:solidFill>
                  <a:srgbClr val="000000"/>
                </a:solidFill>
                <a:effectLst/>
              </a:rPr>
              <a:t> error message, as shown here: </a:t>
            </a:r>
          </a:p>
          <a:p>
            <a:pPr marL="914400" lvl="2" indent="0">
              <a:buNone/>
            </a:pPr>
            <a:r>
              <a:rPr lang="en-US" dirty="0"/>
              <a:t>&gt;&gt;&gt; </a:t>
            </a:r>
            <a:r>
              <a:rPr lang="en-US" b="1" dirty="0"/>
              <a:t>5 +</a:t>
            </a:r>
            <a:br>
              <a:rPr lang="en-US" dirty="0"/>
            </a:br>
            <a:r>
              <a:rPr lang="en-US" dirty="0"/>
              <a:t>  File "&lt;stdin&gt;", line 1</a:t>
            </a:r>
            <a:br>
              <a:rPr lang="en-US" dirty="0"/>
            </a:br>
            <a:r>
              <a:rPr lang="en-US" dirty="0"/>
              <a:t>    5 +</a:t>
            </a:r>
            <a:br>
              <a:rPr lang="en-US" dirty="0"/>
            </a:br>
            <a:r>
              <a:rPr lang="en-US" dirty="0"/>
              <a:t>      ^</a:t>
            </a:r>
            <a:br>
              <a:rPr lang="en-US" dirty="0"/>
            </a:br>
            <a:r>
              <a:rPr lang="en-US" dirty="0" err="1"/>
              <a:t>SyntaxError</a:t>
            </a:r>
            <a:r>
              <a:rPr lang="en-US" dirty="0"/>
              <a:t>: invalid syntax</a:t>
            </a:r>
            <a:br>
              <a:rPr lang="en-US" dirty="0"/>
            </a:br>
            <a:r>
              <a:rPr lang="en-US" dirty="0"/>
              <a:t>&gt;&gt;&gt; </a:t>
            </a:r>
            <a:r>
              <a:rPr lang="en-US" b="1" dirty="0"/>
              <a:t>42 + 5 + * 2</a:t>
            </a:r>
            <a:br>
              <a:rPr lang="en-US" dirty="0"/>
            </a:br>
            <a:r>
              <a:rPr lang="en-US" dirty="0"/>
              <a:t>  File "&lt;stdin&gt;", line 1</a:t>
            </a:r>
            <a:br>
              <a:rPr lang="en-US" dirty="0"/>
            </a:br>
            <a:r>
              <a:rPr lang="en-US" dirty="0"/>
              <a:t>    42 + 5 + * 2</a:t>
            </a:r>
            <a:br>
              <a:rPr lang="en-US" dirty="0"/>
            </a:br>
            <a:r>
              <a:rPr lang="en-US" dirty="0"/>
              <a:t>             ^</a:t>
            </a:r>
            <a:br>
              <a:rPr lang="en-US" dirty="0"/>
            </a:br>
            <a:r>
              <a:rPr lang="en-US" dirty="0" err="1"/>
              <a:t>SyntaxError</a:t>
            </a:r>
            <a:r>
              <a:rPr lang="en-US" dirty="0"/>
              <a:t>: invalid syntax</a:t>
            </a:r>
          </a:p>
        </p:txBody>
      </p:sp>
    </p:spTree>
    <p:extLst>
      <p:ext uri="{BB962C8B-B14F-4D97-AF65-F5344CB8AC3E}">
        <p14:creationId xmlns:p14="http://schemas.microsoft.com/office/powerpoint/2010/main" val="152871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CDE4-67E1-4EEA-B752-FC8CEFB888D4}"/>
              </a:ext>
            </a:extLst>
          </p:cNvPr>
          <p:cNvSpPr>
            <a:spLocks noGrp="1"/>
          </p:cNvSpPr>
          <p:nvPr>
            <p:ph type="title"/>
          </p:nvPr>
        </p:nvSpPr>
        <p:spPr/>
        <p:txBody>
          <a:bodyPr/>
          <a:lstStyle/>
          <a:p>
            <a:r>
              <a:rPr lang="en-US" b="1" dirty="0"/>
              <a:t>Basic Datatypes</a:t>
            </a:r>
          </a:p>
        </p:txBody>
      </p:sp>
      <p:sp>
        <p:nvSpPr>
          <p:cNvPr id="3" name="Content Placeholder 2">
            <a:extLst>
              <a:ext uri="{FF2B5EF4-FFF2-40B4-BE49-F238E27FC236}">
                <a16:creationId xmlns:a16="http://schemas.microsoft.com/office/drawing/2014/main" id="{299B6682-A37D-4B37-8006-598A7B91EE6C}"/>
              </a:ext>
            </a:extLst>
          </p:cNvPr>
          <p:cNvSpPr>
            <a:spLocks noGrp="1"/>
          </p:cNvSpPr>
          <p:nvPr>
            <p:ph idx="1"/>
          </p:nvPr>
        </p:nvSpPr>
        <p:spPr/>
        <p:txBody>
          <a:bodyPr/>
          <a:lstStyle/>
          <a:p>
            <a:r>
              <a:rPr lang="en-US" b="0" i="0" dirty="0">
                <a:solidFill>
                  <a:srgbClr val="000000"/>
                </a:solidFill>
                <a:effectLst/>
                <a:latin typeface="JansonTextLTStd"/>
              </a:rPr>
              <a:t>A </a:t>
            </a:r>
            <a:r>
              <a:rPr lang="en-US" b="0" i="1" dirty="0">
                <a:solidFill>
                  <a:srgbClr val="000000"/>
                </a:solidFill>
                <a:effectLst/>
                <a:latin typeface="JansonTextLTStd"/>
              </a:rPr>
              <a:t>data type</a:t>
            </a:r>
            <a:r>
              <a:rPr lang="en-US" b="0" i="0" dirty="0">
                <a:solidFill>
                  <a:srgbClr val="000000"/>
                </a:solidFill>
                <a:effectLst/>
                <a:latin typeface="JansonTextLTStd"/>
              </a:rPr>
              <a:t> is a category for values, and every value belongs to exactly one data type.</a:t>
            </a:r>
          </a:p>
          <a:p>
            <a:r>
              <a:rPr lang="en-US" b="0" i="0" dirty="0">
                <a:solidFill>
                  <a:srgbClr val="000000"/>
                </a:solidFill>
                <a:effectLst/>
                <a:latin typeface="JansonTextLTStd"/>
              </a:rPr>
              <a:t>The most common data types in Python are (</a:t>
            </a:r>
            <a:r>
              <a:rPr lang="en-US" b="0" i="1" dirty="0">
                <a:solidFill>
                  <a:srgbClr val="000000"/>
                </a:solidFill>
                <a:effectLst/>
                <a:latin typeface="JansonTextLTStd"/>
              </a:rPr>
              <a:t>int, float, str):</a:t>
            </a:r>
          </a:p>
          <a:p>
            <a:endParaRPr lang="en-US" b="0" i="1" dirty="0">
              <a:solidFill>
                <a:srgbClr val="000000"/>
              </a:solidFill>
              <a:effectLst/>
              <a:latin typeface="JansonTextLTStd"/>
            </a:endParaRP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EE508F67-BD60-4C62-9396-61532DA7305B}"/>
              </a:ext>
            </a:extLst>
          </p:cNvPr>
          <p:cNvPicPr>
            <a:picLocks noChangeAspect="1"/>
          </p:cNvPicPr>
          <p:nvPr/>
        </p:nvPicPr>
        <p:blipFill>
          <a:blip r:embed="rId2"/>
          <a:stretch>
            <a:fillRect/>
          </a:stretch>
        </p:blipFill>
        <p:spPr>
          <a:xfrm>
            <a:off x="2419282" y="3429000"/>
            <a:ext cx="6144842" cy="1993146"/>
          </a:xfrm>
          <a:prstGeom prst="rect">
            <a:avLst/>
          </a:prstGeom>
        </p:spPr>
      </p:pic>
    </p:spTree>
    <p:extLst>
      <p:ext uri="{BB962C8B-B14F-4D97-AF65-F5344CB8AC3E}">
        <p14:creationId xmlns:p14="http://schemas.microsoft.com/office/powerpoint/2010/main" val="113067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4E189-C59E-4874-87BD-1E7628284D83}"/>
              </a:ext>
            </a:extLst>
          </p:cNvPr>
          <p:cNvSpPr>
            <a:spLocks noGrp="1"/>
          </p:cNvSpPr>
          <p:nvPr>
            <p:ph type="title"/>
          </p:nvPr>
        </p:nvSpPr>
        <p:spPr/>
        <p:txBody>
          <a:bodyPr/>
          <a:lstStyle/>
          <a:p>
            <a:r>
              <a:rPr lang="en-US" b="1" dirty="0"/>
              <a:t>String Concatenation &amp; Replication</a:t>
            </a:r>
          </a:p>
        </p:txBody>
      </p:sp>
      <p:sp>
        <p:nvSpPr>
          <p:cNvPr id="3" name="Content Placeholder 2">
            <a:extLst>
              <a:ext uri="{FF2B5EF4-FFF2-40B4-BE49-F238E27FC236}">
                <a16:creationId xmlns:a16="http://schemas.microsoft.com/office/drawing/2014/main" id="{7962D88F-215C-4B14-87B7-C6097B4354D0}"/>
              </a:ext>
            </a:extLst>
          </p:cNvPr>
          <p:cNvSpPr>
            <a:spLocks noGrp="1"/>
          </p:cNvSpPr>
          <p:nvPr>
            <p:ph idx="1"/>
          </p:nvPr>
        </p:nvSpPr>
        <p:spPr/>
        <p:txBody>
          <a:bodyPr>
            <a:normAutofit fontScale="92500" lnSpcReduction="10000"/>
          </a:bodyPr>
          <a:lstStyle/>
          <a:p>
            <a:r>
              <a:rPr lang="en-US" b="0" i="0" dirty="0">
                <a:solidFill>
                  <a:srgbClr val="000000"/>
                </a:solidFill>
                <a:effectLst/>
                <a:latin typeface="JansonTextLTStd"/>
              </a:rPr>
              <a:t>The meaning of an operator may change based on the data types of the values next to it.</a:t>
            </a:r>
          </a:p>
          <a:p>
            <a:r>
              <a:rPr lang="en-US" b="0" i="0" dirty="0">
                <a:solidFill>
                  <a:srgbClr val="000000"/>
                </a:solidFill>
                <a:effectLst/>
                <a:latin typeface="JansonTextLTStd"/>
              </a:rPr>
              <a:t>When </a:t>
            </a:r>
            <a:r>
              <a:rPr lang="en-US" b="0" i="0" dirty="0">
                <a:solidFill>
                  <a:srgbClr val="000000"/>
                </a:solidFill>
                <a:effectLst/>
                <a:latin typeface="Courier New" panose="02070309020205020404" pitchFamily="49" charset="0"/>
              </a:rPr>
              <a:t>+</a:t>
            </a:r>
            <a:r>
              <a:rPr lang="en-US" b="0" i="0" dirty="0">
                <a:solidFill>
                  <a:srgbClr val="000000"/>
                </a:solidFill>
                <a:effectLst/>
                <a:latin typeface="JansonTextLTStd"/>
              </a:rPr>
              <a:t> is used on two string values, it joins the strings as the </a:t>
            </a:r>
            <a:r>
              <a:rPr lang="en-US" b="0" i="1" dirty="0">
                <a:solidFill>
                  <a:srgbClr val="000000"/>
                </a:solidFill>
                <a:effectLst/>
                <a:latin typeface="JansonTextLTStd"/>
              </a:rPr>
              <a:t>string concatenation</a:t>
            </a:r>
            <a:r>
              <a:rPr lang="en-US" b="0" i="0" dirty="0">
                <a:solidFill>
                  <a:srgbClr val="000000"/>
                </a:solidFill>
                <a:effectLst/>
                <a:latin typeface="JansonTextLTStd"/>
              </a:rPr>
              <a:t> operator.</a:t>
            </a:r>
          </a:p>
          <a:p>
            <a:pPr marL="1371600" lvl="3" indent="0">
              <a:buNone/>
            </a:pPr>
            <a:r>
              <a:rPr lang="en-US" b="0" i="0" dirty="0">
                <a:solidFill>
                  <a:srgbClr val="000000"/>
                </a:solidFill>
                <a:effectLst/>
                <a:latin typeface="Courier New" panose="02070309020205020404" pitchFamily="49" charset="0"/>
              </a:rPr>
              <a:t>&gt;&gt;&gt; </a:t>
            </a:r>
            <a:r>
              <a:rPr lang="en-US" b="1" i="0" dirty="0">
                <a:solidFill>
                  <a:srgbClr val="000000"/>
                </a:solidFill>
                <a:effectLst/>
                <a:latin typeface="Courier New" panose="02070309020205020404" pitchFamily="49" charset="0"/>
              </a:rPr>
              <a:t>'Alice' + 'Bob'</a:t>
            </a:r>
            <a:br>
              <a:rPr lang="en-US" dirty="0"/>
            </a:br>
            <a:r>
              <a:rPr lang="en-US" b="0" i="0" dirty="0">
                <a:solidFill>
                  <a:srgbClr val="000000"/>
                </a:solidFill>
                <a:effectLst/>
                <a:latin typeface="Courier New" panose="02070309020205020404" pitchFamily="49" charset="0"/>
              </a:rPr>
              <a:t>'</a:t>
            </a:r>
            <a:r>
              <a:rPr lang="en-US" b="0" i="0" dirty="0" err="1">
                <a:solidFill>
                  <a:srgbClr val="000000"/>
                </a:solidFill>
                <a:effectLst/>
                <a:latin typeface="Courier New" panose="02070309020205020404" pitchFamily="49" charset="0"/>
              </a:rPr>
              <a:t>AliceBob</a:t>
            </a:r>
            <a:r>
              <a:rPr lang="en-US" b="0" i="0" dirty="0">
                <a:solidFill>
                  <a:srgbClr val="000000"/>
                </a:solidFill>
                <a:effectLst/>
                <a:latin typeface="Courier New" panose="02070309020205020404" pitchFamily="49" charset="0"/>
              </a:rPr>
              <a:t>’</a:t>
            </a:r>
          </a:p>
          <a:p>
            <a:r>
              <a:rPr lang="en-US" b="0" i="0" dirty="0">
                <a:solidFill>
                  <a:srgbClr val="000000"/>
                </a:solidFill>
                <a:effectLst/>
                <a:latin typeface="JansonTextLTStd"/>
              </a:rPr>
              <a:t>When the </a:t>
            </a:r>
            <a:r>
              <a:rPr lang="en-US" b="0" i="0" dirty="0">
                <a:solidFill>
                  <a:srgbClr val="000000"/>
                </a:solidFill>
                <a:effectLst/>
                <a:latin typeface="Courier New" panose="02070309020205020404" pitchFamily="49" charset="0"/>
              </a:rPr>
              <a:t>*</a:t>
            </a:r>
            <a:r>
              <a:rPr lang="en-US" b="0" i="0" dirty="0">
                <a:solidFill>
                  <a:srgbClr val="000000"/>
                </a:solidFill>
                <a:effectLst/>
                <a:latin typeface="JansonTextLTStd"/>
              </a:rPr>
              <a:t> operator is used on one string value and one integer value, it becomes the </a:t>
            </a:r>
            <a:r>
              <a:rPr lang="en-US" b="0" i="1" dirty="0">
                <a:solidFill>
                  <a:srgbClr val="000000"/>
                </a:solidFill>
                <a:effectLst/>
                <a:latin typeface="JansonTextLTStd"/>
              </a:rPr>
              <a:t>string replication</a:t>
            </a:r>
            <a:r>
              <a:rPr lang="en-US" b="0" i="0" dirty="0">
                <a:solidFill>
                  <a:srgbClr val="000000"/>
                </a:solidFill>
                <a:effectLst/>
                <a:latin typeface="JansonTextLTStd"/>
              </a:rPr>
              <a:t> operator.</a:t>
            </a:r>
            <a:endParaRPr lang="en-US" dirty="0">
              <a:solidFill>
                <a:srgbClr val="000000"/>
              </a:solidFill>
              <a:latin typeface="JansonTextLTStd"/>
            </a:endParaRPr>
          </a:p>
          <a:p>
            <a:pPr marL="1371600" lvl="3" indent="0">
              <a:buNone/>
            </a:pPr>
            <a:r>
              <a:rPr lang="en-US" b="0" i="0" dirty="0">
                <a:solidFill>
                  <a:srgbClr val="000000"/>
                </a:solidFill>
                <a:effectLst/>
                <a:latin typeface="Courier New" panose="02070309020205020404" pitchFamily="49" charset="0"/>
              </a:rPr>
              <a:t>&gt;&gt;&gt; </a:t>
            </a:r>
            <a:r>
              <a:rPr lang="en-US" b="1" i="0" dirty="0">
                <a:solidFill>
                  <a:srgbClr val="000000"/>
                </a:solidFill>
                <a:effectLst/>
                <a:latin typeface="Courier New" panose="02070309020205020404" pitchFamily="49" charset="0"/>
              </a:rPr>
              <a:t>'Alice' * 5</a:t>
            </a:r>
            <a:br>
              <a:rPr lang="en-US" dirty="0"/>
            </a:br>
            <a:r>
              <a:rPr lang="en-US" b="0" i="0" dirty="0">
                <a:solidFill>
                  <a:srgbClr val="000000"/>
                </a:solidFill>
                <a:effectLst/>
                <a:latin typeface="Courier New" panose="02070309020205020404" pitchFamily="49" charset="0"/>
              </a:rPr>
              <a:t>'</a:t>
            </a:r>
            <a:r>
              <a:rPr lang="en-US" b="0" i="0" dirty="0" err="1">
                <a:solidFill>
                  <a:srgbClr val="000000"/>
                </a:solidFill>
                <a:effectLst/>
                <a:latin typeface="Courier New" panose="02070309020205020404" pitchFamily="49" charset="0"/>
              </a:rPr>
              <a:t>AliceAliceAliceAliceAlice</a:t>
            </a:r>
            <a:r>
              <a:rPr lang="en-US" b="0" i="0" dirty="0">
                <a:solidFill>
                  <a:srgbClr val="000000"/>
                </a:solidFill>
                <a:effectLst/>
                <a:latin typeface="Courier New" panose="02070309020205020404" pitchFamily="49" charset="0"/>
              </a:rPr>
              <a:t>'</a:t>
            </a:r>
            <a:endParaRPr lang="en-US" b="0" i="0" dirty="0">
              <a:solidFill>
                <a:srgbClr val="000000"/>
              </a:solidFill>
              <a:effectLst/>
              <a:latin typeface="JansonTextLTStd"/>
            </a:endParaRPr>
          </a:p>
          <a:p>
            <a:endParaRPr lang="en-US" b="0" i="0" dirty="0">
              <a:solidFill>
                <a:srgbClr val="000000"/>
              </a:solidFill>
              <a:effectLst/>
              <a:latin typeface="JansonTextLTStd"/>
            </a:endParaRPr>
          </a:p>
          <a:p>
            <a:pPr marL="914400" lvl="2" indent="0">
              <a:buNone/>
            </a:pPr>
            <a:r>
              <a:rPr lang="en-US" b="0" i="0" dirty="0">
                <a:solidFill>
                  <a:srgbClr val="000000"/>
                </a:solidFill>
                <a:effectLst/>
                <a:latin typeface="Courier New" panose="02070309020205020404" pitchFamily="49" charset="0"/>
              </a:rPr>
              <a:t>	</a:t>
            </a:r>
            <a:endParaRPr lang="en-US" dirty="0"/>
          </a:p>
        </p:txBody>
      </p:sp>
    </p:spTree>
    <p:extLst>
      <p:ext uri="{BB962C8B-B14F-4D97-AF65-F5344CB8AC3E}">
        <p14:creationId xmlns:p14="http://schemas.microsoft.com/office/powerpoint/2010/main" val="81399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B45A3-87B9-497A-9EEA-B984F846DABD}"/>
              </a:ext>
            </a:extLst>
          </p:cNvPr>
          <p:cNvSpPr>
            <a:spLocks noGrp="1"/>
          </p:cNvSpPr>
          <p:nvPr>
            <p:ph type="title"/>
          </p:nvPr>
        </p:nvSpPr>
        <p:spPr/>
        <p:txBody>
          <a:bodyPr/>
          <a:lstStyle/>
          <a:p>
            <a:r>
              <a:rPr lang="en-US" b="1" dirty="0"/>
              <a:t>Variables and Assignment</a:t>
            </a:r>
          </a:p>
        </p:txBody>
      </p:sp>
      <p:sp>
        <p:nvSpPr>
          <p:cNvPr id="3" name="Content Placeholder 2">
            <a:extLst>
              <a:ext uri="{FF2B5EF4-FFF2-40B4-BE49-F238E27FC236}">
                <a16:creationId xmlns:a16="http://schemas.microsoft.com/office/drawing/2014/main" id="{D76B1957-A592-42B8-B23B-3ACA9082B5CA}"/>
              </a:ext>
            </a:extLst>
          </p:cNvPr>
          <p:cNvSpPr>
            <a:spLocks noGrp="1"/>
          </p:cNvSpPr>
          <p:nvPr>
            <p:ph idx="1"/>
          </p:nvPr>
        </p:nvSpPr>
        <p:spPr/>
        <p:txBody>
          <a:bodyPr>
            <a:normAutofit fontScale="92500" lnSpcReduction="10000"/>
          </a:bodyPr>
          <a:lstStyle/>
          <a:p>
            <a:r>
              <a:rPr lang="en-US" dirty="0"/>
              <a:t>A </a:t>
            </a:r>
            <a:r>
              <a:rPr lang="en-US" i="1" dirty="0"/>
              <a:t>variable</a:t>
            </a:r>
            <a:r>
              <a:rPr lang="en-US" dirty="0"/>
              <a:t> is like a box in the computer’s memory where you can store a single value.</a:t>
            </a:r>
          </a:p>
          <a:p>
            <a:r>
              <a:rPr lang="en-US" dirty="0"/>
              <a:t>If you want to use the result of an evaluated expression later in your program, you can save it inside a variable.</a:t>
            </a:r>
          </a:p>
          <a:p>
            <a:r>
              <a:rPr lang="en-US" dirty="0"/>
              <a:t>You’ll store values in variables with an </a:t>
            </a:r>
            <a:r>
              <a:rPr lang="en-US" i="1" dirty="0"/>
              <a:t>assignment statement</a:t>
            </a:r>
          </a:p>
          <a:p>
            <a:r>
              <a:rPr lang="en-US" dirty="0"/>
              <a:t>An assignment statement consists of a variable name, </a:t>
            </a:r>
            <a:br>
              <a:rPr lang="en-US" dirty="0"/>
            </a:br>
            <a:r>
              <a:rPr lang="en-US" dirty="0"/>
              <a:t>an equal sign (called the </a:t>
            </a:r>
            <a:r>
              <a:rPr lang="en-US" i="1" dirty="0"/>
              <a:t>assignment operator</a:t>
            </a:r>
            <a:r>
              <a:rPr lang="en-US" dirty="0"/>
              <a:t>), and the</a:t>
            </a:r>
            <a:br>
              <a:rPr lang="en-US" dirty="0"/>
            </a:br>
            <a:r>
              <a:rPr lang="en-US" dirty="0"/>
              <a:t>value to be stored.</a:t>
            </a:r>
          </a:p>
          <a:p>
            <a:r>
              <a:rPr lang="en-US" dirty="0"/>
              <a:t>If you enter the assignment statement spam = 42, then</a:t>
            </a:r>
            <a:br>
              <a:rPr lang="en-US" dirty="0"/>
            </a:br>
            <a:r>
              <a:rPr lang="en-US" dirty="0"/>
              <a:t>a variable named spam will have the integer value 42 </a:t>
            </a:r>
            <a:br>
              <a:rPr lang="en-US" dirty="0"/>
            </a:br>
            <a:r>
              <a:rPr lang="en-US" dirty="0"/>
              <a:t>stored in it.</a:t>
            </a:r>
          </a:p>
        </p:txBody>
      </p:sp>
      <p:pic>
        <p:nvPicPr>
          <p:cNvPr id="5" name="Picture 4">
            <a:extLst>
              <a:ext uri="{FF2B5EF4-FFF2-40B4-BE49-F238E27FC236}">
                <a16:creationId xmlns:a16="http://schemas.microsoft.com/office/drawing/2014/main" id="{7FD2E092-1261-475B-A2FE-E74880CFA2B4}"/>
              </a:ext>
            </a:extLst>
          </p:cNvPr>
          <p:cNvPicPr>
            <a:picLocks noChangeAspect="1"/>
          </p:cNvPicPr>
          <p:nvPr/>
        </p:nvPicPr>
        <p:blipFill>
          <a:blip r:embed="rId2"/>
          <a:stretch>
            <a:fillRect/>
          </a:stretch>
        </p:blipFill>
        <p:spPr>
          <a:xfrm>
            <a:off x="8959773" y="3635228"/>
            <a:ext cx="2978303" cy="2857647"/>
          </a:xfrm>
          <a:prstGeom prst="rect">
            <a:avLst/>
          </a:prstGeom>
        </p:spPr>
      </p:pic>
    </p:spTree>
    <p:extLst>
      <p:ext uri="{BB962C8B-B14F-4D97-AF65-F5344CB8AC3E}">
        <p14:creationId xmlns:p14="http://schemas.microsoft.com/office/powerpoint/2010/main" val="19075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DEC230-FDA0-48F0-BA2F-A248A9215FB3}"/>
              </a:ext>
            </a:extLst>
          </p:cNvPr>
          <p:cNvSpPr>
            <a:spLocks noGrp="1"/>
          </p:cNvSpPr>
          <p:nvPr>
            <p:ph idx="1"/>
          </p:nvPr>
        </p:nvSpPr>
        <p:spPr>
          <a:xfrm>
            <a:off x="838200" y="600076"/>
            <a:ext cx="10515600" cy="5576888"/>
          </a:xfrm>
        </p:spPr>
        <p:txBody>
          <a:bodyPr>
            <a:normAutofit fontScale="92500" lnSpcReduction="20000"/>
          </a:bodyPr>
          <a:lstStyle/>
          <a:p>
            <a:r>
              <a:rPr lang="en-US" dirty="0"/>
              <a:t>➊ &gt;&gt;&gt; </a:t>
            </a:r>
            <a:r>
              <a:rPr lang="en-US" b="1" dirty="0"/>
              <a:t>spam = 40</a:t>
            </a:r>
            <a:br>
              <a:rPr lang="en-US" dirty="0"/>
            </a:br>
            <a:r>
              <a:rPr lang="en-US" dirty="0"/>
              <a:t>   &gt;&gt;&gt; </a:t>
            </a:r>
            <a:r>
              <a:rPr lang="en-US" b="1" dirty="0"/>
              <a:t>spam</a:t>
            </a:r>
            <a:br>
              <a:rPr lang="en-US" dirty="0"/>
            </a:br>
            <a:r>
              <a:rPr lang="en-US" dirty="0"/>
              <a:t>   40</a:t>
            </a:r>
            <a:br>
              <a:rPr lang="en-US" dirty="0"/>
            </a:br>
            <a:r>
              <a:rPr lang="en-US" dirty="0"/>
              <a:t>   &gt;&gt;&gt; </a:t>
            </a:r>
            <a:r>
              <a:rPr lang="en-US" b="1" dirty="0"/>
              <a:t>eggs = 2</a:t>
            </a:r>
            <a:br>
              <a:rPr lang="en-US" dirty="0"/>
            </a:br>
            <a:r>
              <a:rPr lang="en-US" dirty="0"/>
              <a:t>➋ &gt;&gt;&gt; </a:t>
            </a:r>
            <a:r>
              <a:rPr lang="en-US" b="1" dirty="0"/>
              <a:t>spam + eggs</a:t>
            </a:r>
            <a:br>
              <a:rPr lang="en-US" dirty="0"/>
            </a:br>
            <a:r>
              <a:rPr lang="en-US" dirty="0"/>
              <a:t>   42</a:t>
            </a:r>
            <a:br>
              <a:rPr lang="en-US" dirty="0"/>
            </a:br>
            <a:r>
              <a:rPr lang="en-US" dirty="0"/>
              <a:t>   &gt;&gt;&gt; </a:t>
            </a:r>
            <a:r>
              <a:rPr lang="en-US" b="1" dirty="0"/>
              <a:t>spam + eggs + spam</a:t>
            </a:r>
            <a:br>
              <a:rPr lang="en-US" dirty="0"/>
            </a:br>
            <a:r>
              <a:rPr lang="en-US" dirty="0"/>
              <a:t>   82</a:t>
            </a:r>
            <a:br>
              <a:rPr lang="en-US" dirty="0"/>
            </a:br>
            <a:r>
              <a:rPr lang="en-US" dirty="0"/>
              <a:t>➌ &gt;&gt;&gt; </a:t>
            </a:r>
            <a:r>
              <a:rPr lang="en-US" b="1" dirty="0"/>
              <a:t>spam = spam + 2</a:t>
            </a:r>
            <a:br>
              <a:rPr lang="en-US" dirty="0"/>
            </a:br>
            <a:r>
              <a:rPr lang="en-US" dirty="0"/>
              <a:t>   &gt;&gt;&gt; </a:t>
            </a:r>
            <a:r>
              <a:rPr lang="en-US" b="1" dirty="0"/>
              <a:t>spam</a:t>
            </a:r>
            <a:br>
              <a:rPr lang="en-US" dirty="0"/>
            </a:br>
            <a:r>
              <a:rPr lang="en-US" dirty="0"/>
              <a:t>   42</a:t>
            </a:r>
          </a:p>
          <a:p>
            <a:endParaRPr lang="en-US" dirty="0"/>
          </a:p>
          <a:p>
            <a:r>
              <a:rPr lang="en-US" dirty="0"/>
              <a:t>&gt;&gt;&gt; </a:t>
            </a:r>
            <a:r>
              <a:rPr lang="en-US" b="1" dirty="0"/>
              <a:t>spam = 'Hello'</a:t>
            </a:r>
            <a:br>
              <a:rPr lang="en-US" dirty="0"/>
            </a:br>
            <a:r>
              <a:rPr lang="en-US" dirty="0"/>
              <a:t>&gt;&gt;&gt; </a:t>
            </a:r>
            <a:r>
              <a:rPr lang="en-US" b="1" dirty="0"/>
              <a:t>spam</a:t>
            </a:r>
            <a:br>
              <a:rPr lang="en-US" dirty="0"/>
            </a:br>
            <a:r>
              <a:rPr lang="en-US" dirty="0"/>
              <a:t>'Hello'</a:t>
            </a:r>
            <a:br>
              <a:rPr lang="en-US" dirty="0"/>
            </a:br>
            <a:r>
              <a:rPr lang="en-US" dirty="0"/>
              <a:t>&gt;&gt;&gt; </a:t>
            </a:r>
            <a:r>
              <a:rPr lang="en-US" b="1" dirty="0"/>
              <a:t>spam = 'Goodbye'</a:t>
            </a:r>
            <a:br>
              <a:rPr lang="en-US" dirty="0"/>
            </a:br>
            <a:r>
              <a:rPr lang="en-US" dirty="0"/>
              <a:t>&gt;&gt;&gt; </a:t>
            </a:r>
            <a:r>
              <a:rPr lang="en-US" b="1" dirty="0"/>
              <a:t>spam</a:t>
            </a:r>
            <a:br>
              <a:rPr lang="en-US" dirty="0"/>
            </a:br>
            <a:r>
              <a:rPr lang="en-US" dirty="0"/>
              <a:t>'Goodbye'</a:t>
            </a:r>
          </a:p>
        </p:txBody>
      </p:sp>
    </p:spTree>
    <p:extLst>
      <p:ext uri="{BB962C8B-B14F-4D97-AF65-F5344CB8AC3E}">
        <p14:creationId xmlns:p14="http://schemas.microsoft.com/office/powerpoint/2010/main" val="157653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1761</TotalTime>
  <Words>1480</Words>
  <Application>Microsoft Office PowerPoint</Application>
  <PresentationFormat>Widescreen</PresentationFormat>
  <Paragraphs>125</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Calibri Light</vt:lpstr>
      <vt:lpstr>Courier New</vt:lpstr>
      <vt:lpstr>JansonTextLTStd</vt:lpstr>
      <vt:lpstr>Source Sans Pro</vt:lpstr>
      <vt:lpstr>source-serif-pro</vt:lpstr>
      <vt:lpstr>Studio-Feixen-Sans</vt:lpstr>
      <vt:lpstr>Office Theme</vt:lpstr>
      <vt:lpstr>MGMT 58600: Python Programming </vt:lpstr>
      <vt:lpstr>What is Programming?</vt:lpstr>
      <vt:lpstr>What is Python?</vt:lpstr>
      <vt:lpstr>Why Python? </vt:lpstr>
      <vt:lpstr>Demand for Python Programming</vt:lpstr>
      <vt:lpstr>Why is Python so Popular?</vt:lpstr>
      <vt:lpstr>What is Python Used For?</vt:lpstr>
      <vt:lpstr>What is Python Used For?</vt:lpstr>
      <vt:lpstr>What is Python Used For? </vt:lpstr>
      <vt:lpstr>What is Python Used For? </vt:lpstr>
      <vt:lpstr>What is Python Used For?</vt:lpstr>
      <vt:lpstr>Top Companies/Institutions That Use Python</vt:lpstr>
      <vt:lpstr>Getting Python </vt:lpstr>
      <vt:lpstr>Python Basics</vt:lpstr>
      <vt:lpstr>Python Basics</vt:lpstr>
      <vt:lpstr>Precedence of Operators</vt:lpstr>
      <vt:lpstr>Syntax</vt:lpstr>
      <vt:lpstr>Basic Datatypes</vt:lpstr>
      <vt:lpstr>String Concatenation &amp; Replication</vt:lpstr>
      <vt:lpstr>Variables and Assignment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MGMT 288-IBE: Programming for Business Applications</dc:title>
  <dc:creator>Khan, Shoaib Amjad</dc:creator>
  <cp:lastModifiedBy>Shoaib Amjad Khan</cp:lastModifiedBy>
  <cp:revision>24</cp:revision>
  <dcterms:created xsi:type="dcterms:W3CDTF">2024-01-08T18:34:33Z</dcterms:created>
  <dcterms:modified xsi:type="dcterms:W3CDTF">2025-08-26T16:12:38Z</dcterms:modified>
</cp:coreProperties>
</file>