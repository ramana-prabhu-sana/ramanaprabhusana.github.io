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modSld">
      <pc:chgData name="Ramana prabhu Sana" userId="9ce700ea-1810-4462-ab36-dec9325c035e" providerId="ADAL" clId="{7F8A51BB-DF7A-5C03-A6B7-03326D5C008F}" dt="2025-10-13T14:22:31.935" v="1" actId="1035"/>
      <pc:docMkLst>
        <pc:docMk/>
      </pc:docMkLst>
      <pc:sldChg chg="modSp mod">
        <pc:chgData name="Ramana prabhu Sana" userId="9ce700ea-1810-4462-ab36-dec9325c035e" providerId="ADAL" clId="{7F8A51BB-DF7A-5C03-A6B7-03326D5C008F}" dt="2025-10-13T14:22:31.935" v="1" actId="1035"/>
        <pc:sldMkLst>
          <pc:docMk/>
          <pc:sldMk cId="1346243489" sldId="273"/>
        </pc:sldMkLst>
        <pc:picChg chg="mod">
          <ac:chgData name="Ramana prabhu Sana" userId="9ce700ea-1810-4462-ab36-dec9325c035e" providerId="ADAL" clId="{7F8A51BB-DF7A-5C03-A6B7-03326D5C008F}" dt="2025-10-13T14:22:31.935" v="1" actId="1035"/>
          <ac:picMkLst>
            <pc:docMk/>
            <pc:sldMk cId="1346243489" sldId="273"/>
            <ac:picMk id="6" creationId="{8032A4F8-3B57-40D4-96C4-2D738E0F11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9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A71C-41FB-451A-96AF-8FE5BFB5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DA2F4-1D70-43B8-9049-2C1AEF5A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Pandas</a:t>
            </a:r>
            <a:r>
              <a:rPr lang="en-US" dirty="0"/>
              <a:t> is a Python library used for data manipulation and analysis. It provides a convenient way to analyze and clean data.</a:t>
            </a:r>
          </a:p>
          <a:p>
            <a:pPr algn="just"/>
            <a:r>
              <a:rPr lang="en-US" dirty="0"/>
              <a:t>Pandas is extensively used for: </a:t>
            </a:r>
          </a:p>
          <a:p>
            <a:pPr lvl="1" algn="just"/>
            <a:r>
              <a:rPr lang="en-US" dirty="0"/>
              <a:t>Data Cleaning</a:t>
            </a:r>
          </a:p>
          <a:p>
            <a:pPr lvl="1" algn="just"/>
            <a:r>
              <a:rPr lang="en-US" dirty="0"/>
              <a:t>Data Transformation</a:t>
            </a:r>
          </a:p>
          <a:p>
            <a:pPr lvl="1" algn="just"/>
            <a:r>
              <a:rPr lang="en-US" dirty="0"/>
              <a:t>Data Analysis</a:t>
            </a:r>
          </a:p>
          <a:p>
            <a:pPr lvl="1" algn="just"/>
            <a:r>
              <a:rPr lang="en-US" dirty="0"/>
              <a:t>Machine Learning</a:t>
            </a:r>
          </a:p>
          <a:p>
            <a:pPr lvl="1" algn="just"/>
            <a:r>
              <a:rPr lang="en-US" dirty="0"/>
              <a:t>Data Visualization</a:t>
            </a:r>
          </a:p>
          <a:p>
            <a:pPr algn="just"/>
            <a:r>
              <a:rPr lang="en-US" dirty="0"/>
              <a:t>The Pandas library introduces two new data structures to Python - </a:t>
            </a:r>
            <a:r>
              <a:rPr lang="en-US" b="1" dirty="0"/>
              <a:t>Series</a:t>
            </a:r>
            <a:r>
              <a:rPr lang="en-US" dirty="0"/>
              <a:t> and </a:t>
            </a:r>
            <a:r>
              <a:rPr lang="en-US" b="1" dirty="0" err="1"/>
              <a:t>DataFrame</a:t>
            </a:r>
            <a:r>
              <a:rPr lang="en-US" dirty="0"/>
              <a:t>, both of which are built on top of NumPy.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6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B902-41B3-4F09-94A4-4350FCD0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Pandas?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F6F01-044A-4EEF-8E64-32A6EC08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/>
              <a:t>Handle Large Data Efficiently: </a:t>
            </a:r>
          </a:p>
          <a:p>
            <a:pPr lvl="1"/>
            <a:r>
              <a:rPr lang="en-US" sz="1600" dirty="0"/>
              <a:t>Pandas is designed for handling large datasets. It provides powerful tools that simplify tasks like data filtering, transforming, and merging.</a:t>
            </a:r>
          </a:p>
          <a:p>
            <a:pPr lvl="1"/>
            <a:r>
              <a:rPr lang="en-US" sz="1600" dirty="0"/>
              <a:t>It also provides built-in functions to work with formats like CSV, JSON, TXT, Excel, and SQL databases.</a:t>
            </a:r>
          </a:p>
          <a:p>
            <a:r>
              <a:rPr lang="en-US" sz="2000" dirty="0"/>
              <a:t>Tabular Data Representation:</a:t>
            </a:r>
          </a:p>
          <a:p>
            <a:pPr lvl="1"/>
            <a:r>
              <a:rPr lang="en-US" sz="1600" dirty="0"/>
              <a:t>Pandas </a:t>
            </a:r>
            <a:r>
              <a:rPr lang="en-US" sz="1600" dirty="0" err="1"/>
              <a:t>DataFrames</a:t>
            </a:r>
            <a:r>
              <a:rPr lang="en-US" sz="1600" dirty="0"/>
              <a:t> handle data in tabular format. This allows easy indexing, selecting, replacing, and slicing of data.</a:t>
            </a:r>
          </a:p>
          <a:p>
            <a:r>
              <a:rPr lang="en-US" sz="2000" dirty="0"/>
              <a:t>Data Cleaning and Preprocessing:</a:t>
            </a:r>
          </a:p>
          <a:p>
            <a:pPr lvl="1"/>
            <a:r>
              <a:rPr lang="en-US" sz="1600" dirty="0"/>
              <a:t>Data cleaning and preprocessing are essential steps in the data analysis pipeline, and Pandas provides powerful tools to facilitate these tasks. </a:t>
            </a:r>
          </a:p>
          <a:p>
            <a:pPr lvl="1"/>
            <a:r>
              <a:rPr lang="en-US" sz="1600" dirty="0"/>
              <a:t>It has methods for handling missing values, removing duplicates, handling outliers, data normalization, etc.</a:t>
            </a:r>
          </a:p>
          <a:p>
            <a:r>
              <a:rPr lang="en-US" sz="2000" dirty="0"/>
              <a:t>Time Series Functionality:</a:t>
            </a:r>
          </a:p>
          <a:p>
            <a:pPr lvl="1"/>
            <a:r>
              <a:rPr lang="en-US" sz="1600" dirty="0"/>
              <a:t>Pandas contains an extensive set of tools for working with dates, times, and time-indexed data as it was initially developed for financial modeling.</a:t>
            </a:r>
          </a:p>
          <a:p>
            <a:r>
              <a:rPr lang="en-US" sz="2000" dirty="0"/>
              <a:t>Free and Open-Source</a:t>
            </a:r>
          </a:p>
          <a:p>
            <a:pPr lvl="1"/>
            <a:r>
              <a:rPr lang="en-US" sz="1600" dirty="0"/>
              <a:t>Pandas follows the same principles as Python, allowing you to use and distribute Pandas for free, even for commercial use.</a:t>
            </a:r>
          </a:p>
        </p:txBody>
      </p:sp>
    </p:spTree>
    <p:extLst>
      <p:ext uri="{BB962C8B-B14F-4D97-AF65-F5344CB8AC3E}">
        <p14:creationId xmlns:p14="http://schemas.microsoft.com/office/powerpoint/2010/main" val="338452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2238-30C9-4B04-9E21-7FE52C1D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A451-C0CB-4222-86E9-B9B074B2E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Pandas can be installed by running the following command: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pandas</a:t>
            </a:r>
          </a:p>
          <a:p>
            <a:r>
              <a:rPr lang="en-US" dirty="0"/>
              <a:t>We can import Pandas in Python using the import statement: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en-US" dirty="0"/>
              <a:t>A Pandas Series is like a column in a table. It consists of two main components: the labels and the data.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   'John'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1    30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2    6.2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   False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object</a:t>
            </a:r>
          </a:p>
          <a:p>
            <a:r>
              <a:rPr lang="en-US" b="0" i="0" dirty="0">
                <a:effectLst/>
                <a:latin typeface="euclid_circular_a"/>
              </a:rPr>
              <a:t>The labels are the index values assigned to each data point, while the data represents the actual values stored in the Series.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AA65-D7B0-4064-A140-88291B96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91903-C827-454B-85D0-AE9264D5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There are multiple ways to create a Pandas Series, but the most common way is by using a Python list.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pandas as pd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pd.Series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dirty="0"/>
              <a:t>The labels in the Pandas Series are index numbers by default.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>
              <a:latin typeface="euclid_circular_a"/>
            </a:endParaRPr>
          </a:p>
          <a:p>
            <a:r>
              <a:rPr lang="en-US" dirty="0"/>
              <a:t>We can also specify labels while creating the series using the index argument in the Series() method.</a:t>
            </a:r>
          </a:p>
          <a:p>
            <a:pPr marL="1371600" lvl="3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pd.Series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index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3D3D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3D3D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"z"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]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i="0" dirty="0">
              <a:effectLst/>
              <a:latin typeface="euclid_circular_a"/>
            </a:endParaRPr>
          </a:p>
          <a:p>
            <a:r>
              <a:rPr lang="en-US" dirty="0"/>
              <a:t>To access the series elements, we use the specified labels instead of the default index number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0" i="0" dirty="0">
              <a:effectLst/>
              <a:latin typeface="euclid_circular_a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04F11D-BDA0-4B35-8425-50D35E1D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12A996-0080-4054-B5C7-4954A76B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24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DB3D-32C9-4DE9-AEB4-2AC55264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977F2-9B20-4063-8B71-B9D7C47CA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also use a key/value object, like a dictionary, when creating a Series.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pandas as pd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calories = {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"day1"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"day2"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380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"day3"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390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pd.Series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(calories)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/>
          </a:p>
          <a:p>
            <a:r>
              <a:rPr lang="en-US" dirty="0"/>
              <a:t>To select only some of the items in the dictionary, use the index argument and specify only the items you want to include in the Series.</a:t>
            </a:r>
          </a:p>
          <a:p>
            <a:pPr marL="1371600" lvl="3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pd.Series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(calories, index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"day1"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"day2"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7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B212-BA67-41FE-93AC-A8AF9B35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85F7-FCA3-460B-BFE1-61780D90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0" i="0" dirty="0">
                <a:effectLst/>
                <a:latin typeface="euclid_circular_a"/>
              </a:rPr>
              <a:t>A </a:t>
            </a:r>
            <a:r>
              <a:rPr lang="en-US" b="0" i="0" dirty="0" err="1">
                <a:effectLst/>
                <a:latin typeface="euclid_circular_a"/>
              </a:rPr>
              <a:t>DataFrame</a:t>
            </a:r>
            <a:r>
              <a:rPr lang="en-US" b="0" i="0" dirty="0">
                <a:effectLst/>
                <a:latin typeface="euclid_circular_a"/>
              </a:rPr>
              <a:t> is like a table where the data is organized in rows and columns. </a:t>
            </a:r>
          </a:p>
          <a:p>
            <a:pPr algn="just"/>
            <a:r>
              <a:rPr lang="en-US" b="0" i="0" dirty="0">
                <a:effectLst/>
                <a:latin typeface="euclid_circular_a"/>
              </a:rPr>
              <a:t>It is a two-dimensional data structure like a two-dimensional array.</a:t>
            </a:r>
          </a:p>
          <a:p>
            <a:pPr marL="1371600" lvl="3" indent="0" algn="just">
              <a:buNone/>
            </a:pPr>
            <a:r>
              <a:rPr lang="en-US" dirty="0">
                <a:latin typeface="euclid_circular_a"/>
              </a:rPr>
              <a:t>      Country      Capital        Population</a:t>
            </a:r>
          </a:p>
          <a:p>
            <a:pPr marL="1371600" lvl="3" indent="0" algn="just">
              <a:buNone/>
            </a:pPr>
            <a:r>
              <a:rPr lang="en-US" dirty="0">
                <a:latin typeface="euclid_circular_a"/>
              </a:rPr>
              <a:t>0    Canada       Ottawa        37742154</a:t>
            </a:r>
          </a:p>
          <a:p>
            <a:pPr marL="1371600" lvl="3" indent="0" algn="just">
              <a:buNone/>
            </a:pPr>
            <a:r>
              <a:rPr lang="en-US" dirty="0">
                <a:latin typeface="euclid_circular_a"/>
              </a:rPr>
              <a:t>1    Australia     Canberra     25499884</a:t>
            </a:r>
          </a:p>
          <a:p>
            <a:pPr marL="1371600" lvl="3" indent="0" algn="just">
              <a:buNone/>
            </a:pPr>
            <a:r>
              <a:rPr lang="en-US" dirty="0">
                <a:latin typeface="euclid_circular_a"/>
              </a:rPr>
              <a:t>2    UK                London       67886011</a:t>
            </a:r>
          </a:p>
          <a:p>
            <a:pPr marL="1371600" lvl="3" indent="0" algn="just">
              <a:buNone/>
            </a:pPr>
            <a:r>
              <a:rPr lang="en-US" dirty="0">
                <a:latin typeface="euclid_circular_a"/>
              </a:rPr>
              <a:t>3    Brazil            Brasília       212559417</a:t>
            </a:r>
          </a:p>
          <a:p>
            <a:pPr algn="just"/>
            <a:r>
              <a:rPr lang="en-US" dirty="0">
                <a:latin typeface="euclid_circular_a"/>
              </a:rPr>
              <a:t>Here: </a:t>
            </a:r>
          </a:p>
          <a:p>
            <a:pPr lvl="1" algn="just"/>
            <a:r>
              <a:rPr lang="en-US" dirty="0">
                <a:latin typeface="euclid_circular_a"/>
              </a:rPr>
              <a:t>Country, Capital and Population are the column names.</a:t>
            </a:r>
          </a:p>
          <a:p>
            <a:pPr lvl="1" algn="just"/>
            <a:r>
              <a:rPr lang="en-US" dirty="0">
                <a:latin typeface="euclid_circular_a"/>
              </a:rPr>
              <a:t>Each row represents a record, with the index value on the left. The index values are auto-assigned starting from 0.</a:t>
            </a:r>
          </a:p>
          <a:p>
            <a:pPr lvl="1" algn="just"/>
            <a:r>
              <a:rPr lang="en-US" dirty="0">
                <a:latin typeface="euclid_circular_a"/>
              </a:rPr>
              <a:t>Each column contains data of the same type. For instance, Country and Capital contain strings, and Population contains integers.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DataFrame</a:t>
            </a:r>
            <a:r>
              <a:rPr lang="en-US" dirty="0"/>
              <a:t> is similar to a table in a SQL database, or a spreadsheet in Excel.</a:t>
            </a:r>
            <a:endParaRPr lang="en-US" dirty="0">
              <a:latin typeface="euclid_circular_a"/>
            </a:endParaRPr>
          </a:p>
          <a:p>
            <a:pPr algn="just"/>
            <a:endParaRPr lang="en-US" dirty="0">
              <a:latin typeface="euclid_circular_a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9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C610-FB96-4516-8F0D-E2215E62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BBD6-9DCB-4030-8881-C8CE785B0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euclid_circular_a"/>
              </a:rPr>
              <a:t>We can create a Pandas </a:t>
            </a:r>
            <a:r>
              <a:rPr lang="en-US" b="0" i="0" dirty="0" err="1">
                <a:effectLst/>
                <a:latin typeface="euclid_circular_a"/>
              </a:rPr>
              <a:t>DataFrame</a:t>
            </a:r>
            <a:r>
              <a:rPr lang="en-US" b="0" i="0" dirty="0">
                <a:effectLst/>
                <a:latin typeface="euclid_circular_a"/>
              </a:rPr>
              <a:t> in the following ways:</a:t>
            </a:r>
          </a:p>
          <a:p>
            <a:pPr lvl="1"/>
            <a:r>
              <a:rPr lang="en-US" b="0" i="0" dirty="0">
                <a:effectLst/>
                <a:latin typeface="euclid_circular_a"/>
              </a:rPr>
              <a:t>Using Python Dictionary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{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"calories"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380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390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"duration"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pd.DataFrame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  <a:endParaRPr lang="en-US" b="0" i="0" dirty="0">
              <a:effectLst/>
              <a:latin typeface="euclid_circular_a"/>
            </a:endParaRPr>
          </a:p>
          <a:p>
            <a:pPr lvl="1"/>
            <a:r>
              <a:rPr lang="en-US" b="0" i="0" dirty="0">
                <a:effectLst/>
                <a:latin typeface="euclid_circular_a"/>
              </a:rPr>
              <a:t>Using Python List</a:t>
            </a:r>
          </a:p>
          <a:p>
            <a:pPr marL="1371600" lvl="3" indent="0">
              <a:buNone/>
            </a:pPr>
            <a:r>
              <a:rPr lang="en-US" b="0" i="0" dirty="0">
                <a:effectLst/>
                <a:latin typeface="euclid_circular_a"/>
              </a:rPr>
              <a:t>data = [[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'John'</a:t>
            </a:r>
            <a:r>
              <a:rPr lang="en-US" b="0" i="0" dirty="0">
                <a:effectLst/>
                <a:latin typeface="euclid_circular_a"/>
              </a:rPr>
              <a:t>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b="0" i="0" dirty="0">
                <a:effectLst/>
                <a:latin typeface="euclid_circular_a"/>
              </a:rPr>
              <a:t>, 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'New</a:t>
            </a:r>
            <a:r>
              <a:rPr lang="en-US" b="0" i="0" dirty="0">
                <a:effectLst/>
                <a:latin typeface="euclid_circular_a"/>
              </a:rPr>
              <a:t> 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York</a:t>
            </a:r>
            <a:r>
              <a:rPr lang="en-US" b="0" i="0" dirty="0">
                <a:effectLst/>
                <a:latin typeface="euclid_circular_a"/>
              </a:rPr>
              <a:t>’],  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'Alice</a:t>
            </a:r>
            <a:r>
              <a:rPr lang="en-US" b="0" i="0" dirty="0">
                <a:effectLst/>
                <a:latin typeface="euclid_circular_a"/>
              </a:rPr>
              <a:t>',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en-US" b="0" i="0" dirty="0">
                <a:effectLst/>
                <a:latin typeface="euclid_circular_a"/>
              </a:rPr>
              <a:t>, 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'London’</a:t>
            </a:r>
            <a:r>
              <a:rPr lang="en-US" b="0" i="0" dirty="0">
                <a:effectLst/>
                <a:latin typeface="euclid_circular_a"/>
              </a:rPr>
              <a:t>], [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'Bob'</a:t>
            </a:r>
            <a:r>
              <a:rPr lang="en-US" b="0" i="0" dirty="0">
                <a:effectLst/>
                <a:latin typeface="euclid_circular_a"/>
              </a:rPr>
              <a:t>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35</a:t>
            </a:r>
            <a:r>
              <a:rPr lang="en-US" b="0" i="0" dirty="0">
                <a:effectLst/>
                <a:latin typeface="euclid_circular_a"/>
              </a:rPr>
              <a:t>, 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'Paris’</a:t>
            </a:r>
            <a:r>
              <a:rPr lang="en-US" b="0" i="0" dirty="0">
                <a:effectLst/>
                <a:latin typeface="euclid_circular_a"/>
              </a:rPr>
              <a:t>]]</a:t>
            </a:r>
          </a:p>
          <a:p>
            <a:pPr marL="1371600" lvl="3" indent="0">
              <a:buNone/>
            </a:pPr>
            <a:r>
              <a:rPr lang="en-US" b="0" i="0" dirty="0">
                <a:effectLst/>
                <a:latin typeface="euclid_circular_a"/>
              </a:rPr>
              <a:t>df = </a:t>
            </a:r>
            <a:r>
              <a:rPr lang="en-US" b="0" i="0" dirty="0" err="1">
                <a:effectLst/>
                <a:latin typeface="euclid_circular_a"/>
              </a:rPr>
              <a:t>pd.DataFrame</a:t>
            </a:r>
            <a:r>
              <a:rPr lang="en-US" b="0" i="0" dirty="0">
                <a:effectLst/>
                <a:latin typeface="euclid_circular_a"/>
              </a:rPr>
              <a:t>(data, columns=[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euclid_circular_a"/>
              </a:rPr>
              <a:t>'Name'</a:t>
            </a:r>
            <a:r>
              <a:rPr lang="en-US" b="0" i="0" dirty="0">
                <a:effectLst/>
                <a:latin typeface="euclid_circular_a"/>
              </a:rPr>
              <a:t>, '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euclid_circular_a"/>
              </a:rPr>
              <a:t>Age</a:t>
            </a:r>
            <a:r>
              <a:rPr lang="en-US" b="0" i="0" dirty="0">
                <a:effectLst/>
                <a:latin typeface="euclid_circular_a"/>
              </a:rPr>
              <a:t>',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euclid_circular_a"/>
              </a:rPr>
              <a:t>'City'</a:t>
            </a:r>
            <a:r>
              <a:rPr lang="en-US" b="0" i="0" dirty="0">
                <a:effectLst/>
                <a:latin typeface="euclid_circular_a"/>
              </a:rPr>
              <a:t>])</a:t>
            </a:r>
          </a:p>
          <a:p>
            <a:pPr lvl="1"/>
            <a:r>
              <a:rPr lang="en-US" b="0" i="0" dirty="0">
                <a:effectLst/>
                <a:latin typeface="euclid_circular_a"/>
              </a:rPr>
              <a:t>From a File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'data.csv’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lang="en-US" b="0" i="0" dirty="0">
              <a:effectLst/>
              <a:latin typeface="euclid_circular_a"/>
            </a:endParaRPr>
          </a:p>
          <a:p>
            <a:pPr lvl="1"/>
            <a:r>
              <a:rPr lang="en-US" b="0" i="0" dirty="0">
                <a:effectLst/>
                <a:latin typeface="euclid_circular_a"/>
              </a:rPr>
              <a:t>Creating an empty </a:t>
            </a:r>
            <a:r>
              <a:rPr lang="en-US" b="0" i="0" dirty="0" err="1">
                <a:effectLst/>
                <a:latin typeface="euclid_circular_a"/>
              </a:rPr>
              <a:t>dataframe</a:t>
            </a:r>
            <a:endParaRPr lang="en-US" b="0" i="0" dirty="0">
              <a:effectLst/>
              <a:latin typeface="euclid_circular_a"/>
            </a:endParaRP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df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endParaRPr lang="en-US" b="0" i="0" dirty="0">
              <a:effectLst/>
              <a:latin typeface="euclid_circular_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7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C8B4-9A6E-4251-801B-B362FE94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F01A-6163-4B84-B82B-38CB137D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head() method returns the headers and a specified number of rows, starting from the top.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'data.csv'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df.head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r>
              <a:rPr lang="en-US" dirty="0"/>
              <a:t>The tail() method returns the headers and a specified number of rows, starting from the bottom.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'data.csv'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df.tail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r>
              <a:rPr lang="en-US" dirty="0"/>
              <a:t>The info() method gives you more information about the data set.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pd.read_csv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'data.csv'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(df.info())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DE11-A230-46A8-A81D-D414629F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DataFrames</a:t>
            </a:r>
            <a:r>
              <a:rPr lang="en-US" dirty="0"/>
              <a:t>: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4821-0D7F-4AC6-9BA1-94222F43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Pandas, we can use square brackets and their labels or positions to select the data we want.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E9B6D-4A93-4B8B-8C80-24637213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166" y="2652222"/>
            <a:ext cx="6062731" cy="22888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DB60D3-1F98-4C2D-B7EB-0DD9CECE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166" y="5230303"/>
            <a:ext cx="3069615" cy="5374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FF5B48-3FF9-48B2-B20C-C811F869E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166" y="6026275"/>
            <a:ext cx="3291478" cy="5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8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2F0F-E3A5-4310-B222-51E66723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loc and </a:t>
            </a:r>
            <a:r>
              <a:rPr lang="en-US" dirty="0" err="1"/>
              <a:t>iloc</a:t>
            </a:r>
            <a:r>
              <a:rPr lang="en-US" dirty="0"/>
              <a:t> to Select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903A6-78AA-43B8-9060-6CD9E727B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dirty="0"/>
              <a:t>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dirty="0"/>
              <a:t> methods in Pandas are used to access data by using label or integer index.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dirty="0"/>
              <a:t> selects rows and columns with specific labels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dirty="0"/>
              <a:t> selects rows and columns at specific index number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122F45-51F8-4A6D-9396-E1E5E81A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5705" cy="27699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A3019-376C-40C2-BFFF-FA718DBB0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73" y="3429000"/>
            <a:ext cx="6618171" cy="2195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1BEDCC-C2C3-4063-9386-A5EFAFFE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933029"/>
            <a:ext cx="4439683" cy="696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48EA3E-CFBE-4308-8DD6-A1463804C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419" y="3663520"/>
            <a:ext cx="2991413" cy="7398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B700A0-8C36-4687-8401-B2AD622D0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586" y="5377666"/>
            <a:ext cx="4800574" cy="6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86439-8AA0-4C95-9F62-1C8069113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28" y="1587063"/>
            <a:ext cx="10512971" cy="45899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</a:t>
            </a:r>
          </a:p>
          <a:p>
            <a:pPr lvl="1"/>
            <a:r>
              <a:rPr lang="en-US" dirty="0"/>
              <a:t>Using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['Name', 'Age']]</a:t>
            </a:r>
            <a:r>
              <a:rPr lang="en-US" dirty="0"/>
              <a:t> - selects rows 1 to 3 and columns Name and Age from df</a:t>
            </a:r>
          </a:p>
          <a:p>
            <a:pPr lvl="1"/>
            <a:r>
              <a:rPr lang="en-US" dirty="0"/>
              <a:t>Using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df.iloc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[1:4, [0, 2]]</a:t>
            </a:r>
            <a:r>
              <a:rPr lang="en-US" dirty="0"/>
              <a:t> - selects rows 1 to 3 and columns at index positions 0 and 2 from df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789F6-41BF-4095-889B-D7F55554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771" y="1941830"/>
            <a:ext cx="4509070" cy="871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038330-B2D3-401D-986C-2141393C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26" y="1941830"/>
            <a:ext cx="5209422" cy="87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9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53C2-0902-453E-B6B2-5B75AAC7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Rows Based on Specific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29E8-57B7-42B6-B15D-CF4815D65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In Pandas, we can use </a:t>
            </a:r>
            <a:r>
              <a:rPr lang="en-US" dirty="0" err="1"/>
              <a:t>boolean</a:t>
            </a:r>
            <a:r>
              <a:rPr lang="en-US" dirty="0"/>
              <a:t> conditions to filter rows based on specific criteria.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6DDFC-9868-406A-ABE6-A1CA1C00C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55" y="2625361"/>
            <a:ext cx="6899876" cy="217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D2FF1-5907-482D-B0E0-712DAB52A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855" y="5113249"/>
            <a:ext cx="5117169" cy="75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4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5E13-2051-4116-88E4-9378AA55B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Rows Based on Specific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EF0E-AC8A-4293-9CBB-A8DD59C17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we have selected the rows where the age is greater than 25.</a:t>
            </a:r>
          </a:p>
          <a:p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 indexing is done using the condition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df[‘Age’]&gt; 25</a:t>
            </a:r>
          </a:p>
          <a:p>
            <a:r>
              <a:rPr lang="en-US" dirty="0"/>
              <a:t>This creates a </a:t>
            </a:r>
            <a:r>
              <a:rPr lang="en-US" i="1" dirty="0" err="1"/>
              <a:t>boolean</a:t>
            </a:r>
            <a:r>
              <a:rPr lang="en-US" i="1" dirty="0"/>
              <a:t> mask</a:t>
            </a:r>
            <a:r>
              <a:rPr lang="en-US" dirty="0"/>
              <a:t>. And when this mask is applied to the </a:t>
            </a:r>
            <a:r>
              <a:rPr lang="en-US" dirty="0" err="1"/>
              <a:t>DataFrame</a:t>
            </a:r>
            <a:r>
              <a:rPr lang="en-US" dirty="0"/>
              <a:t>, it selects only the rows where the condition is True.</a:t>
            </a:r>
          </a:p>
          <a:p>
            <a:r>
              <a:rPr lang="en-US" b="1" dirty="0"/>
              <a:t>query()</a:t>
            </a:r>
            <a:r>
              <a:rPr lang="en-US" dirty="0"/>
              <a:t> to Select Data: The query() method in Pandas allows you to select data using a more SQL-like syntax.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7AA7C-A40A-4DA6-BDB4-957A8BAD2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81" y="5325503"/>
            <a:ext cx="6336191" cy="8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6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AC26-47ED-4C4F-AD69-949599A5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Rows Based on a List of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56C0D-0BDA-4803-8422-2F230CE74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provides us with the method named </a:t>
            </a:r>
            <a:r>
              <a:rPr lang="en-US" dirty="0" err="1"/>
              <a:t>isin</a:t>
            </a:r>
            <a:r>
              <a:rPr lang="en-US" dirty="0"/>
              <a:t>() to filter rows based on a list of values. For example,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A9B53-53F5-4B8A-A3A9-BF60426F9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02" y="2910463"/>
            <a:ext cx="5977786" cy="1482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75BD0D-328B-427C-BE0A-D6C10C25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694" y="4741331"/>
            <a:ext cx="4221843" cy="736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6CBAA4-F27A-46BE-B2DC-012E1E85B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694" y="5646559"/>
            <a:ext cx="6419614" cy="84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6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190D-1A5E-4850-B281-AF79F206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 Rows Based on a List of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4C7B-E1D9-4E81-8EC2-4876788AC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example, we want to select only the rows where the name is either Bob or David.</a:t>
            </a:r>
          </a:p>
          <a:p>
            <a:r>
              <a:rPr lang="en-US" dirty="0"/>
              <a:t>We created a list </a:t>
            </a:r>
            <a:r>
              <a:rPr lang="en-US" dirty="0" err="1"/>
              <a:t>names_to_filter</a:t>
            </a:r>
            <a:r>
              <a:rPr lang="en-US" dirty="0"/>
              <a:t> with the names we want to filter by and then used the </a:t>
            </a:r>
            <a:r>
              <a:rPr lang="en-US" dirty="0" err="1"/>
              <a:t>isin</a:t>
            </a:r>
            <a:r>
              <a:rPr lang="en-US" dirty="0"/>
              <a:t>() method to filter the rows based on the values in the Name column.</a:t>
            </a:r>
          </a:p>
        </p:txBody>
      </p:sp>
    </p:spTree>
    <p:extLst>
      <p:ext uri="{BB962C8B-B14F-4D97-AF65-F5344CB8AC3E}">
        <p14:creationId xmlns:p14="http://schemas.microsoft.com/office/powerpoint/2010/main" val="21852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49B5-449E-4ABF-993F-6788DBE6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Named Indexes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34748-A13A-4931-929D-0FFF4905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index argument, you can name your own indexes.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the named index in the loc attribute to return the specified row(s).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32A4F8-3B57-40D4-96C4-2D738E0F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28" y="2508450"/>
            <a:ext cx="5819364" cy="1798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C658F0-AF93-4ECA-BA96-9FD6D1DB3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212" y="5781224"/>
            <a:ext cx="3005788" cy="71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6711</TotalTime>
  <Words>1305</Words>
  <Application>Microsoft Macintosh PowerPoint</Application>
  <PresentationFormat>Widescreen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Courier New</vt:lpstr>
      <vt:lpstr>euclid_circular_a</vt:lpstr>
      <vt:lpstr>Segoe UI</vt:lpstr>
      <vt:lpstr>Office Theme</vt:lpstr>
      <vt:lpstr>MGMT 58600: Python Programming</vt:lpstr>
      <vt:lpstr>Pandas</vt:lpstr>
      <vt:lpstr>Why Use Pandas?</vt:lpstr>
      <vt:lpstr>Getting Started With Pandas</vt:lpstr>
      <vt:lpstr>Series</vt:lpstr>
      <vt:lpstr>Series</vt:lpstr>
      <vt:lpstr>DataFrame</vt:lpstr>
      <vt:lpstr>Creating DataFrames</vt:lpstr>
      <vt:lpstr>Viewing the Data</vt:lpstr>
      <vt:lpstr>Pandas DataFrames: Selecting Data</vt:lpstr>
      <vt:lpstr>Using loc and iloc to Select Data</vt:lpstr>
      <vt:lpstr>PowerPoint Presentation</vt:lpstr>
      <vt:lpstr>Select Rows Based on Specific Criteria</vt:lpstr>
      <vt:lpstr>Select Rows Based on Specific Criteria</vt:lpstr>
      <vt:lpstr>Select Rows Based on a List of Values</vt:lpstr>
      <vt:lpstr>Select Rows Based on a List of Values</vt:lpstr>
      <vt:lpstr>Named Indexes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Ramana prabhu Sana</cp:lastModifiedBy>
  <cp:revision>68</cp:revision>
  <dcterms:created xsi:type="dcterms:W3CDTF">2024-01-10T16:08:38Z</dcterms:created>
  <dcterms:modified xsi:type="dcterms:W3CDTF">2025-10-13T14:22:34Z</dcterms:modified>
</cp:coreProperties>
</file>