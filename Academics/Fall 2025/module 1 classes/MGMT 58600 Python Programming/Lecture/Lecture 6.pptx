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266" r:id="rId4"/>
    <p:sldId id="309" r:id="rId5"/>
    <p:sldId id="268" r:id="rId6"/>
    <p:sldId id="259" r:id="rId7"/>
    <p:sldId id="260" r:id="rId8"/>
    <p:sldId id="261" r:id="rId9"/>
    <p:sldId id="262" r:id="rId10"/>
    <p:sldId id="304" r:id="rId11"/>
    <p:sldId id="305" r:id="rId12"/>
    <p:sldId id="306" r:id="rId13"/>
    <p:sldId id="307" r:id="rId14"/>
    <p:sldId id="308" r:id="rId15"/>
    <p:sldId id="265" r:id="rId16"/>
    <p:sldId id="278" r:id="rId17"/>
    <p:sldId id="267" r:id="rId18"/>
    <p:sldId id="279" r:id="rId19"/>
    <p:sldId id="269" r:id="rId20"/>
    <p:sldId id="280" r:id="rId21"/>
    <p:sldId id="281" r:id="rId22"/>
    <p:sldId id="282" r:id="rId23"/>
    <p:sldId id="271" r:id="rId24"/>
    <p:sldId id="272" r:id="rId25"/>
    <p:sldId id="273" r:id="rId26"/>
    <p:sldId id="310" r:id="rId27"/>
    <p:sldId id="311" r:id="rId28"/>
    <p:sldId id="312" r:id="rId29"/>
    <p:sldId id="313" r:id="rId30"/>
    <p:sldId id="274" r:id="rId31"/>
    <p:sldId id="27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6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C919-737E-4F77-A839-1F92B424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752D0-FF49-46BF-88E4-60C1E775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euclid_circular_a"/>
              </a:rPr>
              <a:t>A lambda function is a special type of function without the function name (anonymous functions). </a:t>
            </a:r>
          </a:p>
          <a:p>
            <a:r>
              <a:rPr lang="en-US" dirty="0"/>
              <a:t>We use the </a:t>
            </a:r>
            <a:r>
              <a:rPr lang="en-US" b="1" dirty="0"/>
              <a:t>lambda</a:t>
            </a:r>
            <a:r>
              <a:rPr lang="en-US" dirty="0"/>
              <a:t> keyword instead of </a:t>
            </a:r>
            <a:r>
              <a:rPr lang="en-US" b="1" dirty="0"/>
              <a:t>def</a:t>
            </a:r>
            <a:r>
              <a:rPr lang="en-US" dirty="0"/>
              <a:t> to create a lambda function. E.g., 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lambda argument(s) : expression </a:t>
            </a:r>
          </a:p>
          <a:p>
            <a:pPr lvl="1"/>
            <a:r>
              <a:rPr lang="en-US" dirty="0"/>
              <a:t>argument(s) - any value(s) passed to the lambda function</a:t>
            </a:r>
          </a:p>
          <a:p>
            <a:pPr lvl="1"/>
            <a:r>
              <a:rPr lang="en-US" dirty="0"/>
              <a:t>expression - expression is executed and returned</a:t>
            </a:r>
          </a:p>
          <a:p>
            <a:r>
              <a:rPr lang="en-US" dirty="0"/>
              <a:t>Sorting a dictionary using a lambda function: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sorted(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people.items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key=lambda item: item[1])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#output:[(2, 'Jack'), (4, 'Jane'), (1, 'Jill'), (3, 'Jim')]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46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0284-44F2-4B00-883A-66E74625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Nested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E8C96-A14C-4E28-A3F7-121728CA5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dictionary can contain dictionaries, this is called nested dictionaries.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17E3C-89BE-4990-BC11-AA267304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413" y="2448834"/>
            <a:ext cx="2688347" cy="428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7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9E6F-556A-47B8-9EFC-4C53EA33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Nested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D257E-C6FC-408F-8B99-4A9BB95C3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Or, if you want to add three dictionaries </a:t>
            </a:r>
          </a:p>
          <a:p>
            <a:pPr marL="0" indent="0">
              <a:buNone/>
            </a:pPr>
            <a:r>
              <a:rPr lang="en-US" dirty="0"/>
              <a:t>into a new dictionary: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B970B-05D8-46D9-B6D2-378F11B34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143" y="1027886"/>
            <a:ext cx="2857899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0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DAD9-68F5-4BC0-89B2-0C9951E3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dirty="0"/>
              <a:t>Accessing Elements in a Nested Dictionary</a:t>
            </a:r>
            <a:br>
              <a:rPr lang="en-US" b="1" i="0" dirty="0">
                <a:solidFill>
                  <a:srgbClr val="191919"/>
                </a:solidFill>
                <a:effectLst/>
                <a:latin typeface="Segoe UI" panose="020B0502040204020203" pitchFamily="34" charset="0"/>
              </a:rPr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6E04-36C8-43FA-BC90-47077E89E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You can access elements within a nested dictionary by specifying multiple keys in a chain, using square brackets []. Each key represents a level of nesting: e.g.,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919EC8-EF17-42A6-A070-BDAE52E3F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83" y="3284321"/>
            <a:ext cx="5452817" cy="57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9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81F4-13CF-47E9-882A-CB10B940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on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C66EB-9BC6-4617-A1F5-3B669E559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Strings in Python are sequence </a:t>
            </a:r>
            <a:r>
              <a:rPr lang="en-US" i="1" dirty="0" err="1"/>
              <a:t>iterables</a:t>
            </a:r>
            <a:r>
              <a:rPr lang="en-US" i="1" dirty="0"/>
              <a:t> </a:t>
            </a:r>
            <a:r>
              <a:rPr lang="en-US" dirty="0"/>
              <a:t>i.e., an object capable of returning its members one at a time in order, e.g.,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 x in "banana":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  print(x)</a:t>
            </a:r>
            <a:endParaRPr lang="en-US" sz="18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To check if a certain phrase or character is present in a string, we can use 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cs typeface="Courier New" panose="02070309020205020404" pitchFamily="49" charset="0"/>
              </a:rPr>
              <a:t>, e.g.,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txt = "The best things in life are free!"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print("free" in txt)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Like lists, you can access a range of characters by using the slice syntax, e.g.,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 = "Hello, World!"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print(b[2:5])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print(b[:5])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print(b[2:])</a:t>
            </a:r>
          </a:p>
          <a:p>
            <a:pPr marL="914400" lvl="2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print(b[-5:-2])</a:t>
            </a:r>
          </a:p>
          <a:p>
            <a:pPr marL="914400" lvl="2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57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86E7-2F06-4951-8209-EEAFE769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7D793-1EA5-4DED-90FF-739921980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Python string datatype has a bunch of useful methods, some of which we review now.</a:t>
            </a:r>
          </a:p>
          <a:p>
            <a:r>
              <a:rPr lang="en-US" dirty="0"/>
              <a:t>The upper() method returns the string in upper case: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"Hello, World!"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a.upper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"HELLO, WORLD!"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 lower() method returns the string in lower case: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"Hello, World!"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a.lower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“hello, world!"</a:t>
            </a:r>
            <a:endParaRPr lang="en-US" dirty="0"/>
          </a:p>
          <a:p>
            <a:r>
              <a:rPr lang="en-US" dirty="0"/>
              <a:t>The strip() method removes any whitespace from the beginning or the end: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Hello, World! "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a.strip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"Hello, World!"</a:t>
            </a:r>
            <a:endParaRPr lang="en-US" dirty="0"/>
          </a:p>
          <a:p>
            <a:r>
              <a:rPr lang="en-US" dirty="0"/>
              <a:t>The replace() method replaces a string with another string: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"Hello, World!"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a.replace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"J"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"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Jello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World!"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99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58A6-02F7-4740-8E81-86B818B2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F943-834C-4D01-927E-B14D128A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split() method splits the string into substrings if it finds instances of the separator (default whitespace) and returns a list of all resulting substrings: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"Hello, World!"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a.split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","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['Hello', ' World!’]</a:t>
            </a:r>
            <a:endParaRPr lang="en-US" dirty="0"/>
          </a:p>
          <a:p>
            <a:r>
              <a:rPr lang="en-US" dirty="0"/>
              <a:t>The join() method takes all items in an </a:t>
            </a:r>
            <a:r>
              <a:rPr lang="en-US" dirty="0" err="1"/>
              <a:t>iterable</a:t>
            </a:r>
            <a:r>
              <a:rPr lang="en-US" dirty="0"/>
              <a:t> and joins them into one string: </a:t>
            </a:r>
          </a:p>
          <a:p>
            <a:pPr marL="914400" lvl="2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"John"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"Peter"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"Vicky"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"#"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.join(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myTuple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3650-1409-41C3-A635-E00B9D2A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078E5-92BF-4A52-A9C0-E002C25D5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Some more methods:</a:t>
            </a:r>
          </a:p>
          <a:p>
            <a:pPr lvl="1"/>
            <a:r>
              <a:rPr lang="en-US" dirty="0">
                <a:solidFill>
                  <a:srgbClr val="0033CC"/>
                </a:solidFill>
              </a:rPr>
              <a:t>capitalize()</a:t>
            </a:r>
            <a:r>
              <a:rPr lang="en-US" dirty="0"/>
              <a:t>: Converts the first character to upper case</a:t>
            </a:r>
          </a:p>
          <a:p>
            <a:pPr lvl="1"/>
            <a:r>
              <a:rPr lang="en-US" sz="2500" dirty="0">
                <a:solidFill>
                  <a:srgbClr val="0033CC"/>
                </a:solidFill>
              </a:rPr>
              <a:t>count()</a:t>
            </a:r>
            <a:r>
              <a:rPr lang="en-US" dirty="0"/>
              <a:t>: Returns the number of times a specified value occurs in a string</a:t>
            </a:r>
          </a:p>
          <a:p>
            <a:pPr lvl="1"/>
            <a:r>
              <a:rPr lang="en-US" sz="2500" dirty="0" err="1">
                <a:solidFill>
                  <a:srgbClr val="0033CC"/>
                </a:solidFill>
              </a:rPr>
              <a:t>endswith</a:t>
            </a:r>
            <a:r>
              <a:rPr lang="en-US" sz="2500" dirty="0">
                <a:solidFill>
                  <a:srgbClr val="0033CC"/>
                </a:solidFill>
              </a:rPr>
              <a:t>()</a:t>
            </a:r>
            <a:r>
              <a:rPr lang="en-US" dirty="0"/>
              <a:t>: Returns true if the string ends with the specified value</a:t>
            </a:r>
          </a:p>
          <a:p>
            <a:pPr lvl="1"/>
            <a:r>
              <a:rPr lang="en-US" sz="2500" dirty="0">
                <a:solidFill>
                  <a:srgbClr val="0033CC"/>
                </a:solidFill>
              </a:rPr>
              <a:t>find()</a:t>
            </a:r>
            <a:r>
              <a:rPr lang="en-US" dirty="0"/>
              <a:t>: Searches the string for a specified value and returns the position of where it was found</a:t>
            </a:r>
          </a:p>
          <a:p>
            <a:pPr lvl="1"/>
            <a:r>
              <a:rPr lang="en-US" sz="2500" dirty="0" err="1">
                <a:solidFill>
                  <a:srgbClr val="0033CC"/>
                </a:solidFill>
              </a:rPr>
              <a:t>isalnum</a:t>
            </a:r>
            <a:r>
              <a:rPr lang="en-US" sz="2500" dirty="0">
                <a:solidFill>
                  <a:srgbClr val="0033CC"/>
                </a:solidFill>
              </a:rPr>
              <a:t>()</a:t>
            </a:r>
            <a:r>
              <a:rPr lang="en-US" dirty="0"/>
              <a:t>: Returns True if all characters in the string are alphanumeric</a:t>
            </a:r>
          </a:p>
          <a:p>
            <a:pPr lvl="1"/>
            <a:r>
              <a:rPr lang="en-US" sz="2500" dirty="0" err="1">
                <a:solidFill>
                  <a:srgbClr val="0033CC"/>
                </a:solidFill>
              </a:rPr>
              <a:t>isalpha</a:t>
            </a:r>
            <a:r>
              <a:rPr lang="en-US" sz="2500" dirty="0">
                <a:solidFill>
                  <a:srgbClr val="0033CC"/>
                </a:solidFill>
              </a:rPr>
              <a:t>()</a:t>
            </a:r>
            <a:r>
              <a:rPr lang="en-US" dirty="0"/>
              <a:t>: Returns True if all characters in the string are in the alphabet</a:t>
            </a:r>
          </a:p>
          <a:p>
            <a:pPr lvl="1"/>
            <a:r>
              <a:rPr lang="en-US" sz="2500" dirty="0" err="1">
                <a:solidFill>
                  <a:srgbClr val="0033CC"/>
                </a:solidFill>
              </a:rPr>
              <a:t>isnumeric</a:t>
            </a:r>
            <a:r>
              <a:rPr lang="en-US" sz="2500" dirty="0">
                <a:solidFill>
                  <a:srgbClr val="0033CC"/>
                </a:solidFill>
              </a:rPr>
              <a:t>()</a:t>
            </a:r>
            <a:r>
              <a:rPr lang="en-US" dirty="0"/>
              <a:t>: Returns True if all characters in the string are numeric</a:t>
            </a:r>
          </a:p>
          <a:p>
            <a:pPr lvl="1"/>
            <a:r>
              <a:rPr lang="en-US" sz="2500" dirty="0" err="1">
                <a:solidFill>
                  <a:srgbClr val="0033CC"/>
                </a:solidFill>
              </a:rPr>
              <a:t>islower</a:t>
            </a:r>
            <a:r>
              <a:rPr lang="en-US" sz="2500" dirty="0">
                <a:solidFill>
                  <a:srgbClr val="0033CC"/>
                </a:solidFill>
              </a:rPr>
              <a:t>()</a:t>
            </a:r>
            <a:r>
              <a:rPr lang="en-US" dirty="0"/>
              <a:t>: Returns True if all characters in the string are lower case</a:t>
            </a:r>
          </a:p>
          <a:p>
            <a:pPr lvl="1"/>
            <a:r>
              <a:rPr lang="en-US" sz="2500" dirty="0" err="1">
                <a:solidFill>
                  <a:srgbClr val="0033CC"/>
                </a:solidFill>
              </a:rPr>
              <a:t>isupper</a:t>
            </a:r>
            <a:r>
              <a:rPr lang="en-US" sz="2500" dirty="0">
                <a:solidFill>
                  <a:srgbClr val="0033CC"/>
                </a:solidFill>
              </a:rPr>
              <a:t>()</a:t>
            </a:r>
            <a:r>
              <a:rPr lang="en-US" dirty="0"/>
              <a:t>: Returns True if all characters in the string are upper case</a:t>
            </a:r>
          </a:p>
          <a:p>
            <a:pPr lvl="1"/>
            <a:r>
              <a:rPr lang="en-US" sz="2500" dirty="0" err="1">
                <a:solidFill>
                  <a:srgbClr val="0033CC"/>
                </a:solidFill>
              </a:rPr>
              <a:t>istitle</a:t>
            </a:r>
            <a:r>
              <a:rPr lang="en-US" sz="2500" dirty="0">
                <a:solidFill>
                  <a:srgbClr val="0033CC"/>
                </a:solidFill>
              </a:rPr>
              <a:t>()</a:t>
            </a:r>
            <a:r>
              <a:rPr lang="en-US" dirty="0"/>
              <a:t>: Returns True if the string follows the rules of a title</a:t>
            </a:r>
          </a:p>
          <a:p>
            <a:pPr lvl="1"/>
            <a:r>
              <a:rPr lang="en-US" sz="2500" dirty="0" err="1">
                <a:solidFill>
                  <a:srgbClr val="0033CC"/>
                </a:solidFill>
              </a:rPr>
              <a:t>swapcase</a:t>
            </a:r>
            <a:r>
              <a:rPr lang="en-US" sz="2500" dirty="0">
                <a:solidFill>
                  <a:srgbClr val="0033CC"/>
                </a:solidFill>
              </a:rPr>
              <a:t>()</a:t>
            </a:r>
            <a:r>
              <a:rPr lang="en-US" dirty="0"/>
              <a:t>: Swaps cases, lower case becomes upper case and vice versa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68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FF84-5117-4AD6-92CC-06461E5A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CAC7A-95B3-4B0E-B1A3-5BF0B9B6F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File is a named location on disk to store related information</a:t>
            </a:r>
          </a:p>
          <a:p>
            <a:r>
              <a:rPr lang="en-IN" dirty="0"/>
              <a:t>It is used to permanently store data in non-volatile memory</a:t>
            </a:r>
          </a:p>
          <a:p>
            <a:r>
              <a:rPr lang="en-IN" dirty="0"/>
              <a:t>In Python, a file operation take place in the following order</a:t>
            </a:r>
          </a:p>
          <a:p>
            <a:pPr marL="0" indent="0">
              <a:buNone/>
            </a:pPr>
            <a:r>
              <a:rPr lang="en-IN" dirty="0"/>
              <a:t>	Open a file</a:t>
            </a:r>
          </a:p>
          <a:p>
            <a:pPr marL="0" indent="0">
              <a:buNone/>
            </a:pPr>
            <a:r>
              <a:rPr lang="en-IN" dirty="0"/>
              <a:t>	Read or write (perform operation)</a:t>
            </a:r>
          </a:p>
          <a:p>
            <a:pPr marL="0" indent="0">
              <a:buNone/>
            </a:pPr>
            <a:r>
              <a:rPr lang="en-IN" dirty="0"/>
              <a:t>	Close the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DA27-9FF6-48AB-B807-96B76281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A5770-B805-4FBA-A573-8E4355BD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have to open a file using built-in function </a:t>
            </a:r>
            <a:r>
              <a:rPr lang="en-IN" b="1" dirty="0">
                <a:solidFill>
                  <a:srgbClr val="0070C0"/>
                </a:solidFill>
              </a:rPr>
              <a:t>open()</a:t>
            </a:r>
          </a:p>
          <a:p>
            <a:r>
              <a:rPr lang="en-IN" dirty="0"/>
              <a:t>This function returns a file object, also called a </a:t>
            </a:r>
            <a:r>
              <a:rPr lang="en-IN" dirty="0">
                <a:solidFill>
                  <a:srgbClr val="0070C0"/>
                </a:solidFill>
              </a:rPr>
              <a:t>handle</a:t>
            </a:r>
            <a:r>
              <a:rPr lang="en-IN" dirty="0"/>
              <a:t>, it is used to read or modify the file</a:t>
            </a:r>
          </a:p>
          <a:p>
            <a:r>
              <a:rPr lang="en-IN" dirty="0"/>
              <a:t>We can specify the mode while opening a file.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2600" dirty="0"/>
              <a:t>r – Read</a:t>
            </a:r>
          </a:p>
          <a:p>
            <a:pPr marL="0" indent="0">
              <a:buNone/>
            </a:pPr>
            <a:r>
              <a:rPr lang="en-IN" sz="2600" dirty="0"/>
              <a:t>	w – Write</a:t>
            </a:r>
          </a:p>
          <a:p>
            <a:pPr marL="0" indent="0">
              <a:buNone/>
            </a:pPr>
            <a:r>
              <a:rPr lang="en-IN" sz="2600" dirty="0"/>
              <a:t>	a – Append</a:t>
            </a:r>
          </a:p>
          <a:p>
            <a:pPr marL="0" indent="0">
              <a:buNone/>
            </a:pPr>
            <a:r>
              <a:rPr lang="en-IN" dirty="0"/>
              <a:t>Syntax:</a:t>
            </a:r>
          </a:p>
          <a:p>
            <a:pPr marL="0" indent="0">
              <a:buNone/>
            </a:pPr>
            <a:r>
              <a:rPr lang="en-I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file_object</a:t>
            </a:r>
            <a:r>
              <a:rPr lang="en-I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open(filename [,</a:t>
            </a:r>
            <a:r>
              <a:rPr lang="en-I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accessmode</a:t>
            </a:r>
            <a:r>
              <a:rPr lang="en-I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][, buffering])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13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A3E0-A719-4AC9-887D-3A162AB4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37B7A-9D26-4785-B60D-F9931850A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filename:</a:t>
            </a:r>
            <a:r>
              <a:rPr lang="en-IN" dirty="0"/>
              <a:t> name of the file that we want to access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70C0"/>
                </a:solidFill>
              </a:rPr>
              <a:t>accessmode</a:t>
            </a:r>
            <a:r>
              <a:rPr lang="en-IN" dirty="0">
                <a:solidFill>
                  <a:srgbClr val="0070C0"/>
                </a:solidFill>
              </a:rPr>
              <a:t>:  </a:t>
            </a:r>
            <a:r>
              <a:rPr lang="en-IN" dirty="0"/>
              <a:t>read, write, append etc.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buffering</a:t>
            </a:r>
            <a:r>
              <a:rPr lang="en-IN" dirty="0"/>
              <a:t>: 0 – no buffering</a:t>
            </a:r>
          </a:p>
          <a:p>
            <a:pPr marL="0" indent="0">
              <a:buNone/>
            </a:pPr>
            <a:r>
              <a:rPr lang="en-IN" dirty="0"/>
              <a:t>	      1- line buffering</a:t>
            </a:r>
          </a:p>
          <a:p>
            <a:pPr marL="0" indent="0">
              <a:buNone/>
            </a:pPr>
            <a:r>
              <a:rPr lang="en-IN" dirty="0"/>
              <a:t>	      integer greater than 1- buffering action is performed with the indicated buffer size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Example: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	</a:t>
            </a:r>
            <a:r>
              <a:rPr lang="en-I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f=open(“</a:t>
            </a:r>
            <a:r>
              <a:rPr lang="en-I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abc.txt”,’r</a:t>
            </a:r>
            <a:r>
              <a:rPr lang="en-I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’) </a:t>
            </a:r>
            <a:r>
              <a:rPr lang="en-IN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 file in current directory</a:t>
            </a:r>
            <a:br>
              <a:rPr lang="en-IN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f=open(“C:/Python33/</a:t>
            </a:r>
            <a:r>
              <a:rPr lang="en-IN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sample.txt”,’r</a:t>
            </a:r>
            <a:r>
              <a:rPr lang="en-IN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  <a:r>
              <a:rPr lang="en-IN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#specifying full path</a:t>
            </a:r>
            <a:endParaRPr lang="en-I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193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F445-9608-4680-AE63-1DF0E15E3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08D20-2B1F-4122-B52F-233BE6995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Once a file is opened , we have one file object, which contain various info related to that file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file.closed</a:t>
            </a:r>
            <a:r>
              <a:rPr lang="en-US" dirty="0"/>
              <a:t> – Returns true if the file is closed, False otherwise</a:t>
            </a:r>
          </a:p>
          <a:p>
            <a:pPr marL="514350" indent="-514350">
              <a:buAutoNum type="arabicPeriod"/>
            </a:pPr>
            <a:r>
              <a:rPr lang="en-US" dirty="0" err="1"/>
              <a:t>file.mode</a:t>
            </a:r>
            <a:r>
              <a:rPr lang="en-US" dirty="0"/>
              <a:t> – Returns access mode with </a:t>
            </a:r>
            <a:r>
              <a:rPr lang="en-US" dirty="0" err="1"/>
              <a:t>wich</a:t>
            </a:r>
            <a:r>
              <a:rPr lang="en-US" dirty="0"/>
              <a:t> file was opened</a:t>
            </a:r>
          </a:p>
          <a:p>
            <a:pPr marL="514350" indent="-514350">
              <a:buAutoNum type="arabicPeriod"/>
            </a:pPr>
            <a:r>
              <a:rPr lang="en-US" dirty="0"/>
              <a:t>file.name- Name of the file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4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21A9-6AA0-4C72-9F5E-EF210D6F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35B78-3D83-402D-A5FD-F4CEE57FE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fo.open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abc.txt”,”w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print(“Name of the file:”,fo.name)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print(“Closed or not :”,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fo.closed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print(“Opening mode :”,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fo.mode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/>
              <a:t>Name of the file: abc.txt</a:t>
            </a:r>
          </a:p>
          <a:p>
            <a:pPr marL="0" indent="0">
              <a:buNone/>
            </a:pPr>
            <a:r>
              <a:rPr lang="en-US" dirty="0"/>
              <a:t>Closed or </a:t>
            </a:r>
            <a:r>
              <a:rPr lang="en-US" dirty="0" err="1"/>
              <a:t>not:False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Opening </a:t>
            </a:r>
            <a:r>
              <a:rPr lang="en-US" dirty="0" err="1"/>
              <a:t>mode:w</a:t>
            </a:r>
            <a:endParaRPr lang="en-US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1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834E-FCCB-48D6-A76D-B490CA8F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45" y="755505"/>
            <a:ext cx="10515600" cy="456911"/>
          </a:xfrm>
        </p:spPr>
        <p:txBody>
          <a:bodyPr>
            <a:normAutofit fontScale="90000"/>
          </a:bodyPr>
          <a:lstStyle/>
          <a:p>
            <a:r>
              <a:rPr lang="en-US" dirty="0"/>
              <a:t>Modes for opening a file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4C8551C-7FD1-47D1-9FE3-41D0ACFD77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45754" y="1463040"/>
          <a:ext cx="957118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005">
                  <a:extLst>
                    <a:ext uri="{9D8B030D-6E8A-4147-A177-3AD203B41FA5}">
                      <a16:colId xmlns:a16="http://schemas.microsoft.com/office/drawing/2014/main" val="1031995992"/>
                    </a:ext>
                  </a:extLst>
                </a:gridCol>
                <a:gridCol w="7802177">
                  <a:extLst>
                    <a:ext uri="{9D8B030D-6E8A-4147-A177-3AD203B41FA5}">
                      <a16:colId xmlns:a16="http://schemas.microsoft.com/office/drawing/2014/main" val="3809283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Reading </a:t>
                      </a:r>
                      <a:r>
                        <a:rPr lang="en-IN" sz="2400" dirty="0" err="1"/>
                        <a:t>onl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5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rb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Reading only in binary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06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r+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Reading and 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82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rb</a:t>
                      </a:r>
                      <a:r>
                        <a:rPr lang="en-IN" sz="24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Reading and writing in binary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92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Writing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965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 err="1"/>
                        <a:t>wb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Writing only in binary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Overwrites the file if exists. If the file does not exist, create a new file for writing.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608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16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339B6-8640-4D3B-BC97-17319AC6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Modes for opening a file</a:t>
            </a:r>
            <a:endParaRPr lang="en-IN" sz="4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59B37E3-7619-48E5-984C-537D2A1D11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66272" y="1428461"/>
          <a:ext cx="9580418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456">
                  <a:extLst>
                    <a:ext uri="{9D8B030D-6E8A-4147-A177-3AD203B41FA5}">
                      <a16:colId xmlns:a16="http://schemas.microsoft.com/office/drawing/2014/main" val="2288341881"/>
                    </a:ext>
                  </a:extLst>
                </a:gridCol>
                <a:gridCol w="8322962">
                  <a:extLst>
                    <a:ext uri="{9D8B030D-6E8A-4147-A177-3AD203B41FA5}">
                      <a16:colId xmlns:a16="http://schemas.microsoft.com/office/drawing/2014/main" val="1867192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992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w+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both writing and reading.</a:t>
                      </a:r>
                    </a:p>
                    <a:p>
                      <a:r>
                        <a:rPr lang="en-IN" sz="2400" dirty="0"/>
                        <a:t>Overwrites the file if exists.</a:t>
                      </a:r>
                    </a:p>
                    <a:p>
                      <a:r>
                        <a:rPr lang="en-IN" sz="2400" dirty="0"/>
                        <a:t>If the file does not exist, create a new file for reading and  the file 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901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 err="1"/>
                        <a:t>wb</a:t>
                      </a:r>
                      <a:r>
                        <a:rPr lang="en-IN" sz="24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Writing and reading in binary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433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Open a file for appending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37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Appending in binary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Appending and reading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759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ab+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Appending and reading in binary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900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Exclusive creation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61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052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834E-FCCB-48D6-A76D-B490CA8F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Closing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C9319-AEAA-4E16-B14D-C646709B9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952"/>
            <a:ext cx="10515600" cy="4806083"/>
          </a:xfrm>
        </p:spPr>
        <p:txBody>
          <a:bodyPr>
            <a:noAutofit/>
          </a:bodyPr>
          <a:lstStyle/>
          <a:p>
            <a:r>
              <a:rPr lang="en-IN" sz="2400" dirty="0"/>
              <a:t>File closing is done with close() method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  <a:cs typeface="Courier New" panose="02070309020205020404" pitchFamily="49" charset="0"/>
              </a:rPr>
              <a:t>Syntax</a:t>
            </a:r>
            <a:r>
              <a:rPr lang="en-IN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fileobject.close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  <a:cs typeface="Courier New" panose="02070309020205020404" pitchFamily="49" charset="0"/>
              </a:rPr>
              <a:t>Example: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f=open(“bin.txt”,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print(“Name of the file:”,f.name)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f.close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print(“File closed”)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 of the file: bin.txt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 closed	</a:t>
            </a:r>
          </a:p>
          <a:p>
            <a:pPr marL="1371600" lvl="3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32938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3D19-02DB-46C0-B1BB-F58C3EF6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Reading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A0E4-22C6-42EE-BFD8-6BA20A4FA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861"/>
            <a:ext cx="10515600" cy="466725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File object includes the following methods to read data from the file.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read(chars): </a:t>
            </a:r>
            <a:r>
              <a:rPr lang="en-US" sz="2400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reads the specified number of characters starting from the current position.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readline</a:t>
            </a:r>
            <a:r>
              <a:rPr lang="en-US" sz="2400" b="1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(): </a:t>
            </a:r>
            <a:r>
              <a:rPr lang="en-US" sz="2400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reads the characters starting from the current reading position up to a newline character.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readlines</a:t>
            </a:r>
            <a:r>
              <a:rPr lang="en-US" sz="2400" b="1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(): </a:t>
            </a:r>
            <a:r>
              <a:rPr lang="en-US" sz="2400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reads all lines until the end of file and returns a list object.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11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834E-FCCB-48D6-A76D-B490CA8F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File reading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C9319-AEAA-4E16-B14D-C646709B9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239"/>
            <a:ext cx="10515600" cy="5049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880000"/>
                </a:solidFill>
                <a:effectLst/>
                <a:latin typeface="SFMono-Regular"/>
              </a:rPr>
              <a:t>	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read the entire file as one string 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with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open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'filename.txt'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data 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400" b="1" i="0" dirty="0" err="1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Iterate over the lines of the File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4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open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'filename.txt'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for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24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 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	     		print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b="1" i="0" dirty="0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 ‘</a:t>
            </a:r>
            <a:r>
              <a:rPr lang="en-US" sz="24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b="1" i="0" dirty="0"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process the lines</a:t>
            </a:r>
            <a:endParaRPr lang="en-I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214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EB021-5865-4E38-8B43-249F276AB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2138"/>
            <a:ext cx="10515600" cy="6029498"/>
          </a:xfrm>
        </p:spPr>
        <p:txBody>
          <a:bodyPr>
            <a:normAutofit fontScale="77500" lnSpcReduction="20000"/>
          </a:bodyPr>
          <a:lstStyle/>
          <a:p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The following example demonstrates reading a line from the file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&gt;&gt;&gt;f=open('C:\myfile.txt')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opening a file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line1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f.readline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reading a line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line1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'This is the first line. \n'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line2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f.readline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reading a line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line2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'This is the second line.\n'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line3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f.readline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reading a line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line3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'This is the third line.'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line4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f.readline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reading a line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line4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</a:p>
          <a:p>
            <a:pPr marL="116363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f.close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closing file object</a:t>
            </a:r>
          </a:p>
          <a:p>
            <a:pPr marL="0" indent="0">
              <a:buNone/>
            </a:pPr>
            <a:r>
              <a:rPr lang="en-US" dirty="0"/>
              <a:t>we have to open the file in 'r' mode. The </a:t>
            </a:r>
            <a:r>
              <a:rPr lang="en-US" dirty="0" err="1"/>
              <a:t>readline</a:t>
            </a:r>
            <a:r>
              <a:rPr lang="en-US" dirty="0"/>
              <a:t>() method will return the first line, and then will point to the second line.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497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DB78E-E3F0-43ED-A30C-557FF7B81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5561"/>
            <a:ext cx="10515600" cy="438439"/>
          </a:xfrm>
        </p:spPr>
        <p:txBody>
          <a:bodyPr>
            <a:normAutofit fontScale="90000"/>
          </a:bodyPr>
          <a:lstStyle/>
          <a:p>
            <a:r>
              <a:rPr lang="en-US" dirty="0"/>
              <a:t>Reading all Lines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F8AB-B5BC-4D4E-B2CD-479C476E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reads all lines using the </a:t>
            </a:r>
            <a:r>
              <a:rPr lang="en-US" dirty="0" err="1"/>
              <a:t>readlines</a:t>
            </a:r>
            <a:r>
              <a:rPr lang="en-US" dirty="0"/>
              <a:t>() function</a:t>
            </a:r>
          </a:p>
          <a:p>
            <a:pPr marL="1616075" indent="0"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616075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f= open('C:\myfile.txt')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opening a file</a:t>
            </a:r>
          </a:p>
          <a:p>
            <a:pPr marL="1616075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lines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f.readlines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reading all lines</a:t>
            </a:r>
          </a:p>
          <a:p>
            <a:pPr marL="1616075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lines</a:t>
            </a:r>
          </a:p>
          <a:p>
            <a:pPr marL="1616075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'This is the first line. \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nThis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is the second line.\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nThis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is the third line.'</a:t>
            </a:r>
          </a:p>
          <a:p>
            <a:pPr marL="1616075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f.close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closing file object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0037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67A5-9469-48BE-9541-C30D6DC09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943"/>
            <a:ext cx="10515600" cy="1325563"/>
          </a:xfrm>
        </p:spPr>
        <p:txBody>
          <a:bodyPr/>
          <a:lstStyle/>
          <a:p>
            <a:r>
              <a:rPr lang="en-US" sz="4000" dirty="0"/>
              <a:t>Use for loop to read a file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1793B-2D35-4FF7-9789-47D4F6615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f=open('C:\myfile.txt’)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line in f: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     print(line)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f.close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I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619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1772-AA46-46DA-80BF-C024985C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File writing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F53D1-FA6C-4188-8BF6-D10664F2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994" y="1468178"/>
            <a:ext cx="11412915" cy="4794078"/>
          </a:xfrm>
        </p:spPr>
        <p:txBody>
          <a:bodyPr>
            <a:normAutofit/>
          </a:bodyPr>
          <a:lstStyle/>
          <a:p>
            <a:r>
              <a:rPr lang="en-US" sz="2200" dirty="0"/>
              <a:t>Similarly, for writing data to files, we have to use open() with '</a:t>
            </a:r>
            <a:r>
              <a:rPr lang="en-US" sz="2200" dirty="0" err="1"/>
              <a:t>wt</a:t>
            </a:r>
            <a:r>
              <a:rPr lang="en-US" sz="2200" dirty="0"/>
              <a:t>' mode</a:t>
            </a:r>
          </a:p>
          <a:p>
            <a:r>
              <a:rPr lang="en-US" sz="2200" dirty="0"/>
              <a:t> Also, we have to use the write() function to write into a file.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880000"/>
                </a:solidFill>
                <a:effectLst/>
                <a:latin typeface="SFMono-Regular"/>
              </a:rPr>
              <a:t>	</a:t>
            </a:r>
            <a:r>
              <a:rPr lang="en-US" sz="2200" b="1" i="0" dirty="0"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Write text data to a file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2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with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open</a:t>
            </a:r>
            <a:r>
              <a:rPr lang="en-US" sz="22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i="0" dirty="0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'filename.txt'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i="0" dirty="0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i="0" dirty="0" err="1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2200" b="1" i="0" dirty="0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2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i="0" dirty="0"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  <a:r>
              <a:rPr lang="en-US" sz="22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      </a:t>
            </a:r>
            <a:r>
              <a:rPr lang="en-US" sz="22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200" b="1" i="0" dirty="0" err="1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2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i="0" dirty="0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'hi there, this is a first line of file.\n’</a:t>
            </a:r>
            <a:r>
              <a:rPr lang="en-US" sz="22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22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200" b="1" i="0" dirty="0" err="1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200" b="1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sz="22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i="0" dirty="0"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'and another line.\n’</a:t>
            </a:r>
            <a:r>
              <a:rPr lang="en-US" sz="2200" b="1" i="0" dirty="0"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66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 there, this is a first line of file.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66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another line.</a:t>
            </a:r>
          </a:p>
          <a:p>
            <a:pPr marL="0" indent="0">
              <a:buNone/>
            </a:pPr>
            <a:endParaRPr lang="en-IN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799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1772-AA46-46DA-80BF-C024985C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with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F53D1-FA6C-4188-8BF6-D10664F2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6097"/>
            <a:ext cx="10515600" cy="5332557"/>
          </a:xfrm>
        </p:spPr>
        <p:txBody>
          <a:bodyPr>
            <a:normAutofit/>
          </a:bodyPr>
          <a:lstStyle/>
          <a:p>
            <a:r>
              <a:rPr lang="en-US" sz="2400" dirty="0"/>
              <a:t>The ‘with’ statement is used to simplify resource management. </a:t>
            </a:r>
          </a:p>
          <a:p>
            <a:r>
              <a:rPr lang="en-US" sz="2400" dirty="0"/>
              <a:t>It ensures that resources like files, network connections, or database sessions are properly cleaned up (closed or released) after their use, even if errors occur.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>
                <a:solidFill>
                  <a:srgbClr val="C00000"/>
                </a:solidFill>
              </a:rPr>
              <a:t>Example</a:t>
            </a:r>
            <a:r>
              <a:rPr lang="en-IN" sz="2400" dirty="0"/>
              <a:t>: opening a file, manipulating a file and closing it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with open(“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output.txt”,”w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 as f: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   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f.write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(“Hello Python!”)</a:t>
            </a:r>
          </a:p>
          <a:p>
            <a:pPr marL="0" indent="0">
              <a:buNone/>
            </a:pPr>
            <a:endParaRPr lang="en-I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400" dirty="0"/>
              <a:t>The above statement automatically close the file after the nested block of code.</a:t>
            </a:r>
          </a:p>
          <a:p>
            <a:r>
              <a:rPr lang="en-IN" sz="2400" dirty="0"/>
              <a:t>The advantage of using with statement is that it is guaranteed to close the file.</a:t>
            </a:r>
          </a:p>
          <a:p>
            <a:r>
              <a:rPr lang="en-IN" sz="2400" dirty="0"/>
              <a:t>If an exception occurs before the end of the block, it will close the file before the exception is caught by an outer exception handler</a:t>
            </a:r>
          </a:p>
        </p:txBody>
      </p:sp>
    </p:spTree>
    <p:extLst>
      <p:ext uri="{BB962C8B-B14F-4D97-AF65-F5344CB8AC3E}">
        <p14:creationId xmlns:p14="http://schemas.microsoft.com/office/powerpoint/2010/main" val="180006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1772-AA46-46DA-80BF-C024985C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Writing a file that does not exist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F53D1-FA6C-4188-8BF6-D10664F2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54" y="1460212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problem can be easily solved by using another mode - technique, i.e., the 'x' mode to open a file instead of 'w' mode.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88"/>
                </a:solidFill>
                <a:effectLst/>
                <a:latin typeface="SFMono-Regular"/>
              </a:rPr>
              <a:t>	with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open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(</a:t>
            </a:r>
            <a:r>
              <a:rPr lang="en-US" b="0" i="0" dirty="0">
                <a:solidFill>
                  <a:srgbClr val="008800"/>
                </a:solidFill>
                <a:effectLst/>
                <a:latin typeface="SFMono-Regular"/>
              </a:rPr>
              <a:t>'filename'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,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08800"/>
                </a:solidFill>
                <a:effectLst/>
                <a:latin typeface="SFMono-Regular"/>
              </a:rPr>
              <a:t>'w'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)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00088"/>
                </a:solidFill>
                <a:effectLst/>
                <a:latin typeface="SFMono-Regular"/>
              </a:rPr>
              <a:t>as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f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666600"/>
                </a:solidFill>
                <a:latin typeface="SFMono-Regular"/>
              </a:rPr>
              <a:t>	       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FMono-Regular"/>
              </a:rPr>
              <a:t>f</a:t>
            </a:r>
            <a:r>
              <a:rPr lang="en-US" b="0" i="0" dirty="0" err="1">
                <a:solidFill>
                  <a:srgbClr val="666600"/>
                </a:solidFill>
                <a:effectLst/>
                <a:latin typeface="SFMono-Regular"/>
              </a:rPr>
              <a:t>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FMono-Regular"/>
              </a:rPr>
              <a:t>write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(</a:t>
            </a:r>
            <a:r>
              <a:rPr lang="en-US" b="0" i="0" dirty="0">
                <a:solidFill>
                  <a:srgbClr val="008800"/>
                </a:solidFill>
                <a:effectLst/>
                <a:latin typeface="SFMono-Regular"/>
              </a:rPr>
              <a:t>'Hello, This is sample content.\n’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666600"/>
                </a:solidFill>
                <a:latin typeface="SFMono-Regular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880000"/>
                </a:solidFill>
                <a:effectLst/>
                <a:latin typeface="SFMono-Regular"/>
              </a:rPr>
              <a:t># This will create an error that the file 'filename' doesn't exist.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SFMono-Regular"/>
              </a:rPr>
              <a:t>	</a:t>
            </a:r>
            <a:r>
              <a:rPr lang="en-US" b="0" i="0" dirty="0">
                <a:solidFill>
                  <a:srgbClr val="000088"/>
                </a:solidFill>
                <a:effectLst/>
                <a:latin typeface="SFMono-Regular"/>
              </a:rPr>
              <a:t>with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open 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(</a:t>
            </a:r>
            <a:r>
              <a:rPr lang="en-US" b="0" i="0" dirty="0">
                <a:solidFill>
                  <a:srgbClr val="008800"/>
                </a:solidFill>
                <a:effectLst/>
                <a:latin typeface="SFMono-Regular"/>
              </a:rPr>
              <a:t>'filename.txt'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,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08800"/>
                </a:solidFill>
                <a:effectLst/>
                <a:latin typeface="SFMono-Regular"/>
              </a:rPr>
              <a:t>'</a:t>
            </a:r>
            <a:r>
              <a:rPr lang="en-US" b="1" i="0" dirty="0">
                <a:solidFill>
                  <a:srgbClr val="008800"/>
                </a:solidFill>
                <a:effectLst/>
                <a:latin typeface="SFMono-Regular"/>
              </a:rPr>
              <a:t>x</a:t>
            </a:r>
            <a:r>
              <a:rPr lang="en-US" b="0" i="0" dirty="0">
                <a:solidFill>
                  <a:srgbClr val="008800"/>
                </a:solidFill>
                <a:effectLst/>
                <a:latin typeface="SFMono-Regular"/>
              </a:rPr>
              <a:t>'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)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000088"/>
                </a:solidFill>
                <a:effectLst/>
                <a:latin typeface="SFMono-Regular"/>
              </a:rPr>
              <a:t>as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f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SFMono-Regular"/>
              </a:rPr>
              <a:t>	   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FMono-Regular"/>
              </a:rPr>
              <a:t>f</a:t>
            </a:r>
            <a:r>
              <a:rPr lang="en-US" b="0" i="0" dirty="0" err="1">
                <a:solidFill>
                  <a:srgbClr val="666600"/>
                </a:solidFill>
                <a:effectLst/>
                <a:latin typeface="SFMono-Regular"/>
              </a:rPr>
              <a:t>.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FMono-Regular"/>
              </a:rPr>
              <a:t>write</a:t>
            </a:r>
            <a:r>
              <a:rPr lang="en-US" b="0" i="0" dirty="0">
                <a:solidFill>
                  <a:srgbClr val="000000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(</a:t>
            </a:r>
            <a:r>
              <a:rPr lang="en-US" b="0" i="0" dirty="0">
                <a:solidFill>
                  <a:srgbClr val="008800"/>
                </a:solidFill>
                <a:effectLst/>
                <a:latin typeface="SFMono-Regular"/>
              </a:rPr>
              <a:t>'Hello, This is sample content.\n’</a:t>
            </a:r>
            <a:r>
              <a:rPr lang="en-US" b="0" i="0" dirty="0">
                <a:solidFill>
                  <a:srgbClr val="666600"/>
                </a:solidFill>
                <a:effectLst/>
                <a:latin typeface="SFMono-Regular"/>
              </a:rPr>
              <a:t>)</a:t>
            </a:r>
          </a:p>
          <a:p>
            <a:pPr marL="0" indent="0">
              <a:buNone/>
            </a:pPr>
            <a:endParaRPr lang="en-US" b="0" i="0" dirty="0">
              <a:solidFill>
                <a:srgbClr val="666600"/>
              </a:solidFill>
              <a:effectLst/>
              <a:latin typeface="SFMono-Regular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In binary mode, we should use '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"/>
              </a:rPr>
              <a:t>xb</a:t>
            </a:r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' instead </a:t>
            </a:r>
            <a:r>
              <a:rPr lang="en-US" b="0" i="0">
                <a:solidFill>
                  <a:srgbClr val="000000"/>
                </a:solidFill>
                <a:effectLst/>
                <a:latin typeface="Inter"/>
              </a:rPr>
              <a:t>of '</a:t>
            </a:r>
            <a:r>
              <a:rPr lang="en-US" b="1" i="0">
                <a:solidFill>
                  <a:srgbClr val="333333"/>
                </a:solidFill>
                <a:effectLst/>
                <a:latin typeface="Inter"/>
              </a:rPr>
              <a:t>x</a:t>
            </a:r>
            <a:r>
              <a:rPr lang="en-US" b="0" i="0">
                <a:solidFill>
                  <a:srgbClr val="000000"/>
                </a:solidFill>
                <a:effectLst/>
                <a:latin typeface="Inter"/>
              </a:rPr>
              <a:t>'.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00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DC02-387A-44AD-9061-1BA44C5FD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Variables with the shelve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50FE2-61D4-4045-9E59-9DE5C3F84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save variables in your Python programs to binary shelf files using the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shelve</a:t>
            </a:r>
            <a:r>
              <a:rPr lang="en-US" dirty="0"/>
              <a:t> module. </a:t>
            </a:r>
          </a:p>
          <a:p>
            <a:r>
              <a:rPr lang="en-US" dirty="0"/>
              <a:t>This lets your program restore that data to the variables the next time it is run.</a:t>
            </a:r>
          </a:p>
          <a:p>
            <a:r>
              <a:rPr lang="en-US" dirty="0"/>
              <a:t>To practice using shelve, enter the following into the interactive shell:</a:t>
            </a:r>
          </a:p>
          <a:p>
            <a:pPr marL="457200" lvl="1" indent="0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import shelve </a:t>
            </a:r>
          </a:p>
          <a:p>
            <a:pPr marL="457200" lvl="1" indent="0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shelf_file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shelve.open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’) </a:t>
            </a:r>
          </a:p>
          <a:p>
            <a:pPr marL="457200" lvl="1" indent="0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shelf_file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['cats'] = ['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Zophie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'Pooka', 'Simon’] </a:t>
            </a:r>
          </a:p>
          <a:p>
            <a:pPr marL="457200" lvl="1" indent="0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shelf_file.close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500" dirty="0"/>
              <a:t> 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92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2ECB-0CF8-4CB8-8F36-793F15BB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Variables with the shelve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B11FA-1514-4C7F-ABFA-C7E81A7B4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read and write data using the shelve module, you first import shelve. </a:t>
            </a:r>
          </a:p>
          <a:p>
            <a:r>
              <a:rPr lang="en-US" dirty="0"/>
              <a:t>Next, call </a:t>
            </a:r>
            <a:r>
              <a:rPr lang="en-US" dirty="0" err="1"/>
              <a:t>shelve.open</a:t>
            </a:r>
            <a:r>
              <a:rPr lang="en-US" dirty="0"/>
              <a:t>() and pass it a filename, then store the returned shelf value in a variable. </a:t>
            </a:r>
          </a:p>
          <a:p>
            <a:r>
              <a:rPr lang="en-US" dirty="0"/>
              <a:t>You can make changes to the shelf value as if it were a dictionary. </a:t>
            </a:r>
          </a:p>
          <a:p>
            <a:r>
              <a:rPr lang="en-US" dirty="0"/>
              <a:t>When you’re done, call close() on the shelf value. </a:t>
            </a:r>
          </a:p>
          <a:p>
            <a:r>
              <a:rPr lang="en-US" dirty="0"/>
              <a:t>Here, our shelf value is stored in </a:t>
            </a:r>
            <a:r>
              <a:rPr lang="en-US" dirty="0" err="1"/>
              <a:t>shelf_file</a:t>
            </a:r>
            <a:r>
              <a:rPr lang="en-US" dirty="0"/>
              <a:t>. </a:t>
            </a:r>
          </a:p>
          <a:p>
            <a:r>
              <a:rPr lang="en-US" dirty="0"/>
              <a:t>We create a list cats and write </a:t>
            </a:r>
            <a:r>
              <a:rPr lang="en-US" dirty="0" err="1"/>
              <a:t>shelf_file</a:t>
            </a:r>
            <a:r>
              <a:rPr lang="en-US" dirty="0"/>
              <a:t>['cats'] = ['</a:t>
            </a:r>
            <a:r>
              <a:rPr lang="en-US" dirty="0" err="1"/>
              <a:t>Zophie</a:t>
            </a:r>
            <a:r>
              <a:rPr lang="en-US" dirty="0"/>
              <a:t>', 'Pooka', 'Simon'] to store the list in </a:t>
            </a:r>
            <a:r>
              <a:rPr lang="en-US" dirty="0" err="1"/>
              <a:t>shelf_file</a:t>
            </a:r>
            <a:r>
              <a:rPr lang="en-US" dirty="0"/>
              <a:t> as a value associated with the key 'cats' (like in a dictionary). </a:t>
            </a:r>
          </a:p>
          <a:p>
            <a:r>
              <a:rPr lang="en-US" dirty="0"/>
              <a:t>Then, we call close() on </a:t>
            </a:r>
            <a:r>
              <a:rPr lang="en-US" dirty="0" err="1"/>
              <a:t>shelf_file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286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337A1-98C4-41B6-AD7A-004276D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Variables with the shelve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1B83-55FA-4E46-B76D-016878F26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programs can use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shelve</a:t>
            </a:r>
            <a:r>
              <a:rPr lang="en-US" dirty="0"/>
              <a:t> module to later reopen and retrieve the data from these shelf files. </a:t>
            </a:r>
          </a:p>
          <a:p>
            <a:r>
              <a:rPr lang="en-US" dirty="0"/>
              <a:t>Shelf values don’t have to be opened in read or write mode; they allow both reading and writing once opened. </a:t>
            </a:r>
          </a:p>
          <a:p>
            <a:r>
              <a:rPr lang="en-US" dirty="0"/>
              <a:t>Enter the following into the interactive shell:</a:t>
            </a:r>
          </a:p>
          <a:p>
            <a:pPr marL="457200" lvl="1" indent="0"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shelf_file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shelve.open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’) </a:t>
            </a:r>
          </a:p>
          <a:p>
            <a:pPr marL="457200" lvl="1" indent="0"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&gt;&gt;&gt; type(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shelf_file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457200" lvl="1" indent="0"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&lt;class '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shelve.DbfilenameShelf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’&gt; #output</a:t>
            </a:r>
          </a:p>
          <a:p>
            <a:pPr marL="457200" lvl="1" indent="0"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shelf_file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['cats’] </a:t>
            </a:r>
          </a:p>
          <a:p>
            <a:pPr marL="457200" lvl="1" indent="0"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Zophie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', 'Pooka', 'Simon’]	#output </a:t>
            </a:r>
          </a:p>
          <a:p>
            <a:pPr marL="457200" lvl="1" indent="0"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shelf_file.close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US" altLang="en-US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941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5F34-4CEE-49C1-925D-E230E5B1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Variables with the shelve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0A3F1-7204-47B4-BA25-D631EF759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Here, we open the shelf files to check that they stored the data correctly. Entering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shelf_file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['cats']</a:t>
            </a:r>
            <a:r>
              <a:rPr lang="en-US" dirty="0"/>
              <a:t> returns the same list we created earlier.</a:t>
            </a:r>
          </a:p>
          <a:p>
            <a:r>
              <a:rPr lang="en-US" dirty="0"/>
              <a:t>Now that we know the file stored the list correctly, we call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  <a:r>
              <a:rPr lang="en-US" dirty="0"/>
              <a:t>.</a:t>
            </a:r>
          </a:p>
          <a:p>
            <a:r>
              <a:rPr lang="en-US" dirty="0"/>
              <a:t>Just like dictionaries, shelf values have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keys() </a:t>
            </a:r>
            <a:r>
              <a:rPr lang="en-US" dirty="0"/>
              <a:t>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values() </a:t>
            </a:r>
            <a:r>
              <a:rPr lang="en-US" dirty="0"/>
              <a:t>methods that will return list-like values of the keys and values in the shelf. </a:t>
            </a:r>
          </a:p>
          <a:p>
            <a:r>
              <a:rPr lang="en-US" dirty="0"/>
              <a:t>Because these return values are not true lists, you should pass them to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list() </a:t>
            </a:r>
            <a:r>
              <a:rPr lang="en-US" dirty="0"/>
              <a:t>function to get them in list form. </a:t>
            </a:r>
          </a:p>
          <a:p>
            <a:r>
              <a:rPr lang="en-US" dirty="0"/>
              <a:t>Enter the following into the interactive shell:</a:t>
            </a:r>
          </a:p>
          <a:p>
            <a:pPr marL="457200" lvl="1" indent="0">
              <a:buNone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shelf_file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shelve.open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’) </a:t>
            </a:r>
          </a:p>
          <a:p>
            <a:pPr marL="457200" lvl="1" indent="0">
              <a:buNone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&gt;&gt;&gt; list(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shelf_file.keys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</a:p>
          <a:p>
            <a:pPr marL="457200" lvl="1" indent="0">
              <a:buNone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['cats’] </a:t>
            </a:r>
          </a:p>
          <a:p>
            <a:pPr marL="457200" lvl="1" indent="0">
              <a:buNone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&gt;&gt;&gt; list(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shelf_file.values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</a:p>
          <a:p>
            <a:pPr marL="457200" lvl="1" indent="0">
              <a:buNone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[['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Zophie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', 'Pooka', 'Simon’]] </a:t>
            </a:r>
          </a:p>
          <a:p>
            <a:pPr marL="457200" lvl="1" indent="0">
              <a:buNone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kumimoji="0" lang="en-US" altLang="en-US" sz="21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shelf_file.close</a:t>
            </a:r>
            <a:r>
              <a:rPr kumimoji="0" lang="en-US" altLang="en-US" sz="2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US" altLang="en-US" sz="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12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1772-AA46-46DA-80BF-C024985C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Renaming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F53D1-FA6C-4188-8BF6-D10664F2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1428461"/>
            <a:ext cx="10515600" cy="5064413"/>
          </a:xfrm>
        </p:spPr>
        <p:txBody>
          <a:bodyPr>
            <a:normAutofit/>
          </a:bodyPr>
          <a:lstStyle/>
          <a:p>
            <a:r>
              <a:rPr lang="en-IN" sz="2400" dirty="0"/>
              <a:t>The </a:t>
            </a:r>
            <a:r>
              <a:rPr lang="en-IN" sz="2400" b="1" dirty="0" err="1">
                <a:solidFill>
                  <a:srgbClr val="0070C0"/>
                </a:solidFill>
              </a:rPr>
              <a:t>os</a:t>
            </a:r>
            <a:r>
              <a:rPr lang="en-IN" sz="2400" b="1" dirty="0">
                <a:solidFill>
                  <a:srgbClr val="0070C0"/>
                </a:solidFill>
              </a:rPr>
              <a:t> </a:t>
            </a:r>
            <a:r>
              <a:rPr lang="en-IN" sz="2400" dirty="0"/>
              <a:t>module Python provides methods that help to perform file-processing operations, such as renaming and deleting.</a:t>
            </a:r>
          </a:p>
          <a:p>
            <a:r>
              <a:rPr lang="en-IN" sz="2400" dirty="0"/>
              <a:t>To rename an existing file, rename() method is used</a:t>
            </a:r>
          </a:p>
          <a:p>
            <a:r>
              <a:rPr lang="en-IN" sz="2400" dirty="0"/>
              <a:t>It takes two arguments, current file name and new file name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Syntax: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os.rename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current_file_name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new_file_name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C0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endParaRPr lang="en-I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os.rename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test.txt”,”Newtest.txt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print(“File renamed”)</a:t>
            </a:r>
          </a:p>
        </p:txBody>
      </p:sp>
    </p:spTree>
    <p:extLst>
      <p:ext uri="{BB962C8B-B14F-4D97-AF65-F5344CB8AC3E}">
        <p14:creationId xmlns:p14="http://schemas.microsoft.com/office/powerpoint/2010/main" val="390585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1772-AA46-46DA-80BF-C024985C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I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Deleting a file</a:t>
            </a:r>
            <a:endParaRPr lang="en-IN" sz="3200" b="1" dirty="0">
              <a:solidFill>
                <a:srgbClr val="002060"/>
              </a:solidFill>
              <a:latin typeface="Adobe Garamond Pro Bold" panose="02020702060506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F53D1-FA6C-4188-8BF6-D10664F2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691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/>
              <a:t>We can delete a file by using </a:t>
            </a:r>
            <a:r>
              <a:rPr lang="en-IN" sz="2400" dirty="0">
                <a:solidFill>
                  <a:srgbClr val="0070C0"/>
                </a:solidFill>
              </a:rPr>
              <a:t>remove() </a:t>
            </a:r>
            <a:r>
              <a:rPr lang="en-IN" sz="2400" dirty="0"/>
              <a:t>method</a:t>
            </a:r>
          </a:p>
          <a:p>
            <a:r>
              <a:rPr lang="en-IN" sz="2400" dirty="0"/>
              <a:t>Syntax: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os.remove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(filename)</a:t>
            </a:r>
          </a:p>
          <a:p>
            <a:pPr marL="0" indent="0">
              <a:buNone/>
            </a:pPr>
            <a:r>
              <a:rPr lang="en-IN" sz="2400" dirty="0"/>
              <a:t>Example: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endParaRPr lang="en-I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os.remove</a:t>
            </a: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(“Newtest.txt”)</a:t>
            </a:r>
          </a:p>
          <a:p>
            <a:pPr marL="0" indent="0">
              <a:buNone/>
            </a:pPr>
            <a:r>
              <a:rPr lang="en-I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print(“File deleted”)</a:t>
            </a:r>
          </a:p>
        </p:txBody>
      </p:sp>
    </p:spTree>
    <p:extLst>
      <p:ext uri="{BB962C8B-B14F-4D97-AF65-F5344CB8AC3E}">
        <p14:creationId xmlns:p14="http://schemas.microsoft.com/office/powerpoint/2010/main" val="398248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6731</TotalTime>
  <Words>2641</Words>
  <Application>Microsoft Office PowerPoint</Application>
  <PresentationFormat>Widescreen</PresentationFormat>
  <Paragraphs>282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Adobe Garamond Pro Bold</vt:lpstr>
      <vt:lpstr>Arial</vt:lpstr>
      <vt:lpstr>Calibri</vt:lpstr>
      <vt:lpstr>Calibri Light</vt:lpstr>
      <vt:lpstr>Consolas</vt:lpstr>
      <vt:lpstr>Courier New</vt:lpstr>
      <vt:lpstr>euclid_circular_a</vt:lpstr>
      <vt:lpstr>Inter</vt:lpstr>
      <vt:lpstr>Segoe UI</vt:lpstr>
      <vt:lpstr>SFMono-Regular</vt:lpstr>
      <vt:lpstr>Verdana</vt:lpstr>
      <vt:lpstr>Office Theme</vt:lpstr>
      <vt:lpstr>MGMT 58600: Python Programming</vt:lpstr>
      <vt:lpstr>Python Lambda Functions</vt:lpstr>
      <vt:lpstr>Nested Dictionaries</vt:lpstr>
      <vt:lpstr>Nested Dictionaries</vt:lpstr>
      <vt:lpstr>Accessing Elements in a Nested Dictionary </vt:lpstr>
      <vt:lpstr>Operations on Strings</vt:lpstr>
      <vt:lpstr>String Methods</vt:lpstr>
      <vt:lpstr>String Methods</vt:lpstr>
      <vt:lpstr>String Methods</vt:lpstr>
      <vt:lpstr>File Handling</vt:lpstr>
      <vt:lpstr>Open a File</vt:lpstr>
      <vt:lpstr>Open a File</vt:lpstr>
      <vt:lpstr>Attributes of a File</vt:lpstr>
      <vt:lpstr>Attributes of a File</vt:lpstr>
      <vt:lpstr>Modes for opening a file</vt:lpstr>
      <vt:lpstr>Modes for opening a file</vt:lpstr>
      <vt:lpstr>Closing a File</vt:lpstr>
      <vt:lpstr>Reading File</vt:lpstr>
      <vt:lpstr>File reading in Python</vt:lpstr>
      <vt:lpstr>PowerPoint Presentation</vt:lpstr>
      <vt:lpstr>Reading all Lines </vt:lpstr>
      <vt:lpstr>Use for loop to read a file </vt:lpstr>
      <vt:lpstr>File writing in Python</vt:lpstr>
      <vt:lpstr>with statement</vt:lpstr>
      <vt:lpstr>Writing a file that does not exist</vt:lpstr>
      <vt:lpstr>Saving Variables with the shelve Module</vt:lpstr>
      <vt:lpstr>Saving Variables with the shelve Module</vt:lpstr>
      <vt:lpstr>Saving Variables with the shelve Module</vt:lpstr>
      <vt:lpstr>Saving Variables with the shelve Module</vt:lpstr>
      <vt:lpstr>Renaming a file</vt:lpstr>
      <vt:lpstr>Deleting a 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76</cp:revision>
  <dcterms:created xsi:type="dcterms:W3CDTF">2024-01-10T16:08:38Z</dcterms:created>
  <dcterms:modified xsi:type="dcterms:W3CDTF">2025-09-11T19:46:50Z</dcterms:modified>
</cp:coreProperties>
</file>