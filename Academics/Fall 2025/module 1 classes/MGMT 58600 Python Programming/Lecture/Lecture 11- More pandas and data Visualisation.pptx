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90" r:id="rId8"/>
    <p:sldId id="289" r:id="rId9"/>
    <p:sldId id="291" r:id="rId10"/>
    <p:sldId id="292" r:id="rId11"/>
    <p:sldId id="293" r:id="rId12"/>
    <p:sldId id="294" r:id="rId13"/>
    <p:sldId id="295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96" r:id="rId39"/>
    <p:sldId id="297" r:id="rId40"/>
    <p:sldId id="298" r:id="rId41"/>
    <p:sldId id="299" r:id="rId42"/>
    <p:sldId id="300" r:id="rId43"/>
    <p:sldId id="286" r:id="rId44"/>
    <p:sldId id="287" r:id="rId45"/>
    <p:sldId id="288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76" d="100"/>
          <a:sy n="76" d="100"/>
        </p:scale>
        <p:origin x="2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88486-2CE7-4B00-8374-231741A4D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88C3DD-C382-4BAD-B83A-A1EBAA3383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23CF6-3BCB-4565-B836-CCB095393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17FED-4672-476A-8757-7EBBBF263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A34DB-6033-4F22-B3A0-8B39FB932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19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C5408-88FA-4722-A45F-9D984028F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D323C-501B-4232-ACE5-C7B0DA40E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CDAF0-F5FD-4836-85D8-72F1C6826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D3139-7530-43AF-904E-B5577EBD0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BAAC0-A791-49CA-B53E-22499AA2B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325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34643-20CF-467A-9E45-A6A074EBA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C36F4-FC02-4429-8AC5-DBA4EEBA5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C3850-C43E-4690-9C72-B3D58D173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89A57-2FDC-4C7E-B8F6-B6BEDA63A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D344B-31AC-4701-9955-240C227DB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451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918B7-C4AB-47DC-B0B9-CDB103975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41AAE-FA59-4342-B736-16160DD94A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A9959-4F98-4CB2-84F6-AA5ACB73F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89EB2-FE51-4702-9B41-015FA9C6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02D4E-CB42-44A6-A6AB-5FF1AF703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30B4-59D7-4BD7-8380-F5894D506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00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43B37-B009-4C54-943E-28AE42A0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550C4-CB79-45F8-9C72-6B2F821A5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D125F-9EC3-41F8-A577-6AB4833F4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BD7C87-F26D-4A09-BA05-3E8B690ED6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90C03-8D6B-4245-B47D-16859ED194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DFFFE9-244F-49DC-A47B-694E8636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76B589-C403-406D-B70F-573DB7F0D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CA1645-0DE6-4253-8A35-69B164BA2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016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C0D46-E5AC-447E-9A23-5A9CB1303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2F2B62-48F9-49FB-B1EA-E22BE1B39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51881C-6CCC-4406-8457-F1F6AAE6A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3267E5-2718-4BE7-ADC7-F49DC32CC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24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0D6C3E-643B-4892-9393-E4D7FCA39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BB5C82-0A83-4137-A620-1DB96A19E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03531-7719-4414-929B-9CD08A006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94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66229-C951-4F9B-B687-CCED89986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186E2-2A8A-4C4E-96F0-BF7C2009E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DEFBDF-F46D-4F3A-87E6-3A56ABAD79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1CD6D-CCC0-496E-A7EC-47506A90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33A58-50FC-43B9-A745-F77E93226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4E901-5577-4EDD-8972-EFB36B430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393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A5514-C09D-49EE-989F-71FD12363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0CFF1D-79E3-4068-A36F-06E27200C6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4F85D-B97A-415B-9EC6-6BF5328A3A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442E9-874A-4E6C-8F3F-429BD9F91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E4524-B093-4D06-92F2-B3851932C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ADE9E-2047-40D6-9DEA-B6579BEE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243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30F2E-270F-4546-AA3B-E5DD09794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0A748-D3CE-4C49-9DBE-5ECE093AA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F91C9-91DD-4DAB-97E6-9B2F61C4C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B6E2F-85CF-45EC-98BC-31AB5B00F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C97FA-DD14-4865-A5F8-111E561A4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237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52D001-B13D-479F-982C-545C072FD7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1A7C3F-4573-4A24-A283-6536D8697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5C727-2DA8-48BF-BFD3-B376DBAE9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370FD-BF10-4717-B14C-017C7B578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B4476-23DA-4ED1-817F-2CB9C4089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674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78030E-B4CF-40FD-8FF9-107380280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5DD19-4123-4620-B5B0-7A1144CCE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620CF-A2B4-421A-BE7B-B79956B8E4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E9CF7-B37A-4643-BCAC-E7383B7BB72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186FC-1449-480E-BBF0-5E780F542E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597BB-1FCD-455A-B2EA-A51F69B2C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83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samuelcortinhas/credit-card-approval-clean-data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8F7E6-E213-42E6-9661-56E2B5960F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MGMT 58600: Python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30E5DA-4E35-4F3F-B1FA-07E843829F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Lecture 11</a:t>
            </a:r>
          </a:p>
          <a:p>
            <a:endParaRPr lang="en-US" dirty="0"/>
          </a:p>
          <a:p>
            <a:r>
              <a:rPr lang="en-US" dirty="0"/>
              <a:t>Dr. Shoaib Khan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700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00172-97B2-42B0-BC4A-2CFAF90D8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map()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5BCA8-78A0-4C63-AA2A-DFAF60DAA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Pandas map() method for Series is used to substitute each value in a Series with another value </a:t>
            </a:r>
          </a:p>
          <a:p>
            <a:pPr algn="just"/>
            <a:r>
              <a:rPr lang="en-US" dirty="0"/>
              <a:t>These values may be derived from a function, a </a:t>
            </a:r>
            <a:r>
              <a:rPr lang="en-US" dirty="0" err="1"/>
              <a:t>dictionay</a:t>
            </a:r>
            <a:r>
              <a:rPr lang="en-US" dirty="0"/>
              <a:t> or another series. As an example, consider the data frame below: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4A8BC5-FF4C-4914-A253-D8461B1E0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793" y="4001294"/>
            <a:ext cx="6010707" cy="16681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F7F071-03EE-428A-87E3-4BBB86216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094" y="3671062"/>
            <a:ext cx="3156112" cy="208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861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087AA-4434-4B13-A5E7-E3E4D127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map()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555EB-74B9-4627-AE91-86CF5C9FB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Suppose we want to add an ‘age’ column which contains the respective ages of all persons in the data frame</a:t>
            </a:r>
          </a:p>
          <a:p>
            <a:r>
              <a:rPr lang="en-US" dirty="0"/>
              <a:t>We can achieve this by a simple application of the map function as follows: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4D2325-5C9F-4C1D-B50C-B8CD69388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074" y="4001294"/>
            <a:ext cx="5239019" cy="4762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8398EC-1BB9-42C0-BD4E-A7C7C6F02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8807" y="3677845"/>
            <a:ext cx="3537132" cy="220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48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F609F-A8C2-4871-8D65-69EA8FB1D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apply()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B916B-5284-4111-A6F3-C41D4A258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22952" cy="4289949"/>
          </a:xfrm>
        </p:spPr>
        <p:txBody>
          <a:bodyPr>
            <a:normAutofit/>
          </a:bodyPr>
          <a:lstStyle/>
          <a:p>
            <a:r>
              <a:rPr lang="en-US" dirty="0"/>
              <a:t>We can also achieve the same results by using the Pandas apply() method</a:t>
            </a:r>
          </a:p>
          <a:p>
            <a:r>
              <a:rPr lang="en-US" dirty="0"/>
              <a:t>Continuing with the previous example, let’s first delete the ‘age’ column: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Let’s recreate it using the apply() method: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72F251-00A2-444F-8FF5-F06610306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780" y="3607574"/>
            <a:ext cx="1549480" cy="3937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173B08-707E-4599-8733-FE38F937D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164" y="2020990"/>
            <a:ext cx="3156112" cy="20829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5A06EC-D2C7-4F14-BEDD-8AB9B4DDA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9568" y="4501798"/>
            <a:ext cx="3537132" cy="2203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674336-0377-42AB-AC5B-19CC941C3D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0313" y="5446676"/>
            <a:ext cx="5378726" cy="33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105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9CED1-5CE0-44EA-B344-312B14FA7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apply()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F4903-67BE-4F3F-9856-ABDB1B31A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Adding a ‘Gender’ column calculated from ‘Status’: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5C7F02-1E83-4926-BFE1-16AA0F1DF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578" y="2602854"/>
            <a:ext cx="9608044" cy="4127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92E544-99F3-4EA3-8005-00E32C648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263" y="3558015"/>
            <a:ext cx="4362674" cy="207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918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17D84-E5DC-4F42-82FC-E7BD91C22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apply()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25A51-ABB1-493D-B14B-26A9E9270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Consider the following </a:t>
            </a:r>
            <a:r>
              <a:rPr lang="en-US" dirty="0" err="1"/>
              <a:t>DataFrame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Applying a function to a single column: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Applying a function to all the columns: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Applying a function to a list of columns: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6D8EFA9-20FA-4B1A-96DB-85188A0FD7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AC5897-C274-4F85-AFD6-7B8AABF5B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140" y="2191365"/>
            <a:ext cx="5067560" cy="7683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D4945B-D274-4DC7-8074-1BA25ECFC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6928" y="1368997"/>
            <a:ext cx="1339919" cy="16447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7B7DC1-0F53-43FB-9B24-147D307207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8140" y="3325494"/>
            <a:ext cx="4388076" cy="6032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091D03-3DD0-42B6-9328-33B898CE11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1264" y="5522879"/>
            <a:ext cx="6350326" cy="6540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8FCAD32-6EFA-4C47-AF02-0949B344A8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0598" y="2305757"/>
            <a:ext cx="1365320" cy="169553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B733873-0C8F-4540-9064-3BFB41E191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1139" y="4332108"/>
            <a:ext cx="4083260" cy="6921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FF17E7-EDBF-45D7-A020-B8A6564E88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0482" y="3528464"/>
            <a:ext cx="1276365" cy="14958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4B7EA8-09F4-4C0D-A251-D5B65581FA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70598" y="4678201"/>
            <a:ext cx="1356434" cy="140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014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B7DDB-B100-46CA-A142-23EB044DA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Aggregation with </a:t>
            </a:r>
            <a:r>
              <a:rPr lang="en-US" dirty="0" err="1"/>
              <a:t>groupby</a:t>
            </a:r>
            <a:r>
              <a:rPr lang="en-US" dirty="0"/>
              <a:t>()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5FD11-67B4-4E7A-82E6-72737960A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 </a:t>
            </a:r>
            <a:r>
              <a:rPr lang="en-US" sz="2400" b="1" dirty="0" err="1"/>
              <a:t>groupby</a:t>
            </a:r>
            <a:r>
              <a:rPr lang="en-US" sz="2400" b="1" dirty="0"/>
              <a:t>() </a:t>
            </a:r>
            <a:r>
              <a:rPr lang="en-US" sz="2400" dirty="0"/>
              <a:t>method allows you to </a:t>
            </a:r>
            <a:r>
              <a:rPr lang="en-US" sz="2400" b="1" dirty="0"/>
              <a:t>split</a:t>
            </a:r>
            <a:r>
              <a:rPr lang="en-US" sz="2400" dirty="0"/>
              <a:t> your data into groups based on some criteria, </a:t>
            </a:r>
            <a:r>
              <a:rPr lang="en-US" sz="2400" b="1" dirty="0"/>
              <a:t>apply</a:t>
            </a:r>
            <a:r>
              <a:rPr lang="en-US" sz="2400" dirty="0"/>
              <a:t> a function (like sum, mean, count) to each group, and </a:t>
            </a:r>
            <a:r>
              <a:rPr lang="en-US" sz="2400" b="1" dirty="0"/>
              <a:t>combine</a:t>
            </a:r>
            <a:r>
              <a:rPr lang="en-US" sz="2400" dirty="0"/>
              <a:t> the results into a new </a:t>
            </a:r>
            <a:r>
              <a:rPr lang="en-US" sz="2400" dirty="0" err="1"/>
              <a:t>DataFrame</a:t>
            </a:r>
            <a:r>
              <a:rPr lang="en-US" sz="2400" dirty="0"/>
              <a:t> or Series.</a:t>
            </a:r>
          </a:p>
          <a:p>
            <a:pPr marL="0" marR="0"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000" b="1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Basic Syntax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lvl="1" indent="0" latinLnBrk="1">
              <a:lnSpc>
                <a:spcPts val="165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1800" dirty="0" err="1">
                <a:solidFill>
                  <a:srgbClr val="383A42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dirty="0" err="1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groupby</a:t>
            </a:r>
            <a:r>
              <a:rPr lang="en-US" sz="1800" dirty="0">
                <a:solidFill>
                  <a:srgbClr val="383A42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1800" dirty="0">
                <a:solidFill>
                  <a:srgbClr val="4078F2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800" dirty="0" err="1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grouping_columns</a:t>
            </a:r>
            <a:r>
              <a:rPr lang="en-US" sz="1800" dirty="0">
                <a:solidFill>
                  <a:srgbClr val="383A42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)[</a:t>
            </a:r>
            <a:r>
              <a:rPr lang="en-US" sz="1800" dirty="0" err="1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columns_to_show</a:t>
            </a:r>
            <a:r>
              <a:rPr lang="en-US" sz="1800" dirty="0">
                <a:solidFill>
                  <a:srgbClr val="383A42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r>
              <a:rPr lang="en-US" sz="1800" dirty="0" err="1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aggregation_function</a:t>
            </a:r>
            <a:r>
              <a:rPr lang="en-US" sz="1800" dirty="0">
                <a:solidFill>
                  <a:srgbClr val="383A42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1800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The column(s) you want to group by (e.g., 'Category', 'Department').</a:t>
            </a:r>
            <a:endParaRPr lang="en-US" sz="1600" dirty="0">
              <a:solidFill>
                <a:srgbClr val="0F1115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600" dirty="0" err="1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columns_to_show</a:t>
            </a:r>
            <a:r>
              <a:rPr lang="en-US" sz="16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1800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(Optional) The specific columns you want to aggregate.</a:t>
            </a:r>
            <a:endParaRPr lang="en-US" sz="1600" dirty="0">
              <a:solidFill>
                <a:srgbClr val="0F1115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 err="1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aggregation_function</a:t>
            </a:r>
            <a:r>
              <a:rPr lang="en-US" sz="16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800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The operation to perform on each group (e.g., </a:t>
            </a:r>
            <a:r>
              <a:rPr lang="en-US" sz="16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sum()</a:t>
            </a:r>
            <a:r>
              <a:rPr lang="en-US" sz="1800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16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mean()</a:t>
            </a:r>
            <a:r>
              <a:rPr lang="en-US" sz="1800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16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count()</a:t>
            </a:r>
            <a:r>
              <a:rPr lang="en-US" sz="1800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1600" dirty="0">
              <a:solidFill>
                <a:srgbClr val="0F1115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413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01218-CA12-4A62-9218-3DEB36D38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Analysis of Credit Card Approvals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CCA10-1E71-42B1-921E-3453A4E80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We will be using the </a:t>
            </a:r>
            <a:r>
              <a:rPr lang="en-US" b="0" i="0" u="sng" dirty="0">
                <a:effectLst/>
                <a:latin typeface="source-serif-pro"/>
                <a:hlinkClick r:id="rId2"/>
              </a:rPr>
              <a:t>Credit Card Approvals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available on Kaggle.</a:t>
            </a:r>
          </a:p>
          <a:p>
            <a:endParaRPr lang="en-US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marL="0" indent="0">
              <a:buNone/>
            </a:pPr>
            <a:endParaRPr lang="en-US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marL="0" indent="0">
              <a:buNone/>
            </a:pPr>
            <a:endParaRPr lang="en-US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355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5CBB7-DB84-4456-BCC4-CE9A97927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71DD2-8357-4F4D-858E-5FC5BCE1B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While working with data, it can be difficult to truly understand your data when it’s just in tabular form. </a:t>
            </a:r>
          </a:p>
          <a:p>
            <a:pPr algn="just"/>
            <a:r>
              <a:rPr lang="en-US" dirty="0"/>
              <a:t>To understand what exactly our data conveys, and to better select suitable models for it, we need to visualize it or represent it in pictorial form. </a:t>
            </a:r>
          </a:p>
          <a:p>
            <a:pPr algn="just"/>
            <a:r>
              <a:rPr lang="en-US" dirty="0"/>
              <a:t>This helps expose patterns, correlations, and trends that cannot be obtained when data is in a table or CSV file.</a:t>
            </a:r>
          </a:p>
          <a:p>
            <a:pPr algn="just"/>
            <a:r>
              <a:rPr lang="en-US" dirty="0"/>
              <a:t>This also helps us see trends and patterns in data which descriptive stats alone may not show.</a:t>
            </a:r>
          </a:p>
        </p:txBody>
      </p:sp>
    </p:spTree>
    <p:extLst>
      <p:ext uri="{BB962C8B-B14F-4D97-AF65-F5344CB8AC3E}">
        <p14:creationId xmlns:p14="http://schemas.microsoft.com/office/powerpoint/2010/main" val="2478142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B22BC2-6015-4331-A926-FA822AC1B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779" y="1690688"/>
            <a:ext cx="5981221" cy="4351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C7E4B3-BEA8-4D88-8D7D-78CC6752F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Anscombe’s Quartet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1287B-8517-4D9A-B793-DAAA6C396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545" y="1834013"/>
            <a:ext cx="6015735" cy="4351337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Anscombe's quartet is a group of datasets (x, y) that have the same mean, standard deviation, and regression line, but which are qualitatively different.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It is often used to illustrate the importance of looking at a set of data graphically and not only relying on basic statistic properties.</a:t>
            </a:r>
          </a:p>
        </p:txBody>
      </p:sp>
    </p:spTree>
    <p:extLst>
      <p:ext uri="{BB962C8B-B14F-4D97-AF65-F5344CB8AC3E}">
        <p14:creationId xmlns:p14="http://schemas.microsoft.com/office/powerpoint/2010/main" val="2779372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DC9A2-A1B7-4ED1-9603-453F4B693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7E50B-6DB3-4CA4-BAB8-0CFB35AEB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The process of finding trends and correlations in our data by representing it pictorially is called Data Visualization. </a:t>
            </a:r>
          </a:p>
          <a:p>
            <a:pPr algn="just"/>
            <a:r>
              <a:rPr lang="en-US" dirty="0"/>
              <a:t>To perform data visualization in Python, we can use various python data visualization modules such as Matplotlib, Seaborn, </a:t>
            </a:r>
            <a:r>
              <a:rPr lang="en-US" dirty="0" err="1"/>
              <a:t>Plotly</a:t>
            </a:r>
            <a:r>
              <a:rPr lang="en-US" dirty="0"/>
              <a:t>, etc.</a:t>
            </a:r>
          </a:p>
          <a:p>
            <a:pPr algn="just"/>
            <a:r>
              <a:rPr lang="en-US" dirty="0"/>
              <a:t>Today, we will begin our exploration with Matplotlib and Seaborn.</a:t>
            </a:r>
          </a:p>
          <a:p>
            <a:pPr algn="just"/>
            <a:r>
              <a:rPr lang="en-US" dirty="0"/>
              <a:t>We will discuss how to work with these modules for data visualization in python and cover the following topics:</a:t>
            </a:r>
          </a:p>
          <a:p>
            <a:pPr lvl="1"/>
            <a:r>
              <a:rPr lang="en-US" dirty="0"/>
              <a:t>Line Charts</a:t>
            </a:r>
          </a:p>
          <a:p>
            <a:pPr lvl="1"/>
            <a:r>
              <a:rPr lang="en-US" dirty="0"/>
              <a:t>Bar Graphs</a:t>
            </a:r>
          </a:p>
          <a:p>
            <a:pPr lvl="1"/>
            <a:r>
              <a:rPr lang="en-US" dirty="0"/>
              <a:t>Histograms</a:t>
            </a:r>
          </a:p>
          <a:p>
            <a:pPr lvl="1"/>
            <a:r>
              <a:rPr lang="en-US" dirty="0"/>
              <a:t>Scatter Plots</a:t>
            </a:r>
          </a:p>
          <a:p>
            <a:pPr lvl="1"/>
            <a:r>
              <a:rPr lang="en-US" dirty="0"/>
              <a:t>Heat Maps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651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F2471-CDFD-460D-9B7E-A8F51CF1C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Charts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26F70-CB0D-4554-B5F0-338748979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In line charts, each data point or marker is plotted and connected with a line or curve. </a:t>
            </a:r>
          </a:p>
          <a:p>
            <a:pPr algn="just"/>
            <a:r>
              <a:rPr lang="en-US" dirty="0"/>
              <a:t>Let's consider the apple yield (tons per hectare) in Kanto region (hypothetical). </a:t>
            </a:r>
          </a:p>
          <a:p>
            <a:pPr algn="just"/>
            <a:r>
              <a:rPr lang="en-US" dirty="0"/>
              <a:t>Let's plot a line graph using this data and see how the yield of apples changes over time. </a:t>
            </a:r>
          </a:p>
          <a:p>
            <a:pPr algn="just"/>
            <a:r>
              <a:rPr lang="en-US" dirty="0"/>
              <a:t>We start by importing Matplotlib and Seaborn.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C0302A-2F51-4FA3-982B-BAB480D8A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1718" y="5046027"/>
            <a:ext cx="3854932" cy="78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043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21D71-D79E-4F41-B057-476BB9852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Matplotlib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F7507-163A-4357-8588-2BEF4809A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using random data points to represent the yield of apples. 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72B29C-DBE1-4D0D-8B11-D70F977D0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279" y="2376918"/>
            <a:ext cx="5632739" cy="3873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6912F0-9D2B-4DEC-9B07-9F2AAD89E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5979" y="2978752"/>
            <a:ext cx="5620039" cy="4254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DD6599A-3949-48A2-AA68-60766DBA0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200" y="3479483"/>
            <a:ext cx="4921378" cy="324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137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FAB77-D476-4522-89B5-739C92734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Matplotlib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3C696-2900-478A-81C4-765170130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better understand the graph and its purpose, we can add the x-axis values too.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101264-EF41-4DC2-921F-1A650BCBA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809" y="2708264"/>
            <a:ext cx="5461097" cy="5124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D1ACAE-A711-420C-9D72-315EC0D2C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809" y="3277223"/>
            <a:ext cx="5461097" cy="3671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7C45A0-7CD3-4B4C-935F-14375C24B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9680" y="3773033"/>
            <a:ext cx="4404886" cy="2719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78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17192-CA66-4966-BC29-8FA37A33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Matplotlib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5F8B6-4DF9-4714-9676-1CE6693ED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Let's add labels to the axes so that we can show what each axis represents. 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ACEBE0-467A-40FE-A4BC-9AF515304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906" y="2403999"/>
            <a:ext cx="5656187" cy="445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916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A3150-A392-4133-841A-7CCDF3A95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120" y="579120"/>
            <a:ext cx="10520680" cy="5597843"/>
          </a:xfrm>
        </p:spPr>
        <p:txBody>
          <a:bodyPr/>
          <a:lstStyle/>
          <a:p>
            <a:pPr algn="just"/>
            <a:r>
              <a:rPr lang="en-US" dirty="0"/>
              <a:t>To plot multiple datasets on the same graph, just use the </a:t>
            </a:r>
            <a:r>
              <a:rPr lang="en-US" dirty="0" err="1"/>
              <a:t>plt.plot</a:t>
            </a:r>
            <a:r>
              <a:rPr lang="en-US" dirty="0"/>
              <a:t> function once for each dataset. </a:t>
            </a:r>
          </a:p>
          <a:p>
            <a:pPr algn="just"/>
            <a:r>
              <a:rPr lang="en-US" dirty="0"/>
              <a:t>Let's use this to compare the yields of apples vs. oranges on the same graph.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ED6B78-E5E5-41A9-9883-89A11DFEA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112" y="2216766"/>
            <a:ext cx="7709296" cy="7175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AAA38C-2F89-4405-8B2C-719E2510D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462" y="2997178"/>
            <a:ext cx="7702946" cy="8636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C22C80C-6E59-4D0E-9879-DD9E5A26E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6775" y="4042342"/>
            <a:ext cx="5454930" cy="265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348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F860C-8C9C-4EB3-85AA-F9978B998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40" y="538480"/>
            <a:ext cx="10500360" cy="5638483"/>
          </a:xfrm>
        </p:spPr>
        <p:txBody>
          <a:bodyPr/>
          <a:lstStyle/>
          <a:p>
            <a:r>
              <a:rPr lang="en-US" dirty="0"/>
              <a:t>We can add a legend which tells us what each line in our graph means. </a:t>
            </a:r>
          </a:p>
          <a:p>
            <a:r>
              <a:rPr lang="en-US" dirty="0"/>
              <a:t>To understand what we are plotting, we can add a title to our graph.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4FD3BC-E11C-4BEA-9FAB-0283E24A7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693" y="2110701"/>
            <a:ext cx="4165814" cy="14986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4BD2A2-7AE6-4E3E-846B-604166543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145" y="3948995"/>
            <a:ext cx="4076910" cy="269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930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E1A90-68F8-4DE2-934D-956445851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640" y="365760"/>
            <a:ext cx="10551160" cy="5811203"/>
          </a:xfrm>
        </p:spPr>
        <p:txBody>
          <a:bodyPr/>
          <a:lstStyle/>
          <a:p>
            <a:pPr algn="just"/>
            <a:r>
              <a:rPr lang="en-US" dirty="0"/>
              <a:t>To show each data point on our graph, we can highlight them with markers using the marker argument. </a:t>
            </a:r>
          </a:p>
          <a:p>
            <a:pPr algn="just"/>
            <a:r>
              <a:rPr lang="en-US" dirty="0"/>
              <a:t>Many different marker shapes like a circle, cross, square, diamond, etc. are provided by Matplotlib.</a:t>
            </a:r>
          </a:p>
          <a:p>
            <a:pPr algn="just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A08247-88D0-48B1-BE14-E434B6E25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640" y="1763193"/>
            <a:ext cx="4473893" cy="496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286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AF4FC-D7E8-49CE-A214-E16C1C2F2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240" y="508000"/>
            <a:ext cx="10449560" cy="5668963"/>
          </a:xfrm>
        </p:spPr>
        <p:txBody>
          <a:bodyPr/>
          <a:lstStyle/>
          <a:p>
            <a:r>
              <a:rPr lang="en-US" dirty="0"/>
              <a:t>You can use the </a:t>
            </a:r>
            <a:r>
              <a:rPr lang="en-US" dirty="0" err="1"/>
              <a:t>plt.figure</a:t>
            </a:r>
            <a:r>
              <a:rPr lang="en-US" dirty="0"/>
              <a:t> function to change the size of the figure.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6E2EDD-9D5E-49CF-BF8E-24F9E7D41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706" y="1258570"/>
            <a:ext cx="7980789" cy="491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848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F0B01-629B-4BC0-96B4-1930394F4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Seaborn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2D923-2ADC-4F07-8FB0-A3D3A9480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92520" cy="4351338"/>
          </a:xfrm>
        </p:spPr>
        <p:txBody>
          <a:bodyPr/>
          <a:lstStyle/>
          <a:p>
            <a:pPr algn="just"/>
            <a:r>
              <a:rPr lang="en-US" dirty="0"/>
              <a:t>An easy way to make your charts look beautiful is to use some default styles from the Seaborn library.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These can be applied globally using the </a:t>
            </a:r>
            <a:r>
              <a:rPr lang="en-US" dirty="0" err="1"/>
              <a:t>sns.set_style</a:t>
            </a:r>
            <a:r>
              <a:rPr lang="en-US" dirty="0"/>
              <a:t> function.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7FF976-1234-4165-A6C0-2194A9E41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5508" y="1690688"/>
            <a:ext cx="4376292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13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85CD-8CA1-48A5-9A8C-B96D35B77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680" y="762000"/>
            <a:ext cx="10612120" cy="5414963"/>
          </a:xfrm>
        </p:spPr>
        <p:txBody>
          <a:bodyPr/>
          <a:lstStyle/>
          <a:p>
            <a:r>
              <a:rPr lang="en-US" dirty="0"/>
              <a:t>We can also use the </a:t>
            </a:r>
            <a:r>
              <a:rPr lang="en-US" dirty="0" err="1"/>
              <a:t>darkgrid</a:t>
            </a:r>
            <a:r>
              <a:rPr lang="en-US" dirty="0"/>
              <a:t> option to change the background color to a darker shade.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5794B9-6DA4-4914-9524-15EA8B3F5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826" y="1556067"/>
            <a:ext cx="4461827" cy="506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63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40DDF-D895-4671-ADF3-43CF057BB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7CBA9-AF57-4EAA-B917-70037F3F9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When you have </a:t>
            </a:r>
            <a:r>
              <a:rPr lang="en-US" i="1" dirty="0"/>
              <a:t>categorical data</a:t>
            </a:r>
            <a:r>
              <a:rPr lang="en-US" dirty="0"/>
              <a:t>, you can represent it with a bar graph. </a:t>
            </a:r>
          </a:p>
          <a:p>
            <a:r>
              <a:rPr lang="en-US" dirty="0"/>
              <a:t>A bar graph plots data with the help of bars, which represent value on the y-axis and category on the x-axis.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C409A43-0540-45EB-9B5A-804E6AAC4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696" y="3823494"/>
            <a:ext cx="4771087" cy="226234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608A141-7F26-45AE-B412-FB5259180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095" y="3557595"/>
            <a:ext cx="4064209" cy="279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388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DD6B7-CF16-45B9-ACEA-D9B3DDCEC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670560"/>
            <a:ext cx="10439400" cy="5506403"/>
          </a:xfrm>
        </p:spPr>
        <p:txBody>
          <a:bodyPr/>
          <a:lstStyle/>
          <a:p>
            <a:pPr algn="just"/>
            <a:r>
              <a:rPr lang="en-US" dirty="0"/>
              <a:t>We can also stack bars on top of each other. Let's plot the data for apples and oranges.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5DCA2B-52EA-4CE9-B5F0-571BB522F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147" y="1802764"/>
            <a:ext cx="5317706" cy="461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671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0FC43-69ED-4379-AB74-F34F4AE84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680" y="741680"/>
            <a:ext cx="8097520" cy="5374640"/>
          </a:xfrm>
        </p:spPr>
        <p:txBody>
          <a:bodyPr/>
          <a:lstStyle/>
          <a:p>
            <a:pPr algn="just"/>
            <a:r>
              <a:rPr lang="en-US" dirty="0"/>
              <a:t>Let’s use the tips dataset in Seaborn next. The dataset consists of :</a:t>
            </a:r>
          </a:p>
          <a:p>
            <a:pPr lvl="1" algn="just"/>
            <a:r>
              <a:rPr lang="en-US" dirty="0"/>
              <a:t>Information about the sex (gender)</a:t>
            </a:r>
          </a:p>
          <a:p>
            <a:pPr lvl="1" algn="just"/>
            <a:r>
              <a:rPr lang="en-US" dirty="0"/>
              <a:t>Time of day</a:t>
            </a:r>
          </a:p>
          <a:p>
            <a:pPr lvl="1" algn="just"/>
            <a:r>
              <a:rPr lang="en-US" dirty="0"/>
              <a:t>Total bill</a:t>
            </a:r>
          </a:p>
          <a:p>
            <a:pPr lvl="1" algn="just"/>
            <a:r>
              <a:rPr lang="en-US" dirty="0"/>
              <a:t>Tips given by customers visiting the restaurant for a week</a:t>
            </a:r>
          </a:p>
          <a:p>
            <a:pPr algn="just"/>
            <a:r>
              <a:rPr lang="en-US" dirty="0"/>
              <a:t>We can draw a bar chart to visualize how the average bill amount varies across different days of the week. </a:t>
            </a:r>
          </a:p>
          <a:p>
            <a:pPr algn="just"/>
            <a:r>
              <a:rPr lang="en-US" dirty="0"/>
              <a:t>We can do this by computing the day-wise averages and then using </a:t>
            </a:r>
            <a:r>
              <a:rPr lang="en-US" dirty="0" err="1"/>
              <a:t>plt.bar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The Seaborn library also provides a </a:t>
            </a:r>
            <a:r>
              <a:rPr lang="en-US" dirty="0" err="1"/>
              <a:t>barplot</a:t>
            </a:r>
            <a:r>
              <a:rPr lang="en-US" dirty="0"/>
              <a:t> function that can automatically compute averages.</a:t>
            </a:r>
          </a:p>
          <a:p>
            <a:pPr algn="just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328DFA-1311-4528-AB7B-47AC91025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8675" y="875982"/>
            <a:ext cx="3743325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684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5825801-9150-496B-969E-083B80B164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8924" y="1567021"/>
            <a:ext cx="5754152" cy="425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6473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61649-216F-43BB-B9CD-4335A1F58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660400"/>
            <a:ext cx="10388600" cy="5516563"/>
          </a:xfrm>
        </p:spPr>
        <p:txBody>
          <a:bodyPr/>
          <a:lstStyle/>
          <a:p>
            <a:r>
              <a:rPr lang="en-US" dirty="0"/>
              <a:t>If you want to compare bar plots side-by-side, you can use the hue argument. </a:t>
            </a:r>
          </a:p>
          <a:p>
            <a:r>
              <a:rPr lang="en-US" dirty="0"/>
              <a:t>The comparison will be done based on the third feature specified in this argument.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5874BA-5134-48B5-B260-4AD086893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463" y="2477770"/>
            <a:ext cx="6047560" cy="410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136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AB248-A012-43B5-99AB-68FF7F314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160" y="873760"/>
            <a:ext cx="10327640" cy="5303203"/>
          </a:xfrm>
        </p:spPr>
        <p:txBody>
          <a:bodyPr/>
          <a:lstStyle/>
          <a:p>
            <a:r>
              <a:rPr lang="en-US" dirty="0"/>
              <a:t>You can make the bars horizontal by switching the axes.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D79639-0165-4B06-8E8B-4C3E59F4A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871" y="1858010"/>
            <a:ext cx="6250282" cy="421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7139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DEAAD-4181-41CF-884E-5251004B8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ACB4C-74D1-4842-8A38-F4BAB374F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 histogram is a visual representation of the distribution of numeric data. </a:t>
            </a:r>
          </a:p>
          <a:p>
            <a:pPr algn="just"/>
            <a:r>
              <a:rPr lang="en-US" dirty="0"/>
              <a:t>To construct a histogram: </a:t>
            </a:r>
          </a:p>
          <a:p>
            <a:pPr lvl="1" algn="just"/>
            <a:r>
              <a:rPr lang="en-US" dirty="0"/>
              <a:t>“Bin” (or "bucket") the range of values— divide the entire range of values into a series of intervals</a:t>
            </a:r>
          </a:p>
          <a:p>
            <a:pPr lvl="1" algn="just"/>
            <a:r>
              <a:rPr lang="en-US" dirty="0"/>
              <a:t>Then count how many values fall into each interval.</a:t>
            </a:r>
          </a:p>
          <a:p>
            <a:pPr algn="just"/>
            <a:r>
              <a:rPr lang="en-US" dirty="0"/>
              <a:t>The bins are usually specified as consecutive, non-overlapping intervals of a variable. </a:t>
            </a:r>
          </a:p>
          <a:p>
            <a:pPr algn="just"/>
            <a:r>
              <a:rPr lang="en-US" dirty="0"/>
              <a:t>The bins (intervals) must be adjacent and are often (but not required to be) of equal size</a:t>
            </a:r>
          </a:p>
        </p:txBody>
      </p:sp>
    </p:spTree>
    <p:extLst>
      <p:ext uri="{BB962C8B-B14F-4D97-AF65-F5344CB8AC3E}">
        <p14:creationId xmlns:p14="http://schemas.microsoft.com/office/powerpoint/2010/main" val="1662471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AAB90-767F-4B82-A0E9-F5AF6ED55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670" y="721453"/>
            <a:ext cx="7097088" cy="5510802"/>
          </a:xfrm>
        </p:spPr>
        <p:txBody>
          <a:bodyPr/>
          <a:lstStyle/>
          <a:p>
            <a:pPr algn="just"/>
            <a:r>
              <a:rPr lang="en-US" dirty="0"/>
              <a:t>Let's use the ‘Iris’ dataset which contains information about flowers to plot histograms.</a:t>
            </a:r>
          </a:p>
          <a:p>
            <a:pPr algn="just"/>
            <a:r>
              <a:rPr lang="en-US" dirty="0"/>
              <a:t>Now, let’s plot a histogram using </a:t>
            </a:r>
            <a:r>
              <a:rPr lang="en-US" dirty="0" err="1"/>
              <a:t>pyplot’s</a:t>
            </a:r>
            <a:r>
              <a:rPr lang="en-US" dirty="0"/>
              <a:t> hist() method.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FD0C02-ADD0-44C5-B3F4-57644FB34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0692" y="645951"/>
            <a:ext cx="4349974" cy="42928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33984F-4143-430F-8EA6-5AB32C9C5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547" y="3191190"/>
            <a:ext cx="4263678" cy="34951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66BB092-097C-4D44-97D3-075A37753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758" y="2435658"/>
            <a:ext cx="4533281" cy="713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423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DD101D7-8BB9-4F84-A768-25A4F6CC1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541" y="178597"/>
            <a:ext cx="3757580" cy="296164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C7306-0D8D-42D9-9465-833579B33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281" y="490936"/>
            <a:ext cx="10510520" cy="5801043"/>
          </a:xfrm>
        </p:spPr>
        <p:txBody>
          <a:bodyPr/>
          <a:lstStyle/>
          <a:p>
            <a:r>
              <a:rPr lang="en-US" dirty="0"/>
              <a:t>We can control the number or size of bins.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can change the number and size of bins using </a:t>
            </a:r>
            <a:r>
              <a:rPr lang="en-US" dirty="0" err="1"/>
              <a:t>numpy</a:t>
            </a:r>
            <a:r>
              <a:rPr lang="en-US" dirty="0"/>
              <a:t> too.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2D5B81-D9F1-4087-BB12-E8D942FC1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025" y="1489623"/>
            <a:ext cx="3812975" cy="7543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472BF4-1F4C-4CE0-8636-9D4B679DFF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423" y="4292760"/>
            <a:ext cx="5854177" cy="10756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6FB801-198B-42FC-845E-67DDFC0368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5821" y="3642677"/>
            <a:ext cx="3762899" cy="303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714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B7839-E4D4-4649-9E72-753F18D2D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080" y="467360"/>
            <a:ext cx="10459720" cy="5709603"/>
          </a:xfrm>
        </p:spPr>
        <p:txBody>
          <a:bodyPr/>
          <a:lstStyle/>
          <a:p>
            <a:r>
              <a:rPr lang="en-US" dirty="0"/>
              <a:t>We can also create bins of unequal size.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3A0947-076D-47C2-9080-AF6EE591D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232" y="1046465"/>
            <a:ext cx="7051401" cy="7924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75111F-8CD0-4DFD-B004-3023641A7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127" y="1988557"/>
            <a:ext cx="5124713" cy="403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021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D6535-3CF0-4DF4-8AF8-53065381A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37" y="314960"/>
            <a:ext cx="11068863" cy="5862003"/>
          </a:xfrm>
        </p:spPr>
        <p:txBody>
          <a:bodyPr/>
          <a:lstStyle/>
          <a:p>
            <a:pPr algn="just"/>
            <a:r>
              <a:rPr lang="en-US" dirty="0"/>
              <a:t>Similar to line charts, we can draw multiple histograms in a single chart. </a:t>
            </a:r>
          </a:p>
          <a:p>
            <a:pPr algn="just"/>
            <a:r>
              <a:rPr lang="en-US" dirty="0"/>
              <a:t>We can reduce each histogram's opacity so that one histogram's bars don't hide the others.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Let's draw separate histograms for each species of flowers.</a:t>
            </a:r>
          </a:p>
          <a:p>
            <a:pPr algn="just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66AA51-AC50-4B82-AF10-9FE4245B9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5074" y="3978621"/>
            <a:ext cx="3671844" cy="281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BD1E18-226B-4DB9-855A-8E7BF31D5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76" y="2911167"/>
            <a:ext cx="9953783" cy="10674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14BF18-A564-44C6-81A1-BC9F6EB8F9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1359" y="1402694"/>
            <a:ext cx="6791119" cy="80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613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99E55-1DE5-4402-848A-08A7F225B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365760"/>
            <a:ext cx="10530840" cy="5811203"/>
          </a:xfrm>
        </p:spPr>
        <p:txBody>
          <a:bodyPr/>
          <a:lstStyle/>
          <a:p>
            <a:r>
              <a:rPr lang="en-US" dirty="0"/>
              <a:t>Multiple histograms can be stacked on top of one another by setting the stacked parameter to True.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5607F7-1F35-46D4-8E52-0C8EC32C5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159" y="1487790"/>
            <a:ext cx="9969829" cy="6762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EB8A72-594D-4632-B4E4-4443E72A2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147" y="2550057"/>
            <a:ext cx="5181866" cy="401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337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D7664-FC71-48BC-ABF8-B0AB6F632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A2FB2-558D-44D0-9496-66EA0BD33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scatter plot is a type of plot or mathematical diagram using Cartesian coordinates to display values for typically two variables for a set of data. </a:t>
            </a:r>
          </a:p>
          <a:p>
            <a:pPr algn="just"/>
            <a:r>
              <a:rPr lang="en-US" dirty="0"/>
              <a:t>If the points are coded (color/shape/size), one additional variable can be displayed.</a:t>
            </a:r>
          </a:p>
          <a:p>
            <a:pPr algn="just"/>
            <a:r>
              <a:rPr lang="en-US" dirty="0"/>
              <a:t>A scatter plot helps identify a possible relationship between changes observed in two different sets of variables. </a:t>
            </a:r>
          </a:p>
          <a:p>
            <a:pPr algn="just"/>
            <a:r>
              <a:rPr lang="en-US" dirty="0"/>
              <a:t>It provides a visual and statistical means to test the strength of a relationship between two variables</a:t>
            </a:r>
          </a:p>
        </p:txBody>
      </p:sp>
    </p:spTree>
    <p:extLst>
      <p:ext uri="{BB962C8B-B14F-4D97-AF65-F5344CB8AC3E}">
        <p14:creationId xmlns:p14="http://schemas.microsoft.com/office/powerpoint/2010/main" val="1489003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93910-EA49-4A29-915F-31D17B763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718" y="508000"/>
            <a:ext cx="10594564" cy="5679123"/>
          </a:xfrm>
        </p:spPr>
        <p:txBody>
          <a:bodyPr/>
          <a:lstStyle/>
          <a:p>
            <a:r>
              <a:rPr lang="en-US" dirty="0"/>
              <a:t>First, let’s see how many different species of flowers we have.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Let’s try plotting the data with the help of a line chart.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CB0C33-E661-4FAA-826D-A4181E81E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664" y="1141412"/>
            <a:ext cx="6468291" cy="9820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18BBEB-219B-4724-B931-69DB21E10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624" y="2756852"/>
            <a:ext cx="4856703" cy="334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471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A762D-304F-4EDF-B6D4-E6A0D6C0B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396240"/>
            <a:ext cx="10800080" cy="62077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visualization in previous slide was not very informative. We cannot figure out the relationship between different data points.</a:t>
            </a:r>
          </a:p>
          <a:p>
            <a:r>
              <a:rPr lang="en-US" dirty="0"/>
              <a:t>Let’s visualize the same data using scatterplots.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is much better. But we still cannot differentiate different data points belonging to different categories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1D6B28-324B-4038-ACBD-56DAF924E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049" y="1655444"/>
            <a:ext cx="6082661" cy="3790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984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E5BE5-6C8A-4528-89DF-32D65E10A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760" y="538480"/>
            <a:ext cx="10480040" cy="5638483"/>
          </a:xfrm>
        </p:spPr>
        <p:txBody>
          <a:bodyPr/>
          <a:lstStyle/>
          <a:p>
            <a:r>
              <a:rPr lang="en-US" dirty="0"/>
              <a:t>We can color the dots using the flower species as a hue.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06EF33-05D7-4B39-A5D3-35D0F6D1B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754" y="1299210"/>
            <a:ext cx="10114052" cy="382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662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F9992-788E-4759-8171-46C4F2264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680" y="690880"/>
            <a:ext cx="10612120" cy="5486083"/>
          </a:xfrm>
        </p:spPr>
        <p:txBody>
          <a:bodyPr/>
          <a:lstStyle/>
          <a:p>
            <a:r>
              <a:rPr lang="en-US" dirty="0"/>
              <a:t>Since Seaborn uses Matplotlib's plotting functions internally, we can use functions like </a:t>
            </a:r>
            <a:r>
              <a:rPr lang="en-US" dirty="0" err="1"/>
              <a:t>plt.figure</a:t>
            </a:r>
            <a:r>
              <a:rPr lang="en-US" dirty="0"/>
              <a:t> and </a:t>
            </a:r>
            <a:r>
              <a:rPr lang="en-US" dirty="0" err="1"/>
              <a:t>plt.title</a:t>
            </a:r>
            <a:r>
              <a:rPr lang="en-US" dirty="0"/>
              <a:t> to modify the figure.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58F317-8420-4E34-96D6-E3A9E25A4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511" y="1569719"/>
            <a:ext cx="6849689" cy="470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23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42604-47B5-4849-A057-A94A17ED6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 Maps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79F6C-32FB-4E47-9BF6-F4ED8070A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heat map (or heatmap) is a 2-dimensional data visualization technique that represents the magnitude of individual values within a dataset as a color. </a:t>
            </a:r>
          </a:p>
          <a:p>
            <a:pPr algn="just"/>
            <a:r>
              <a:rPr lang="en-US" dirty="0"/>
              <a:t>The variation in color may be by hue or intensity.</a:t>
            </a:r>
          </a:p>
          <a:p>
            <a:pPr algn="just"/>
            <a:r>
              <a:rPr lang="en-US" dirty="0"/>
              <a:t>Based on how these colors range in hues, intensity, etc., tells us how a phenomenon varies.</a:t>
            </a:r>
          </a:p>
          <a:p>
            <a:pPr algn="just"/>
            <a:r>
              <a:rPr lang="en-US" dirty="0"/>
              <a:t>Let's use heatmaps to visualize monthly passenger footfall at an airport over 12 years from the flights dataset in Seaborn.</a:t>
            </a:r>
          </a:p>
        </p:txBody>
      </p:sp>
    </p:spTree>
    <p:extLst>
      <p:ext uri="{BB962C8B-B14F-4D97-AF65-F5344CB8AC3E}">
        <p14:creationId xmlns:p14="http://schemas.microsoft.com/office/powerpoint/2010/main" val="2570576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2FD32-070C-4382-A064-E54421146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4720" y="426720"/>
            <a:ext cx="10419080" cy="5750243"/>
          </a:xfrm>
        </p:spPr>
        <p:txBody>
          <a:bodyPr/>
          <a:lstStyle/>
          <a:p>
            <a:pPr algn="just"/>
            <a:r>
              <a:rPr lang="en-US" dirty="0"/>
              <a:t>The dataset below shows us the monthly footfall in an airport for each year, from 1949 to 1960. </a:t>
            </a:r>
          </a:p>
          <a:p>
            <a:pPr algn="just"/>
            <a:r>
              <a:rPr lang="en-US" dirty="0"/>
              <a:t>The values represent the number of passengers (in thousands) that passed through the airport.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883A0D-1577-44A1-AFA8-4B93BE8A1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720" y="2192689"/>
            <a:ext cx="6584450" cy="466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835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6BE8C-6331-416A-A1A1-39AE260BB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120" y="619760"/>
            <a:ext cx="10520680" cy="5557203"/>
          </a:xfrm>
        </p:spPr>
        <p:txBody>
          <a:bodyPr/>
          <a:lstStyle/>
          <a:p>
            <a:r>
              <a:rPr lang="en-US" dirty="0"/>
              <a:t>Let’s use a heatmap to visualize the above data.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1061D9-BBB1-4A20-91D7-2B87EE0C6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1" y="1269682"/>
            <a:ext cx="5528481" cy="463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418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FE038-B238-48FE-AC59-3275D7489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120" y="701040"/>
            <a:ext cx="10520680" cy="5475923"/>
          </a:xfrm>
        </p:spPr>
        <p:txBody>
          <a:bodyPr/>
          <a:lstStyle/>
          <a:p>
            <a:pPr algn="just"/>
            <a:r>
              <a:rPr lang="en-US" dirty="0"/>
              <a:t>The brighter the color, the higher the footfall at the airport. By looking at the graph, we can infer that : </a:t>
            </a:r>
          </a:p>
          <a:p>
            <a:pPr lvl="1" algn="just"/>
            <a:r>
              <a:rPr lang="en-US" sz="2800" dirty="0"/>
              <a:t>The annual footfall for any given year is highest around July and August.</a:t>
            </a:r>
          </a:p>
          <a:p>
            <a:pPr lvl="1" algn="just"/>
            <a:r>
              <a:rPr lang="en-US" sz="2800" dirty="0"/>
              <a:t>The footfall grows annually. Any month in a year will have a higher footfall when compared to the previous years.</a:t>
            </a:r>
          </a:p>
          <a:p>
            <a:pPr algn="just"/>
            <a:r>
              <a:rPr lang="en-US" dirty="0"/>
              <a:t>Let's display the actual values in our </a:t>
            </a:r>
          </a:p>
          <a:p>
            <a:pPr marL="0" indent="0" algn="just">
              <a:buNone/>
            </a:pPr>
            <a:r>
              <a:rPr lang="en-US" dirty="0"/>
              <a:t>heatmap and change the hue to blue.</a:t>
            </a:r>
          </a:p>
          <a:p>
            <a:pPr algn="just"/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076BFB-68CC-40EF-8CFD-0EAC8C55E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535" y="3248025"/>
            <a:ext cx="4514850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131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F89E0-BBBB-4913-AB2E-29BF443CC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Univariate, Bivariate and Multivariate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35C43-2EB7-418A-9DD0-E9DA9DFFD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Three common approaches used in statistics and data analysis to explore and understand data</a:t>
            </a:r>
          </a:p>
          <a:p>
            <a:pPr algn="just"/>
            <a:r>
              <a:rPr lang="en-US" b="1" dirty="0"/>
              <a:t>Univariate analysis</a:t>
            </a:r>
            <a:r>
              <a:rPr lang="en-US" dirty="0"/>
              <a:t> involves the examination of a single variable (or feature) at a time</a:t>
            </a:r>
          </a:p>
          <a:p>
            <a:pPr algn="just"/>
            <a:r>
              <a:rPr lang="en-US" b="0" i="0" dirty="0">
                <a:effectLst/>
                <a:latin typeface="-apple-system"/>
              </a:rPr>
              <a:t>Univariate analysis is primarily used to: </a:t>
            </a:r>
          </a:p>
          <a:p>
            <a:pPr lvl="1" algn="just"/>
            <a:r>
              <a:rPr lang="en-US" b="0" i="0" dirty="0">
                <a:effectLst/>
                <a:latin typeface="-apple-system"/>
              </a:rPr>
              <a:t>summarize and visualize the distribution of a single variable, </a:t>
            </a:r>
          </a:p>
          <a:p>
            <a:pPr lvl="1" algn="just"/>
            <a:r>
              <a:rPr lang="en-US" b="0" i="0" dirty="0">
                <a:effectLst/>
                <a:latin typeface="-apple-system"/>
              </a:rPr>
              <a:t>assess its central tendency (mean, median, mode), </a:t>
            </a:r>
          </a:p>
          <a:p>
            <a:pPr lvl="1" algn="just"/>
            <a:r>
              <a:rPr lang="en-US" b="0" i="0" dirty="0">
                <a:effectLst/>
                <a:latin typeface="-apple-system"/>
              </a:rPr>
              <a:t>dispersion (range, variance, standard deviation), and </a:t>
            </a:r>
          </a:p>
          <a:p>
            <a:pPr lvl="1" algn="just"/>
            <a:r>
              <a:rPr lang="en-US" b="0" i="0" dirty="0">
                <a:effectLst/>
                <a:latin typeface="-apple-system"/>
              </a:rPr>
              <a:t>shape (e.g., histogram, box plot). </a:t>
            </a:r>
          </a:p>
          <a:p>
            <a:pPr lvl="1" algn="just"/>
            <a:r>
              <a:rPr lang="en-US" b="0" i="0" dirty="0">
                <a:effectLst/>
                <a:latin typeface="-apple-system"/>
              </a:rPr>
              <a:t>helps in understanding the characteristics of a single variable in isolation.</a:t>
            </a:r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489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C8F5C-2DFC-4BB2-A454-EFE9EB3C1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Univariate, Bivariate and Multivariate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BCF37-2DBD-4CBF-BD08-ECCA361D8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Bivariate analysis</a:t>
            </a:r>
            <a:r>
              <a:rPr lang="en-US" dirty="0"/>
              <a:t> involves the analysis of two variables simultaneously to determine if there is a relationship or association between them. </a:t>
            </a:r>
          </a:p>
          <a:p>
            <a:pPr algn="just"/>
            <a:r>
              <a:rPr lang="en-US" dirty="0"/>
              <a:t>Bivariate analysis is used to understand the relationship, correlation, or association between two variables. </a:t>
            </a:r>
          </a:p>
          <a:p>
            <a:pPr algn="just"/>
            <a:r>
              <a:rPr lang="en-US" dirty="0"/>
              <a:t>Common techniques for bivariate analysis include scatter plots, correlation coefficients (e.g., Pearson’s correlation), and contingency tables (for categorical variables). </a:t>
            </a:r>
          </a:p>
          <a:p>
            <a:pPr algn="just"/>
            <a:r>
              <a:rPr lang="en-US" dirty="0"/>
              <a:t>It helps answer questions like, “Is there a relationship between a person’s age and their income?”</a:t>
            </a:r>
          </a:p>
        </p:txBody>
      </p:sp>
    </p:spTree>
    <p:extLst>
      <p:ext uri="{BB962C8B-B14F-4D97-AF65-F5344CB8AC3E}">
        <p14:creationId xmlns:p14="http://schemas.microsoft.com/office/powerpoint/2010/main" val="365536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8C1E9-B895-4647-94E2-1B04BE0B0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Univariate, Bivariate and Multivariate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7B7D5-5B12-4E1C-92A7-9576F0F1A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Multivariate analysis involves the simultaneous analysis of three or more variables to understand the complex relationships and interactions among them. </a:t>
            </a:r>
          </a:p>
          <a:p>
            <a:pPr algn="just"/>
            <a:r>
              <a:rPr lang="en-US" dirty="0"/>
              <a:t>It extends beyond the scope of univariate and bivariate analysis to consider multiple factors at once.</a:t>
            </a:r>
          </a:p>
          <a:p>
            <a:pPr algn="just"/>
            <a:r>
              <a:rPr lang="en-US" dirty="0"/>
              <a:t>Multivariate analysis is essential for understanding more complex relationships in data, such as predicting an outcome based on multiple predictor variables or clustering similar observations based on multiple characteristics. </a:t>
            </a:r>
          </a:p>
        </p:txBody>
      </p:sp>
    </p:spTree>
    <p:extLst>
      <p:ext uri="{BB962C8B-B14F-4D97-AF65-F5344CB8AC3E}">
        <p14:creationId xmlns:p14="http://schemas.microsoft.com/office/powerpoint/2010/main" val="2088347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16678</TotalTime>
  <Words>1929</Words>
  <Application>Microsoft Office PowerPoint</Application>
  <PresentationFormat>Widescreen</PresentationFormat>
  <Paragraphs>177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4" baseType="lpstr">
      <vt:lpstr>-apple-system</vt:lpstr>
      <vt:lpstr>Arial</vt:lpstr>
      <vt:lpstr>Calibri</vt:lpstr>
      <vt:lpstr>Calibri Light</vt:lpstr>
      <vt:lpstr>Cascadia Mono</vt:lpstr>
      <vt:lpstr>Segoe UI</vt:lpstr>
      <vt:lpstr>source-serif-pro</vt:lpstr>
      <vt:lpstr>Symbol</vt:lpstr>
      <vt:lpstr>Office Theme</vt:lpstr>
      <vt:lpstr>MGMT 58600: Python Programming</vt:lpstr>
      <vt:lpstr>map() method</vt:lpstr>
      <vt:lpstr>map() method</vt:lpstr>
      <vt:lpstr>apply() method</vt:lpstr>
      <vt:lpstr>apply() method</vt:lpstr>
      <vt:lpstr>apply() method</vt:lpstr>
      <vt:lpstr>Data Aggregation with groupby() Method</vt:lpstr>
      <vt:lpstr>Case Study: Analysis of Credit Card Approvals</vt:lpstr>
      <vt:lpstr>Data Visualization</vt:lpstr>
      <vt:lpstr>Anscombe’s Quartet</vt:lpstr>
      <vt:lpstr>Data Visualization</vt:lpstr>
      <vt:lpstr>Line Charts</vt:lpstr>
      <vt:lpstr>Using Matplotlib</vt:lpstr>
      <vt:lpstr>Using Matplotlib</vt:lpstr>
      <vt:lpstr>Using Matplotlib</vt:lpstr>
      <vt:lpstr>PowerPoint Presentation</vt:lpstr>
      <vt:lpstr>PowerPoint Presentation</vt:lpstr>
      <vt:lpstr>PowerPoint Presentation</vt:lpstr>
      <vt:lpstr>PowerPoint Presentation</vt:lpstr>
      <vt:lpstr>Using Seaborn</vt:lpstr>
      <vt:lpstr>PowerPoint Presentation</vt:lpstr>
      <vt:lpstr>Bar Graphs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Histograms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Scatter Plots</vt:lpstr>
      <vt:lpstr>PowerPoint Presentation</vt:lpstr>
      <vt:lpstr>PowerPoint Presentation</vt:lpstr>
      <vt:lpstr>PowerPoint Presentation</vt:lpstr>
      <vt:lpstr>PowerPoint Presentation</vt:lpstr>
      <vt:lpstr>Heat Maps</vt:lpstr>
      <vt:lpstr>PowerPoint Presentation</vt:lpstr>
      <vt:lpstr>PowerPoint Presentation</vt:lpstr>
      <vt:lpstr>PowerPoint Presentation</vt:lpstr>
      <vt:lpstr>Univariate, Bivariate and Multivariate Analysis</vt:lpstr>
      <vt:lpstr>Univariate, Bivariate and Multivariate Analysis</vt:lpstr>
      <vt:lpstr>Univariate, Bivariate and Multivariate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MGMT 288-IBE: Programming for Business Applications</dc:title>
  <dc:creator>Khan, Shoaib Amjad</dc:creator>
  <cp:lastModifiedBy>Shoaib Amjad Khan</cp:lastModifiedBy>
  <cp:revision>79</cp:revision>
  <dcterms:created xsi:type="dcterms:W3CDTF">2024-01-10T16:08:38Z</dcterms:created>
  <dcterms:modified xsi:type="dcterms:W3CDTF">2025-09-30T13:34:13Z</dcterms:modified>
</cp:coreProperties>
</file>