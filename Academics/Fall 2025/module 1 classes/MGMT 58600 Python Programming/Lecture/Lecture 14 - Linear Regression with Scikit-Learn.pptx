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6" d="100"/>
          <a:sy n="76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88486-2CE7-4B00-8374-231741A4D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88C3DD-C382-4BAD-B83A-A1EBAA338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23CF6-3BCB-4565-B836-CCB09539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17FED-4672-476A-8757-7EBBBF263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A34DB-6033-4F22-B3A0-8B39FB932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19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C5408-88FA-4722-A45F-9D984028F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D323C-501B-4232-ACE5-C7B0DA40E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CDAF0-F5FD-4836-85D8-72F1C682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D3139-7530-43AF-904E-B5577EBD0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BAAC0-A791-49CA-B53E-22499AA2B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25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34643-20CF-467A-9E45-A6A074EB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C36F4-FC02-4429-8AC5-DBA4EEBA5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C3850-C43E-4690-9C72-B3D58D173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89A57-2FDC-4C7E-B8F6-B6BEDA63A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D344B-31AC-4701-9955-240C227DB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451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918B7-C4AB-47DC-B0B9-CDB103975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41AAE-FA59-4342-B736-16160DD94A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A9959-4F98-4CB2-84F6-AA5ACB73F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89EB2-FE51-4702-9B41-015FA9C6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02D4E-CB42-44A6-A6AB-5FF1AF703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30B4-59D7-4BD7-8380-F5894D506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00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43B37-B009-4C54-943E-28AE42A0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550C4-CB79-45F8-9C72-6B2F821A5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D125F-9EC3-41F8-A577-6AB4833F4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D7C87-F26D-4A09-BA05-3E8B690ED6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90C03-8D6B-4245-B47D-16859ED194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DFFFE9-244F-49DC-A47B-694E8636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76B589-C403-406D-B70F-573DB7F0D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CA1645-0DE6-4253-8A35-69B164BA2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16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C0D46-E5AC-447E-9A23-5A9CB130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2F2B62-48F9-49FB-B1EA-E22BE1B39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1881C-6CCC-4406-8457-F1F6AAE6A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3267E5-2718-4BE7-ADC7-F49DC32CC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24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0D6C3E-643B-4892-9393-E4D7FCA39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BB5C82-0A83-4137-A620-1DB96A19E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03531-7719-4414-929B-9CD08A006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4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66229-C951-4F9B-B687-CCED89986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186E2-2A8A-4C4E-96F0-BF7C2009E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EFBDF-F46D-4F3A-87E6-3A56ABAD7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1CD6D-CCC0-496E-A7EC-47506A90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33A58-50FC-43B9-A745-F77E93226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4E901-5577-4EDD-8972-EFB36B430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93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A5514-C09D-49EE-989F-71FD12363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0CFF1D-79E3-4068-A36F-06E27200C6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4F85D-B97A-415B-9EC6-6BF5328A3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442E9-874A-4E6C-8F3F-429BD9F91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E4524-B093-4D06-92F2-B3851932C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ADE9E-2047-40D6-9DEA-B6579BEE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43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30F2E-270F-4546-AA3B-E5DD09794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0A748-D3CE-4C49-9DBE-5ECE093AA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F91C9-91DD-4DAB-97E6-9B2F61C4C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B6E2F-85CF-45EC-98BC-31AB5B00F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C97FA-DD14-4865-A5F8-111E561A4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37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52D001-B13D-479F-982C-545C072FD7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A7C3F-4573-4A24-A283-6536D8697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5C727-2DA8-48BF-BFD3-B376DBAE9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370FD-BF10-4717-B14C-017C7B578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B4476-23DA-4ED1-817F-2CB9C4089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74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78030E-B4CF-40FD-8FF9-107380280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5DD19-4123-4620-B5B0-7A1144CCE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620CF-A2B4-421A-BE7B-B79956B8E4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E9CF7-B37A-4643-BCAC-E7383B7BB72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186FC-1449-480E-BBF0-5E780F542E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597BB-1FCD-455A-B2EA-A51F69B2C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3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8F7E6-E213-42E6-9661-56E2B5960F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MGMT 58600: Python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0E5DA-4E35-4F3F-B1FA-07E843829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Lecture 14</a:t>
            </a:r>
          </a:p>
          <a:p>
            <a:endParaRPr lang="en-US" dirty="0"/>
          </a:p>
          <a:p>
            <a:r>
              <a:rPr lang="en-US" dirty="0"/>
              <a:t>Dr. Shoaib Khan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700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87CBF-732C-4F9D-A8A4-0CD9F508B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Linear Regression with Scikit-Learn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6FDF9-9E1C-43B9-9240-E17C7D489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marR="0" indent="0">
              <a:lnSpc>
                <a:spcPts val="21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Linear Regression?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sz="16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A fundamental statistical and machine learning technique used to model the relationship between a </a:t>
            </a:r>
            <a:r>
              <a:rPr lang="en-US" sz="16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dependent variable</a:t>
            </a:r>
            <a:r>
              <a:rPr lang="en-US" sz="16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and one or more </a:t>
            </a:r>
            <a:r>
              <a:rPr lang="en-US" sz="16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independent variables</a:t>
            </a:r>
            <a:r>
              <a:rPr lang="en-US" sz="16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600" b="1" dirty="0">
              <a:solidFill>
                <a:srgbClr val="0F1115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sz="16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To find a straight line (or hyperplane) that best fits the data points.</a:t>
            </a:r>
            <a:endParaRPr lang="en-US" sz="14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600" b="1" dirty="0">
              <a:solidFill>
                <a:srgbClr val="0F1115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Simple Linear Regression:</a:t>
            </a:r>
            <a:endParaRPr lang="en-US" sz="14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independent variable (feature).</a:t>
            </a:r>
            <a:endParaRPr lang="en-US" sz="14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Equation: </a:t>
            </a:r>
            <a:r>
              <a:rPr lang="en-US" sz="15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 = mx + b</a:t>
            </a:r>
            <a:endParaRPr lang="en-US" sz="14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 </a:t>
            </a:r>
            <a:r>
              <a:rPr lang="en-US" sz="15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6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is the target, </a:t>
            </a:r>
            <a:r>
              <a:rPr lang="en-US" sz="15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6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is the feature, </a:t>
            </a:r>
            <a:r>
              <a:rPr lang="en-US" sz="15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6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is the slope, and </a:t>
            </a:r>
            <a:r>
              <a:rPr lang="en-US" sz="15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is the y-intercept.</a:t>
            </a:r>
            <a:endParaRPr lang="en-US" sz="14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600" b="1" dirty="0">
              <a:solidFill>
                <a:srgbClr val="0F1115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Multiple Linear Regression:</a:t>
            </a:r>
            <a:endParaRPr lang="en-US" sz="14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Multiple independent variables (features).</a:t>
            </a:r>
            <a:endParaRPr lang="en-US" sz="14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Equation: </a:t>
            </a:r>
            <a:r>
              <a:rPr lang="en-US" sz="15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 = b₀ + </a:t>
            </a:r>
            <a:r>
              <a:rPr lang="en-US" sz="1500" dirty="0" err="1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b₁x</a:t>
            </a:r>
            <a:r>
              <a:rPr lang="en-US" sz="15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₁ + </a:t>
            </a:r>
            <a:r>
              <a:rPr lang="en-US" sz="1500" dirty="0" err="1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b₂x</a:t>
            </a:r>
            <a:r>
              <a:rPr lang="en-US" sz="15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₂ + ... + </a:t>
            </a:r>
            <a:r>
              <a:rPr lang="en-US" sz="1500" dirty="0" err="1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500" dirty="0" err="1">
                <a:solidFill>
                  <a:srgbClr val="0F1115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ₙ</a:t>
            </a:r>
            <a:r>
              <a:rPr lang="en-US" sz="1500" dirty="0" err="1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500" dirty="0">
                <a:solidFill>
                  <a:srgbClr val="0F1115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ₙ</a:t>
            </a:r>
            <a:endParaRPr lang="en-US" sz="14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6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Analogy:</a:t>
            </a:r>
            <a:r>
              <a:rPr lang="en-US" sz="16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Predicting house prices based on their size. The relationship is (hopefully) linear: bigger house -&gt; higher price.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967637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43E8C-9A5C-46A7-A4BE-E0B203A68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Regression</a:t>
            </a:r>
          </a:p>
        </p:txBody>
      </p:sp>
      <p:pic>
        <p:nvPicPr>
          <p:cNvPr id="4098" name="Picture 2" descr="Linear Regression - PRIMO.ai">
            <a:extLst>
              <a:ext uri="{FF2B5EF4-FFF2-40B4-BE49-F238E27FC236}">
                <a16:creationId xmlns:a16="http://schemas.microsoft.com/office/drawing/2014/main" id="{EE24E3C3-765A-4310-8CA6-B88CC4AAF60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28230"/>
            <a:ext cx="4395201" cy="329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nimations of Multiple Linear Regression with Python | by Tobias Roeschl |  TDS Archive | Medium">
            <a:extLst>
              <a:ext uri="{FF2B5EF4-FFF2-40B4-BE49-F238E27FC236}">
                <a16:creationId xmlns:a16="http://schemas.microsoft.com/office/drawing/2014/main" id="{3EB624FA-84E4-42E2-88C7-43D106F1F248}"/>
              </a:ext>
            </a:extLst>
          </p:cNvPr>
          <p:cNvPicPr>
            <a:picLocks noGrp="1" noChangeAspect="1" noChangeArrowheads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077" y="2547078"/>
            <a:ext cx="4037101" cy="322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1E7766-2873-40B2-BCF2-DF07038EF478}"/>
              </a:ext>
            </a:extLst>
          </p:cNvPr>
          <p:cNvSpPr txBox="1"/>
          <p:nvPr/>
        </p:nvSpPr>
        <p:spPr>
          <a:xfrm>
            <a:off x="1226889" y="2061404"/>
            <a:ext cx="3160553" cy="371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tabLst>
                <a:tab pos="457200" algn="l"/>
              </a:tabLst>
            </a:pPr>
            <a:r>
              <a:rPr lang="en-US" sz="18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Simple Linear Regression:</a:t>
            </a:r>
            <a:endParaRPr lang="en-US" sz="16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AF0EB5-3DF2-42E7-BE72-8C15B3687377}"/>
              </a:ext>
            </a:extLst>
          </p:cNvPr>
          <p:cNvSpPr txBox="1"/>
          <p:nvPr/>
        </p:nvSpPr>
        <p:spPr>
          <a:xfrm>
            <a:off x="6757457" y="2054538"/>
            <a:ext cx="3160553" cy="373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tabLst>
                <a:tab pos="457200" algn="l"/>
              </a:tabLst>
            </a:pPr>
            <a:r>
              <a:rPr lang="en-US" sz="18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Multiple Linear Regression:</a:t>
            </a:r>
            <a:endParaRPr lang="en-US" sz="16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669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56A6D-A39A-41B9-ABBB-994E6D6BA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Scikit-Learn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CF1DD-D9E3-4A7F-A7DB-B747C7C6C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  <a:tabLst>
                <a:tab pos="457200" algn="l"/>
              </a:tabLst>
            </a:pPr>
            <a:r>
              <a:rPr lang="en-US" sz="20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Go-To Library for ML in Python:</a:t>
            </a:r>
            <a:endParaRPr lang="en-US" b="1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Bef>
                <a:spcPts val="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Consistent and simple API: </a:t>
            </a:r>
            <a:r>
              <a:rPr lang="en-US" sz="18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fit()</a:t>
            </a:r>
            <a:r>
              <a:rPr lang="en-US" sz="24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18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predict()</a:t>
            </a:r>
            <a:r>
              <a:rPr lang="en-US" sz="24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18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transform()</a:t>
            </a:r>
            <a:r>
              <a:rPr lang="en-US" sz="20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Bef>
                <a:spcPts val="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Extensive documentation and community support.</a:t>
            </a:r>
            <a:endParaRPr lang="en-US" sz="20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Bef>
                <a:spcPts val="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Built on NumPy, SciPy, and matplotlib.</a:t>
            </a:r>
            <a:endParaRPr lang="en-US" sz="20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Bef>
                <a:spcPts val="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Provides numerous algorithms for classification, regression, clustering, etc.</a:t>
            </a:r>
            <a:endParaRPr lang="en-US" sz="20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tabLst>
                <a:tab pos="457200" algn="l"/>
              </a:tabLst>
            </a:pPr>
            <a:endParaRPr lang="en-US" sz="2000" b="1" dirty="0">
              <a:solidFill>
                <a:srgbClr val="0F1115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tabLst>
                <a:tab pos="457200" algn="l"/>
              </a:tabLst>
            </a:pPr>
            <a:r>
              <a:rPr lang="en-US" sz="20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Perfect for Beginners:</a:t>
            </a:r>
            <a:r>
              <a:rPr lang="en-US" sz="20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It abstracts away complex math, allowing you to focus on the machine learning workflow.</a:t>
            </a:r>
            <a:endParaRPr lang="en-US" sz="18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605540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47383-992B-457B-B85F-CAB08BE16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Machine Learning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9BC80-9CC6-4114-B5CE-3BA09A8B2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A structured process we will follow: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000" b="1" dirty="0"/>
              <a:t>Import Libraries</a:t>
            </a:r>
            <a:r>
              <a:rPr lang="en-US" sz="2000" dirty="0"/>
              <a:t> - Get the necessary tools.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000" b="1" dirty="0"/>
              <a:t>Load &amp; Explore Data</a:t>
            </a:r>
            <a:r>
              <a:rPr lang="en-US" sz="2000" dirty="0"/>
              <a:t> - Understand what you're working with.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000" b="1" dirty="0"/>
              <a:t>Data Preprocessing</a:t>
            </a:r>
            <a:r>
              <a:rPr lang="en-US" sz="2000" dirty="0"/>
              <a:t> - Clean and prepare the data.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000" b="1" dirty="0"/>
              <a:t>Split the Data</a:t>
            </a:r>
            <a:r>
              <a:rPr lang="en-US" sz="2000" dirty="0"/>
              <a:t> - Separate into training and testing sets.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000" b="1" dirty="0"/>
              <a:t>Create a Model</a:t>
            </a:r>
            <a:r>
              <a:rPr lang="en-US" sz="2000" dirty="0"/>
              <a:t> - Choose and initialize the algorithm.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000" b="1" dirty="0"/>
              <a:t>Train the Model</a:t>
            </a:r>
            <a:r>
              <a:rPr lang="en-US" sz="2000" dirty="0"/>
              <a:t> - Let the model learn from the training data.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000" b="1" dirty="0"/>
              <a:t>Make Predictions</a:t>
            </a:r>
            <a:r>
              <a:rPr lang="en-US" sz="2000" dirty="0"/>
              <a:t> - Use the model on new data (the test set).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000" b="1" dirty="0"/>
              <a:t>Evaluate the Model</a:t>
            </a:r>
            <a:r>
              <a:rPr lang="en-US" sz="2000" dirty="0"/>
              <a:t> - Check how well the model performs.</a:t>
            </a:r>
          </a:p>
          <a:p>
            <a:pPr marL="0" lv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63641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27792</TotalTime>
  <Words>337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Cascadia Mono</vt:lpstr>
      <vt:lpstr>Courier New</vt:lpstr>
      <vt:lpstr>Segoe UI</vt:lpstr>
      <vt:lpstr>Symbol</vt:lpstr>
      <vt:lpstr>Office Theme</vt:lpstr>
      <vt:lpstr>MGMT 58600: Python Programming</vt:lpstr>
      <vt:lpstr>Introduction to Linear Regression with Scikit-Learn</vt:lpstr>
      <vt:lpstr>Visualizing Regression</vt:lpstr>
      <vt:lpstr>Why Scikit-Learn</vt:lpstr>
      <vt:lpstr>The Machine Learning Workflow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MGMT 288-IBE: Programming for Business Applications</dc:title>
  <dc:creator>Khan, Shoaib Amjad</dc:creator>
  <cp:lastModifiedBy>Shoaib Amjad Khan</cp:lastModifiedBy>
  <cp:revision>103</cp:revision>
  <dcterms:created xsi:type="dcterms:W3CDTF">2024-01-10T16:08:38Z</dcterms:created>
  <dcterms:modified xsi:type="dcterms:W3CDTF">2025-10-09T09:47:04Z</dcterms:modified>
</cp:coreProperties>
</file>