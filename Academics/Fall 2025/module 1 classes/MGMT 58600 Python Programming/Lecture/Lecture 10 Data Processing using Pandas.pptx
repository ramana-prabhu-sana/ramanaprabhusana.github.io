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49C38-6333-4FD4-8DD7-43A287F9A4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9E6026-2800-438F-9211-EC9E78379A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0918F-9DA8-46BD-AC14-1E9AEB384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D12AC-5F91-4B46-8EAC-3C6E764918D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ADD54-05E6-4125-91C3-35E437814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79B87-05F5-4DAD-BF44-C7E291A7D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B852E-C538-4DB5-A58F-4887106D0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393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869F5-4B9F-44FC-A0C7-75D2991A6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79241-3573-4B6F-9A97-BEB7DFA02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F7474-3714-4E90-9A65-59D75710F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D12AC-5F91-4B46-8EAC-3C6E764918D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4F43A-F077-4B21-B408-E9E0B2222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18B76-326F-4651-BA50-4108E2967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B852E-C538-4DB5-A58F-4887106D0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170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493F5-04A7-4950-A73A-F1647CB09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80D0E-B388-49FD-92CD-2544E3D42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EBA80-75E2-44E2-A1DF-AA432D03D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D12AC-5F91-4B46-8EAC-3C6E764918D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A5106-DBB7-4A3F-AE69-A0C599CB3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DABF-946A-4A8F-B502-C63EB2D4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B852E-C538-4DB5-A58F-4887106D0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16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3D31F-ABB4-4BB4-B30A-906B50E78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0A546-F9E0-4BCB-B1FF-8E4714863C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D7694F-D35D-43F6-8E7E-3CB9112DAE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363759-4A03-4D1F-9F74-C98A1A352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D12AC-5F91-4B46-8EAC-3C6E764918D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623573-A7C5-4E90-980F-C09D1A71A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A7287-3226-4277-836C-E2EE52B69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B852E-C538-4DB5-A58F-4887106D0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741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FCB3D-6D1C-47C8-96E7-159060503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6A6C3-723C-40D3-A4FF-98434D7F6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9D4183-C34A-4932-BDE1-FC3DA6589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D9C69A-4677-4D5F-A4AB-AAD6E8CBB6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0C5C0D-6977-4533-99ED-955D51F2BF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A96CE5-646F-44E5-9038-E52BCAC16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D12AC-5F91-4B46-8EAC-3C6E764918D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08DC39-AE9B-41DF-8AFD-43B4980AD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0F6A18-3D56-40D8-B7C5-B6B8B357B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B852E-C538-4DB5-A58F-4887106D0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288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25149-64E0-44D0-814E-9093503B6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4CFB25-7EBD-45C3-9246-5546B5964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D12AC-5F91-4B46-8EAC-3C6E764918D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4F07D1-D8E8-491B-BAF3-0D425F05E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ACF7C5-55E5-4923-AA92-E66AE8709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B852E-C538-4DB5-A58F-4887106D0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562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5B5EAF-1637-4B04-B828-2DF00BE86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D12AC-5F91-4B46-8EAC-3C6E764918D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64AC19-25AE-46F6-B104-F8494273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6A111-CE40-43A0-81A1-FEC79E0BA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B852E-C538-4DB5-A58F-4887106D0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09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FA3FE-F20A-4E74-8466-E8E106FF1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388BA-0EBE-4613-83DC-77D23EE13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360967-9552-4A8D-84E1-9274CCBE4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03F8E7-24C0-462A-A4D9-D662C1C0C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D12AC-5F91-4B46-8EAC-3C6E764918D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61E90-2253-4E7D-9D9E-0454F4D0B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4A544-728D-4EC5-AAE1-39ECA2985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B852E-C538-4DB5-A58F-4887106D0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84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EE75E-DA35-479A-BC33-968CAB866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ACC553-A66D-4C6C-B112-79D46E6E99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FE0C74-E979-470D-B64E-55A7A67F2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800730-C6DF-48EC-A336-79A889962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D12AC-5F91-4B46-8EAC-3C6E764918D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83CCA-4FB5-4567-ACF9-D164236EE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B9B594-E11F-499E-9041-4302B3480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B852E-C538-4DB5-A58F-4887106D0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65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99F97-C2BC-4DE4-B64A-2ACA31020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A9138D-E6FE-4CD9-9748-CED03AFEC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A7205-13A7-4B0F-B683-8B3DBA2A8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D12AC-5F91-4B46-8EAC-3C6E764918D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D24EC-DB47-45DE-A570-4906CEC81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7B765-CC65-4B1C-9168-7F222FCB8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B852E-C538-4DB5-A58F-4887106D0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06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4740C9-A317-4CC0-BC09-F2D574F147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0A3DFE-B08A-4FAD-A1EE-5D9012BEA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CFC04-6BA6-4A02-AAEB-9FA71597E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D12AC-5F91-4B46-8EAC-3C6E764918D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CF2AE-5D30-48F1-8100-5D1B87E3E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90F5E-C781-469F-871C-904343906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B852E-C538-4DB5-A58F-4887106D0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732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CD8366-39C0-4E5B-96D1-10A5BBA9E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87115-343B-448C-96DE-F758A761E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CB2E0-5878-4162-894A-46E72AF683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ED12AC-5F91-4B46-8EAC-3C6E764918D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01319-8D45-42A7-AED2-9CA0CDF1B0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8C84E-EC90-4872-BDDD-BDC9228BC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B852E-C538-4DB5-A58F-4887106D0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84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8F7E6-E213-42E6-9661-56E2B5960F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MGMT 58600: Python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30E5DA-4E35-4F3F-B1FA-07E843829F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Lecture 10</a:t>
            </a:r>
          </a:p>
          <a:p>
            <a:endParaRPr lang="en-US" dirty="0"/>
          </a:p>
          <a:p>
            <a:r>
              <a:rPr lang="en-US" dirty="0"/>
              <a:t>Dr. Shoaib Khan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700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887C8-7A0E-4503-8F48-3B949E67D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7234A-CDFC-49CF-98F9-2351060D7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Sorting a dataset by some criterion is another important built-in operation</a:t>
            </a:r>
          </a:p>
          <a:p>
            <a:r>
              <a:rPr lang="en-US" dirty="0"/>
              <a:t>To sort lexicographically by row or column index, use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sort_index</a:t>
            </a:r>
            <a:r>
              <a:rPr lang="en-US" dirty="0"/>
              <a:t> method:</a:t>
            </a:r>
          </a:p>
          <a:p>
            <a:pPr marL="1371600" lvl="3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Series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6666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'd'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'b'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'c'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371600" lvl="3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sort_index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dirty="0"/>
              <a:t>With a </a:t>
            </a:r>
            <a:r>
              <a:rPr lang="en-US" dirty="0" err="1"/>
              <a:t>DataFrame</a:t>
            </a:r>
            <a:r>
              <a:rPr lang="en-US" dirty="0"/>
              <a:t>, you can sort by index on either axis:</a:t>
            </a:r>
          </a:p>
          <a:p>
            <a:pPr marL="1371600" lvl="3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arange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reshape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b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.....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			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'three'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CC3300"/>
                </a:solidFill>
                <a:latin typeface="Consolas" panose="020B0609020204030204" pitchFamily="49" charset="0"/>
              </a:rPr>
              <a:t>'one'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b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.....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					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'd'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'b'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CC3300"/>
                </a:solidFill>
                <a:latin typeface="Consolas" panose="020B0609020204030204" pitchFamily="49" charset="0"/>
              </a:rPr>
              <a:t>'c'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1371600" lvl="3" indent="0">
              <a:buNone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371600" lvl="3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sort_index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371600" lvl="3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sort_index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axis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dirty="0"/>
              <a:t>The data is sorted in ascending order by default, but can be sorted in descending order, too:</a:t>
            </a:r>
          </a:p>
          <a:p>
            <a:pPr marL="1371600" lvl="3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sort_index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axis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ascending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666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DCE2757-3209-436D-A024-FB798414D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E3589E7-8E2F-4DEF-989A-FDC9FA620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BDD5B7C-737D-4D56-95B2-9D476B18C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60E3475D-28B3-4500-99C6-F6C4A8F38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F8D42BEC-FEFF-45F0-BA33-59A0887C3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647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C1D3C-93AA-4A58-9A7D-388BFB696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631E1-CD78-4006-8417-226656101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To sort a Series by its values, use its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sort_values</a:t>
            </a:r>
            <a:r>
              <a:rPr lang="en-US" dirty="0"/>
              <a:t> method:</a:t>
            </a:r>
          </a:p>
          <a:p>
            <a:pPr marL="1371600" lvl="3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Series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371600" lvl="3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sort_values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dirty="0"/>
              <a:t>Any missing values are sorted to the end of the Series by default:</a:t>
            </a:r>
          </a:p>
          <a:p>
            <a:pPr marL="1371600" lvl="3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Series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nan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nan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371600" lvl="3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sort_values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dirty="0"/>
              <a:t>When sorting a </a:t>
            </a:r>
            <a:r>
              <a:rPr lang="en-US" dirty="0" err="1"/>
              <a:t>DataFrame</a:t>
            </a:r>
            <a:r>
              <a:rPr lang="en-US" dirty="0"/>
              <a:t>, you can use the data in one or more columns as the sort keys</a:t>
            </a:r>
          </a:p>
          <a:p>
            <a:r>
              <a:rPr lang="en-US" dirty="0"/>
              <a:t>To do so, pass one or more column names to the by option 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sort_values</a:t>
            </a:r>
            <a:r>
              <a:rPr lang="en-US" dirty="0"/>
              <a:t>:</a:t>
            </a:r>
          </a:p>
          <a:p>
            <a:pPr marL="1371600" lvl="3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'b'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]})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371600" lvl="3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sort_values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'b'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dirty="0"/>
              <a:t>To sort by multiple columns, pass a list of names:</a:t>
            </a:r>
          </a:p>
          <a:p>
            <a:pPr marL="1371600" lvl="3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sort_values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'b'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9F4C2ED-F327-419B-B42C-A752402BB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8830D15-016D-4340-8EF9-71F1DFB41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32B96E8-CCB2-4FBB-9D00-0D781701C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A87FF2E-7EB9-4602-A46A-0018B595A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08A8FBD0-78C7-425A-960B-D624E6ACC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D4963DB8-DC0C-479F-847F-EA4EE99B7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32998BFB-B766-4D6C-80FD-156376F87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33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963FC-33B1-4130-8A3F-C48E645FC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7099"/>
            <a:ext cx="10515600" cy="1325563"/>
          </a:xfrm>
        </p:spPr>
        <p:txBody>
          <a:bodyPr/>
          <a:lstStyle/>
          <a:p>
            <a:r>
              <a:rPr lang="en-US" dirty="0"/>
              <a:t>Summarizing and Computing Descriptive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D00FF-72ED-4383-B69D-D777AA8FE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Pandas objects are equipped with a set of common mathematical and statistical methods</a:t>
            </a:r>
          </a:p>
          <a:p>
            <a:pPr algn="just"/>
            <a:r>
              <a:rPr lang="en-US" dirty="0"/>
              <a:t>Most of these fall into the category of reductions or summary statistics</a:t>
            </a:r>
          </a:p>
          <a:p>
            <a:pPr algn="just"/>
            <a:r>
              <a:rPr lang="en-US" dirty="0"/>
              <a:t>Methods that extract a single value (like the sum or mean) from a Series or from the rows or columns of a </a:t>
            </a:r>
            <a:r>
              <a:rPr lang="en-US" dirty="0" err="1"/>
              <a:t>DataFrame</a:t>
            </a:r>
            <a:endParaRPr lang="en-US" dirty="0"/>
          </a:p>
          <a:p>
            <a:pPr algn="just"/>
            <a:r>
              <a:rPr lang="en-US" dirty="0"/>
              <a:t>Compared with the similar methods found on NumPy arrays, they have built-in handling for missing data</a:t>
            </a:r>
          </a:p>
          <a:p>
            <a:pPr algn="just"/>
            <a:r>
              <a:rPr lang="en-US" dirty="0"/>
              <a:t>Calling </a:t>
            </a:r>
            <a:r>
              <a:rPr lang="en-US" dirty="0" err="1"/>
              <a:t>DataFrame’s</a:t>
            </a:r>
            <a:r>
              <a:rPr lang="en-US" dirty="0"/>
              <a:t> sum method returns a Series containing column sums:</a:t>
            </a:r>
          </a:p>
          <a:p>
            <a:pPr marL="1371600" lvl="3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1.4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nan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7.1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4.5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b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.....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   	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nan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nan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US" altLang="en-US" sz="30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0.75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1.3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]],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b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.....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	 		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'b'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'c'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CC3300"/>
                </a:solidFill>
                <a:latin typeface="Consolas" panose="020B0609020204030204" pitchFamily="49" charset="0"/>
              </a:rPr>
              <a:t>'d'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b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.....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				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'one'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'two'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371600" lvl="3" indent="0" algn="just"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88"/>
              </a:solidFill>
              <a:effectLst/>
              <a:latin typeface="Consolas" panose="020B0609020204030204" pitchFamily="49" charset="0"/>
            </a:endParaRPr>
          </a:p>
          <a:p>
            <a:pPr marL="1371600" lvl="3" indent="0" algn="just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/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A3440FA-EA66-4EC9-8158-31562FCB5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F875885-DBBC-4987-A8CC-72965FBA7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387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C89D-CF51-480F-85F0-C56C4BA9B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7099"/>
            <a:ext cx="10515600" cy="1325563"/>
          </a:xfrm>
        </p:spPr>
        <p:txBody>
          <a:bodyPr/>
          <a:lstStyle/>
          <a:p>
            <a:r>
              <a:rPr lang="en-US" dirty="0"/>
              <a:t>Summarizing and Computing Descriptive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C3392-6464-4AE8-BB20-4D6174E5D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Passing axis='columns' or axis=1 sums across the columns instead:</a:t>
            </a:r>
          </a:p>
          <a:p>
            <a:pPr marL="1828800" lvl="4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axis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'columns'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dirty="0"/>
              <a:t>NA values are excluded unless the entire slice (row or column in this case) is NA. This can be disabled with the </a:t>
            </a:r>
            <a:r>
              <a:rPr lang="en-US" dirty="0" err="1"/>
              <a:t>skipna</a:t>
            </a:r>
            <a:r>
              <a:rPr lang="en-US" dirty="0"/>
              <a:t> option:</a:t>
            </a:r>
          </a:p>
          <a:p>
            <a:pPr marL="1828800" lvl="4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axis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'columns'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skipna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666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dirty="0"/>
              <a:t>Other methods are </a:t>
            </a:r>
            <a:r>
              <a:rPr lang="en-US" i="1" dirty="0"/>
              <a:t>accumulations</a:t>
            </a:r>
            <a:r>
              <a:rPr lang="en-US" dirty="0"/>
              <a:t>:</a:t>
            </a:r>
          </a:p>
          <a:p>
            <a:pPr marL="1828800" lvl="4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cumsum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dirty="0"/>
              <a:t>Another type of method is neither a reduction nor an accumulation</a:t>
            </a:r>
          </a:p>
          <a:p>
            <a:r>
              <a:rPr lang="en-US" dirty="0"/>
              <a:t>describe() is one such example, producing multiple summary statistics in one shot</a:t>
            </a:r>
          </a:p>
          <a:p>
            <a:pPr marL="1828800" lvl="4" indent="0">
              <a:buNone/>
            </a:pP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df</a:t>
            </a:r>
            <a:r>
              <a:rPr lang="en-US" altLang="en-US" dirty="0" err="1">
                <a:solidFill>
                  <a:srgbClr val="555555"/>
                </a:solidFill>
                <a:latin typeface="Consolas" panose="020B0609020204030204" pitchFamily="49" charset="0"/>
              </a:rPr>
              <a:t>.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describe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altLang="en-US" sz="1000" dirty="0"/>
              <a:t> </a:t>
            </a:r>
            <a:endParaRPr lang="en-US" altLang="en-US" sz="4400" dirty="0">
              <a:latin typeface="Arial" panose="020B0604020202020204" pitchFamily="34" charset="0"/>
            </a:endParaRPr>
          </a:p>
          <a:p>
            <a:r>
              <a:rPr lang="en-US" dirty="0"/>
              <a:t>On non-numeric data, describe produces alternative summary statistics:</a:t>
            </a:r>
          </a:p>
          <a:p>
            <a:pPr marL="1828800" lvl="4" indent="0">
              <a:buNone/>
            </a:pPr>
            <a:r>
              <a:rPr lang="en-US" altLang="en-US" dirty="0">
                <a:solidFill>
                  <a:srgbClr val="000088"/>
                </a:solidFill>
                <a:latin typeface="Consolas" panose="020B0609020204030204" pitchFamily="49" charset="0"/>
              </a:rPr>
              <a:t>obj</a:t>
            </a:r>
            <a:r>
              <a:rPr lang="en-US" altLang="en-US" sz="30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555555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30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pd</a:t>
            </a:r>
            <a:r>
              <a:rPr lang="en-US" altLang="en-US" dirty="0" err="1">
                <a:solidFill>
                  <a:srgbClr val="555555"/>
                </a:solidFill>
                <a:latin typeface="Consolas" panose="020B0609020204030204" pitchFamily="49" charset="0"/>
              </a:rPr>
              <a:t>.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Series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altLang="en-US" dirty="0">
                <a:solidFill>
                  <a:srgbClr val="CC3300"/>
                </a:solidFill>
                <a:latin typeface="Consolas" panose="020B0609020204030204" pitchFamily="49" charset="0"/>
              </a:rPr>
              <a:t>'a'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en-US" sz="30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CC3300"/>
                </a:solidFill>
                <a:latin typeface="Consolas" panose="020B0609020204030204" pitchFamily="49" charset="0"/>
              </a:rPr>
              <a:t>'a'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en-US" sz="30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CC3300"/>
                </a:solidFill>
                <a:latin typeface="Consolas" panose="020B0609020204030204" pitchFamily="49" charset="0"/>
              </a:rPr>
              <a:t>'b'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en-US" sz="30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CC3300"/>
                </a:solidFill>
                <a:latin typeface="Consolas" panose="020B0609020204030204" pitchFamily="49" charset="0"/>
              </a:rPr>
              <a:t>'c'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altLang="en-US" sz="30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555555"/>
                </a:solidFill>
                <a:latin typeface="Consolas" panose="020B0609020204030204" pitchFamily="49" charset="0"/>
              </a:rPr>
              <a:t>*</a:t>
            </a:r>
            <a:r>
              <a:rPr lang="en-US" altLang="en-US" sz="30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FF6600"/>
                </a:solidFill>
                <a:latin typeface="Consolas" panose="020B0609020204030204" pitchFamily="49" charset="0"/>
              </a:rPr>
              <a:t>4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altLang="en-US" sz="1000" dirty="0"/>
              <a:t> </a:t>
            </a:r>
            <a:endParaRPr lang="en-US" altLang="en-US" sz="4400" dirty="0">
              <a:latin typeface="Arial" panose="020B0604020202020204" pitchFamily="34" charset="0"/>
            </a:endParaRPr>
          </a:p>
          <a:p>
            <a:pPr marL="1828800" lvl="4" indent="0">
              <a:buNone/>
            </a:pP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obj</a:t>
            </a:r>
            <a:r>
              <a:rPr lang="en-US" altLang="en-US" dirty="0" err="1">
                <a:solidFill>
                  <a:srgbClr val="555555"/>
                </a:solidFill>
                <a:latin typeface="Consolas" panose="020B0609020204030204" pitchFamily="49" charset="0"/>
              </a:rPr>
              <a:t>.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describe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altLang="en-US" sz="1000" dirty="0"/>
              <a:t> </a:t>
            </a:r>
            <a:endParaRPr lang="en-US" altLang="en-US" sz="4400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4D54E9F-5E42-4D30-8848-7259BDE15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104F8E4-F414-4946-B119-151F9193B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66670F9-EA9A-469B-8890-4664116F5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3B4E93F9-5BA7-443E-B48A-5E546D63D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C567BD9B-DF0A-4088-95B4-0125992F6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980BA8AB-9E8A-4008-A126-A6F73091B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325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6E8CCD-92CB-43D9-AE62-E186A5118F7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562600" y="367099"/>
          <a:ext cx="6248400" cy="6128950"/>
        </p:xfrm>
        <a:graphic>
          <a:graphicData uri="http://schemas.openxmlformats.org/drawingml/2006/table">
            <a:tbl>
              <a:tblPr/>
              <a:tblGrid>
                <a:gridCol w="1997752">
                  <a:extLst>
                    <a:ext uri="{9D8B030D-6E8A-4147-A177-3AD203B41FA5}">
                      <a16:colId xmlns:a16="http://schemas.microsoft.com/office/drawing/2014/main" val="3490718334"/>
                    </a:ext>
                  </a:extLst>
                </a:gridCol>
                <a:gridCol w="4250648">
                  <a:extLst>
                    <a:ext uri="{9D8B030D-6E8A-4147-A177-3AD203B41FA5}">
                      <a16:colId xmlns:a16="http://schemas.microsoft.com/office/drawing/2014/main" val="3971705342"/>
                    </a:ext>
                  </a:extLst>
                </a:gridCol>
              </a:tblGrid>
              <a:tr h="2403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>
                          <a:effectLst/>
                          <a:latin typeface="Noto serif" panose="02020600060500020200" pitchFamily="18" charset="0"/>
                        </a:rPr>
                        <a:t>Method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>
                          <a:effectLst/>
                          <a:latin typeface="Noto serif" panose="02020600060500020200" pitchFamily="18" charset="0"/>
                        </a:rPr>
                        <a:t>Description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232706"/>
                  </a:ext>
                </a:extLst>
              </a:tr>
              <a:tr h="2403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count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Number of non-NA values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228091"/>
                  </a:ext>
                </a:extLst>
              </a:tr>
              <a:tr h="4206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describe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Compute set of summary statistics for Series or each DataFrame column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053623"/>
                  </a:ext>
                </a:extLst>
              </a:tr>
              <a:tr h="2403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min, max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Compute minimum and maximum values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978798"/>
                  </a:ext>
                </a:extLst>
              </a:tr>
              <a:tr h="6008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argmin, argmax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Compute index locations (integers) at which minimum or maximum value obtained, respectively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7397617"/>
                  </a:ext>
                </a:extLst>
              </a:tr>
              <a:tr h="4206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idxmin, idxmax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Compute index labels at which minimum or maximum value obtained, respectively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760269"/>
                  </a:ext>
                </a:extLst>
              </a:tr>
              <a:tr h="2403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quantile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Compute sample quantile ranging from 0 to 1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80486"/>
                  </a:ext>
                </a:extLst>
              </a:tr>
              <a:tr h="2403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sum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Sum of values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95678"/>
                  </a:ext>
                </a:extLst>
              </a:tr>
              <a:tr h="2403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mean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Mean of values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0605"/>
                  </a:ext>
                </a:extLst>
              </a:tr>
              <a:tr h="2403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median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Arithmetic median (50% quantile) of values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173260"/>
                  </a:ext>
                </a:extLst>
              </a:tr>
              <a:tr h="2403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mad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Mean absolute deviation from mean value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606064"/>
                  </a:ext>
                </a:extLst>
              </a:tr>
              <a:tr h="2403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prod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Product of all values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35198"/>
                  </a:ext>
                </a:extLst>
              </a:tr>
              <a:tr h="2403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var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Sample variance of values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846466"/>
                  </a:ext>
                </a:extLst>
              </a:tr>
              <a:tr h="2403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std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Sample standard deviation of values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955286"/>
                  </a:ext>
                </a:extLst>
              </a:tr>
              <a:tr h="2403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skew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dirty="0">
                          <a:effectLst/>
                          <a:latin typeface="Noto serif" panose="02020600060500020200" pitchFamily="18" charset="0"/>
                        </a:rPr>
                        <a:t>Sample skewness (third moment) of values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548083"/>
                  </a:ext>
                </a:extLst>
              </a:tr>
              <a:tr h="2403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kurt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Sample kurtosis (fourth moment) of values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073624"/>
                  </a:ext>
                </a:extLst>
              </a:tr>
              <a:tr h="2403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cumsum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Cumulative sum of values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778840"/>
                  </a:ext>
                </a:extLst>
              </a:tr>
              <a:tr h="4206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cummin, cummax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Cumulative minimum or maximum of values, respectively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400790"/>
                  </a:ext>
                </a:extLst>
              </a:tr>
              <a:tr h="2403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cumprod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Cumulative product of values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986967"/>
                  </a:ext>
                </a:extLst>
              </a:tr>
              <a:tr h="4206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diff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Compute first arithmetic difference (useful for time series)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646835"/>
                  </a:ext>
                </a:extLst>
              </a:tr>
              <a:tr h="2403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>
                          <a:effectLst/>
                          <a:latin typeface="Noto serif" panose="02020600060500020200" pitchFamily="18" charset="0"/>
                        </a:rPr>
                        <a:t>pct_change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dirty="0">
                          <a:effectLst/>
                          <a:latin typeface="Noto serif" panose="02020600060500020200" pitchFamily="18" charset="0"/>
                        </a:rPr>
                        <a:t>Compute percent changes</a:t>
                      </a:r>
                    </a:p>
                  </a:txBody>
                  <a:tcPr marL="42660" marR="42660" marT="21330" marB="21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526201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D2A61B1E-2DE9-4C22-83B3-957BC1E64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7099"/>
            <a:ext cx="4429125" cy="5566976"/>
          </a:xfrm>
        </p:spPr>
        <p:txBody>
          <a:bodyPr/>
          <a:lstStyle/>
          <a:p>
            <a:r>
              <a:rPr lang="en-US" dirty="0"/>
              <a:t>Descriptive and Summary Statistics</a:t>
            </a:r>
          </a:p>
        </p:txBody>
      </p:sp>
    </p:spTree>
    <p:extLst>
      <p:ext uri="{BB962C8B-B14F-4D97-AF65-F5344CB8AC3E}">
        <p14:creationId xmlns:p14="http://schemas.microsoft.com/office/powerpoint/2010/main" val="551055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A22F0-A027-4CFE-B90D-77FF578C3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</a:t>
            </a:r>
            <a:r>
              <a:rPr lang="en-US" dirty="0" err="1"/>
              <a:t>DataFrames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7611E-77DC-4471-8DEE-D7A8CFF14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info() method</a:t>
            </a:r>
          </a:p>
          <a:p>
            <a:r>
              <a:rPr lang="en-US" dirty="0"/>
              <a:t>The head() method</a:t>
            </a:r>
          </a:p>
          <a:p>
            <a:r>
              <a:rPr lang="en-US" dirty="0"/>
              <a:t>The tail() method</a:t>
            </a:r>
          </a:p>
          <a:p>
            <a:r>
              <a:rPr lang="en-US" dirty="0"/>
              <a:t>The sample() method</a:t>
            </a:r>
          </a:p>
          <a:p>
            <a:r>
              <a:rPr lang="en-US" dirty="0"/>
              <a:t>The shape of a </a:t>
            </a:r>
            <a:r>
              <a:rPr lang="en-US" dirty="0" err="1"/>
              <a:t>DataFrame</a:t>
            </a:r>
            <a:endParaRPr lang="en-US" dirty="0"/>
          </a:p>
          <a:p>
            <a:r>
              <a:rPr lang="en-US" dirty="0"/>
              <a:t>The names of columns in a </a:t>
            </a:r>
            <a:r>
              <a:rPr lang="en-US" dirty="0" err="1"/>
              <a:t>DataFrame</a:t>
            </a:r>
            <a:endParaRPr lang="en-US" dirty="0"/>
          </a:p>
          <a:p>
            <a:r>
              <a:rPr lang="en-US" dirty="0"/>
              <a:t>The datatypes of columns in a </a:t>
            </a:r>
            <a:r>
              <a:rPr lang="en-US" dirty="0" err="1"/>
              <a:t>DataFrame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238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C0AFD-0694-45BE-89E9-EAA65747C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and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18AE9-267D-47FA-A5DF-DDE902223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During the course of doing data analysis and modeling, a significant amount of time is spent on data preparation: </a:t>
            </a:r>
          </a:p>
          <a:p>
            <a:pPr lvl="1" algn="just"/>
            <a:r>
              <a:rPr lang="en-US" dirty="0"/>
              <a:t>loading, </a:t>
            </a:r>
          </a:p>
          <a:p>
            <a:pPr lvl="1" algn="just"/>
            <a:r>
              <a:rPr lang="en-US" dirty="0"/>
              <a:t>cleaning, </a:t>
            </a:r>
          </a:p>
          <a:p>
            <a:pPr lvl="1" algn="just"/>
            <a:r>
              <a:rPr lang="en-US" dirty="0"/>
              <a:t>transforming, and </a:t>
            </a:r>
          </a:p>
          <a:p>
            <a:pPr lvl="1" algn="just"/>
            <a:r>
              <a:rPr lang="en-US" dirty="0"/>
              <a:t>rearranging.</a:t>
            </a:r>
          </a:p>
          <a:p>
            <a:pPr algn="just"/>
            <a:r>
              <a:rPr lang="en-US" dirty="0"/>
              <a:t>Next, we will discuss tools for handling: </a:t>
            </a:r>
          </a:p>
          <a:p>
            <a:pPr lvl="1" algn="just"/>
            <a:r>
              <a:rPr lang="en-US" dirty="0"/>
              <a:t>missing data, </a:t>
            </a:r>
          </a:p>
          <a:p>
            <a:pPr lvl="1" algn="just"/>
            <a:r>
              <a:rPr lang="en-US" dirty="0"/>
              <a:t>duplicate data, </a:t>
            </a:r>
          </a:p>
          <a:p>
            <a:pPr lvl="1" algn="just"/>
            <a:r>
              <a:rPr lang="en-US" dirty="0"/>
              <a:t>string manipulation, and </a:t>
            </a:r>
          </a:p>
          <a:p>
            <a:pPr lvl="1" algn="just"/>
            <a:r>
              <a:rPr lang="en-US" dirty="0"/>
              <a:t>some other analytical data transformations</a:t>
            </a:r>
          </a:p>
        </p:txBody>
      </p:sp>
    </p:spTree>
    <p:extLst>
      <p:ext uri="{BB962C8B-B14F-4D97-AF65-F5344CB8AC3E}">
        <p14:creationId xmlns:p14="http://schemas.microsoft.com/office/powerpoint/2010/main" val="2489353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9263B-10CE-4FAE-83E3-65F070FC6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Missing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E61D6-C3F9-4342-A82F-ABCB1696F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5335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Missing data occurs commonly in many data analysis applications</a:t>
            </a:r>
          </a:p>
          <a:p>
            <a:pPr algn="just"/>
            <a:r>
              <a:rPr lang="en-US" dirty="0"/>
              <a:t>One of the goals of pandas is to make working with missing data as painless as possible</a:t>
            </a:r>
          </a:p>
          <a:p>
            <a:pPr algn="just"/>
            <a:r>
              <a:rPr lang="en-US" dirty="0"/>
              <a:t>We can filter out missing data using the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dropna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method.</a:t>
            </a:r>
          </a:p>
          <a:p>
            <a:pPr algn="just"/>
            <a:r>
              <a:rPr lang="en-US" dirty="0"/>
              <a:t>On a Series, it returns the Series with only the non-null data and index values:</a:t>
            </a:r>
          </a:p>
          <a:p>
            <a:pPr marL="914400" lvl="2" indent="0" algn="just">
              <a:buNone/>
            </a:pPr>
            <a:r>
              <a:rPr lang="en-US" altLang="en-US" dirty="0">
                <a:solidFill>
                  <a:srgbClr val="000088"/>
                </a:solidFill>
                <a:latin typeface="Consolas" panose="020B0609020204030204" pitchFamily="49" charset="0"/>
              </a:rPr>
              <a:t>data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555555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pd</a:t>
            </a:r>
            <a:r>
              <a:rPr lang="en-US" altLang="en-US" dirty="0" err="1">
                <a:solidFill>
                  <a:srgbClr val="555555"/>
                </a:solidFill>
                <a:latin typeface="Consolas" panose="020B0609020204030204" pitchFamily="49" charset="0"/>
              </a:rPr>
              <a:t>.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Series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altLang="en-US" dirty="0">
                <a:solidFill>
                  <a:srgbClr val="FF6600"/>
                </a:solidFill>
                <a:latin typeface="Consolas" panose="020B0609020204030204" pitchFamily="49" charset="0"/>
              </a:rPr>
              <a:t>1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np.nan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FF6600"/>
                </a:solidFill>
                <a:latin typeface="Consolas" panose="020B0609020204030204" pitchFamily="49" charset="0"/>
              </a:rPr>
              <a:t>3.5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np.nan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FF6600"/>
                </a:solidFill>
                <a:latin typeface="Consolas" panose="020B0609020204030204" pitchFamily="49" charset="0"/>
              </a:rPr>
              <a:t>7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r>
              <a:rPr lang="en-US" altLang="en-US" sz="1200" dirty="0"/>
              <a:t> </a:t>
            </a:r>
            <a:endParaRPr lang="en-US" altLang="en-US" sz="4600" dirty="0">
              <a:latin typeface="Arial" panose="020B0604020202020204" pitchFamily="34" charset="0"/>
            </a:endParaRPr>
          </a:p>
          <a:p>
            <a:pPr marL="914400" lvl="2" indent="0" algn="just">
              <a:buNone/>
            </a:pP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data</a:t>
            </a:r>
            <a:r>
              <a:rPr lang="en-US" altLang="en-US" dirty="0" err="1">
                <a:solidFill>
                  <a:srgbClr val="555555"/>
                </a:solidFill>
                <a:latin typeface="Consolas" panose="020B0609020204030204" pitchFamily="49" charset="0"/>
              </a:rPr>
              <a:t>.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dropna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altLang="en-US" sz="1200" dirty="0"/>
              <a:t> </a:t>
            </a:r>
            <a:endParaRPr lang="en-US" altLang="en-US" sz="4600" dirty="0">
              <a:latin typeface="Arial" panose="020B0604020202020204" pitchFamily="34" charset="0"/>
            </a:endParaRPr>
          </a:p>
          <a:p>
            <a:pPr algn="just"/>
            <a:r>
              <a:rPr lang="en-US" dirty="0"/>
              <a:t>With </a:t>
            </a:r>
            <a:r>
              <a:rPr lang="en-US" dirty="0" err="1"/>
              <a:t>DataFrame</a:t>
            </a:r>
            <a:r>
              <a:rPr lang="en-US" dirty="0"/>
              <a:t> objects, you may want to drop rows or columns containing any missing value or only those that are all missing values. </a:t>
            </a:r>
          </a:p>
          <a:p>
            <a:pPr algn="just"/>
            <a:r>
              <a:rPr lang="en-US" dirty="0"/>
              <a:t>By default,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dropna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drops any </a:t>
            </a:r>
            <a:r>
              <a:rPr lang="en-US" i="1" dirty="0"/>
              <a:t>row(s)</a:t>
            </a:r>
            <a:r>
              <a:rPr lang="en-US" dirty="0"/>
              <a:t> containing a missing value:</a:t>
            </a:r>
          </a:p>
          <a:p>
            <a:pPr marL="914400" lvl="2" indent="0" algn="just">
              <a:buNone/>
            </a:pPr>
            <a:r>
              <a:rPr lang="en-US" altLang="en-US" dirty="0">
                <a:solidFill>
                  <a:srgbClr val="000088"/>
                </a:solidFill>
                <a:latin typeface="Consolas" panose="020B0609020204030204" pitchFamily="49" charset="0"/>
              </a:rPr>
              <a:t>data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555555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pd</a:t>
            </a:r>
            <a:r>
              <a:rPr lang="en-US" altLang="en-US" dirty="0" err="1">
                <a:solidFill>
                  <a:srgbClr val="555555"/>
                </a:solidFill>
                <a:latin typeface="Consolas" panose="020B0609020204030204" pitchFamily="49" charset="0"/>
              </a:rPr>
              <a:t>.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DataFrame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([[</a:t>
            </a:r>
            <a:r>
              <a:rPr lang="en-US" altLang="en-US" dirty="0">
                <a:solidFill>
                  <a:srgbClr val="FF6600"/>
                </a:solidFill>
                <a:latin typeface="Consolas" panose="020B0609020204030204" pitchFamily="49" charset="0"/>
              </a:rPr>
              <a:t>1.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FF6600"/>
                </a:solidFill>
                <a:latin typeface="Consolas" panose="020B0609020204030204" pitchFamily="49" charset="0"/>
              </a:rPr>
              <a:t>6.5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FF6600"/>
                </a:solidFill>
                <a:latin typeface="Consolas" panose="020B0609020204030204" pitchFamily="49" charset="0"/>
              </a:rPr>
              <a:t>3.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],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dirty="0">
                <a:solidFill>
                  <a:srgbClr val="FF6600"/>
                </a:solidFill>
                <a:latin typeface="Consolas" panose="020B0609020204030204" pitchFamily="49" charset="0"/>
              </a:rPr>
              <a:t>1.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np.nan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np.nan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],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</a:p>
          <a:p>
            <a:pPr marL="914400" lvl="2" indent="0" algn="just">
              <a:buNone/>
            </a:pPr>
            <a:r>
              <a:rPr lang="en-US" altLang="en-US" dirty="0">
                <a:solidFill>
                  <a:srgbClr val="555555"/>
                </a:solidFill>
                <a:latin typeface="Consolas" panose="020B0609020204030204" pitchFamily="49" charset="0"/>
              </a:rPr>
              <a:t>....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			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np.nan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np.nan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np.nan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],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np.nan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FF6600"/>
                </a:solidFill>
                <a:latin typeface="Consolas" panose="020B0609020204030204" pitchFamily="49" charset="0"/>
              </a:rPr>
              <a:t>6.5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FF6600"/>
                </a:solidFill>
                <a:latin typeface="Consolas" panose="020B0609020204030204" pitchFamily="49" charset="0"/>
              </a:rPr>
              <a:t>3.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]])</a:t>
            </a:r>
            <a:r>
              <a:rPr lang="en-US" altLang="en-US" sz="1200" dirty="0"/>
              <a:t> </a:t>
            </a:r>
            <a:endParaRPr lang="en-US" altLang="en-US" sz="4600" dirty="0">
              <a:latin typeface="Arial" panose="020B0604020202020204" pitchFamily="34" charset="0"/>
            </a:endParaRPr>
          </a:p>
          <a:p>
            <a:pPr marL="914400" lvl="2" indent="0" algn="just">
              <a:buNone/>
            </a:pPr>
            <a:r>
              <a:rPr lang="en-US" altLang="en-US" dirty="0">
                <a:solidFill>
                  <a:srgbClr val="000088"/>
                </a:solidFill>
                <a:latin typeface="Consolas" panose="020B0609020204030204" pitchFamily="49" charset="0"/>
              </a:rPr>
              <a:t>cleaned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555555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data</a:t>
            </a:r>
            <a:r>
              <a:rPr lang="en-US" altLang="en-US" dirty="0" err="1">
                <a:solidFill>
                  <a:srgbClr val="555555"/>
                </a:solidFill>
                <a:latin typeface="Consolas" panose="020B0609020204030204" pitchFamily="49" charset="0"/>
              </a:rPr>
              <a:t>.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dropna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altLang="en-US" sz="1200" dirty="0"/>
              <a:t> </a:t>
            </a:r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77FEB30-CDF7-4F25-B726-0332AB96D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9A56DFB-37E4-4D01-8A7D-577753D13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74E860CA-C354-4545-9657-6F5E40932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F327D6A1-BB96-42B4-B7FE-0279A2377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170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A4303-7A7C-4A05-BAD4-1870FE290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Out Missing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F63EB-AB36-403F-9407-39C6713B3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Passing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how='all’</a:t>
            </a:r>
            <a:r>
              <a:rPr lang="en-US" dirty="0"/>
              <a:t> parameter will only drop rows that are all NA:</a:t>
            </a:r>
          </a:p>
          <a:p>
            <a:pPr marL="914400" lvl="2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dropna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how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'all'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dirty="0"/>
              <a:t>To drop columns in the same way, pass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axis=1</a:t>
            </a:r>
            <a:r>
              <a:rPr lang="en-US" dirty="0"/>
              <a:t>:</a:t>
            </a:r>
          </a:p>
          <a:p>
            <a:pPr marL="914400" lvl="2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dropna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axis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dirty="0"/>
              <a:t>Suppose you want to keep only rows containing a certain number of observations. You can indicate this with the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thresh</a:t>
            </a:r>
            <a:r>
              <a:rPr lang="en-US" dirty="0"/>
              <a:t> argument:</a:t>
            </a:r>
          </a:p>
          <a:p>
            <a:pPr marL="914400" lvl="2" indent="0">
              <a:buNone/>
            </a:pPr>
            <a:r>
              <a:rPr lang="en-US" altLang="en-US" dirty="0">
                <a:solidFill>
                  <a:srgbClr val="000088"/>
                </a:solidFill>
                <a:latin typeface="Consolas" panose="020B0609020204030204" pitchFamily="49" charset="0"/>
              </a:rPr>
              <a:t>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f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randn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lvl="2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iloc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np.nan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lvl="2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iloc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np.nan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lvl="2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dropna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lvl="2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dropna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thresh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B7B7253-51D6-4618-8286-BCA041F84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BDE815E-E630-4309-9AE3-E2B5E4D10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AD5EFA3-F79E-4B9D-A885-1865388D9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D82879B9-8715-4D85-80E8-99B4D2F72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7E8C0699-502A-4457-A56C-19F266534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0FE1AA53-82F6-4053-BA0A-F6F06EFD6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B8FB6C06-8F8C-4842-9669-E7C4060A7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76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F37B4-3FA2-4E33-8F47-AED7324CB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Filling In Missing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0CA34-9C0E-4A07-984E-80959BAF7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840" y="1825624"/>
            <a:ext cx="10601960" cy="453453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Rather than filtering out missing data (and potentially discarding other data along with it), you may want to fill in the “holes” in any number of ways</a:t>
            </a:r>
          </a:p>
          <a:p>
            <a:pPr algn="just"/>
            <a:r>
              <a:rPr lang="en-US" dirty="0"/>
              <a:t>For most purposes, the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fillna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method is the workhorse function to use</a:t>
            </a:r>
          </a:p>
          <a:p>
            <a:pPr algn="just"/>
            <a:r>
              <a:rPr lang="en-US" dirty="0"/>
              <a:t>Calling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fillna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with a constant replaces missing values with that value:</a:t>
            </a:r>
          </a:p>
          <a:p>
            <a:pPr marL="914400" lvl="2" indent="0" algn="just">
              <a:buNone/>
            </a:pP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df</a:t>
            </a:r>
            <a:r>
              <a:rPr lang="en-US" altLang="en-US" dirty="0" err="1">
                <a:solidFill>
                  <a:srgbClr val="555555"/>
                </a:solidFill>
                <a:latin typeface="Consolas" panose="020B0609020204030204" pitchFamily="49" charset="0"/>
              </a:rPr>
              <a:t>.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fillna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dirty="0">
                <a:solidFill>
                  <a:srgbClr val="FF6600"/>
                </a:solidFill>
                <a:latin typeface="Consolas" panose="020B0609020204030204" pitchFamily="49" charset="0"/>
              </a:rPr>
              <a:t>0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altLang="en-US" sz="1200" dirty="0"/>
              <a:t> </a:t>
            </a:r>
            <a:endParaRPr lang="en-US" altLang="en-US" sz="4600" dirty="0">
              <a:latin typeface="Arial" panose="020B0604020202020204" pitchFamily="34" charset="0"/>
            </a:endParaRPr>
          </a:p>
          <a:p>
            <a:pPr algn="just"/>
            <a:r>
              <a:rPr lang="en-US" dirty="0"/>
              <a:t>Calling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fillna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with a </a:t>
            </a:r>
            <a:r>
              <a:rPr lang="en-US" dirty="0" err="1"/>
              <a:t>dict</a:t>
            </a:r>
            <a:r>
              <a:rPr lang="en-US" dirty="0"/>
              <a:t>, you can use a different fill value for each column:</a:t>
            </a:r>
          </a:p>
          <a:p>
            <a:pPr marL="914400" lvl="2" indent="0" algn="just">
              <a:buNone/>
            </a:pP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df</a:t>
            </a:r>
            <a:r>
              <a:rPr lang="en-US" altLang="en-US" dirty="0" err="1">
                <a:solidFill>
                  <a:srgbClr val="555555"/>
                </a:solidFill>
                <a:latin typeface="Consolas" panose="020B0609020204030204" pitchFamily="49" charset="0"/>
              </a:rPr>
              <a:t>.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fillna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({</a:t>
            </a:r>
            <a:r>
              <a:rPr lang="en-US" altLang="en-US" dirty="0">
                <a:solidFill>
                  <a:srgbClr val="FF6600"/>
                </a:solidFill>
                <a:latin typeface="Consolas" panose="020B0609020204030204" pitchFamily="49" charset="0"/>
              </a:rPr>
              <a:t>1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FF6600"/>
                </a:solidFill>
                <a:latin typeface="Consolas" panose="020B0609020204030204" pitchFamily="49" charset="0"/>
              </a:rPr>
              <a:t>0.5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FF6600"/>
                </a:solidFill>
                <a:latin typeface="Consolas" panose="020B0609020204030204" pitchFamily="49" charset="0"/>
              </a:rPr>
              <a:t>2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FF6600"/>
                </a:solidFill>
                <a:latin typeface="Consolas" panose="020B0609020204030204" pitchFamily="49" charset="0"/>
              </a:rPr>
              <a:t>0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})</a:t>
            </a:r>
            <a:r>
              <a:rPr lang="en-US" altLang="en-US" sz="1200" dirty="0"/>
              <a:t> </a:t>
            </a:r>
            <a:endParaRPr lang="en-US" altLang="en-US" sz="4600" dirty="0">
              <a:latin typeface="Arial" panose="020B0604020202020204" pitchFamily="34" charset="0"/>
            </a:endParaRPr>
          </a:p>
          <a:p>
            <a:pPr algn="just"/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fillna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returns a new object, but you can modify the existing object in-place:</a:t>
            </a:r>
          </a:p>
          <a:p>
            <a:pPr marL="914400" lvl="2" indent="0" algn="just">
              <a:buNone/>
            </a:pP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df</a:t>
            </a:r>
            <a:r>
              <a:rPr lang="en-US" altLang="en-US" dirty="0" err="1">
                <a:solidFill>
                  <a:srgbClr val="555555"/>
                </a:solidFill>
                <a:latin typeface="Consolas" panose="020B0609020204030204" pitchFamily="49" charset="0"/>
              </a:rPr>
              <a:t>.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fillna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dirty="0">
                <a:solidFill>
                  <a:srgbClr val="FF6600"/>
                </a:solidFill>
                <a:latin typeface="Consolas" panose="020B0609020204030204" pitchFamily="49" charset="0"/>
              </a:rPr>
              <a:t>0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inplace</a:t>
            </a:r>
            <a:r>
              <a:rPr lang="en-US" altLang="en-US" dirty="0">
                <a:solidFill>
                  <a:srgbClr val="555555"/>
                </a:solidFill>
                <a:latin typeface="Consolas" panose="020B0609020204030204" pitchFamily="49" charset="0"/>
              </a:rPr>
              <a:t>=</a:t>
            </a:r>
            <a:r>
              <a:rPr lang="en-US" altLang="en-US" dirty="0">
                <a:solidFill>
                  <a:srgbClr val="336666"/>
                </a:solidFill>
                <a:latin typeface="Consolas" panose="020B0609020204030204" pitchFamily="49" charset="0"/>
              </a:rPr>
              <a:t>True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altLang="en-US" sz="1200" dirty="0"/>
              <a:t> </a:t>
            </a:r>
            <a:endParaRPr lang="en-US" altLang="en-US" sz="4600" dirty="0">
              <a:latin typeface="Arial" panose="020B0604020202020204" pitchFamily="34" charset="0"/>
            </a:endParaRPr>
          </a:p>
          <a:p>
            <a:pPr algn="just"/>
            <a:r>
              <a:rPr lang="en-US" dirty="0"/>
              <a:t>With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fillna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you can do lots of other things with a little creativity:</a:t>
            </a:r>
          </a:p>
          <a:p>
            <a:pPr marL="914400" lvl="2" indent="0" algn="just">
              <a:buNone/>
            </a:pP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data</a:t>
            </a:r>
            <a:r>
              <a:rPr lang="en-US" altLang="en-US" dirty="0" err="1">
                <a:solidFill>
                  <a:srgbClr val="555555"/>
                </a:solidFill>
                <a:latin typeface="Consolas" panose="020B0609020204030204" pitchFamily="49" charset="0"/>
              </a:rPr>
              <a:t>.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fillna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data</a:t>
            </a:r>
            <a:r>
              <a:rPr lang="en-US" altLang="en-US" dirty="0" err="1">
                <a:solidFill>
                  <a:srgbClr val="555555"/>
                </a:solidFill>
                <a:latin typeface="Consolas" panose="020B0609020204030204" pitchFamily="49" charset="0"/>
              </a:rPr>
              <a:t>.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mean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  <a:r>
              <a:rPr lang="en-US" altLang="en-US" sz="1200" dirty="0"/>
              <a:t> </a:t>
            </a:r>
            <a:endParaRPr lang="en-US" altLang="en-US" sz="4600" dirty="0">
              <a:latin typeface="Arial" panose="020B0604020202020204" pitchFamily="34" charset="0"/>
            </a:endParaRP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D65ECE5-E01F-4B63-B0CA-61063029D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B16C2255-FF5D-4D0B-AAE7-6C1BE761B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E1829AAC-1CA6-4254-825C-5214E13EF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7CBD3746-35FE-440C-800A-F3C62156D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217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86356-3BB7-44B9-9CA6-71E21E6A6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Methods to Handle Missing Data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A516FC-9077-420D-8874-C706F3021C41}"/>
              </a:ext>
            </a:extLst>
          </p:cNvPr>
          <p:cNvGraphicFramePr>
            <a:graphicFrameLocks noGrp="1"/>
          </p:cNvGraphicFramePr>
          <p:nvPr/>
        </p:nvGraphicFramePr>
        <p:xfrm>
          <a:off x="1550670" y="2614454"/>
          <a:ext cx="9239250" cy="3278347"/>
        </p:xfrm>
        <a:graphic>
          <a:graphicData uri="http://schemas.openxmlformats.org/drawingml/2006/table">
            <a:tbl>
              <a:tblPr/>
              <a:tblGrid>
                <a:gridCol w="2618460">
                  <a:extLst>
                    <a:ext uri="{9D8B030D-6E8A-4147-A177-3AD203B41FA5}">
                      <a16:colId xmlns:a16="http://schemas.microsoft.com/office/drawing/2014/main" val="507000833"/>
                    </a:ext>
                  </a:extLst>
                </a:gridCol>
                <a:gridCol w="6620790">
                  <a:extLst>
                    <a:ext uri="{9D8B030D-6E8A-4147-A177-3AD203B41FA5}">
                      <a16:colId xmlns:a16="http://schemas.microsoft.com/office/drawing/2014/main" val="2949945004"/>
                    </a:ext>
                  </a:extLst>
                </a:gridCol>
              </a:tblGrid>
              <a:tr h="40979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>
                          <a:effectLst/>
                          <a:latin typeface="Noto serif" panose="02020600060500020200" pitchFamily="18" charset="0"/>
                        </a:rPr>
                        <a:t>Argument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>
                          <a:effectLst/>
                          <a:latin typeface="Noto serif" panose="02020600060500020200" pitchFamily="18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177786"/>
                  </a:ext>
                </a:extLst>
              </a:tr>
              <a:tr h="10244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dirty="0" err="1">
                          <a:effectLst/>
                          <a:latin typeface="Noto serif" panose="02020600060500020200" pitchFamily="18" charset="0"/>
                        </a:rPr>
                        <a:t>dropna</a:t>
                      </a:r>
                      <a:endParaRPr lang="en-US" sz="1600" b="0" dirty="0">
                        <a:effectLst/>
                        <a:latin typeface="Noto serif" panose="02020600060500020200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dirty="0">
                          <a:effectLst/>
                          <a:latin typeface="Noto serif" panose="02020600060500020200" pitchFamily="18" charset="0"/>
                        </a:rPr>
                        <a:t>Filter axis labels based on whether values for each label have missing data, with varying thresholds for how much missing data to tolerate.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905643"/>
                  </a:ext>
                </a:extLst>
              </a:tr>
              <a:tr h="71713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>
                          <a:effectLst/>
                          <a:latin typeface="Noto serif" panose="02020600060500020200" pitchFamily="18" charset="0"/>
                        </a:rPr>
                        <a:t>fillna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>
                          <a:effectLst/>
                          <a:latin typeface="Noto serif" panose="02020600060500020200" pitchFamily="18" charset="0"/>
                        </a:rPr>
                        <a:t>Fill in missing data with some value or using an interpolation method such as 'ffill' or 'bfill'.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02162"/>
                  </a:ext>
                </a:extLst>
              </a:tr>
              <a:tr h="71713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>
                          <a:effectLst/>
                          <a:latin typeface="Noto serif" panose="02020600060500020200" pitchFamily="18" charset="0"/>
                        </a:rPr>
                        <a:t>isnull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>
                          <a:effectLst/>
                          <a:latin typeface="Noto serif" panose="02020600060500020200" pitchFamily="18" charset="0"/>
                        </a:rPr>
                        <a:t>Return boolean values indicating which values are missing/NA.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71276"/>
                  </a:ext>
                </a:extLst>
              </a:tr>
              <a:tr h="40979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>
                          <a:effectLst/>
                          <a:latin typeface="Noto serif" panose="02020600060500020200" pitchFamily="18" charset="0"/>
                        </a:rPr>
                        <a:t>notnull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dirty="0">
                          <a:effectLst/>
                          <a:latin typeface="Noto serif" panose="02020600060500020200" pitchFamily="18" charset="0"/>
                        </a:rPr>
                        <a:t>Negation of </a:t>
                      </a:r>
                      <a:r>
                        <a:rPr lang="en-US" sz="1600" b="0" dirty="0" err="1">
                          <a:effectLst/>
                          <a:latin typeface="Noto serif" panose="02020600060500020200" pitchFamily="18" charset="0"/>
                        </a:rPr>
                        <a:t>isnull</a:t>
                      </a:r>
                      <a:r>
                        <a:rPr lang="en-US" sz="1600" b="0" dirty="0">
                          <a:effectLst/>
                          <a:latin typeface="Noto serif" panose="02020600060500020200" pitchFamily="18" charset="0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167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1067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E43B9-1E54-4791-A125-E93FE3E77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Duplicates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67EC6-8504-422F-8265-79A98FD17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754360" cy="446341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Duplicate rows may be found in a </a:t>
            </a:r>
            <a:r>
              <a:rPr lang="en-US" dirty="0" err="1"/>
              <a:t>DataFrame</a:t>
            </a:r>
            <a:r>
              <a:rPr lang="en-US" dirty="0"/>
              <a:t> for any number of reasons. Here is an example:</a:t>
            </a:r>
          </a:p>
          <a:p>
            <a:pPr marL="914400" lvl="2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'k1'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'one'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'two'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'two’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914400" lvl="2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....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			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'k2'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]})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/>
            <a:r>
              <a:rPr lang="en-US" dirty="0"/>
              <a:t>The </a:t>
            </a:r>
            <a:r>
              <a:rPr lang="en-US" dirty="0" err="1"/>
              <a:t>DataFrame</a:t>
            </a:r>
            <a:r>
              <a:rPr lang="en-US" dirty="0"/>
              <a:t> method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duplicated()</a:t>
            </a:r>
            <a:r>
              <a:rPr lang="en-US" dirty="0"/>
              <a:t> returns a </a:t>
            </a:r>
            <a:r>
              <a:rPr lang="en-US" dirty="0" err="1"/>
              <a:t>boolean</a:t>
            </a:r>
            <a:r>
              <a:rPr lang="en-US" dirty="0"/>
              <a:t> Series indicating whether each row is a duplicate</a:t>
            </a:r>
          </a:p>
          <a:p>
            <a:pPr marL="914400" lvl="2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duplicated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dirty="0"/>
          </a:p>
          <a:p>
            <a:r>
              <a:rPr lang="en-US" dirty="0"/>
              <a:t>You may drop the duplicate rows by invoking the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drop_duplicates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method:</a:t>
            </a:r>
          </a:p>
          <a:p>
            <a:pPr marL="914400" lvl="2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drop_duplicates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B3ECA0-C637-45B7-9031-16B9EE61C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B484613-DA7F-4933-A74D-3EF9A30BB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14032173-C7B7-4DF0-9173-CDF5A29DE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282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13087-983E-4FB4-A22E-2F78FB90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Data Using a Function or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497CF-8958-4401-93C1-3A32324C1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dirty="0"/>
              <a:t>For many datasets, you may wish to perform some transformation based on the values in a Series, or column in a </a:t>
            </a:r>
            <a:r>
              <a:rPr lang="en-US" dirty="0" err="1"/>
              <a:t>DataFrame</a:t>
            </a:r>
            <a:endParaRPr lang="en-US" dirty="0"/>
          </a:p>
          <a:p>
            <a:pPr algn="just"/>
            <a:r>
              <a:rPr lang="en-US" dirty="0"/>
              <a:t>Consider the following hypothetical data collected about various kinds of meat:</a:t>
            </a:r>
          </a:p>
          <a:p>
            <a:pPr marL="914400" lvl="2" indent="0" algn="just"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data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'food'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:[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'bacon'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'pulled pork'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'bacon’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914400" lvl="2" indent="0" algn="just"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....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	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'Pastrami'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'corned beef'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'Bacon’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914400" lvl="2" indent="0" algn="just"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....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	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'pastrami'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'honey ham'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'nova lox’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914400" lvl="2" indent="0" algn="just"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....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	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'ounces'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7.5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]})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en-US" sz="4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/>
            <a:r>
              <a:rPr lang="en-US" dirty="0"/>
              <a:t>Suppose you wanted to add a column indicating the type of animal that each food came from. </a:t>
            </a:r>
          </a:p>
          <a:p>
            <a:pPr algn="just"/>
            <a:r>
              <a:rPr lang="en-US" dirty="0"/>
              <a:t>Let’s write down a mapping of each distinct meat type to the kind of animal:</a:t>
            </a:r>
          </a:p>
          <a:p>
            <a:pPr marL="914400" lvl="2" indent="0" algn="just">
              <a:buNone/>
            </a:pP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meat_to_animal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'bacon'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'pig'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'pulled pork'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'pig'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'pastrami'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'cow'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'corned beef'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'cow'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'honey ham'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'pig'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'nova lox'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nsolas" panose="020B0609020204030204" pitchFamily="49" charset="0"/>
              </a:rPr>
              <a:t>'salmon'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D3B4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973328-FBAD-4A9C-A94C-20F7DFB26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7F896EA-3592-43F1-8D15-95AC7B9D8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461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5032E-A1B1-4DB7-938E-03C45DE1C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160" y="873760"/>
            <a:ext cx="10581640" cy="530320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map()</a:t>
            </a:r>
            <a:r>
              <a:rPr lang="en-US" dirty="0"/>
              <a:t> method on a Series accepts a function or </a:t>
            </a:r>
            <a:r>
              <a:rPr lang="en-US" dirty="0" err="1"/>
              <a:t>dict</a:t>
            </a:r>
            <a:r>
              <a:rPr lang="en-US" dirty="0"/>
              <a:t>-like object containing a mapping</a:t>
            </a:r>
          </a:p>
          <a:p>
            <a:r>
              <a:rPr lang="en-US" dirty="0"/>
              <a:t>But in our running example, we have a small problem in that some of the meats are capitalized and others are not</a:t>
            </a:r>
          </a:p>
          <a:p>
            <a:r>
              <a:rPr lang="en-US" dirty="0"/>
              <a:t>Thus, we need to convert each value to lowercase using the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str.lower</a:t>
            </a:r>
            <a:r>
              <a:rPr lang="en-US" dirty="0"/>
              <a:t> Series method:</a:t>
            </a:r>
          </a:p>
          <a:p>
            <a:pPr marL="914400" lvl="2" indent="0">
              <a:buNone/>
            </a:pPr>
            <a:r>
              <a:rPr lang="en-US" altLang="en-US" dirty="0">
                <a:solidFill>
                  <a:srgbClr val="000088"/>
                </a:solidFill>
                <a:latin typeface="Consolas" panose="020B0609020204030204" pitchFamily="49" charset="0"/>
              </a:rPr>
              <a:t>lowercased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555555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000088"/>
                </a:solidFill>
                <a:latin typeface="Consolas" panose="020B0609020204030204" pitchFamily="49" charset="0"/>
              </a:rPr>
              <a:t>data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dirty="0">
                <a:solidFill>
                  <a:srgbClr val="CC3300"/>
                </a:solidFill>
                <a:latin typeface="Consolas" panose="020B0609020204030204" pitchFamily="49" charset="0"/>
              </a:rPr>
              <a:t>'food'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altLang="en-US" dirty="0">
                <a:solidFill>
                  <a:srgbClr val="555555"/>
                </a:solidFill>
                <a:latin typeface="Consolas" panose="020B0609020204030204" pitchFamily="49" charset="0"/>
              </a:rPr>
              <a:t>.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str</a:t>
            </a:r>
            <a:r>
              <a:rPr lang="en-US" altLang="en-US" dirty="0" err="1">
                <a:solidFill>
                  <a:srgbClr val="555555"/>
                </a:solidFill>
                <a:latin typeface="Consolas" panose="020B0609020204030204" pitchFamily="49" charset="0"/>
              </a:rPr>
              <a:t>.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lower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altLang="en-US" sz="1200" dirty="0"/>
              <a:t> </a:t>
            </a:r>
            <a:endParaRPr lang="en-US" altLang="en-US" sz="4600" dirty="0">
              <a:latin typeface="Arial" panose="020B0604020202020204" pitchFamily="34" charset="0"/>
            </a:endParaRPr>
          </a:p>
          <a:p>
            <a:r>
              <a:rPr lang="en-US" dirty="0"/>
              <a:t>Now we can create a new column in the </a:t>
            </a:r>
            <a:r>
              <a:rPr lang="en-US" dirty="0" err="1"/>
              <a:t>DataFrame</a:t>
            </a:r>
            <a:r>
              <a:rPr lang="en-US" dirty="0"/>
              <a:t> using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map()</a:t>
            </a:r>
            <a:r>
              <a:rPr lang="en-US" dirty="0"/>
              <a:t> method as follows:</a:t>
            </a:r>
          </a:p>
          <a:p>
            <a:pPr marL="914400" lvl="2" indent="0">
              <a:buNone/>
            </a:pPr>
            <a:r>
              <a:rPr lang="en-US" altLang="en-US" dirty="0">
                <a:solidFill>
                  <a:srgbClr val="000088"/>
                </a:solidFill>
                <a:latin typeface="Consolas" panose="020B0609020204030204" pitchFamily="49" charset="0"/>
              </a:rPr>
              <a:t>data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dirty="0">
                <a:solidFill>
                  <a:srgbClr val="CC3300"/>
                </a:solidFill>
                <a:latin typeface="Consolas" panose="020B0609020204030204" pitchFamily="49" charset="0"/>
              </a:rPr>
              <a:t>'animal'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555555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lowercased</a:t>
            </a:r>
            <a:r>
              <a:rPr lang="en-US" altLang="en-US" dirty="0" err="1">
                <a:solidFill>
                  <a:srgbClr val="555555"/>
                </a:solidFill>
                <a:latin typeface="Consolas" panose="020B0609020204030204" pitchFamily="49" charset="0"/>
              </a:rPr>
              <a:t>.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map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meat_to_animal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altLang="en-US" sz="1200" dirty="0"/>
              <a:t> </a:t>
            </a:r>
            <a:endParaRPr lang="en-US" altLang="en-US" sz="4600" dirty="0">
              <a:latin typeface="Arial" panose="020B0604020202020204" pitchFamily="34" charset="0"/>
            </a:endParaRPr>
          </a:p>
          <a:p>
            <a:r>
              <a:rPr lang="en-US" dirty="0"/>
              <a:t>We could also have passed a function that does all the work:</a:t>
            </a:r>
          </a:p>
          <a:p>
            <a:pPr marL="914400" lvl="2" indent="0">
              <a:buNone/>
            </a:pPr>
            <a:r>
              <a:rPr lang="en-US" altLang="en-US" dirty="0">
                <a:solidFill>
                  <a:srgbClr val="000088"/>
                </a:solidFill>
                <a:latin typeface="Consolas" panose="020B0609020204030204" pitchFamily="49" charset="0"/>
              </a:rPr>
              <a:t>data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dirty="0">
                <a:solidFill>
                  <a:srgbClr val="CC3300"/>
                </a:solidFill>
                <a:latin typeface="Consolas" panose="020B0609020204030204" pitchFamily="49" charset="0"/>
              </a:rPr>
              <a:t>'food'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altLang="en-US" dirty="0">
                <a:solidFill>
                  <a:srgbClr val="555555"/>
                </a:solidFill>
                <a:latin typeface="Consolas" panose="020B0609020204030204" pitchFamily="49" charset="0"/>
              </a:rPr>
              <a:t>.</a:t>
            </a:r>
            <a:r>
              <a:rPr lang="en-US" altLang="en-US" dirty="0">
                <a:solidFill>
                  <a:srgbClr val="000088"/>
                </a:solidFill>
                <a:latin typeface="Consolas" panose="020B0609020204030204" pitchFamily="49" charset="0"/>
              </a:rPr>
              <a:t>map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dirty="0">
                <a:solidFill>
                  <a:srgbClr val="006699"/>
                </a:solidFill>
                <a:latin typeface="Consolas" panose="020B0609020204030204" pitchFamily="49" charset="0"/>
              </a:rPr>
              <a:t>lambda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000088"/>
                </a:solidFill>
                <a:latin typeface="Consolas" panose="020B0609020204030204" pitchFamily="49" charset="0"/>
              </a:rPr>
              <a:t>x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3200" dirty="0">
                <a:solidFill>
                  <a:srgbClr val="3D3B49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meat_to_animal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x</a:t>
            </a:r>
            <a:r>
              <a:rPr lang="en-US" altLang="en-US" dirty="0" err="1">
                <a:solidFill>
                  <a:srgbClr val="555555"/>
                </a:solidFill>
                <a:latin typeface="Consolas" panose="020B0609020204030204" pitchFamily="49" charset="0"/>
              </a:rPr>
              <a:t>.</a:t>
            </a:r>
            <a:r>
              <a:rPr lang="en-US" altLang="en-US" dirty="0" err="1">
                <a:solidFill>
                  <a:srgbClr val="000088"/>
                </a:solidFill>
                <a:latin typeface="Consolas" panose="020B0609020204030204" pitchFamily="49" charset="0"/>
              </a:rPr>
              <a:t>lower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()])</a:t>
            </a:r>
            <a:r>
              <a:rPr lang="en-US" altLang="en-US" sz="1200" dirty="0"/>
              <a:t> </a:t>
            </a:r>
            <a:endParaRPr lang="en-US" altLang="en-US" sz="4600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3C90C59-A1D6-4270-9C2A-B1DD4E7F1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1EE11EA-0CA4-4880-A061-DC1A6C112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E0368CE-066D-422C-A0C0-065FF3E62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50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1902</TotalTime>
  <Words>1831</Words>
  <Application>Microsoft Office PowerPoint</Application>
  <PresentationFormat>Widescreen</PresentationFormat>
  <Paragraphs>185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Consolas</vt:lpstr>
      <vt:lpstr>Courier New</vt:lpstr>
      <vt:lpstr>Noto Serif</vt:lpstr>
      <vt:lpstr>Office Theme</vt:lpstr>
      <vt:lpstr>MGMT 58600: Python Programming</vt:lpstr>
      <vt:lpstr>Sorting Data</vt:lpstr>
      <vt:lpstr>Sorting Data</vt:lpstr>
      <vt:lpstr>Summarizing and Computing Descriptive Statistics</vt:lpstr>
      <vt:lpstr>Summarizing and Computing Descriptive Statistics</vt:lpstr>
      <vt:lpstr>Descriptive and Summary Statistics</vt:lpstr>
      <vt:lpstr>Exploring DataFrames</vt:lpstr>
      <vt:lpstr>Data Cleaning and Preparation</vt:lpstr>
      <vt:lpstr>Handling Missing Data</vt:lpstr>
      <vt:lpstr>Filtering Out Missing Data</vt:lpstr>
      <vt:lpstr>Filling In Missing Data</vt:lpstr>
      <vt:lpstr>Some Methods to Handle Missing Data</vt:lpstr>
      <vt:lpstr>Removing Duplicates</vt:lpstr>
      <vt:lpstr>Transforming Data Using a Function or Mapping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MGMT 58600: Python Programming</dc:title>
  <dc:creator>Shoaib Amjad Khan</dc:creator>
  <cp:lastModifiedBy>Shoaib Amjad Khan</cp:lastModifiedBy>
  <cp:revision>8</cp:revision>
  <dcterms:created xsi:type="dcterms:W3CDTF">2025-09-25T05:37:35Z</dcterms:created>
  <dcterms:modified xsi:type="dcterms:W3CDTF">2025-09-26T13:21:06Z</dcterms:modified>
</cp:coreProperties>
</file>