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3" r:id="rId3"/>
    <p:sldId id="264" r:id="rId4"/>
    <p:sldId id="265" r:id="rId5"/>
    <p:sldId id="270" r:id="rId6"/>
    <p:sldId id="271" r:id="rId7"/>
    <p:sldId id="266" r:id="rId8"/>
    <p:sldId id="267" r:id="rId9"/>
    <p:sldId id="272" r:id="rId10"/>
    <p:sldId id="275" r:id="rId11"/>
    <p:sldId id="269" r:id="rId12"/>
    <p:sldId id="274" r:id="rId13"/>
    <p:sldId id="276" r:id="rId14"/>
    <p:sldId id="273" r:id="rId15"/>
    <p:sldId id="277" r:id="rId16"/>
    <p:sldId id="278" r:id="rId17"/>
    <p:sldId id="279" r:id="rId18"/>
    <p:sldId id="280" r:id="rId19"/>
    <p:sldId id="287" r:id="rId20"/>
    <p:sldId id="283" r:id="rId21"/>
    <p:sldId id="284" r:id="rId22"/>
    <p:sldId id="285" r:id="rId23"/>
    <p:sldId id="286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6" d="100"/>
          <a:sy n="76" d="100"/>
        </p:scale>
        <p:origin x="260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E88486-2CE7-4B00-8374-231741A4D7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88C3DD-C382-4BAD-B83A-A1EBAA3383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623CF6-3BCB-4565-B836-CCB095393B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E9CF7-B37A-4643-BCAC-E7383B7BB720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E17FED-4672-476A-8757-7EBBBF2631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AA34DB-6033-4F22-B3A0-8B39FB9322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D5392-6290-4F8E-B0FF-D87AC12744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05190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AC5408-88FA-4722-A45F-9D984028FE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9D323C-501B-4232-ACE5-C7B0DA40EC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0CDAF0-F5FD-4836-85D8-72F1C68262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E9CF7-B37A-4643-BCAC-E7383B7BB720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ED3139-7530-43AF-904E-B5577EBD08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1BAAC0-A791-49CA-B53E-22499AA2B5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D5392-6290-4F8E-B0FF-D87AC12744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33251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A34643-20CF-467A-9E45-A6A074EBAF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8C36F4-FC02-4429-8AC5-DBA4EEBA59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8C3850-C43E-4690-9C72-B3D58D1734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E9CF7-B37A-4643-BCAC-E7383B7BB720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C89A57-2FDC-4C7E-B8F6-B6BEDA63AE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4D344B-31AC-4701-9955-240C227DB6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D5392-6290-4F8E-B0FF-D87AC12744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24513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6918B7-C4AB-47DC-B0B9-CDB1039756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241AAE-FA59-4342-B736-16160DD94A7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3A9959-4F98-4CB2-84F6-AA5ACB73FA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D89EB2-FE51-4702-9B41-015FA9C63C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E9CF7-B37A-4643-BCAC-E7383B7BB720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802D4E-CB42-44A6-A6AB-5FF1AF7033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3A30B4-59D7-4BD7-8380-F5894D506D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D5392-6290-4F8E-B0FF-D87AC12744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17001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443B37-B009-4C54-943E-28AE42A05A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7550C4-CB79-45F8-9C72-6B2F821A5E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6D125F-9EC3-41F8-A577-6AB4833F4E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8BD7C87-F26D-4A09-BA05-3E8B690ED6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790C03-8D6B-4245-B47D-16859ED194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FDFFFE9-244F-49DC-A47B-694E86361D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E9CF7-B37A-4643-BCAC-E7383B7BB720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676B589-C403-406D-B70F-573DB7F0D2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4CA1645-0DE6-4253-8A35-69B164BA21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D5392-6290-4F8E-B0FF-D87AC12744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50162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BC0D46-E5AC-447E-9A23-5A9CB13031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02F2B62-48F9-49FB-B1EA-E22BE1B391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E9CF7-B37A-4643-BCAC-E7383B7BB720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651881C-6CCC-4406-8457-F1F6AAE6A3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A3267E5-2718-4BE7-ADC7-F49DC32CC6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D5392-6290-4F8E-B0FF-D87AC12744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27240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20D6C3E-643B-4892-9393-E4D7FCA397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E9CF7-B37A-4643-BCAC-E7383B7BB720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5BB5C82-0A83-4137-A620-1DB96A19E0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403531-7719-4414-929B-9CD08A006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D5392-6290-4F8E-B0FF-D87AC12744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294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A66229-C951-4F9B-B687-CCED899860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0186E2-2A8A-4C4E-96F0-BF7C2009EC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DEFBDF-F46D-4F3A-87E6-3A56ABAD79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41CD6D-CCC0-496E-A7EC-47506A9060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E9CF7-B37A-4643-BCAC-E7383B7BB720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B33A58-50FC-43B9-A745-F77E93226B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74E901-5577-4EDD-8972-EFB36B430B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D5392-6290-4F8E-B0FF-D87AC12744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53934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DA5514-C09D-49EE-989F-71FD123637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00CFF1D-79E3-4068-A36F-06E27200C69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0B4F85D-B97A-415B-9EC6-6BF5328A3A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E442E9-874A-4E6C-8F3F-429BD9F91F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E9CF7-B37A-4643-BCAC-E7383B7BB720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AE4524-B093-4D06-92F2-B3851932C0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2ADE9E-2047-40D6-9DEA-B6579BEE9A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D5392-6290-4F8E-B0FF-D87AC12744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72434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430F2E-270F-4546-AA3B-E5DD097941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050A748-D3CE-4C49-9DBE-5ECE093AAB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8F91C9-91DD-4DAB-97E6-9B2F61C4C4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E9CF7-B37A-4643-BCAC-E7383B7BB720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9B6E2F-85CF-45EC-98BC-31AB5B00F8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7C97FA-DD14-4865-A5F8-111E561A42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D5392-6290-4F8E-B0FF-D87AC12744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32374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F52D001-B13D-479F-982C-545C072FD77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71A7C3F-4573-4A24-A283-6536D8697C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85C727-2DA8-48BF-BFD3-B376DBAE9C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E9CF7-B37A-4643-BCAC-E7383B7BB720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4370FD-BF10-4717-B14C-017C7B5781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9B4476-23DA-4ED1-817F-2CB9C40896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D5392-6290-4F8E-B0FF-D87AC12744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36747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578030E-B4CF-40FD-8FF9-1073802802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45DD19-4123-4620-B5B0-7A1144CCE6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C620CF-A2B4-421A-BE7B-B79956B8E4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2E9CF7-B37A-4643-BCAC-E7383B7BB720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D186FC-1449-480E-BBF0-5E780F542E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1597BB-1FCD-455A-B2EA-A51F69B2C1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3D5392-6290-4F8E-B0FF-D87AC12744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58381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E8F7E6-E213-42E6-9661-56E2B5960FB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800" dirty="0"/>
              <a:t>MGMT 58600: Python Programming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E30E5DA-4E35-4F3F-B1FA-07E843829F9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endParaRPr lang="en-US" dirty="0"/>
          </a:p>
          <a:p>
            <a:r>
              <a:rPr lang="en-US" dirty="0"/>
              <a:t>Lecture 7</a:t>
            </a:r>
          </a:p>
          <a:p>
            <a:endParaRPr lang="en-US" dirty="0"/>
          </a:p>
          <a:p>
            <a:r>
              <a:rPr lang="en-US" dirty="0"/>
              <a:t>Dr. Shoaib Khan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17003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18CD3C-10EB-4DEB-8025-B6456626F2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NumPy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E9F61C-3288-43B6-9C2E-02CAF36B5B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b="0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NumPy is the fundamental package for scientific computing in Python</a:t>
            </a:r>
          </a:p>
          <a:p>
            <a:r>
              <a:rPr lang="en-US" b="0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It is a Python library that provides a multidimensional array object and  various derived objects (such as masked arrays and matrices)</a:t>
            </a:r>
          </a:p>
          <a:p>
            <a:r>
              <a:rPr lang="en-US" b="0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Provides fast operations on arrays, including: </a:t>
            </a:r>
          </a:p>
          <a:p>
            <a:pPr lvl="1"/>
            <a:r>
              <a:rPr lang="en-US" b="0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Mathematical and logical, </a:t>
            </a:r>
          </a:p>
          <a:p>
            <a:pPr lvl="1"/>
            <a:r>
              <a:rPr lang="en-US" b="0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shape manipulation, </a:t>
            </a:r>
          </a:p>
          <a:p>
            <a:pPr lvl="1"/>
            <a:r>
              <a:rPr lang="en-US" b="0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sorting, </a:t>
            </a:r>
          </a:p>
          <a:p>
            <a:pPr lvl="1"/>
            <a:r>
              <a:rPr lang="en-US" b="0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selecting, </a:t>
            </a:r>
          </a:p>
          <a:p>
            <a:pPr lvl="1"/>
            <a:r>
              <a:rPr lang="en-US" b="0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discrete Fourier transforms, </a:t>
            </a:r>
          </a:p>
          <a:p>
            <a:pPr lvl="1"/>
            <a:r>
              <a:rPr lang="en-US" b="0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basic linear algebra, </a:t>
            </a:r>
          </a:p>
          <a:p>
            <a:pPr lvl="1"/>
            <a:r>
              <a:rPr lang="en-US" b="0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basic statistical operations, </a:t>
            </a:r>
          </a:p>
          <a:p>
            <a:pPr lvl="1"/>
            <a:r>
              <a:rPr lang="en-US" b="0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random simulation and much more.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52223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16AC5F-2540-4761-BD61-EB96EAFDF8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Numpy</a:t>
            </a:r>
            <a:r>
              <a:rPr lang="en-US" dirty="0"/>
              <a:t>: Installation and First Program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776E27-D4B8-4BC1-BF19-79D5ADF164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0" i="0" dirty="0">
                <a:solidFill>
                  <a:srgbClr val="273239"/>
                </a:solidFill>
                <a:effectLst/>
                <a:latin typeface="Nunito" pitchFamily="2" charset="0"/>
              </a:rPr>
              <a:t>NumPy can be installed via the following pip command:</a:t>
            </a:r>
          </a:p>
          <a:p>
            <a:pPr marL="914400" lvl="2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pip install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numpy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b="0" i="0" dirty="0">
                <a:solidFill>
                  <a:srgbClr val="273239"/>
                </a:solidFill>
                <a:effectLst/>
                <a:latin typeface="Nunito" pitchFamily="2" charset="0"/>
              </a:rPr>
              <a:t>NumPy is used to work with arrays. The array object in NumPy is called </a:t>
            </a:r>
            <a:r>
              <a:rPr lang="en-US" b="0" i="0" dirty="0" err="1">
                <a:solidFill>
                  <a:srgbClr val="273239"/>
                </a:solidFill>
                <a:effectLst/>
                <a:latin typeface="Nunito" pitchFamily="2" charset="0"/>
              </a:rPr>
              <a:t>ndarray</a:t>
            </a:r>
            <a:r>
              <a:rPr lang="en-US" b="0" i="0" dirty="0">
                <a:solidFill>
                  <a:srgbClr val="273239"/>
                </a:solidFill>
                <a:effectLst/>
                <a:latin typeface="Nunito" pitchFamily="2" charset="0"/>
              </a:rPr>
              <a:t>.</a:t>
            </a:r>
          </a:p>
          <a:p>
            <a:r>
              <a:rPr lang="en-US" dirty="0">
                <a:solidFill>
                  <a:srgbClr val="273239"/>
                </a:solidFill>
                <a:latin typeface="Nunito" pitchFamily="2" charset="0"/>
              </a:rPr>
              <a:t>We can create a NumPy </a:t>
            </a:r>
            <a:r>
              <a:rPr lang="en-US" dirty="0" err="1">
                <a:solidFill>
                  <a:srgbClr val="273239"/>
                </a:solidFill>
                <a:latin typeface="Nunito" pitchFamily="2" charset="0"/>
              </a:rPr>
              <a:t>ndarray</a:t>
            </a:r>
            <a:r>
              <a:rPr lang="en-US" dirty="0">
                <a:solidFill>
                  <a:srgbClr val="273239"/>
                </a:solidFill>
                <a:latin typeface="Nunito" pitchFamily="2" charset="0"/>
              </a:rPr>
              <a:t> object by using the array() method.</a:t>
            </a:r>
          </a:p>
          <a:p>
            <a:pPr marL="914400" lvl="2" indent="0">
              <a:buNone/>
            </a:pP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import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numpy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as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np</a:t>
            </a:r>
            <a:br>
              <a:rPr lang="en-US" dirty="0"/>
            </a:b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arr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np.array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([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1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2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3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4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5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])</a:t>
            </a:r>
            <a:br>
              <a:rPr lang="en-US" dirty="0"/>
            </a:b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print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arr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br>
              <a:rPr lang="en-US" dirty="0"/>
            </a:b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print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type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arr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))</a:t>
            </a:r>
            <a:endParaRPr lang="en-US" dirty="0">
              <a:solidFill>
                <a:srgbClr val="273239"/>
              </a:solidFill>
              <a:latin typeface="Nunito" pitchFamily="2" charset="0"/>
            </a:endParaRPr>
          </a:p>
          <a:p>
            <a:r>
              <a:rPr lang="en-US" dirty="0">
                <a:solidFill>
                  <a:srgbClr val="273239"/>
                </a:solidFill>
                <a:latin typeface="Nunito" pitchFamily="2" charset="0"/>
              </a:rPr>
              <a:t>To create an </a:t>
            </a:r>
            <a:r>
              <a:rPr lang="en-US" dirty="0" err="1">
                <a:solidFill>
                  <a:srgbClr val="273239"/>
                </a:solidFill>
                <a:latin typeface="Nunito" pitchFamily="2" charset="0"/>
              </a:rPr>
              <a:t>ndarray</a:t>
            </a:r>
            <a:r>
              <a:rPr lang="en-US" dirty="0">
                <a:solidFill>
                  <a:srgbClr val="273239"/>
                </a:solidFill>
                <a:latin typeface="Nunito" pitchFamily="2" charset="0"/>
              </a:rPr>
              <a:t>, we can pass a list, tuple or any array-like object into the array() method, and it will be converted into an </a:t>
            </a:r>
            <a:r>
              <a:rPr lang="en-US" dirty="0" err="1">
                <a:solidFill>
                  <a:srgbClr val="273239"/>
                </a:solidFill>
                <a:latin typeface="Nunito" pitchFamily="2" charset="0"/>
              </a:rPr>
              <a:t>ndarray</a:t>
            </a:r>
            <a:r>
              <a:rPr lang="en-US" dirty="0">
                <a:solidFill>
                  <a:srgbClr val="273239"/>
                </a:solidFill>
                <a:latin typeface="Nunito" pitchFamily="2" charset="0"/>
              </a:rPr>
              <a:t>:</a:t>
            </a:r>
          </a:p>
          <a:p>
            <a:pPr marL="914400" lvl="2" indent="0">
              <a:buNone/>
            </a:pP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import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numpy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as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np</a:t>
            </a:r>
            <a:br>
              <a:rPr lang="en-US" dirty="0"/>
            </a:b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arr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np.array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((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1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2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3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4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5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))</a:t>
            </a:r>
            <a:br>
              <a:rPr lang="en-US" dirty="0"/>
            </a:b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print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arr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endParaRPr lang="en-US" b="0" i="0" dirty="0">
              <a:solidFill>
                <a:srgbClr val="273239"/>
              </a:solidFill>
              <a:effectLst/>
              <a:latin typeface="Nunito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68415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D73AEA-F691-48D3-A759-5782101A46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Dimensions in Arrays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9FAE81-7BFB-466F-8E9C-BDC255737B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A dimension in arrays is one level of array depth (nested arrays).</a:t>
            </a:r>
          </a:p>
          <a:p>
            <a:r>
              <a:rPr lang="en-US" dirty="0"/>
              <a:t>0-D arrays, or Scalars, are the elements in an array. Each value in an array is a 0-D array.</a:t>
            </a:r>
          </a:p>
          <a:p>
            <a:r>
              <a:rPr lang="en-US" dirty="0"/>
              <a:t>An array that has 0-D arrays as its elements is called </a:t>
            </a:r>
            <a:r>
              <a:rPr lang="en-US" dirty="0" err="1"/>
              <a:t>uni</a:t>
            </a:r>
            <a:r>
              <a:rPr lang="en-US" dirty="0"/>
              <a:t>-dimensional or 1-D array.</a:t>
            </a:r>
          </a:p>
          <a:p>
            <a:r>
              <a:rPr lang="en-US" dirty="0"/>
              <a:t>An array that has 1-D arrays as its elements is called a 2-D array. These are often used to represent matrix or 2nd order tensors.</a:t>
            </a:r>
          </a:p>
          <a:p>
            <a:pPr marL="914400" lvl="2" indent="0">
              <a:buNone/>
            </a:pP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arr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np.array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([[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1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2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3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], [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4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5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6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]])</a:t>
            </a:r>
            <a:br>
              <a:rPr lang="en-US" dirty="0"/>
            </a:b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print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arr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endParaRPr lang="en-US" dirty="0"/>
          </a:p>
          <a:p>
            <a:r>
              <a:rPr lang="en-US" dirty="0"/>
              <a:t>An array that has 2-D arrays (matrices) as its elements is called 3-D array. These are often used to represent a 3rd order tensor.</a:t>
            </a:r>
          </a:p>
          <a:p>
            <a:pPr marL="914400" lvl="2" indent="0">
              <a:buNone/>
            </a:pP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arr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np.array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([[[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1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2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3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], [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4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5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6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]], [[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1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2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3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], [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4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5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6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]]])</a:t>
            </a:r>
            <a:br>
              <a:rPr lang="en-US" dirty="0"/>
            </a:b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print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arr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endParaRPr lang="en-US" dirty="0"/>
          </a:p>
          <a:p>
            <a:r>
              <a:rPr lang="en-US" dirty="0"/>
              <a:t>NumPy Arrays provides the </a:t>
            </a:r>
            <a:r>
              <a:rPr lang="en-US" dirty="0" err="1"/>
              <a:t>ndim</a:t>
            </a:r>
            <a:r>
              <a:rPr lang="en-US" dirty="0"/>
              <a:t> attribute that returns an integer that tells us how many dimensions the array have.</a:t>
            </a:r>
          </a:p>
        </p:txBody>
      </p:sp>
    </p:spTree>
    <p:extLst>
      <p:ext uri="{BB962C8B-B14F-4D97-AF65-F5344CB8AC3E}">
        <p14:creationId xmlns:p14="http://schemas.microsoft.com/office/powerpoint/2010/main" val="30786244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0D157F-D4DC-444A-B788-BC4BB0F4C7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Use NumPy?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43B6C3-6AF8-40C7-B87E-BE39EE35B6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/>
            <a:r>
              <a:rPr lang="en-US" sz="2400" b="0" i="0" dirty="0">
                <a:solidFill>
                  <a:srgbClr val="000000"/>
                </a:solidFill>
                <a:effectLst/>
                <a:ea typeface="Verdana" panose="020B0604030504040204" pitchFamily="34" charset="0"/>
              </a:rPr>
              <a:t>In Python we have lists that serve the purpose of arrays, but they are slow to process</a:t>
            </a:r>
          </a:p>
          <a:p>
            <a:pPr algn="l"/>
            <a:r>
              <a:rPr lang="en-US" sz="2400" b="0" i="0" dirty="0">
                <a:solidFill>
                  <a:srgbClr val="000000"/>
                </a:solidFill>
                <a:effectLst/>
                <a:ea typeface="Verdana" panose="020B0604030504040204" pitchFamily="34" charset="0"/>
              </a:rPr>
              <a:t>NumPy aims to provide an array object that is up to 50x faster than traditional Python lists</a:t>
            </a:r>
          </a:p>
          <a:p>
            <a:pPr algn="l"/>
            <a:r>
              <a:rPr lang="en-US" sz="2400" b="0" i="0" dirty="0">
                <a:solidFill>
                  <a:srgbClr val="000000"/>
                </a:solidFill>
                <a:effectLst/>
                <a:ea typeface="Verdana" panose="020B0604030504040204" pitchFamily="34" charset="0"/>
              </a:rPr>
              <a:t>NumPy arrays are stored at one continuous place in memory unlike lists, so processes can access and manipulate them very efficiently</a:t>
            </a:r>
          </a:p>
          <a:p>
            <a:pPr algn="l"/>
            <a:r>
              <a:rPr lang="en-US" sz="2400" dirty="0">
                <a:solidFill>
                  <a:srgbClr val="000000"/>
                </a:solidFill>
                <a:ea typeface="Verdana" panose="020B0604030504040204" pitchFamily="34" charset="0"/>
              </a:rPr>
              <a:t>NumPy arrays</a:t>
            </a:r>
            <a:r>
              <a:rPr lang="en-US" sz="2400" b="0" i="0" dirty="0">
                <a:solidFill>
                  <a:srgbClr val="000000"/>
                </a:solidFill>
                <a:effectLst/>
                <a:ea typeface="Verdana" panose="020B0604030504040204" pitchFamily="34" charset="0"/>
              </a:rPr>
              <a:t> provide a lot of supporting functions (e.g., vectorized operations) which offers added convenience</a:t>
            </a:r>
          </a:p>
          <a:p>
            <a:r>
              <a:rPr lang="en-US" sz="2400" b="0" i="0" dirty="0">
                <a:solidFill>
                  <a:srgbClr val="000000"/>
                </a:solidFill>
                <a:effectLst/>
                <a:ea typeface="Verdana" panose="020B0604030504040204" pitchFamily="34" charset="0"/>
              </a:rPr>
              <a:t>Arrays are very frequently used in data science, where speed and resources are very important</a:t>
            </a:r>
          </a:p>
          <a:p>
            <a:r>
              <a:rPr lang="en-US" sz="2400" dirty="0">
                <a:solidFill>
                  <a:srgbClr val="000000"/>
                </a:solidFill>
                <a:ea typeface="Verdana" panose="020B0604030504040204" pitchFamily="34" charset="0"/>
              </a:rPr>
              <a:t>Let’s see the performance difference in action!</a:t>
            </a:r>
            <a:endParaRPr lang="en-US" sz="2400" dirty="0"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32313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D73AEA-F691-48D3-A759-5782101A46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Dimensions in NumPy Arrays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9FAE81-7BFB-466F-8E9C-BDC255737B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A dimension in arrays is one level of array depth (nested arrays).</a:t>
            </a:r>
          </a:p>
          <a:p>
            <a:r>
              <a:rPr lang="en-US" dirty="0"/>
              <a:t>0-D arrays, or Scalars, are the elements in an array. Each value in an array is a 0-D array.</a:t>
            </a:r>
          </a:p>
          <a:p>
            <a:r>
              <a:rPr lang="en-US" dirty="0"/>
              <a:t>An array that has 0-D arrays as its elements is called </a:t>
            </a:r>
            <a:r>
              <a:rPr lang="en-US" dirty="0" err="1"/>
              <a:t>uni</a:t>
            </a:r>
            <a:r>
              <a:rPr lang="en-US" dirty="0"/>
              <a:t>-dimensional or 1-D array.</a:t>
            </a:r>
          </a:p>
          <a:p>
            <a:r>
              <a:rPr lang="en-US" dirty="0"/>
              <a:t>An array that has 1-D arrays as its elements is called a 2-D array. These are often used to represent matrix or 2nd order tensors.</a:t>
            </a:r>
          </a:p>
          <a:p>
            <a:pPr marL="914400" lvl="2" indent="0">
              <a:buNone/>
            </a:pP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arr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np.array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([[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1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2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3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], [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4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5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6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]])</a:t>
            </a:r>
            <a:br>
              <a:rPr lang="en-US" dirty="0"/>
            </a:b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print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arr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endParaRPr lang="en-US" dirty="0"/>
          </a:p>
          <a:p>
            <a:r>
              <a:rPr lang="en-US" dirty="0"/>
              <a:t>An array that has 2-D arrays (matrices) as its elements is called 3-D array. These are often used to represent a 3rd order tensor.</a:t>
            </a:r>
          </a:p>
          <a:p>
            <a:pPr marL="914400" lvl="2" indent="0">
              <a:buNone/>
            </a:pP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arr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np.array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([[[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1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2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3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], [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4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5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6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]], [[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1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2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3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], [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4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5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6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]]])</a:t>
            </a:r>
            <a:br>
              <a:rPr lang="en-US" dirty="0"/>
            </a:b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print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arr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1772646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5A538F-2EDA-4232-8377-73BEC3EB66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Dimensions in NumPy Arrays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18FB78-D0AA-4D6E-9FA2-CE94ED4C85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NumPy Array has the </a:t>
            </a:r>
            <a:r>
              <a:rPr lang="en-US" dirty="0" err="1"/>
              <a:t>ndim</a:t>
            </a:r>
            <a:r>
              <a:rPr lang="en-US" dirty="0"/>
              <a:t> attribute that returns an integer telling us how many dimensions the array has.</a:t>
            </a:r>
          </a:p>
          <a:p>
            <a:pPr marL="914400" lvl="2" indent="0">
              <a:buNone/>
            </a:pP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 =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np.array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42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en-US" dirty="0"/>
            </a:b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 =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np.array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([</a:t>
            </a: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])</a:t>
            </a:r>
            <a:br>
              <a:rPr lang="en-US" dirty="0"/>
            </a:b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 =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np.array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([[</a:t>
            </a: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], [</a:t>
            </a: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6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]])</a:t>
            </a:r>
            <a:br>
              <a:rPr lang="en-US" dirty="0"/>
            </a:b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 =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np.array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([[[</a:t>
            </a: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], [</a:t>
            </a: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6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]], [[</a:t>
            </a: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], [</a:t>
            </a: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6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]]])</a:t>
            </a:r>
            <a:br>
              <a:rPr lang="en-US" dirty="0"/>
            </a:b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a.ndim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en-US" dirty="0"/>
            </a:b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b.ndim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en-US" dirty="0"/>
            </a:b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c.ndim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en-US" dirty="0"/>
            </a:b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d.ndim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endParaRPr lang="en-US" dirty="0"/>
          </a:p>
          <a:p>
            <a:r>
              <a:rPr lang="en-US" dirty="0"/>
              <a:t>An array can have </a:t>
            </a:r>
            <a:r>
              <a:rPr lang="en-US" i="1" dirty="0"/>
              <a:t>any</a:t>
            </a:r>
            <a:r>
              <a:rPr lang="en-US" dirty="0"/>
              <a:t> number of dimensions. When the array is created, you can define the number of dimensions by using the </a:t>
            </a:r>
            <a:r>
              <a:rPr lang="en-US" dirty="0" err="1"/>
              <a:t>ndmin</a:t>
            </a:r>
            <a:r>
              <a:rPr lang="en-US" dirty="0"/>
              <a:t> argument.</a:t>
            </a:r>
          </a:p>
          <a:p>
            <a:pPr marL="914400" lvl="2" indent="0">
              <a:buNone/>
            </a:pPr>
            <a:r>
              <a:rPr lang="en-US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np.array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([</a:t>
            </a: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],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ndmin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en-US" dirty="0"/>
            </a:b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en-US" dirty="0"/>
            </a:b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'number of dimensions :'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arr.ndim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69000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A3C9D0-6900-4EB5-9B27-7ACE665456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Access Array Elements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837890-2017-4836-88E0-24999E8295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You can access an array element by referring to its index number.</a:t>
            </a:r>
          </a:p>
          <a:p>
            <a:pPr marL="914400" lvl="2" indent="0">
              <a:buNone/>
            </a:pPr>
            <a:r>
              <a:rPr lang="en-US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np.array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([</a:t>
            </a: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])</a:t>
            </a:r>
            <a:br>
              <a:rPr lang="en-US" dirty="0"/>
            </a:b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])</a:t>
            </a:r>
          </a:p>
          <a:p>
            <a:pPr marL="914400" lvl="2" indent="0">
              <a:buNone/>
            </a:pP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+ 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])</a:t>
            </a:r>
            <a:endParaRPr lang="en-US" b="0" i="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pPr marL="914400" lvl="2" indent="0">
              <a:buNone/>
            </a:pPr>
            <a:endParaRPr lang="en-US" dirty="0"/>
          </a:p>
          <a:p>
            <a:r>
              <a:rPr lang="en-US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For 2-D arrays:</a:t>
            </a:r>
          </a:p>
          <a:p>
            <a:pPr marL="914400" lvl="2" indent="0">
              <a:buNone/>
            </a:pPr>
            <a:r>
              <a:rPr lang="en-US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np.array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([[</a:t>
            </a: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], [</a:t>
            </a: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6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7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8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9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]])</a:t>
            </a:r>
            <a:br>
              <a:rPr lang="en-US" dirty="0"/>
            </a:b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'2nd element on 1st row: '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])</a:t>
            </a:r>
            <a:endParaRPr lang="en-US" b="0" i="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pPr marL="914400" lvl="2" indent="0">
              <a:buNone/>
            </a:pP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'5th element on 2nd row: '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])</a:t>
            </a:r>
            <a:endParaRPr lang="en-US" dirty="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r>
              <a:rPr lang="en-US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For 3-D arrays:</a:t>
            </a:r>
          </a:p>
          <a:p>
            <a:pPr marL="914400" lvl="2" indent="0">
              <a:buNone/>
            </a:pPr>
            <a:r>
              <a:rPr lang="en-US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np.array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([[[</a:t>
            </a: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], [</a:t>
            </a: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6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]], [[</a:t>
            </a: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7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8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9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], [</a:t>
            </a: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11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12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]]])</a:t>
            </a:r>
            <a:br>
              <a:rPr lang="en-US" dirty="0"/>
            </a:b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])</a:t>
            </a:r>
            <a:endParaRPr lang="en-US" b="0" i="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r>
              <a:rPr lang="en-US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Same principle extends to higher dimensional arrays </a:t>
            </a:r>
          </a:p>
        </p:txBody>
      </p:sp>
    </p:spTree>
    <p:extLst>
      <p:ext uri="{BB962C8B-B14F-4D97-AF65-F5344CB8AC3E}">
        <p14:creationId xmlns:p14="http://schemas.microsoft.com/office/powerpoint/2010/main" val="3971400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9A871B6-969D-4DFA-A21B-B4A6B02075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1541" y="2333109"/>
            <a:ext cx="4182218" cy="371888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DF829CE-AAE6-447A-86CA-FC5F3995C5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Accessing Array Elements in &gt; 1 Dimensions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7F92A2-FA00-4A87-A658-5CE5B4ED96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690687"/>
            <a:ext cx="7614866" cy="5003727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Figure illustrates indexing in a 2-D array</a:t>
            </a:r>
          </a:p>
          <a:p>
            <a:r>
              <a:rPr lang="en-US" dirty="0"/>
              <a:t>Negative Indexing:</a:t>
            </a:r>
          </a:p>
          <a:p>
            <a:pPr marL="914400" lvl="2" indent="0">
              <a:buNone/>
            </a:pPr>
            <a:r>
              <a:rPr lang="en-US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np.array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([[</a:t>
            </a: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], [</a:t>
            </a: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6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7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8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9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]])</a:t>
            </a:r>
            <a:br>
              <a:rPr lang="en-US" dirty="0"/>
            </a:br>
            <a:br>
              <a:rPr lang="en-US" dirty="0"/>
            </a:b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'Last element from 2nd dim: '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-</a:t>
            </a: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])</a:t>
            </a:r>
            <a:endParaRPr lang="en-US" dirty="0"/>
          </a:p>
          <a:p>
            <a:r>
              <a:rPr lang="en-US" dirty="0"/>
              <a:t>Slicing in Python means taking elements from one index to another. We slice arrays using start and end indices: [</a:t>
            </a:r>
            <a:r>
              <a:rPr lang="en-US" dirty="0" err="1"/>
              <a:t>start:end</a:t>
            </a:r>
            <a:r>
              <a:rPr lang="en-US" dirty="0"/>
              <a:t>]</a:t>
            </a:r>
          </a:p>
          <a:p>
            <a:r>
              <a:rPr lang="en-US" dirty="0"/>
              <a:t>We can also define the step (default = 1): [</a:t>
            </a:r>
            <a:r>
              <a:rPr lang="en-US" dirty="0" err="1"/>
              <a:t>start:end:step</a:t>
            </a:r>
            <a:r>
              <a:rPr lang="en-US" dirty="0"/>
              <a:t>]</a:t>
            </a:r>
          </a:p>
          <a:p>
            <a:pPr marL="914400" lvl="2" indent="0">
              <a:buNone/>
            </a:pPr>
            <a:r>
              <a:rPr lang="en-US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np.array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([</a:t>
            </a: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6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7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])</a:t>
            </a:r>
            <a:br>
              <a:rPr lang="en-US" dirty="0"/>
            </a:b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])</a:t>
            </a:r>
          </a:p>
          <a:p>
            <a:pPr marL="914400" lvl="2" indent="0">
              <a:buNone/>
            </a:pP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:])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914400" lvl="2" indent="0">
              <a:buNone/>
            </a:pP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[:</a:t>
            </a: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])</a:t>
            </a:r>
          </a:p>
          <a:p>
            <a:pPr marL="914400" lvl="2" indent="0">
              <a:buNone/>
            </a:pP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[-</a:t>
            </a: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:-</a:t>
            </a: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])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914400" lvl="2" indent="0">
              <a:buNone/>
            </a:pP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])</a:t>
            </a:r>
          </a:p>
          <a:p>
            <a:pPr marL="914400" lvl="2" indent="0">
              <a:buNone/>
            </a:pP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[::</a:t>
            </a: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08724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853B49-DC8D-4466-BC6D-D5EAE8B86B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Slicing in Higher </a:t>
            </a:r>
            <a:br>
              <a:rPr lang="en-US" dirty="0"/>
            </a:br>
            <a:r>
              <a:rPr lang="en-US" dirty="0"/>
              <a:t>Dimensions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2E043C-EF97-4D35-A40D-8C90F0D4E3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76425"/>
            <a:ext cx="5829300" cy="4300538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Slicing for more than 1 dimension:</a:t>
            </a:r>
          </a:p>
          <a:p>
            <a:pPr marL="0" indent="0">
              <a:buNone/>
            </a:pPr>
            <a:r>
              <a:rPr lang="en-US" sz="22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sz="22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22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np.array</a:t>
            </a:r>
            <a:r>
              <a:rPr lang="en-US" sz="22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([[</a:t>
            </a:r>
            <a:r>
              <a:rPr lang="en-US" sz="2200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22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sz="2200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22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sz="2200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],</a:t>
            </a:r>
            <a:r>
              <a:rPr lang="en-US" sz="22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[</a:t>
            </a:r>
            <a:r>
              <a:rPr lang="en-US" sz="2200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sz="22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sz="2200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5,6</a:t>
            </a:r>
            <a:r>
              <a:rPr lang="en-US" sz="22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], [</a:t>
            </a:r>
            <a:r>
              <a:rPr lang="en-US" sz="2200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7</a:t>
            </a:r>
            <a:r>
              <a:rPr lang="en-US" sz="22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sz="2200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8</a:t>
            </a:r>
            <a:r>
              <a:rPr lang="en-US" sz="22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sz="2200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9</a:t>
            </a:r>
            <a:r>
              <a:rPr lang="en-US" sz="22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]])</a:t>
            </a:r>
            <a:br>
              <a:rPr lang="en-US" sz="2200" dirty="0"/>
            </a:br>
            <a:endParaRPr lang="en-US" sz="2200" dirty="0"/>
          </a:p>
          <a:p>
            <a:pPr marL="0" indent="0">
              <a:buNone/>
            </a:pPr>
            <a:r>
              <a:rPr lang="en-US" sz="22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sz="22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2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sz="22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[:</a:t>
            </a:r>
            <a:r>
              <a:rPr lang="en-US" sz="2200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22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sz="2200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22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:])</a:t>
            </a:r>
          </a:p>
          <a:p>
            <a:pPr marL="0" indent="0">
              <a:buNone/>
            </a:pPr>
            <a:endParaRPr lang="en-US" sz="2200" b="0" i="0" dirty="0">
              <a:solidFill>
                <a:srgbClr val="0000CD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2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sz="22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2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sz="22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2200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22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])</a:t>
            </a:r>
          </a:p>
          <a:p>
            <a:pPr marL="0" indent="0">
              <a:buNone/>
            </a:pPr>
            <a:r>
              <a:rPr lang="en-US" sz="22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sz="22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2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sz="22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2200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22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,:])</a:t>
            </a:r>
            <a:endParaRPr lang="en-US" sz="2200" b="0" i="0" dirty="0">
              <a:solidFill>
                <a:srgbClr val="0000CD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2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sz="22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2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sz="22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2200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22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:,:])</a:t>
            </a:r>
          </a:p>
          <a:p>
            <a:pPr marL="0" indent="0">
              <a:buNone/>
            </a:pPr>
            <a:endParaRPr lang="en-US" sz="22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2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sz="22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2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sz="22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2200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22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:</a:t>
            </a:r>
            <a:r>
              <a:rPr lang="en-US" sz="2200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22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])</a:t>
            </a:r>
          </a:p>
          <a:p>
            <a:pPr marL="0" indent="0">
              <a:buNone/>
            </a:pPr>
            <a:r>
              <a:rPr lang="en-US" sz="22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sz="22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2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sz="22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2200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22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sz="2200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22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:</a:t>
            </a:r>
            <a:r>
              <a:rPr lang="en-US" sz="2200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22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])</a:t>
            </a:r>
            <a:endParaRPr lang="en-US" sz="2200" dirty="0"/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2F3EB96-DEEF-4913-9483-4459871427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2277" y="0"/>
            <a:ext cx="522945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8091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F680BA-0CBD-431E-9EF1-5C32806F77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Types in NumPy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261DC5-0CEE-40BD-BC23-1E1F004CC8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NumPy arrays are homogenous i.e., all elements are the same data type.</a:t>
            </a:r>
          </a:p>
          <a:p>
            <a:r>
              <a:rPr lang="en-US" dirty="0"/>
              <a:t>The data type or </a:t>
            </a:r>
            <a:r>
              <a:rPr lang="en-US" i="1" dirty="0" err="1"/>
              <a:t>dtype</a:t>
            </a:r>
            <a:r>
              <a:rPr lang="en-US" dirty="0"/>
              <a:t> is an attribute of </a:t>
            </a:r>
            <a:r>
              <a:rPr lang="en-US" dirty="0" err="1"/>
              <a:t>ndarray</a:t>
            </a:r>
            <a:r>
              <a:rPr lang="en-US" dirty="0"/>
              <a:t> used by Python to interpret a chunk of memory as a particular type of data:</a:t>
            </a:r>
          </a:p>
          <a:p>
            <a:pPr marL="914400" lvl="2" indent="0">
              <a:buNone/>
            </a:pP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arr1 =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np.array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([</a:t>
            </a:r>
            <a:r>
              <a:rPr lang="en-US" sz="1800" dirty="0">
                <a:solidFill>
                  <a:srgbClr val="FF0000"/>
                </a:solidFill>
                <a:latin typeface="Consolas" panose="020B0609020204030204" pitchFamily="49" charset="0"/>
              </a:rPr>
              <a:t>1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800" dirty="0">
                <a:solidFill>
                  <a:srgbClr val="FF0000"/>
                </a:solidFill>
                <a:latin typeface="Consolas" panose="020B0609020204030204" pitchFamily="49" charset="0"/>
              </a:rPr>
              <a:t>2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800" dirty="0">
                <a:solidFill>
                  <a:srgbClr val="FF0000"/>
                </a:solidFill>
                <a:latin typeface="Consolas" panose="020B0609020204030204" pitchFamily="49" charset="0"/>
              </a:rPr>
              <a:t>3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],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dtype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=np.float64)</a:t>
            </a:r>
          </a:p>
          <a:p>
            <a:pPr marL="914400" lvl="2" indent="0">
              <a:buNone/>
            </a:pP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arr2 =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np.array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([</a:t>
            </a:r>
            <a:r>
              <a:rPr lang="en-US" sz="1800" dirty="0">
                <a:solidFill>
                  <a:srgbClr val="FF0000"/>
                </a:solidFill>
                <a:latin typeface="Consolas" panose="020B0609020204030204" pitchFamily="49" charset="0"/>
              </a:rPr>
              <a:t>1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800" dirty="0">
                <a:solidFill>
                  <a:srgbClr val="FF0000"/>
                </a:solidFill>
                <a:latin typeface="Consolas" panose="020B0609020204030204" pitchFamily="49" charset="0"/>
              </a:rPr>
              <a:t>2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800" dirty="0">
                <a:solidFill>
                  <a:srgbClr val="FF0000"/>
                </a:solidFill>
                <a:latin typeface="Consolas" panose="020B0609020204030204" pitchFamily="49" charset="0"/>
              </a:rPr>
              <a:t>3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],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dtype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=np.int32)</a:t>
            </a:r>
          </a:p>
          <a:p>
            <a:pPr marL="914400" lvl="2" indent="0">
              <a:buNone/>
            </a:pP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arr1.dtype	</a:t>
            </a:r>
            <a:r>
              <a:rPr lang="en-US" sz="1800" dirty="0">
                <a:solidFill>
                  <a:schemeClr val="accent6"/>
                </a:solidFill>
                <a:latin typeface="Consolas" panose="020B0609020204030204" pitchFamily="49" charset="0"/>
              </a:rPr>
              <a:t>#dtype('float64')</a:t>
            </a:r>
            <a:endParaRPr lang="en-US" sz="1700" dirty="0">
              <a:solidFill>
                <a:schemeClr val="accent6"/>
              </a:solidFill>
              <a:latin typeface="Consolas" panose="020B0609020204030204" pitchFamily="49" charset="0"/>
            </a:endParaRPr>
          </a:p>
          <a:p>
            <a:pPr marL="914400" lvl="2" indent="0">
              <a:buNone/>
            </a:pP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arr2.dtype	</a:t>
            </a:r>
            <a:r>
              <a:rPr lang="en-US" sz="1800" dirty="0">
                <a:solidFill>
                  <a:schemeClr val="accent6"/>
                </a:solidFill>
                <a:latin typeface="Consolas" panose="020B0609020204030204" pitchFamily="49" charset="0"/>
              </a:rPr>
              <a:t>#dtype('int32’)</a:t>
            </a:r>
          </a:p>
          <a:p>
            <a:pPr marL="914400" lvl="2" indent="0">
              <a:buNone/>
            </a:pP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30815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3B6C9FB-6C4B-4A16-BCB6-5A017584BC0E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2162175" y="85725"/>
          <a:ext cx="8058150" cy="6581774"/>
        </p:xfrm>
        <a:graphic>
          <a:graphicData uri="http://schemas.openxmlformats.org/drawingml/2006/table">
            <a:tbl>
              <a:tblPr/>
              <a:tblGrid>
                <a:gridCol w="2876550">
                  <a:extLst>
                    <a:ext uri="{9D8B030D-6E8A-4147-A177-3AD203B41FA5}">
                      <a16:colId xmlns:a16="http://schemas.microsoft.com/office/drawing/2014/main" val="2513226114"/>
                    </a:ext>
                  </a:extLst>
                </a:gridCol>
                <a:gridCol w="2495550">
                  <a:extLst>
                    <a:ext uri="{9D8B030D-6E8A-4147-A177-3AD203B41FA5}">
                      <a16:colId xmlns:a16="http://schemas.microsoft.com/office/drawing/2014/main" val="1060547766"/>
                    </a:ext>
                  </a:extLst>
                </a:gridCol>
                <a:gridCol w="2686050">
                  <a:extLst>
                    <a:ext uri="{9D8B030D-6E8A-4147-A177-3AD203B41FA5}">
                      <a16:colId xmlns:a16="http://schemas.microsoft.com/office/drawing/2014/main" val="644791298"/>
                    </a:ext>
                  </a:extLst>
                </a:gridCol>
              </a:tblGrid>
              <a:tr h="221237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1" i="0">
                          <a:effectLst/>
                          <a:latin typeface="Noto serif" panose="02020600060500020200" pitchFamily="18" charset="0"/>
                        </a:rPr>
                        <a:t>Type</a:t>
                      </a:r>
                    </a:p>
                  </a:txBody>
                  <a:tcPr marL="36566" marR="36566" marT="18283" marB="182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1" i="0">
                          <a:effectLst/>
                          <a:latin typeface="Noto serif" panose="02020600060500020200" pitchFamily="18" charset="0"/>
                        </a:rPr>
                        <a:t>Type code</a:t>
                      </a:r>
                    </a:p>
                  </a:txBody>
                  <a:tcPr marL="36566" marR="36566" marT="18283" marB="182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1" i="0">
                          <a:effectLst/>
                          <a:latin typeface="Noto serif" panose="02020600060500020200" pitchFamily="18" charset="0"/>
                        </a:rPr>
                        <a:t>Description</a:t>
                      </a:r>
                    </a:p>
                  </a:txBody>
                  <a:tcPr marL="36566" marR="36566" marT="18283" marB="182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5695857"/>
                  </a:ext>
                </a:extLst>
              </a:tr>
              <a:tr h="387163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dirty="0">
                          <a:effectLst/>
                          <a:latin typeface="Noto serif" panose="02020600060500020200" pitchFamily="18" charset="0"/>
                        </a:rPr>
                        <a:t>int8, uint8</a:t>
                      </a:r>
                    </a:p>
                  </a:txBody>
                  <a:tcPr marL="36566" marR="36566" marT="18283" marB="182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>
                          <a:effectLst/>
                          <a:latin typeface="Noto serif" panose="02020600060500020200" pitchFamily="18" charset="0"/>
                        </a:rPr>
                        <a:t>i1, u1</a:t>
                      </a:r>
                    </a:p>
                  </a:txBody>
                  <a:tcPr marL="36566" marR="36566" marT="18283" marB="182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>
                          <a:effectLst/>
                          <a:latin typeface="Noto serif" panose="02020600060500020200" pitchFamily="18" charset="0"/>
                        </a:rPr>
                        <a:t>Signed and unsigned 8-bit (1 byte) integer types</a:t>
                      </a:r>
                    </a:p>
                  </a:txBody>
                  <a:tcPr marL="36566" marR="36566" marT="18283" marB="182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1676011"/>
                  </a:ext>
                </a:extLst>
              </a:tr>
              <a:tr h="387163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>
                          <a:effectLst/>
                          <a:latin typeface="Noto serif" panose="02020600060500020200" pitchFamily="18" charset="0"/>
                        </a:rPr>
                        <a:t>int16, uint16</a:t>
                      </a:r>
                    </a:p>
                  </a:txBody>
                  <a:tcPr marL="36566" marR="36566" marT="18283" marB="182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>
                          <a:effectLst/>
                          <a:latin typeface="Noto serif" panose="02020600060500020200" pitchFamily="18" charset="0"/>
                        </a:rPr>
                        <a:t>i2, u2</a:t>
                      </a:r>
                    </a:p>
                  </a:txBody>
                  <a:tcPr marL="36566" marR="36566" marT="18283" marB="182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>
                          <a:effectLst/>
                          <a:latin typeface="Noto serif" panose="02020600060500020200" pitchFamily="18" charset="0"/>
                        </a:rPr>
                        <a:t>Signed and unsigned 16-bit integer types</a:t>
                      </a:r>
                    </a:p>
                  </a:txBody>
                  <a:tcPr marL="36566" marR="36566" marT="18283" marB="182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EF2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3412964"/>
                  </a:ext>
                </a:extLst>
              </a:tr>
              <a:tr h="387163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>
                          <a:effectLst/>
                          <a:latin typeface="Noto serif" panose="02020600060500020200" pitchFamily="18" charset="0"/>
                        </a:rPr>
                        <a:t>int32, uint32</a:t>
                      </a:r>
                    </a:p>
                  </a:txBody>
                  <a:tcPr marL="36566" marR="36566" marT="18283" marB="182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dirty="0">
                          <a:effectLst/>
                          <a:latin typeface="Noto serif" panose="02020600060500020200" pitchFamily="18" charset="0"/>
                        </a:rPr>
                        <a:t>i4, u4</a:t>
                      </a:r>
                    </a:p>
                  </a:txBody>
                  <a:tcPr marL="36566" marR="36566" marT="18283" marB="182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>
                          <a:effectLst/>
                          <a:latin typeface="Noto serif" panose="02020600060500020200" pitchFamily="18" charset="0"/>
                        </a:rPr>
                        <a:t>Signed and unsigned 32-bit integer types</a:t>
                      </a:r>
                    </a:p>
                  </a:txBody>
                  <a:tcPr marL="36566" marR="36566" marT="18283" marB="182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7808662"/>
                  </a:ext>
                </a:extLst>
              </a:tr>
              <a:tr h="387163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>
                          <a:effectLst/>
                          <a:latin typeface="Noto serif" panose="02020600060500020200" pitchFamily="18" charset="0"/>
                        </a:rPr>
                        <a:t>int64, uint64</a:t>
                      </a:r>
                    </a:p>
                  </a:txBody>
                  <a:tcPr marL="36566" marR="36566" marT="18283" marB="182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>
                          <a:effectLst/>
                          <a:latin typeface="Noto serif" panose="02020600060500020200" pitchFamily="18" charset="0"/>
                        </a:rPr>
                        <a:t>i8, u8</a:t>
                      </a:r>
                    </a:p>
                  </a:txBody>
                  <a:tcPr marL="36566" marR="36566" marT="18283" marB="182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>
                          <a:effectLst/>
                          <a:latin typeface="Noto serif" panose="02020600060500020200" pitchFamily="18" charset="0"/>
                        </a:rPr>
                        <a:t>Signed and unsigned 64-bit integer types</a:t>
                      </a:r>
                    </a:p>
                  </a:txBody>
                  <a:tcPr marL="36566" marR="36566" marT="18283" marB="182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EF2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114120"/>
                  </a:ext>
                </a:extLst>
              </a:tr>
              <a:tr h="221237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>
                          <a:effectLst/>
                          <a:latin typeface="Noto serif" panose="02020600060500020200" pitchFamily="18" charset="0"/>
                        </a:rPr>
                        <a:t>float16</a:t>
                      </a:r>
                    </a:p>
                  </a:txBody>
                  <a:tcPr marL="36566" marR="36566" marT="18283" marB="182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>
                          <a:effectLst/>
                          <a:latin typeface="Noto serif" panose="02020600060500020200" pitchFamily="18" charset="0"/>
                        </a:rPr>
                        <a:t>f2</a:t>
                      </a:r>
                    </a:p>
                  </a:txBody>
                  <a:tcPr marL="36566" marR="36566" marT="18283" marB="182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>
                          <a:effectLst/>
                          <a:latin typeface="Noto serif" panose="02020600060500020200" pitchFamily="18" charset="0"/>
                        </a:rPr>
                        <a:t>Half-precision floating point</a:t>
                      </a:r>
                    </a:p>
                  </a:txBody>
                  <a:tcPr marL="36566" marR="36566" marT="18283" marB="182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3289801"/>
                  </a:ext>
                </a:extLst>
              </a:tr>
              <a:tr h="553091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>
                          <a:effectLst/>
                          <a:latin typeface="Noto serif" panose="02020600060500020200" pitchFamily="18" charset="0"/>
                        </a:rPr>
                        <a:t>float32</a:t>
                      </a:r>
                    </a:p>
                  </a:txBody>
                  <a:tcPr marL="36566" marR="36566" marT="18283" marB="182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>
                          <a:effectLst/>
                          <a:latin typeface="Noto serif" panose="02020600060500020200" pitchFamily="18" charset="0"/>
                        </a:rPr>
                        <a:t>f4 or f</a:t>
                      </a:r>
                    </a:p>
                  </a:txBody>
                  <a:tcPr marL="36566" marR="36566" marT="18283" marB="182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>
                          <a:effectLst/>
                          <a:latin typeface="Noto serif" panose="02020600060500020200" pitchFamily="18" charset="0"/>
                        </a:rPr>
                        <a:t>Standard single-precision floating point; compatible with C float</a:t>
                      </a:r>
                    </a:p>
                  </a:txBody>
                  <a:tcPr marL="36566" marR="36566" marT="18283" marB="182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EF2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3215256"/>
                  </a:ext>
                </a:extLst>
              </a:tr>
              <a:tr h="719017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>
                          <a:effectLst/>
                          <a:latin typeface="Noto serif" panose="02020600060500020200" pitchFamily="18" charset="0"/>
                        </a:rPr>
                        <a:t>float64</a:t>
                      </a:r>
                    </a:p>
                  </a:txBody>
                  <a:tcPr marL="36566" marR="36566" marT="18283" marB="182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>
                          <a:effectLst/>
                          <a:latin typeface="Noto serif" panose="02020600060500020200" pitchFamily="18" charset="0"/>
                        </a:rPr>
                        <a:t>f8 or d</a:t>
                      </a:r>
                    </a:p>
                  </a:txBody>
                  <a:tcPr marL="36566" marR="36566" marT="18283" marB="182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>
                          <a:effectLst/>
                          <a:latin typeface="Noto serif" panose="02020600060500020200" pitchFamily="18" charset="0"/>
                        </a:rPr>
                        <a:t>Standard double-precision floating point; compatible with C double and Python float object</a:t>
                      </a:r>
                    </a:p>
                  </a:txBody>
                  <a:tcPr marL="36566" marR="36566" marT="18283" marB="182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7505849"/>
                  </a:ext>
                </a:extLst>
              </a:tr>
              <a:tr h="387163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>
                          <a:effectLst/>
                          <a:latin typeface="Noto serif" panose="02020600060500020200" pitchFamily="18" charset="0"/>
                        </a:rPr>
                        <a:t>float128</a:t>
                      </a:r>
                    </a:p>
                  </a:txBody>
                  <a:tcPr marL="36566" marR="36566" marT="18283" marB="182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>
                          <a:effectLst/>
                          <a:latin typeface="Noto serif" panose="02020600060500020200" pitchFamily="18" charset="0"/>
                        </a:rPr>
                        <a:t>f16 or g</a:t>
                      </a:r>
                    </a:p>
                  </a:txBody>
                  <a:tcPr marL="36566" marR="36566" marT="18283" marB="182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>
                          <a:effectLst/>
                          <a:latin typeface="Noto serif" panose="02020600060500020200" pitchFamily="18" charset="0"/>
                        </a:rPr>
                        <a:t>Extended-precision floating point</a:t>
                      </a:r>
                    </a:p>
                  </a:txBody>
                  <a:tcPr marL="36566" marR="36566" marT="18283" marB="182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EF2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539459"/>
                  </a:ext>
                </a:extLst>
              </a:tr>
              <a:tr h="553091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>
                          <a:effectLst/>
                          <a:latin typeface="Noto serif" panose="02020600060500020200" pitchFamily="18" charset="0"/>
                        </a:rPr>
                        <a:t>complex64, complex128, complex256</a:t>
                      </a:r>
                    </a:p>
                  </a:txBody>
                  <a:tcPr marL="36566" marR="36566" marT="18283" marB="182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>
                          <a:effectLst/>
                          <a:latin typeface="Noto serif" panose="02020600060500020200" pitchFamily="18" charset="0"/>
                        </a:rPr>
                        <a:t>c8, c16, c32</a:t>
                      </a:r>
                    </a:p>
                  </a:txBody>
                  <a:tcPr marL="36566" marR="36566" marT="18283" marB="182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>
                          <a:effectLst/>
                          <a:latin typeface="Noto serif" panose="02020600060500020200" pitchFamily="18" charset="0"/>
                        </a:rPr>
                        <a:t>Complex numbers represented by two 32, 64, or 128 floats, respectively</a:t>
                      </a:r>
                    </a:p>
                  </a:txBody>
                  <a:tcPr marL="36566" marR="36566" marT="18283" marB="182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7515081"/>
                  </a:ext>
                </a:extLst>
              </a:tr>
              <a:tr h="387163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>
                          <a:effectLst/>
                          <a:latin typeface="Noto serif" panose="02020600060500020200" pitchFamily="18" charset="0"/>
                        </a:rPr>
                        <a:t>bool</a:t>
                      </a:r>
                    </a:p>
                  </a:txBody>
                  <a:tcPr marL="36566" marR="36566" marT="18283" marB="182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>
                          <a:effectLst/>
                          <a:latin typeface="Noto serif" panose="02020600060500020200" pitchFamily="18" charset="0"/>
                        </a:rPr>
                        <a:t>?</a:t>
                      </a:r>
                    </a:p>
                  </a:txBody>
                  <a:tcPr marL="36566" marR="36566" marT="18283" marB="182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>
                          <a:effectLst/>
                          <a:latin typeface="Noto serif" panose="02020600060500020200" pitchFamily="18" charset="0"/>
                        </a:rPr>
                        <a:t>Boolean type storing True and False values</a:t>
                      </a:r>
                    </a:p>
                  </a:txBody>
                  <a:tcPr marL="36566" marR="36566" marT="18283" marB="182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EF2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9190544"/>
                  </a:ext>
                </a:extLst>
              </a:tr>
              <a:tr h="387163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>
                          <a:effectLst/>
                          <a:latin typeface="Noto serif" panose="02020600060500020200" pitchFamily="18" charset="0"/>
                        </a:rPr>
                        <a:t>object</a:t>
                      </a:r>
                    </a:p>
                  </a:txBody>
                  <a:tcPr marL="36566" marR="36566" marT="18283" marB="182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dirty="0">
                          <a:effectLst/>
                          <a:latin typeface="Noto serif" panose="02020600060500020200" pitchFamily="18" charset="0"/>
                        </a:rPr>
                        <a:t>O</a:t>
                      </a:r>
                    </a:p>
                  </a:txBody>
                  <a:tcPr marL="36566" marR="36566" marT="18283" marB="182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>
                          <a:effectLst/>
                          <a:latin typeface="Noto serif" panose="02020600060500020200" pitchFamily="18" charset="0"/>
                        </a:rPr>
                        <a:t>Python object type; a value can be any Python object</a:t>
                      </a:r>
                    </a:p>
                  </a:txBody>
                  <a:tcPr marL="36566" marR="36566" marT="18283" marB="182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6357017"/>
                  </a:ext>
                </a:extLst>
              </a:tr>
              <a:tr h="719017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>
                          <a:effectLst/>
                          <a:latin typeface="Noto serif" panose="02020600060500020200" pitchFamily="18" charset="0"/>
                        </a:rPr>
                        <a:t>string_</a:t>
                      </a:r>
                    </a:p>
                  </a:txBody>
                  <a:tcPr marL="36566" marR="36566" marT="18283" marB="182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>
                          <a:effectLst/>
                          <a:latin typeface="Noto serif" panose="02020600060500020200" pitchFamily="18" charset="0"/>
                        </a:rPr>
                        <a:t>S</a:t>
                      </a:r>
                    </a:p>
                  </a:txBody>
                  <a:tcPr marL="36566" marR="36566" marT="18283" marB="182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>
                          <a:effectLst/>
                          <a:latin typeface="Noto serif" panose="02020600060500020200" pitchFamily="18" charset="0"/>
                        </a:rPr>
                        <a:t>Fixed-length ASCII string type (1 byte per character); for example, to create a string dtype with length 10, use 'S10'</a:t>
                      </a:r>
                    </a:p>
                  </a:txBody>
                  <a:tcPr marL="36566" marR="36566" marT="18283" marB="182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EF2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0853303"/>
                  </a:ext>
                </a:extLst>
              </a:tr>
              <a:tr h="884943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>
                          <a:effectLst/>
                          <a:latin typeface="Noto serif" panose="02020600060500020200" pitchFamily="18" charset="0"/>
                        </a:rPr>
                        <a:t>unicode_</a:t>
                      </a:r>
                    </a:p>
                  </a:txBody>
                  <a:tcPr marL="36566" marR="36566" marT="18283" marB="182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>
                          <a:effectLst/>
                          <a:latin typeface="Noto serif" panose="02020600060500020200" pitchFamily="18" charset="0"/>
                        </a:rPr>
                        <a:t>U</a:t>
                      </a:r>
                    </a:p>
                  </a:txBody>
                  <a:tcPr marL="36566" marR="36566" marT="18283" marB="182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dirty="0">
                          <a:effectLst/>
                          <a:latin typeface="Noto serif" panose="02020600060500020200" pitchFamily="18" charset="0"/>
                        </a:rPr>
                        <a:t>Fixed-length Unicode type (number of bytes platform specific); same specification semantics as string_ (e.g., 'U10')</a:t>
                      </a:r>
                    </a:p>
                  </a:txBody>
                  <a:tcPr marL="36566" marR="36566" marT="18283" marB="182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153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023641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CF3FCD-F29F-4C09-B8B1-DE5342F0C1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More Ways to Create Arrays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C0E4DB-9E96-455B-A4A3-3623639449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 addition to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np.array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(), there are a number of other methods for creating new arrays.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>
                <a:solidFill>
                  <a:prstClr val="black"/>
                </a:solidFill>
                <a:latin typeface="Calibri" panose="020F0502020204030204"/>
              </a:rPr>
              <a:t>a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range() is an array-valued version of the built-in Python range function</a:t>
            </a:r>
          </a:p>
          <a:p>
            <a:pPr marL="914400" lvl="2" indent="0">
              <a:buNone/>
              <a:defRPr/>
            </a:pP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000088"/>
                </a:solidFill>
                <a:effectLst/>
                <a:latin typeface="Consolas" panose="020B0609020204030204" pitchFamily="49" charset="0"/>
              </a:rPr>
              <a:t>np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555555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000088"/>
                </a:solidFill>
                <a:effectLst/>
                <a:latin typeface="Consolas" panose="020B0609020204030204" pitchFamily="49" charset="0"/>
              </a:rPr>
              <a:t>arange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FF6600"/>
                </a:solidFill>
                <a:effectLst/>
                <a:latin typeface="Consolas" panose="020B0609020204030204" pitchFamily="49" charset="0"/>
              </a:rPr>
              <a:t>15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Courier New" panose="02070309020205020404" pitchFamily="49" charset="0"/>
              </a:rPr>
              <a:t>zeros()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and 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Courier New" panose="02070309020205020404" pitchFamily="49" charset="0"/>
              </a:rPr>
              <a:t>ones()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create arrays of 0s or 1s, respectively, with a given length or shape.</a:t>
            </a:r>
          </a:p>
          <a:p>
            <a:pPr marL="914400" lvl="2" indent="0">
              <a:buNone/>
              <a:defRPr/>
            </a:pPr>
            <a:r>
              <a:rPr lang="en-US" dirty="0" err="1">
                <a:solidFill>
                  <a:srgbClr val="000088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np</a:t>
            </a:r>
            <a:r>
              <a:rPr lang="en-US" dirty="0" err="1">
                <a:solidFill>
                  <a:srgbClr val="55555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.</a:t>
            </a:r>
            <a:r>
              <a:rPr lang="en-US" dirty="0" err="1">
                <a:solidFill>
                  <a:srgbClr val="000088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zeros</a:t>
            </a:r>
            <a:r>
              <a:rPr lang="en-US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(</a:t>
            </a:r>
            <a:r>
              <a:rPr lang="en-US" dirty="0">
                <a:solidFill>
                  <a:srgbClr val="FF66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10</a:t>
            </a:r>
            <a:r>
              <a:rPr lang="en-US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) </a:t>
            </a:r>
          </a:p>
          <a:p>
            <a:pPr marL="914400" lvl="2" indent="0">
              <a:spcBef>
                <a:spcPts val="1000"/>
              </a:spcBef>
              <a:buNone/>
              <a:defRPr/>
            </a:pPr>
            <a:r>
              <a:rPr lang="en-US" dirty="0" err="1">
                <a:solidFill>
                  <a:srgbClr val="000088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np</a:t>
            </a:r>
            <a:r>
              <a:rPr lang="en-US" dirty="0" err="1">
                <a:solidFill>
                  <a:srgbClr val="55555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.</a:t>
            </a:r>
            <a:r>
              <a:rPr lang="en-US" dirty="0" err="1">
                <a:solidFill>
                  <a:srgbClr val="000088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ones</a:t>
            </a:r>
            <a:r>
              <a:rPr lang="en-US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(</a:t>
            </a:r>
            <a:r>
              <a:rPr lang="en-US" dirty="0">
                <a:solidFill>
                  <a:srgbClr val="FF66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10</a:t>
            </a:r>
            <a:r>
              <a:rPr lang="en-US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)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Courier New" panose="02070309020205020404" pitchFamily="49" charset="0"/>
              </a:rPr>
              <a:t>Empty()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creates an array without initializing its values to any particular value.</a:t>
            </a:r>
          </a:p>
          <a:p>
            <a:pPr marL="914400" lvl="2" indent="0">
              <a:buNone/>
              <a:defRPr/>
            </a:pP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000088"/>
                </a:solidFill>
                <a:effectLst/>
                <a:latin typeface="Consolas" panose="020B0609020204030204" pitchFamily="49" charset="0"/>
              </a:rPr>
              <a:t>np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555555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000088"/>
                </a:solidFill>
                <a:effectLst/>
                <a:latin typeface="Consolas" panose="020B0609020204030204" pitchFamily="49" charset="0"/>
              </a:rPr>
              <a:t>empty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((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FF6600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3D3B4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FF6600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3D3B4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FF6600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</a:t>
            </a:r>
            <a:endParaRPr lang="en-US" dirty="0">
              <a:solidFill>
                <a:srgbClr val="000000"/>
              </a:solidFill>
              <a:effectLst/>
              <a:latin typeface="Consolas" panose="020B0609020204030204" pitchFamily="49" charset="0"/>
              <a:ea typeface="Times New Roman" panose="02020603050405020304" pitchFamily="18" charset="0"/>
              <a:cs typeface="Courier New" panose="02070309020205020404" pitchFamily="49" charset="0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To create a higher dimensional array with these methods, pass a tuple for the shape</a:t>
            </a:r>
            <a:endParaRPr lang="en-US" sz="1800" dirty="0">
              <a:solidFill>
                <a:srgbClr val="000088"/>
              </a:solidFill>
              <a:effectLst/>
              <a:latin typeface="Consolas" panose="020B0609020204030204" pitchFamily="49" charset="0"/>
              <a:ea typeface="Times New Roman" panose="02020603050405020304" pitchFamily="18" charset="0"/>
              <a:cs typeface="Courier New" panose="02070309020205020404" pitchFamily="49" charset="0"/>
            </a:endParaRPr>
          </a:p>
          <a:p>
            <a:pPr marL="914400" lvl="2" indent="0">
              <a:buNone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000088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np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55555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.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000088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zeros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((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FF66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3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,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3D3B49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FF66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6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))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</a:p>
          <a:p>
            <a:pPr marL="914400" lvl="2" indent="0">
              <a:buNone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Rectangle 8">
            <a:extLst>
              <a:ext uri="{FF2B5EF4-FFF2-40B4-BE49-F238E27FC236}">
                <a16:creationId xmlns:a16="http://schemas.microsoft.com/office/drawing/2014/main" id="{A994990C-A0D9-4569-9201-9D1878E7AD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2" name="Rectangle 9">
            <a:extLst>
              <a:ext uri="{FF2B5EF4-FFF2-40B4-BE49-F238E27FC236}">
                <a16:creationId xmlns:a16="http://schemas.microsoft.com/office/drawing/2014/main" id="{184E2444-8D2C-408D-93EE-46E3590F85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0100"/>
            <a:ext cx="65" cy="276999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Rectangle 10">
            <a:extLst>
              <a:ext uri="{FF2B5EF4-FFF2-40B4-BE49-F238E27FC236}">
                <a16:creationId xmlns:a16="http://schemas.microsoft.com/office/drawing/2014/main" id="{D8AD7D13-1987-49C0-8026-4994727BE1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0100"/>
            <a:ext cx="65" cy="276999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04076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1E27EE-C2E1-4AF0-8179-F04AC33897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Shape of Array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E61021-609E-4C43-BE07-805D4D2EAA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0" i="0" dirty="0">
                <a:solidFill>
                  <a:srgbClr val="000000"/>
                </a:solidFill>
                <a:effectLst/>
                <a:ea typeface="Verdana" panose="020B0604030504040204" pitchFamily="34" charset="0"/>
              </a:rPr>
              <a:t>The shape of an array is the number of elements in each dimension.</a:t>
            </a:r>
          </a:p>
          <a:p>
            <a:r>
              <a:rPr lang="en-US" dirty="0">
                <a:ea typeface="Verdana" panose="020B0604030504040204" pitchFamily="34" charset="0"/>
              </a:rPr>
              <a:t>NumPy arrays have an attribute called shape that returns a tuple with each index having the number of corresponding elements.</a:t>
            </a:r>
          </a:p>
          <a:p>
            <a:pPr marL="914400" lvl="2" indent="0">
              <a:buNone/>
            </a:pPr>
            <a:r>
              <a:rPr lang="en-US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np.array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([[</a:t>
            </a: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], [</a:t>
            </a: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6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7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8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]])</a:t>
            </a:r>
            <a:br>
              <a:rPr lang="en-US" dirty="0"/>
            </a:b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arr.shape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914400" lvl="2" indent="0">
              <a:buNone/>
            </a:pPr>
            <a:endParaRPr lang="en-US" dirty="0">
              <a:ea typeface="Verdana" panose="020B0604030504040204" pitchFamily="34" charset="0"/>
            </a:endParaRPr>
          </a:p>
          <a:p>
            <a:pPr marL="914400" lvl="2" indent="0">
              <a:buNone/>
            </a:pPr>
            <a:r>
              <a:rPr lang="en-US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np.array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([</a:t>
            </a: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],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ndmin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en-US" dirty="0"/>
            </a:b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en-US" dirty="0"/>
            </a:b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'shape of array :'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arr.shape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endParaRPr lang="en-US" dirty="0">
              <a:ea typeface="Verdana" panose="020B0604030504040204" pitchFamily="34" charset="0"/>
            </a:endParaRPr>
          </a:p>
          <a:p>
            <a:r>
              <a:rPr lang="en-US" dirty="0">
                <a:ea typeface="Verdana" panose="020B0604030504040204" pitchFamily="34" charset="0"/>
              </a:rPr>
              <a:t>By reshaping we can add or remove dimensions or change number of elements in each dimension.</a:t>
            </a:r>
          </a:p>
          <a:p>
            <a:pPr marL="914400" lvl="2" indent="0">
              <a:buNone/>
            </a:pPr>
            <a:r>
              <a:rPr lang="en-US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np.array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([</a:t>
            </a: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6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7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8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9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11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12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])</a:t>
            </a:r>
            <a:br>
              <a:rPr lang="en-US" dirty="0"/>
            </a:br>
            <a:r>
              <a:rPr lang="en-US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newarr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arr.reshape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en-US" dirty="0"/>
            </a:b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newarr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endParaRPr lang="en-US" dirty="0">
              <a:ea typeface="Verdana" panose="020B0604030504040204" pitchFamily="34" charset="0"/>
            </a:endParaRPr>
          </a:p>
          <a:p>
            <a:endParaRPr lang="en-US" dirty="0">
              <a:ea typeface="Verdana" panose="020B0604030504040204" pitchFamily="34" charset="0"/>
            </a:endParaRPr>
          </a:p>
          <a:p>
            <a:endParaRPr lang="en-US" dirty="0"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7102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390ADE-21E3-45AA-A203-6C7A3BDEB9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Arithmetic with NumPy Arrays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243FFBA-67DD-4E80-BDE7-3EF1AACBF6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NumPy arrays enable you to express batch operations on data without writing any for loops. This is called </a:t>
            </a:r>
            <a:r>
              <a:rPr lang="en-US" i="1" dirty="0"/>
              <a:t>vectorization.</a:t>
            </a:r>
          </a:p>
          <a:p>
            <a:r>
              <a:rPr lang="en-US" dirty="0"/>
              <a:t>Any arithmetic operations between equal-size arrays applies the operation element-wise:</a:t>
            </a:r>
          </a:p>
          <a:p>
            <a:pPr marL="914400" lvl="2" indent="0">
              <a:buNone/>
            </a:pPr>
            <a:r>
              <a:rPr kumimoji="0" lang="en-US" altLang="en-US" sz="1900" b="0" i="0" u="none" strike="noStrike" cap="none" normalizeH="0" baseline="0" dirty="0" err="1">
                <a:ln>
                  <a:noFill/>
                </a:ln>
                <a:solidFill>
                  <a:srgbClr val="000088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rgbClr val="3D3B4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rgbClr val="555555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rgbClr val="3D3B4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1900" b="0" i="0" u="none" strike="noStrike" cap="none" normalizeH="0" baseline="0" dirty="0" err="1">
                <a:ln>
                  <a:noFill/>
                </a:ln>
                <a:solidFill>
                  <a:srgbClr val="000088"/>
                </a:solidFill>
                <a:effectLst/>
                <a:latin typeface="Consolas" panose="020B0609020204030204" pitchFamily="49" charset="0"/>
              </a:rPr>
              <a:t>np</a:t>
            </a:r>
            <a:r>
              <a:rPr kumimoji="0" lang="en-US" altLang="en-US" sz="1900" b="0" i="0" u="none" strike="noStrike" cap="none" normalizeH="0" baseline="0" dirty="0" err="1">
                <a:ln>
                  <a:noFill/>
                </a:ln>
                <a:solidFill>
                  <a:srgbClr val="555555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kumimoji="0" lang="en-US" altLang="en-US" sz="1900" b="0" i="0" u="none" strike="noStrike" cap="none" normalizeH="0" baseline="0" dirty="0" err="1">
                <a:ln>
                  <a:noFill/>
                </a:ln>
                <a:solidFill>
                  <a:srgbClr val="000088"/>
                </a:solidFill>
                <a:effectLst/>
                <a:latin typeface="Consolas" panose="020B0609020204030204" pitchFamily="49" charset="0"/>
              </a:rPr>
              <a:t>array</a:t>
            </a: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([[</a:t>
            </a: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rgbClr val="FF6600"/>
                </a:solidFill>
                <a:effectLst/>
                <a:latin typeface="Consolas" panose="020B0609020204030204" pitchFamily="49" charset="0"/>
              </a:rPr>
              <a:t>1.</a:t>
            </a: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rgbClr val="3D3B4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rgbClr val="FF6600"/>
                </a:solidFill>
                <a:effectLst/>
                <a:latin typeface="Consolas" panose="020B0609020204030204" pitchFamily="49" charset="0"/>
              </a:rPr>
              <a:t>2.</a:t>
            </a: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rgbClr val="3D3B4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rgbClr val="FF6600"/>
                </a:solidFill>
                <a:effectLst/>
                <a:latin typeface="Consolas" panose="020B0609020204030204" pitchFamily="49" charset="0"/>
              </a:rPr>
              <a:t>3.</a:t>
            </a: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],</a:t>
            </a: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rgbClr val="3D3B4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rgbClr val="FF6600"/>
                </a:solidFill>
                <a:effectLst/>
                <a:latin typeface="Consolas" panose="020B0609020204030204" pitchFamily="49" charset="0"/>
              </a:rPr>
              <a:t>4.</a:t>
            </a: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rgbClr val="3D3B4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rgbClr val="FF6600"/>
                </a:solidFill>
                <a:effectLst/>
                <a:latin typeface="Consolas" panose="020B0609020204030204" pitchFamily="49" charset="0"/>
              </a:rPr>
              <a:t>5.</a:t>
            </a: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rgbClr val="3D3B4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rgbClr val="FF6600"/>
                </a:solidFill>
                <a:effectLst/>
                <a:latin typeface="Consolas" panose="020B0609020204030204" pitchFamily="49" charset="0"/>
              </a:rPr>
              <a:t>6.</a:t>
            </a: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]])</a:t>
            </a:r>
            <a:b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en-US" altLang="en-US" sz="1900" b="0" i="0" u="none" strike="noStrike" cap="none" normalizeH="0" baseline="0" dirty="0" err="1">
                <a:ln>
                  <a:noFill/>
                </a:ln>
                <a:solidFill>
                  <a:srgbClr val="000088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rgbClr val="3D3B4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rgbClr val="555555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rgbClr val="3D3B4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1900" b="0" i="0" u="none" strike="noStrike" cap="none" normalizeH="0" baseline="0" dirty="0" err="1">
                <a:ln>
                  <a:noFill/>
                </a:ln>
                <a:solidFill>
                  <a:srgbClr val="000088"/>
                </a:solidFill>
                <a:effectLst/>
                <a:latin typeface="Consolas" panose="020B0609020204030204" pitchFamily="49" charset="0"/>
              </a:rPr>
              <a:t>arr</a:t>
            </a:r>
            <a:b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rgbClr val="000088"/>
                </a:solidFill>
                <a:effectLst/>
                <a:latin typeface="Consolas" panose="020B0609020204030204" pitchFamily="49" charset="0"/>
              </a:rPr>
            </a:br>
            <a:r>
              <a:rPr kumimoji="0" lang="en-US" altLang="en-US" sz="1900" b="0" i="0" u="none" strike="noStrike" cap="none" normalizeH="0" baseline="0" dirty="0" err="1">
                <a:ln>
                  <a:noFill/>
                </a:ln>
                <a:solidFill>
                  <a:srgbClr val="000088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rgbClr val="3D3B4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rgbClr val="555555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rgbClr val="3D3B4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1900" b="0" i="0" u="none" strike="noStrike" cap="none" normalizeH="0" baseline="0" dirty="0" err="1">
                <a:ln>
                  <a:noFill/>
                </a:ln>
                <a:solidFill>
                  <a:srgbClr val="000088"/>
                </a:solidFill>
                <a:effectLst/>
                <a:latin typeface="Consolas" panose="020B0609020204030204" pitchFamily="49" charset="0"/>
              </a:rPr>
              <a:t>arr</a:t>
            </a:r>
            <a:endParaRPr lang="en-US" sz="1900" i="1" dirty="0"/>
          </a:p>
          <a:p>
            <a:r>
              <a:rPr lang="en-US" dirty="0"/>
              <a:t>Arithmetic operations with scalars propagate the scalar argument to each element in the array:</a:t>
            </a:r>
          </a:p>
          <a:p>
            <a:pPr marL="914400" lvl="2" indent="0">
              <a:buNone/>
            </a:pP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rgbClr val="FF6600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rgbClr val="3D3B4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rgbClr val="555555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rgbClr val="3D3B4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1900" b="0" i="0" u="none" strike="noStrike" cap="none" normalizeH="0" baseline="0" dirty="0" err="1">
                <a:ln>
                  <a:noFill/>
                </a:ln>
                <a:solidFill>
                  <a:srgbClr val="000088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rgbClr val="3D3B49"/>
                </a:solidFill>
                <a:effectLst/>
                <a:latin typeface="Consolas" panose="020B0609020204030204" pitchFamily="49" charset="0"/>
              </a:rPr>
              <a:t> </a:t>
            </a:r>
            <a:b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rgbClr val="3D3B49"/>
                </a:solidFill>
                <a:effectLst/>
                <a:latin typeface="Consolas" panose="020B0609020204030204" pitchFamily="49" charset="0"/>
              </a:rPr>
            </a:br>
            <a:r>
              <a:rPr kumimoji="0" lang="en-US" altLang="en-US" sz="1900" b="0" i="0" u="none" strike="noStrike" cap="none" normalizeH="0" baseline="0" dirty="0" err="1">
                <a:ln>
                  <a:noFill/>
                </a:ln>
                <a:solidFill>
                  <a:srgbClr val="000088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rgbClr val="3D3B4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rgbClr val="555555"/>
                </a:solidFill>
                <a:effectLst/>
                <a:latin typeface="Consolas" panose="020B0609020204030204" pitchFamily="49" charset="0"/>
              </a:rPr>
              <a:t>**</a:t>
            </a: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rgbClr val="3D3B4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rgbClr val="FF6600"/>
                </a:solidFill>
                <a:effectLst/>
                <a:latin typeface="Consolas" panose="020B0609020204030204" pitchFamily="49" charset="0"/>
              </a:rPr>
              <a:t>0.5</a:t>
            </a:r>
            <a:endParaRPr lang="en-US" sz="1900" dirty="0"/>
          </a:p>
          <a:p>
            <a:r>
              <a:rPr lang="en-US" dirty="0"/>
              <a:t>Comparisons between arrays of the same size yield </a:t>
            </a:r>
            <a:r>
              <a:rPr lang="en-US" dirty="0" err="1"/>
              <a:t>boolean</a:t>
            </a:r>
            <a:r>
              <a:rPr lang="en-US" dirty="0"/>
              <a:t> arrays:</a:t>
            </a:r>
          </a:p>
          <a:p>
            <a:pPr marL="914400" lvl="2" indent="0">
              <a:buNone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88"/>
                </a:solidFill>
                <a:effectLst/>
                <a:latin typeface="Consolas" panose="020B0609020204030204" pitchFamily="49" charset="0"/>
              </a:rPr>
              <a:t>arr2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3D3B4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555555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3D3B4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000088"/>
                </a:solidFill>
                <a:effectLst/>
                <a:latin typeface="Consolas" panose="020B0609020204030204" pitchFamily="49" charset="0"/>
              </a:rPr>
              <a:t>np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555555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000088"/>
                </a:solidFill>
                <a:effectLst/>
                <a:latin typeface="Consolas" panose="020B0609020204030204" pitchFamily="49" charset="0"/>
              </a:rPr>
              <a:t>array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([[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FF6600"/>
                </a:solidFill>
                <a:effectLst/>
                <a:latin typeface="Consolas" panose="020B0609020204030204" pitchFamily="49" charset="0"/>
              </a:rPr>
              <a:t>0.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3D3B4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FF6600"/>
                </a:solidFill>
                <a:effectLst/>
                <a:latin typeface="Consolas" panose="020B0609020204030204" pitchFamily="49" charset="0"/>
              </a:rPr>
              <a:t>4.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3D3B4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FF6600"/>
                </a:solidFill>
                <a:effectLst/>
                <a:latin typeface="Consolas" panose="020B0609020204030204" pitchFamily="49" charset="0"/>
              </a:rPr>
              <a:t>1.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],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3D3B4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FF6600"/>
                </a:solidFill>
                <a:effectLst/>
                <a:latin typeface="Consolas" panose="020B0609020204030204" pitchFamily="49" charset="0"/>
              </a:rPr>
              <a:t>7.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3D3B4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FF6600"/>
                </a:solidFill>
                <a:effectLst/>
                <a:latin typeface="Consolas" panose="020B0609020204030204" pitchFamily="49" charset="0"/>
              </a:rPr>
              <a:t>2.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3D3B4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FF6600"/>
                </a:solidFill>
                <a:effectLst/>
                <a:latin typeface="Consolas" panose="020B0609020204030204" pitchFamily="49" charset="0"/>
              </a:rPr>
              <a:t>12.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]])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</a:p>
          <a:p>
            <a:pPr marL="914400" lvl="2" indent="0">
              <a:buNone/>
            </a:pP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rgbClr val="000088"/>
                </a:solidFill>
                <a:effectLst/>
                <a:latin typeface="Consolas" panose="020B0609020204030204" pitchFamily="49" charset="0"/>
              </a:rPr>
              <a:t>arr2</a:t>
            </a:r>
            <a:r>
              <a:rPr kumimoji="0" lang="en-US" altLang="en-US" sz="3100" b="0" i="0" u="none" strike="noStrike" cap="none" normalizeH="0" baseline="0" dirty="0">
                <a:ln>
                  <a:noFill/>
                </a:ln>
                <a:solidFill>
                  <a:srgbClr val="3D3B4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rgbClr val="555555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kumimoji="0" lang="en-US" altLang="en-US" sz="3100" b="0" i="0" u="none" strike="noStrike" cap="none" normalizeH="0" baseline="0" dirty="0">
                <a:ln>
                  <a:noFill/>
                </a:ln>
                <a:solidFill>
                  <a:srgbClr val="3D3B4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2100" b="0" i="0" u="none" strike="noStrike" cap="none" normalizeH="0" baseline="0" dirty="0" err="1">
                <a:ln>
                  <a:noFill/>
                </a:ln>
                <a:solidFill>
                  <a:srgbClr val="000088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4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914400" lvl="2" indent="0">
              <a:buNone/>
            </a:pPr>
            <a:endParaRPr kumimoji="0" lang="en-US" altLang="en-US" sz="4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endParaRPr lang="en-US" dirty="0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9826FB95-D046-4F66-819D-6BAFB82261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0100"/>
            <a:ext cx="65" cy="276999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5ABF2465-19DB-4D77-83B9-D079331843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0100"/>
            <a:ext cx="65" cy="276999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613B7A25-93E2-4CB7-B2F8-C26DC7DF51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0100"/>
            <a:ext cx="65" cy="276999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39EF2C9A-D77D-4898-97AC-112B8B7A46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0100"/>
            <a:ext cx="65" cy="276999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19451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01FFCE-A1F5-491E-A229-479B7C66A0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Universal Functions: Fast Element-Wise Array 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9E151C-D895-4275-A38D-C6A8DD0F4F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A universal function, or </a:t>
            </a:r>
            <a:r>
              <a:rPr lang="en-US" i="1" dirty="0" err="1"/>
              <a:t>ufunc</a:t>
            </a:r>
            <a:r>
              <a:rPr lang="en-US" dirty="0"/>
              <a:t>, is a function that performs element-wise operations on data in </a:t>
            </a:r>
            <a:r>
              <a:rPr lang="en-US" dirty="0" err="1"/>
              <a:t>ndarrays</a:t>
            </a:r>
            <a:endParaRPr lang="en-US" dirty="0"/>
          </a:p>
          <a:p>
            <a:r>
              <a:rPr lang="en-US" dirty="0"/>
              <a:t>Many </a:t>
            </a:r>
            <a:r>
              <a:rPr lang="en-US" dirty="0" err="1"/>
              <a:t>ufuncs</a:t>
            </a:r>
            <a:r>
              <a:rPr lang="en-US" dirty="0"/>
              <a:t> are simple element-wise transformations, like sqrt or exp (referred to as </a:t>
            </a:r>
            <a:r>
              <a:rPr lang="en-US" i="1" dirty="0"/>
              <a:t>unary</a:t>
            </a:r>
            <a:r>
              <a:rPr lang="en-US" dirty="0"/>
              <a:t> </a:t>
            </a:r>
            <a:r>
              <a:rPr lang="en-US" i="1" dirty="0" err="1"/>
              <a:t>ufuncs</a:t>
            </a:r>
            <a:r>
              <a:rPr lang="en-US" dirty="0"/>
              <a:t>)</a:t>
            </a:r>
          </a:p>
          <a:p>
            <a:pPr marL="1371600" lvl="3" indent="0">
              <a:buNone/>
            </a:pP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000088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88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555555"/>
                </a:solidFill>
                <a:effectLst/>
                <a:latin typeface="Consolas" panose="020B0609020204030204" pitchFamily="49" charset="0"/>
              </a:rPr>
              <a:t>=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000088"/>
                </a:solidFill>
                <a:effectLst/>
                <a:latin typeface="Consolas" panose="020B0609020204030204" pitchFamily="49" charset="0"/>
              </a:rPr>
              <a:t>np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555555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000088"/>
                </a:solidFill>
                <a:effectLst/>
                <a:latin typeface="Consolas" panose="020B0609020204030204" pitchFamily="49" charset="0"/>
              </a:rPr>
              <a:t>arange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FF6600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b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000088"/>
                </a:solidFill>
                <a:effectLst/>
                <a:latin typeface="Consolas" panose="020B0609020204030204" pitchFamily="49" charset="0"/>
              </a:rPr>
              <a:t>np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555555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000088"/>
                </a:solidFill>
                <a:effectLst/>
                <a:latin typeface="Consolas" panose="020B0609020204030204" pitchFamily="49" charset="0"/>
              </a:rPr>
              <a:t>sqrt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000088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endParaRPr lang="en-US" altLang="en-US" sz="3000" dirty="0">
              <a:solidFill>
                <a:srgbClr val="3D3B49"/>
              </a:solidFill>
              <a:latin typeface="Consolas" panose="020B0609020204030204" pitchFamily="49" charset="0"/>
            </a:endParaRPr>
          </a:p>
          <a:p>
            <a:pPr marL="1371600" lvl="3" indent="0">
              <a:buNone/>
            </a:pP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000088"/>
                </a:solidFill>
                <a:effectLst/>
                <a:latin typeface="Consolas" panose="020B0609020204030204" pitchFamily="49" charset="0"/>
              </a:rPr>
              <a:t>np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555555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000088"/>
                </a:solidFill>
                <a:effectLst/>
                <a:latin typeface="Consolas" panose="020B0609020204030204" pitchFamily="49" charset="0"/>
              </a:rPr>
              <a:t>exp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000088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4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r>
              <a:rPr lang="en-US" dirty="0"/>
              <a:t>Others, such as add or maximum, take two arrays (thus, binary </a:t>
            </a:r>
            <a:r>
              <a:rPr lang="en-US" dirty="0" err="1"/>
              <a:t>ufuncs</a:t>
            </a:r>
            <a:r>
              <a:rPr lang="en-US" dirty="0"/>
              <a:t>) and return a single array as the result</a:t>
            </a:r>
          </a:p>
          <a:p>
            <a:pPr marL="1371600" lvl="3" indent="0">
              <a:buNone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88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3D3B4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555555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3D3B4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000088"/>
                </a:solidFill>
                <a:effectLst/>
                <a:latin typeface="Consolas" panose="020B0609020204030204" pitchFamily="49" charset="0"/>
              </a:rPr>
              <a:t>np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555555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000088"/>
                </a:solidFill>
                <a:effectLst/>
                <a:latin typeface="Consolas" panose="020B0609020204030204" pitchFamily="49" charset="0"/>
              </a:rPr>
              <a:t>random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555555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000088"/>
                </a:solidFill>
                <a:effectLst/>
                <a:latin typeface="Consolas" panose="020B0609020204030204" pitchFamily="49" charset="0"/>
              </a:rPr>
              <a:t>randn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FF6600"/>
                </a:solidFill>
                <a:effectLst/>
                <a:latin typeface="Consolas" panose="020B0609020204030204" pitchFamily="49" charset="0"/>
              </a:rPr>
              <a:t>8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1371600" lvl="3" indent="0">
              <a:buNone/>
            </a:pPr>
            <a:r>
              <a:rPr lang="en-US" altLang="en-US" sz="1700" dirty="0">
                <a:solidFill>
                  <a:srgbClr val="000088"/>
                </a:solidFill>
                <a:latin typeface="Consolas" panose="020B0609020204030204" pitchFamily="49" charset="0"/>
              </a:rPr>
              <a:t>y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rgbClr val="000088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rgbClr val="555555"/>
                </a:solidFill>
                <a:effectLst/>
                <a:latin typeface="Consolas" panose="020B0609020204030204" pitchFamily="49" charset="0"/>
              </a:rPr>
              <a:t>= </a:t>
            </a:r>
            <a:r>
              <a:rPr kumimoji="0" lang="en-US" altLang="en-US" sz="1700" b="0" i="0" u="none" strike="noStrike" cap="none" normalizeH="0" baseline="0" dirty="0" err="1">
                <a:ln>
                  <a:noFill/>
                </a:ln>
                <a:solidFill>
                  <a:srgbClr val="000088"/>
                </a:solidFill>
                <a:effectLst/>
                <a:latin typeface="Consolas" panose="020B0609020204030204" pitchFamily="49" charset="0"/>
              </a:rPr>
              <a:t>np</a:t>
            </a:r>
            <a:r>
              <a:rPr kumimoji="0" lang="en-US" altLang="en-US" sz="1700" b="0" i="0" u="none" strike="noStrike" cap="none" normalizeH="0" baseline="0" dirty="0" err="1">
                <a:ln>
                  <a:noFill/>
                </a:ln>
                <a:solidFill>
                  <a:srgbClr val="555555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kumimoji="0" lang="en-US" altLang="en-US" sz="1700" b="0" i="0" u="none" strike="noStrike" cap="none" normalizeH="0" baseline="0" dirty="0" err="1">
                <a:ln>
                  <a:noFill/>
                </a:ln>
                <a:solidFill>
                  <a:srgbClr val="000088"/>
                </a:solidFill>
                <a:effectLst/>
                <a:latin typeface="Consolas" panose="020B0609020204030204" pitchFamily="49" charset="0"/>
              </a:rPr>
              <a:t>random</a:t>
            </a:r>
            <a:r>
              <a:rPr kumimoji="0" lang="en-US" altLang="en-US" sz="1700" b="0" i="0" u="none" strike="noStrike" cap="none" normalizeH="0" baseline="0" dirty="0" err="1">
                <a:ln>
                  <a:noFill/>
                </a:ln>
                <a:solidFill>
                  <a:srgbClr val="555555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kumimoji="0" lang="en-US" altLang="en-US" sz="1700" b="0" i="0" u="none" strike="noStrike" cap="none" normalizeH="0" baseline="0" dirty="0" err="1">
                <a:ln>
                  <a:noFill/>
                </a:ln>
                <a:solidFill>
                  <a:srgbClr val="000088"/>
                </a:solidFill>
                <a:effectLst/>
                <a:latin typeface="Consolas" panose="020B0609020204030204" pitchFamily="49" charset="0"/>
              </a:rPr>
              <a:t>randn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rgbClr val="FF6600"/>
                </a:solidFill>
                <a:effectLst/>
                <a:latin typeface="Consolas" panose="020B0609020204030204" pitchFamily="49" charset="0"/>
              </a:rPr>
              <a:t>8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1371600" lvl="3" indent="0">
              <a:buNone/>
            </a:pPr>
            <a:r>
              <a:rPr kumimoji="0" lang="en-US" altLang="en-US" sz="1700" b="0" i="0" u="none" strike="noStrike" cap="none" normalizeH="0" baseline="0" dirty="0" err="1">
                <a:ln>
                  <a:noFill/>
                </a:ln>
                <a:solidFill>
                  <a:srgbClr val="000088"/>
                </a:solidFill>
                <a:effectLst/>
                <a:latin typeface="Consolas" panose="020B0609020204030204" pitchFamily="49" charset="0"/>
              </a:rPr>
              <a:t>np</a:t>
            </a:r>
            <a:r>
              <a:rPr kumimoji="0" lang="en-US" altLang="en-US" sz="1700" b="0" i="0" u="none" strike="noStrike" cap="none" normalizeH="0" baseline="0" dirty="0" err="1">
                <a:ln>
                  <a:noFill/>
                </a:ln>
                <a:solidFill>
                  <a:srgbClr val="555555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kumimoji="0" lang="en-US" altLang="en-US" sz="1700" b="0" i="0" u="none" strike="noStrike" cap="none" normalizeH="0" baseline="0" dirty="0" err="1">
                <a:ln>
                  <a:noFill/>
                </a:ln>
                <a:solidFill>
                  <a:srgbClr val="000088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en-US" altLang="en-US" sz="1700" b="0" i="0" u="none" strike="noStrike" cap="none" normalizeH="0" baseline="0" dirty="0" err="1">
                <a:ln>
                  <a:noFill/>
                </a:ln>
                <a:solidFill>
                  <a:srgbClr val="000088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kumimoji="0" lang="en-US" altLang="en-US" sz="17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kumimoji="0" lang="en-US" altLang="en-US" sz="1700" b="0" i="0" u="none" strike="noStrike" cap="none" normalizeH="0" baseline="0" dirty="0" err="1">
                <a:ln>
                  <a:noFill/>
                </a:ln>
                <a:solidFill>
                  <a:srgbClr val="000088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endParaRPr kumimoji="0" lang="en-US" altLang="en-US" sz="1700" b="0" i="0" u="none" strike="noStrike" cap="none" normalizeH="0" baseline="0" dirty="0">
              <a:ln>
                <a:noFill/>
              </a:ln>
              <a:solidFill>
                <a:srgbClr val="000088"/>
              </a:solidFill>
              <a:effectLst/>
              <a:latin typeface="Consolas" panose="020B0609020204030204" pitchFamily="49" charset="0"/>
            </a:endParaRPr>
          </a:p>
          <a:p>
            <a:pPr marL="1371600" lvl="3" indent="0">
              <a:buNone/>
            </a:pPr>
            <a:r>
              <a:rPr kumimoji="0" lang="en-US" altLang="en-US" sz="1700" b="0" i="0" u="none" strike="noStrike" cap="none" normalizeH="0" baseline="0" dirty="0" err="1">
                <a:ln>
                  <a:noFill/>
                </a:ln>
                <a:solidFill>
                  <a:srgbClr val="000088"/>
                </a:solidFill>
                <a:effectLst/>
                <a:latin typeface="Consolas" panose="020B0609020204030204" pitchFamily="49" charset="0"/>
              </a:rPr>
              <a:t>np</a:t>
            </a:r>
            <a:r>
              <a:rPr kumimoji="0" lang="en-US" altLang="en-US" sz="1700" b="0" i="0" u="none" strike="noStrike" cap="none" normalizeH="0" baseline="0" dirty="0" err="1">
                <a:ln>
                  <a:noFill/>
                </a:ln>
                <a:solidFill>
                  <a:srgbClr val="555555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kumimoji="0" lang="en-US" altLang="en-US" sz="1700" b="0" i="0" u="none" strike="noStrike" cap="none" normalizeH="0" baseline="0" dirty="0" err="1">
                <a:ln>
                  <a:noFill/>
                </a:ln>
                <a:solidFill>
                  <a:srgbClr val="000088"/>
                </a:solidFill>
                <a:effectLst/>
                <a:latin typeface="Consolas" panose="020B0609020204030204" pitchFamily="49" charset="0"/>
              </a:rPr>
              <a:t>maximum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en-US" altLang="en-US" sz="1700" b="0" i="0" u="none" strike="noStrike" cap="none" normalizeH="0" baseline="0" dirty="0" err="1">
                <a:ln>
                  <a:noFill/>
                </a:ln>
                <a:solidFill>
                  <a:srgbClr val="000088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kumimoji="0" lang="en-US" altLang="en-US" sz="17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kumimoji="0" lang="en-US" altLang="en-US" sz="1700" b="0" i="0" u="none" strike="noStrike" cap="none" normalizeH="0" baseline="0" dirty="0" err="1">
                <a:ln>
                  <a:noFill/>
                </a:ln>
                <a:solidFill>
                  <a:srgbClr val="000088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4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endParaRPr kumimoji="0" lang="en-US" altLang="en-US" sz="5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A7D9891A-5FBB-4669-A322-D10E1B5016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0100"/>
            <a:ext cx="65" cy="276999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Rectangle 5">
            <a:extLst>
              <a:ext uri="{FF2B5EF4-FFF2-40B4-BE49-F238E27FC236}">
                <a16:creationId xmlns:a16="http://schemas.microsoft.com/office/drawing/2014/main" id="{904F0A49-AABF-4C1F-9369-D4D8151066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0100"/>
            <a:ext cx="65" cy="276999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Rectangle 6">
            <a:extLst>
              <a:ext uri="{FF2B5EF4-FFF2-40B4-BE49-F238E27FC236}">
                <a16:creationId xmlns:a16="http://schemas.microsoft.com/office/drawing/2014/main" id="{55B6A92F-C705-457A-89C2-58E8A56AFE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0100"/>
            <a:ext cx="65" cy="276999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Rectangle 7">
            <a:extLst>
              <a:ext uri="{FF2B5EF4-FFF2-40B4-BE49-F238E27FC236}">
                <a16:creationId xmlns:a16="http://schemas.microsoft.com/office/drawing/2014/main" id="{C8F00D08-5F40-490B-AAEA-5FE0C2B63F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0100"/>
            <a:ext cx="65" cy="276999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81822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BB3F2C-A1D9-49CE-BDE0-6A2B8EA89C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Unary </a:t>
            </a:r>
            <a:r>
              <a:rPr lang="en-US" dirty="0" err="1"/>
              <a:t>ufuncs</a:t>
            </a: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F96B97D-77B5-40D4-9DF1-88508C22357A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695825" y="234806"/>
          <a:ext cx="7029449" cy="6388387"/>
        </p:xfrm>
        <a:graphic>
          <a:graphicData uri="http://schemas.openxmlformats.org/drawingml/2006/table">
            <a:tbl>
              <a:tblPr/>
              <a:tblGrid>
                <a:gridCol w="2772905">
                  <a:extLst>
                    <a:ext uri="{9D8B030D-6E8A-4147-A177-3AD203B41FA5}">
                      <a16:colId xmlns:a16="http://schemas.microsoft.com/office/drawing/2014/main" val="1390272463"/>
                    </a:ext>
                  </a:extLst>
                </a:gridCol>
                <a:gridCol w="4256544">
                  <a:extLst>
                    <a:ext uri="{9D8B030D-6E8A-4147-A177-3AD203B41FA5}">
                      <a16:colId xmlns:a16="http://schemas.microsoft.com/office/drawing/2014/main" val="1103309340"/>
                    </a:ext>
                  </a:extLst>
                </a:gridCol>
              </a:tblGrid>
              <a:tr h="19785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b="1" i="0">
                          <a:effectLst/>
                          <a:latin typeface="Noto serif" panose="02020600060500020200" pitchFamily="18" charset="0"/>
                        </a:rPr>
                        <a:t>Function</a:t>
                      </a:r>
                    </a:p>
                  </a:txBody>
                  <a:tcPr marL="37838" marR="37838" marT="18919" marB="189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b="1" i="0">
                          <a:effectLst/>
                          <a:latin typeface="Noto serif" panose="02020600060500020200" pitchFamily="18" charset="0"/>
                        </a:rPr>
                        <a:t>Description</a:t>
                      </a:r>
                    </a:p>
                  </a:txBody>
                  <a:tcPr marL="37838" marR="37838" marT="18919" marB="189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6292627"/>
                  </a:ext>
                </a:extLst>
              </a:tr>
              <a:tr h="495683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b="0" dirty="0">
                          <a:effectLst/>
                          <a:latin typeface="Noto serif" panose="02020600060500020200" pitchFamily="18" charset="0"/>
                        </a:rPr>
                        <a:t>abs, fabs</a:t>
                      </a:r>
                    </a:p>
                  </a:txBody>
                  <a:tcPr marL="37838" marR="37838" marT="18919" marB="189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b="0">
                          <a:effectLst/>
                          <a:latin typeface="Noto serif" panose="02020600060500020200" pitchFamily="18" charset="0"/>
                        </a:rPr>
                        <a:t>Compute the absolute value element-wise for integer, floating-point, or complex values</a:t>
                      </a:r>
                    </a:p>
                  </a:txBody>
                  <a:tcPr marL="37838" marR="37838" marT="18919" marB="189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4581975"/>
                  </a:ext>
                </a:extLst>
              </a:tr>
              <a:tr h="35787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b="0">
                          <a:effectLst/>
                          <a:latin typeface="Noto serif" panose="02020600060500020200" pitchFamily="18" charset="0"/>
                        </a:rPr>
                        <a:t>sqrt</a:t>
                      </a:r>
                    </a:p>
                  </a:txBody>
                  <a:tcPr marL="37838" marR="37838" marT="18919" marB="189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b="0">
                          <a:effectLst/>
                          <a:latin typeface="Noto serif" panose="02020600060500020200" pitchFamily="18" charset="0"/>
                        </a:rPr>
                        <a:t>Compute the square root of each element (equivalent to arr ** 0.5)</a:t>
                      </a:r>
                    </a:p>
                  </a:txBody>
                  <a:tcPr marL="37838" marR="37838" marT="18919" marB="189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EF2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7707597"/>
                  </a:ext>
                </a:extLst>
              </a:tr>
              <a:tr h="35787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b="0" dirty="0">
                          <a:effectLst/>
                          <a:latin typeface="Noto serif" panose="02020600060500020200" pitchFamily="18" charset="0"/>
                        </a:rPr>
                        <a:t>square</a:t>
                      </a:r>
                    </a:p>
                  </a:txBody>
                  <a:tcPr marL="37838" marR="37838" marT="18919" marB="189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b="0">
                          <a:effectLst/>
                          <a:latin typeface="Noto serif" panose="02020600060500020200" pitchFamily="18" charset="0"/>
                        </a:rPr>
                        <a:t>Compute the square of each element (equivalent to arr ** 2)</a:t>
                      </a:r>
                    </a:p>
                  </a:txBody>
                  <a:tcPr marL="37838" marR="37838" marT="18919" marB="189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2193861"/>
                  </a:ext>
                </a:extLst>
              </a:tr>
              <a:tr h="34308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b="0" dirty="0">
                          <a:effectLst/>
                          <a:latin typeface="Noto serif" panose="02020600060500020200" pitchFamily="18" charset="0"/>
                        </a:rPr>
                        <a:t>exp</a:t>
                      </a:r>
                    </a:p>
                  </a:txBody>
                  <a:tcPr marL="37838" marR="37838" marT="18919" marB="189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b="0" dirty="0">
                          <a:effectLst/>
                          <a:latin typeface="Noto serif" panose="02020600060500020200" pitchFamily="18" charset="0"/>
                        </a:rPr>
                        <a:t>Compute the exponent e</a:t>
                      </a:r>
                      <a:r>
                        <a:rPr lang="en-US" sz="1050" b="1" baseline="30000" dirty="0">
                          <a:effectLst/>
                          <a:latin typeface="inherit"/>
                        </a:rPr>
                        <a:t>x</a:t>
                      </a:r>
                      <a:r>
                        <a:rPr lang="en-US" sz="1050" b="0" dirty="0">
                          <a:effectLst/>
                          <a:latin typeface="Noto serif" panose="02020600060500020200" pitchFamily="18" charset="0"/>
                        </a:rPr>
                        <a:t> of each element</a:t>
                      </a:r>
                    </a:p>
                  </a:txBody>
                  <a:tcPr marL="37838" marR="37838" marT="18919" marB="189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EF2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1063887"/>
                  </a:ext>
                </a:extLst>
              </a:tr>
              <a:tr h="495683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b="0" dirty="0">
                          <a:effectLst/>
                          <a:latin typeface="Noto serif" panose="02020600060500020200" pitchFamily="18" charset="0"/>
                        </a:rPr>
                        <a:t>log, log10, log2, log1p</a:t>
                      </a:r>
                    </a:p>
                  </a:txBody>
                  <a:tcPr marL="37838" marR="37838" marT="18919" marB="189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b="0">
                          <a:effectLst/>
                          <a:latin typeface="Noto serif" panose="02020600060500020200" pitchFamily="18" charset="0"/>
                        </a:rPr>
                        <a:t>Natural logarithm (base </a:t>
                      </a:r>
                      <a:r>
                        <a:rPr lang="en-US" sz="1050" b="0" i="1">
                          <a:effectLst/>
                          <a:latin typeface="inherit"/>
                        </a:rPr>
                        <a:t>e</a:t>
                      </a:r>
                      <a:r>
                        <a:rPr lang="en-US" sz="1050" b="0">
                          <a:effectLst/>
                          <a:latin typeface="Noto serif" panose="02020600060500020200" pitchFamily="18" charset="0"/>
                        </a:rPr>
                        <a:t>), log base 10, log base 2, and log(1 + x), respectively</a:t>
                      </a:r>
                    </a:p>
                  </a:txBody>
                  <a:tcPr marL="37838" marR="37838" marT="18919" marB="189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0737345"/>
                  </a:ext>
                </a:extLst>
              </a:tr>
              <a:tr h="35787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b="0">
                          <a:effectLst/>
                          <a:latin typeface="Noto serif" panose="02020600060500020200" pitchFamily="18" charset="0"/>
                        </a:rPr>
                        <a:t>sign</a:t>
                      </a:r>
                    </a:p>
                  </a:txBody>
                  <a:tcPr marL="37838" marR="37838" marT="18919" marB="189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b="0">
                          <a:effectLst/>
                          <a:latin typeface="Noto serif" panose="02020600060500020200" pitchFamily="18" charset="0"/>
                        </a:rPr>
                        <a:t>Compute the sign of each element: 1 (positive), 0 (zero), or –1 (negative)</a:t>
                      </a:r>
                    </a:p>
                  </a:txBody>
                  <a:tcPr marL="37838" marR="37838" marT="18919" marB="189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EF2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4285116"/>
                  </a:ext>
                </a:extLst>
              </a:tr>
              <a:tr h="497133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b="0" dirty="0">
                          <a:effectLst/>
                          <a:latin typeface="Noto serif" panose="02020600060500020200" pitchFamily="18" charset="0"/>
                        </a:rPr>
                        <a:t>ceil</a:t>
                      </a:r>
                    </a:p>
                  </a:txBody>
                  <a:tcPr marL="37838" marR="37838" marT="18919" marB="189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b="0">
                          <a:effectLst/>
                          <a:latin typeface="Noto serif" panose="02020600060500020200" pitchFamily="18" charset="0"/>
                        </a:rPr>
                        <a:t>Compute the ceiling of each element (i.e., the smallest integer greater than or equal to that number)</a:t>
                      </a:r>
                    </a:p>
                  </a:txBody>
                  <a:tcPr marL="37838" marR="37838" marT="18919" marB="189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0308609"/>
                  </a:ext>
                </a:extLst>
              </a:tr>
              <a:tr h="497133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b="0">
                          <a:effectLst/>
                          <a:latin typeface="Noto serif" panose="02020600060500020200" pitchFamily="18" charset="0"/>
                        </a:rPr>
                        <a:t>floor</a:t>
                      </a:r>
                    </a:p>
                  </a:txBody>
                  <a:tcPr marL="37838" marR="37838" marT="18919" marB="189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b="0">
                          <a:effectLst/>
                          <a:latin typeface="Noto serif" panose="02020600060500020200" pitchFamily="18" charset="0"/>
                        </a:rPr>
                        <a:t>Compute the floor of each element (i.e., the largest integer less than or equal to each element)</a:t>
                      </a:r>
                    </a:p>
                  </a:txBody>
                  <a:tcPr marL="37838" marR="37838" marT="18919" marB="189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EF2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9410702"/>
                  </a:ext>
                </a:extLst>
              </a:tr>
              <a:tr h="35787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b="0">
                          <a:effectLst/>
                          <a:latin typeface="Noto serif" panose="02020600060500020200" pitchFamily="18" charset="0"/>
                        </a:rPr>
                        <a:t>rint</a:t>
                      </a:r>
                    </a:p>
                  </a:txBody>
                  <a:tcPr marL="37838" marR="37838" marT="18919" marB="189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b="0" dirty="0">
                          <a:effectLst/>
                          <a:latin typeface="Noto serif" panose="02020600060500020200" pitchFamily="18" charset="0"/>
                        </a:rPr>
                        <a:t>Round elements to the nearest integer, preserving the </a:t>
                      </a:r>
                      <a:r>
                        <a:rPr lang="en-US" sz="1050" b="0" dirty="0" err="1">
                          <a:effectLst/>
                          <a:latin typeface="Noto serif" panose="02020600060500020200" pitchFamily="18" charset="0"/>
                        </a:rPr>
                        <a:t>dtype</a:t>
                      </a:r>
                      <a:endParaRPr lang="en-US" sz="1050" b="0" dirty="0">
                        <a:effectLst/>
                        <a:latin typeface="Noto serif" panose="02020600060500020200" pitchFamily="18" charset="0"/>
                      </a:endParaRPr>
                    </a:p>
                  </a:txBody>
                  <a:tcPr marL="37838" marR="37838" marT="18919" marB="189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8829675"/>
                  </a:ext>
                </a:extLst>
              </a:tr>
              <a:tr h="35787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b="0">
                          <a:effectLst/>
                          <a:latin typeface="Noto serif" panose="02020600060500020200" pitchFamily="18" charset="0"/>
                        </a:rPr>
                        <a:t>modf</a:t>
                      </a:r>
                    </a:p>
                  </a:txBody>
                  <a:tcPr marL="37838" marR="37838" marT="18919" marB="189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b="0">
                          <a:effectLst/>
                          <a:latin typeface="Noto serif" panose="02020600060500020200" pitchFamily="18" charset="0"/>
                        </a:rPr>
                        <a:t>Return fractional and integral parts of array as a separate array</a:t>
                      </a:r>
                    </a:p>
                  </a:txBody>
                  <a:tcPr marL="37838" marR="37838" marT="18919" marB="189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EF2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4644290"/>
                  </a:ext>
                </a:extLst>
              </a:tr>
              <a:tr h="495683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b="0">
                          <a:effectLst/>
                          <a:latin typeface="Noto serif" panose="02020600060500020200" pitchFamily="18" charset="0"/>
                        </a:rPr>
                        <a:t>isnan</a:t>
                      </a:r>
                    </a:p>
                  </a:txBody>
                  <a:tcPr marL="37838" marR="37838" marT="18919" marB="189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b="0" dirty="0">
                          <a:effectLst/>
                          <a:latin typeface="Noto serif" panose="02020600060500020200" pitchFamily="18" charset="0"/>
                        </a:rPr>
                        <a:t>Return </a:t>
                      </a:r>
                      <a:r>
                        <a:rPr lang="en-US" sz="1050" b="0" dirty="0" err="1">
                          <a:effectLst/>
                          <a:latin typeface="Noto serif" panose="02020600060500020200" pitchFamily="18" charset="0"/>
                        </a:rPr>
                        <a:t>boolean</a:t>
                      </a:r>
                      <a:r>
                        <a:rPr lang="en-US" sz="1050" b="0" dirty="0">
                          <a:effectLst/>
                          <a:latin typeface="Noto serif" panose="02020600060500020200" pitchFamily="18" charset="0"/>
                        </a:rPr>
                        <a:t> array indicating whether each value is </a:t>
                      </a:r>
                      <a:r>
                        <a:rPr lang="en-US" sz="1050" b="0" dirty="0" err="1">
                          <a:effectLst/>
                          <a:latin typeface="Noto serif" panose="02020600060500020200" pitchFamily="18" charset="0"/>
                        </a:rPr>
                        <a:t>NaN</a:t>
                      </a:r>
                      <a:r>
                        <a:rPr lang="en-US" sz="1050" b="0" dirty="0">
                          <a:effectLst/>
                          <a:latin typeface="Noto serif" panose="02020600060500020200" pitchFamily="18" charset="0"/>
                        </a:rPr>
                        <a:t> (Not a Number)</a:t>
                      </a:r>
                    </a:p>
                  </a:txBody>
                  <a:tcPr marL="37838" marR="37838" marT="18919" marB="189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0967780"/>
                  </a:ext>
                </a:extLst>
              </a:tr>
              <a:tr h="51789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b="0">
                          <a:effectLst/>
                          <a:latin typeface="Noto serif" panose="02020600060500020200" pitchFamily="18" charset="0"/>
                        </a:rPr>
                        <a:t>isfinite, isinf</a:t>
                      </a:r>
                    </a:p>
                  </a:txBody>
                  <a:tcPr marL="37838" marR="37838" marT="18919" marB="189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b="0">
                          <a:effectLst/>
                          <a:latin typeface="Noto serif" panose="02020600060500020200" pitchFamily="18" charset="0"/>
                        </a:rPr>
                        <a:t>Return boolean array indicating whether each element is finite (non-inf, non-NaN) or infinite, respectively</a:t>
                      </a:r>
                    </a:p>
                  </a:txBody>
                  <a:tcPr marL="37838" marR="37838" marT="18919" marB="189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EF2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6372334"/>
                  </a:ext>
                </a:extLst>
              </a:tr>
              <a:tr h="343085">
                <a:tc>
                  <a:txBody>
                    <a:bodyPr/>
                    <a:lstStyle/>
                    <a:p>
                      <a:pPr algn="l" fontAlgn="ctr"/>
                      <a:r>
                        <a:rPr lang="es-ES" sz="1050" b="0">
                          <a:effectLst/>
                          <a:latin typeface="Noto serif" panose="02020600060500020200" pitchFamily="18" charset="0"/>
                        </a:rPr>
                        <a:t>cos, cosh, sin, sinh, tan, tanh</a:t>
                      </a:r>
                    </a:p>
                  </a:txBody>
                  <a:tcPr marL="37838" marR="37838" marT="18919" marB="189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b="0">
                          <a:effectLst/>
                          <a:latin typeface="Noto serif" panose="02020600060500020200" pitchFamily="18" charset="0"/>
                        </a:rPr>
                        <a:t>Regular and hyperbolic trigonometric functions</a:t>
                      </a:r>
                    </a:p>
                  </a:txBody>
                  <a:tcPr marL="37838" marR="37838" marT="18919" marB="189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6201612"/>
                  </a:ext>
                </a:extLst>
              </a:tr>
              <a:tr h="35787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b="0">
                          <a:effectLst/>
                          <a:latin typeface="Noto serif" panose="02020600060500020200" pitchFamily="18" charset="0"/>
                        </a:rPr>
                        <a:t>arccos, arccosh, arcsin, arcsinh, arctan, arctanh</a:t>
                      </a:r>
                    </a:p>
                  </a:txBody>
                  <a:tcPr marL="37838" marR="37838" marT="18919" marB="189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b="0">
                          <a:effectLst/>
                          <a:latin typeface="Noto serif" panose="02020600060500020200" pitchFamily="18" charset="0"/>
                        </a:rPr>
                        <a:t>Inverse trigonometric functions</a:t>
                      </a:r>
                    </a:p>
                  </a:txBody>
                  <a:tcPr marL="37838" marR="37838" marT="18919" marB="189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EF2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8359752"/>
                  </a:ext>
                </a:extLst>
              </a:tr>
              <a:tr h="35787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b="0">
                          <a:effectLst/>
                          <a:latin typeface="Noto serif" panose="02020600060500020200" pitchFamily="18" charset="0"/>
                        </a:rPr>
                        <a:t>logical_not</a:t>
                      </a:r>
                    </a:p>
                  </a:txBody>
                  <a:tcPr marL="37838" marR="37838" marT="18919" marB="189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b="0" dirty="0">
                          <a:effectLst/>
                          <a:latin typeface="Noto serif" panose="02020600060500020200" pitchFamily="18" charset="0"/>
                        </a:rPr>
                        <a:t>Compute truth value of not x element-wise (equivalent to ~</a:t>
                      </a:r>
                      <a:r>
                        <a:rPr lang="en-US" sz="1050" b="0" dirty="0" err="1">
                          <a:effectLst/>
                          <a:latin typeface="Noto serif" panose="02020600060500020200" pitchFamily="18" charset="0"/>
                        </a:rPr>
                        <a:t>arr</a:t>
                      </a:r>
                      <a:r>
                        <a:rPr lang="en-US" sz="1050" b="0" dirty="0">
                          <a:effectLst/>
                          <a:latin typeface="Noto serif" panose="02020600060500020200" pitchFamily="18" charset="0"/>
                        </a:rPr>
                        <a:t>).</a:t>
                      </a:r>
                    </a:p>
                  </a:txBody>
                  <a:tcPr marL="37838" marR="37838" marT="18919" marB="189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34770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7655565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254C3A-0CEC-4EE0-8A49-DF4F5C081D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Binary </a:t>
            </a:r>
            <a:r>
              <a:rPr lang="en-US" dirty="0" err="1"/>
              <a:t>ufuncs</a:t>
            </a:r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46873C2-BA50-4C26-B8CF-C17308DAED91}"/>
              </a:ext>
            </a:extLst>
          </p:cNvPr>
          <p:cNvGraphicFramePr>
            <a:graphicFrameLocks noGrp="1"/>
          </p:cNvGraphicFramePr>
          <p:nvPr/>
        </p:nvGraphicFramePr>
        <p:xfrm>
          <a:off x="4848225" y="635932"/>
          <a:ext cx="5924550" cy="5856943"/>
        </p:xfrm>
        <a:graphic>
          <a:graphicData uri="http://schemas.openxmlformats.org/drawingml/2006/table">
            <a:tbl>
              <a:tblPr/>
              <a:tblGrid>
                <a:gridCol w="2962275">
                  <a:extLst>
                    <a:ext uri="{9D8B030D-6E8A-4147-A177-3AD203B41FA5}">
                      <a16:colId xmlns:a16="http://schemas.microsoft.com/office/drawing/2014/main" val="2385108915"/>
                    </a:ext>
                  </a:extLst>
                </a:gridCol>
                <a:gridCol w="2962275">
                  <a:extLst>
                    <a:ext uri="{9D8B030D-6E8A-4147-A177-3AD203B41FA5}">
                      <a16:colId xmlns:a16="http://schemas.microsoft.com/office/drawing/2014/main" val="336887544"/>
                    </a:ext>
                  </a:extLst>
                </a:gridCol>
              </a:tblGrid>
              <a:tr h="22868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1" i="0" dirty="0">
                          <a:effectLst/>
                          <a:latin typeface="Noto serif" panose="02020600060500020200" pitchFamily="18" charset="0"/>
                        </a:rPr>
                        <a:t>Function</a:t>
                      </a:r>
                    </a:p>
                  </a:txBody>
                  <a:tcPr marL="63063" marR="63063" marT="31531" marB="315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1" i="0">
                          <a:effectLst/>
                          <a:latin typeface="Noto serif" panose="02020600060500020200" pitchFamily="18" charset="0"/>
                        </a:rPr>
                        <a:t>Description</a:t>
                      </a:r>
                    </a:p>
                  </a:txBody>
                  <a:tcPr marL="63063" marR="63063" marT="31531" marB="315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7888964"/>
                  </a:ext>
                </a:extLst>
              </a:tr>
              <a:tr h="389384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dirty="0">
                          <a:effectLst/>
                          <a:latin typeface="Noto serif" panose="02020600060500020200" pitchFamily="18" charset="0"/>
                        </a:rPr>
                        <a:t>add</a:t>
                      </a:r>
                    </a:p>
                  </a:txBody>
                  <a:tcPr marL="63063" marR="63063" marT="31531" marB="315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>
                          <a:effectLst/>
                          <a:latin typeface="Noto serif" panose="02020600060500020200" pitchFamily="18" charset="0"/>
                        </a:rPr>
                        <a:t>Add corresponding elements in arrays</a:t>
                      </a:r>
                    </a:p>
                  </a:txBody>
                  <a:tcPr marL="63063" marR="63063" marT="31531" marB="315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8091594"/>
                  </a:ext>
                </a:extLst>
              </a:tr>
              <a:tr h="394859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dirty="0">
                          <a:effectLst/>
                          <a:latin typeface="Noto serif" panose="02020600060500020200" pitchFamily="18" charset="0"/>
                        </a:rPr>
                        <a:t>subtract</a:t>
                      </a:r>
                    </a:p>
                  </a:txBody>
                  <a:tcPr marL="63063" marR="63063" marT="31531" marB="315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>
                          <a:effectLst/>
                          <a:latin typeface="Noto serif" panose="02020600060500020200" pitchFamily="18" charset="0"/>
                        </a:rPr>
                        <a:t>Subtract elements in second array from first array</a:t>
                      </a:r>
                    </a:p>
                  </a:txBody>
                  <a:tcPr marL="63063" marR="63063" marT="31531" marB="315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EF2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3175029"/>
                  </a:ext>
                </a:extLst>
              </a:tr>
              <a:tr h="22868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>
                          <a:effectLst/>
                          <a:latin typeface="Noto serif" panose="02020600060500020200" pitchFamily="18" charset="0"/>
                        </a:rPr>
                        <a:t>multiply</a:t>
                      </a:r>
                    </a:p>
                  </a:txBody>
                  <a:tcPr marL="63063" marR="63063" marT="31531" marB="315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>
                          <a:effectLst/>
                          <a:latin typeface="Noto serif" panose="02020600060500020200" pitchFamily="18" charset="0"/>
                        </a:rPr>
                        <a:t>Multiply array elements</a:t>
                      </a:r>
                    </a:p>
                  </a:txBody>
                  <a:tcPr marL="63063" marR="63063" marT="31531" marB="315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007082"/>
                  </a:ext>
                </a:extLst>
              </a:tr>
              <a:tr h="394859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>
                          <a:effectLst/>
                          <a:latin typeface="Noto serif" panose="02020600060500020200" pitchFamily="18" charset="0"/>
                        </a:rPr>
                        <a:t>divide, floor_divide</a:t>
                      </a:r>
                    </a:p>
                  </a:txBody>
                  <a:tcPr marL="63063" marR="63063" marT="31531" marB="315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>
                          <a:effectLst/>
                          <a:latin typeface="Noto serif" panose="02020600060500020200" pitchFamily="18" charset="0"/>
                        </a:rPr>
                        <a:t>Divide or floor divide (truncating the remainder)</a:t>
                      </a:r>
                    </a:p>
                  </a:txBody>
                  <a:tcPr marL="63063" marR="63063" marT="31531" marB="315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EF2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5955674"/>
                  </a:ext>
                </a:extLst>
              </a:tr>
              <a:tr h="553253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>
                          <a:effectLst/>
                          <a:latin typeface="Noto serif" panose="02020600060500020200" pitchFamily="18" charset="0"/>
                        </a:rPr>
                        <a:t>power</a:t>
                      </a:r>
                    </a:p>
                  </a:txBody>
                  <a:tcPr marL="63063" marR="63063" marT="31531" marB="315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>
                          <a:effectLst/>
                          <a:latin typeface="Noto serif" panose="02020600060500020200" pitchFamily="18" charset="0"/>
                        </a:rPr>
                        <a:t>Raise elements in first array to powers indicated in second array</a:t>
                      </a:r>
                    </a:p>
                  </a:txBody>
                  <a:tcPr marL="63063" marR="63063" marT="31531" marB="315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6456041"/>
                  </a:ext>
                </a:extLst>
              </a:tr>
              <a:tr h="553253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>
                          <a:effectLst/>
                          <a:latin typeface="Noto serif" panose="02020600060500020200" pitchFamily="18" charset="0"/>
                        </a:rPr>
                        <a:t>maximum, fmax</a:t>
                      </a:r>
                    </a:p>
                  </a:txBody>
                  <a:tcPr marL="63063" marR="63063" marT="31531" marB="315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>
                          <a:effectLst/>
                          <a:latin typeface="Noto serif" panose="02020600060500020200" pitchFamily="18" charset="0"/>
                        </a:rPr>
                        <a:t>Element-wise maximum; fmax ignores NaN</a:t>
                      </a:r>
                    </a:p>
                  </a:txBody>
                  <a:tcPr marL="63063" marR="63063" marT="31531" marB="315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EF2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3790660"/>
                  </a:ext>
                </a:extLst>
              </a:tr>
              <a:tr h="553253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dirty="0">
                          <a:effectLst/>
                          <a:latin typeface="Noto serif" panose="02020600060500020200" pitchFamily="18" charset="0"/>
                        </a:rPr>
                        <a:t>minimum, </a:t>
                      </a:r>
                      <a:r>
                        <a:rPr lang="en-US" sz="1100" b="0" dirty="0" err="1">
                          <a:effectLst/>
                          <a:latin typeface="Noto serif" panose="02020600060500020200" pitchFamily="18" charset="0"/>
                        </a:rPr>
                        <a:t>fmin</a:t>
                      </a:r>
                      <a:endParaRPr lang="en-US" sz="1100" b="0" dirty="0">
                        <a:effectLst/>
                        <a:latin typeface="Noto serif" panose="02020600060500020200" pitchFamily="18" charset="0"/>
                      </a:endParaRPr>
                    </a:p>
                  </a:txBody>
                  <a:tcPr marL="63063" marR="63063" marT="31531" marB="315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dirty="0">
                          <a:effectLst/>
                          <a:latin typeface="Noto serif" panose="02020600060500020200" pitchFamily="18" charset="0"/>
                        </a:rPr>
                        <a:t>Element-wise minimum; </a:t>
                      </a:r>
                      <a:r>
                        <a:rPr lang="en-US" sz="1100" b="0" dirty="0" err="1">
                          <a:effectLst/>
                          <a:latin typeface="Noto serif" panose="02020600060500020200" pitchFamily="18" charset="0"/>
                        </a:rPr>
                        <a:t>fmin</a:t>
                      </a:r>
                      <a:r>
                        <a:rPr lang="en-US" sz="1100" b="0" dirty="0">
                          <a:effectLst/>
                          <a:latin typeface="Noto serif" panose="02020600060500020200" pitchFamily="18" charset="0"/>
                        </a:rPr>
                        <a:t> ignores </a:t>
                      </a:r>
                      <a:r>
                        <a:rPr lang="en-US" sz="1100" b="0" dirty="0" err="1">
                          <a:effectLst/>
                          <a:latin typeface="Noto serif" panose="02020600060500020200" pitchFamily="18" charset="0"/>
                        </a:rPr>
                        <a:t>NaN</a:t>
                      </a:r>
                      <a:endParaRPr lang="en-US" sz="1100" b="0" dirty="0">
                        <a:effectLst/>
                        <a:latin typeface="Noto serif" panose="02020600060500020200" pitchFamily="18" charset="0"/>
                      </a:endParaRPr>
                    </a:p>
                  </a:txBody>
                  <a:tcPr marL="63063" marR="63063" marT="31531" marB="315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2193261"/>
                  </a:ext>
                </a:extLst>
              </a:tr>
              <a:tr h="394859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>
                          <a:effectLst/>
                          <a:latin typeface="Noto serif" panose="02020600060500020200" pitchFamily="18" charset="0"/>
                        </a:rPr>
                        <a:t>mod</a:t>
                      </a:r>
                    </a:p>
                  </a:txBody>
                  <a:tcPr marL="63063" marR="63063" marT="31531" marB="315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>
                          <a:effectLst/>
                          <a:latin typeface="Noto serif" panose="02020600060500020200" pitchFamily="18" charset="0"/>
                        </a:rPr>
                        <a:t>Element-wise modulus (remainder of division)</a:t>
                      </a:r>
                    </a:p>
                  </a:txBody>
                  <a:tcPr marL="63063" marR="63063" marT="31531" marB="315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EF2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0179982"/>
                  </a:ext>
                </a:extLst>
              </a:tr>
              <a:tr h="553253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>
                          <a:effectLst/>
                          <a:latin typeface="Noto serif" panose="02020600060500020200" pitchFamily="18" charset="0"/>
                        </a:rPr>
                        <a:t>copysign</a:t>
                      </a:r>
                    </a:p>
                  </a:txBody>
                  <a:tcPr marL="63063" marR="63063" marT="31531" marB="315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>
                          <a:effectLst/>
                          <a:latin typeface="Noto serif" panose="02020600060500020200" pitchFamily="18" charset="0"/>
                        </a:rPr>
                        <a:t>Copy sign of values in second argument to values in first argument</a:t>
                      </a:r>
                    </a:p>
                  </a:txBody>
                  <a:tcPr marL="63063" marR="63063" marT="31531" marB="315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7042903"/>
                  </a:ext>
                </a:extLst>
              </a:tr>
              <a:tr h="880993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>
                          <a:effectLst/>
                          <a:latin typeface="Noto serif" panose="02020600060500020200" pitchFamily="18" charset="0"/>
                        </a:rPr>
                        <a:t>greater, greater_equal, less, less_equal, equal, not_equal</a:t>
                      </a:r>
                    </a:p>
                  </a:txBody>
                  <a:tcPr marL="63063" marR="63063" marT="31531" marB="315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>
                          <a:effectLst/>
                          <a:latin typeface="Noto serif" panose="02020600060500020200" pitchFamily="18" charset="0"/>
                        </a:rPr>
                        <a:t>Perform element-wise comparison, yielding boolean array (equivalent to infix operators &gt;, &gt;=, &lt;, &lt;=, ==, !=)</a:t>
                      </a:r>
                    </a:p>
                  </a:txBody>
                  <a:tcPr marL="63063" marR="63063" marT="31531" marB="315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EF2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8094625"/>
                  </a:ext>
                </a:extLst>
              </a:tr>
              <a:tr h="717124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>
                          <a:effectLst/>
                          <a:latin typeface="Noto serif" panose="02020600060500020200" pitchFamily="18" charset="0"/>
                        </a:rPr>
                        <a:t>logical_and, logical_or, logical_xor</a:t>
                      </a:r>
                    </a:p>
                  </a:txBody>
                  <a:tcPr marL="63063" marR="63063" marT="31531" marB="315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dirty="0">
                          <a:effectLst/>
                          <a:latin typeface="Noto serif" panose="02020600060500020200" pitchFamily="18" charset="0"/>
                        </a:rPr>
                        <a:t>Compute element-wise truth value of logical operation (equivalent to infix operators &amp; |, ^)</a:t>
                      </a:r>
                    </a:p>
                  </a:txBody>
                  <a:tcPr marL="63063" marR="63063" marT="31531" marB="315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59209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8007222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6B5908-96A5-49C9-A608-791385A58A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Mathematical and Statistical Methods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192CC5-A606-45D2-AE98-153B1373AB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4"/>
            <a:ext cx="6871283" cy="4474507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en-US" dirty="0"/>
              <a:t>NumPy provides a set of mathematical functions that compute statistics about an entire array or about the data along an axis</a:t>
            </a:r>
          </a:p>
          <a:p>
            <a:r>
              <a:rPr lang="en-US" dirty="0"/>
              <a:t>For example: 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sum</a:t>
            </a:r>
            <a:r>
              <a:rPr lang="en-US" dirty="0"/>
              <a:t>, 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mean</a:t>
            </a:r>
            <a:r>
              <a:rPr lang="en-US" dirty="0"/>
              <a:t>, and 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std</a:t>
            </a:r>
          </a:p>
          <a:p>
            <a:pPr marL="1371600" lvl="3" indent="0">
              <a:buNone/>
            </a:pP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000088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555555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000088"/>
                </a:solidFill>
                <a:effectLst/>
                <a:latin typeface="Consolas" panose="020B0609020204030204" pitchFamily="49" charset="0"/>
              </a:rPr>
              <a:t>np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555555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000088"/>
                </a:solidFill>
                <a:effectLst/>
                <a:latin typeface="Consolas" panose="020B0609020204030204" pitchFamily="49" charset="0"/>
              </a:rPr>
              <a:t>random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555555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000088"/>
                </a:solidFill>
                <a:effectLst/>
                <a:latin typeface="Consolas" panose="020B0609020204030204" pitchFamily="49" charset="0"/>
              </a:rPr>
              <a:t>randn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FF6600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FF6600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1371600" lvl="3" indent="0">
              <a:buNone/>
            </a:pP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000088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555555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000088"/>
                </a:solidFill>
                <a:effectLst/>
                <a:latin typeface="Consolas" panose="020B0609020204030204" pitchFamily="49" charset="0"/>
              </a:rPr>
              <a:t>mean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  <a:endParaRPr kumimoji="0" lang="en-US" altLang="en-US" sz="3000" b="0" i="0" u="none" strike="noStrike" cap="none" normalizeH="0" baseline="0" dirty="0">
              <a:ln>
                <a:noFill/>
              </a:ln>
              <a:solidFill>
                <a:srgbClr val="3D3B49"/>
              </a:solidFill>
              <a:effectLst/>
              <a:latin typeface="Consolas" panose="020B0609020204030204" pitchFamily="49" charset="0"/>
            </a:endParaRPr>
          </a:p>
          <a:p>
            <a:pPr marL="1371600" lvl="3" indent="0">
              <a:buNone/>
            </a:pP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000088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555555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000088"/>
                </a:solidFill>
                <a:effectLst/>
                <a:latin typeface="Consolas" panose="020B0609020204030204" pitchFamily="49" charset="0"/>
              </a:rPr>
              <a:t>sum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</a:p>
          <a:p>
            <a:pPr marL="1371600" lvl="3" indent="0">
              <a:buNone/>
            </a:pP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000088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555555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000088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rgbClr val="000088"/>
              </a:solidFill>
              <a:effectLst/>
              <a:latin typeface="Consolas" panose="020B0609020204030204" pitchFamily="49" charset="0"/>
            </a:endParaRPr>
          </a:p>
          <a:p>
            <a:pPr marL="1371600" lvl="3" indent="0">
              <a:buNone/>
            </a:pP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000088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555555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000088"/>
                </a:solidFill>
                <a:effectLst/>
                <a:latin typeface="Consolas" panose="020B0609020204030204" pitchFamily="49" charset="0"/>
              </a:rPr>
              <a:t>mean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88"/>
                </a:solidFill>
                <a:effectLst/>
                <a:latin typeface="Consolas" panose="020B0609020204030204" pitchFamily="49" charset="0"/>
              </a:rPr>
              <a:t>axis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555555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FF6600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</a:p>
          <a:p>
            <a:pPr marL="1371600" lvl="3" indent="0">
              <a:buNone/>
            </a:pP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000088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555555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000088"/>
                </a:solidFill>
                <a:effectLst/>
                <a:latin typeface="Consolas" panose="020B0609020204030204" pitchFamily="49" charset="0"/>
              </a:rPr>
              <a:t>sum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88"/>
                </a:solidFill>
                <a:effectLst/>
                <a:latin typeface="Consolas" panose="020B0609020204030204" pitchFamily="49" charset="0"/>
              </a:rPr>
              <a:t>axis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555555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FF6600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4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r>
              <a:rPr lang="en-US" sz="2400" b="1" dirty="0"/>
              <a:t>Note:</a:t>
            </a:r>
            <a:r>
              <a:rPr lang="en-US" sz="2400" dirty="0"/>
              <a:t> In a 2D array:</a:t>
            </a:r>
          </a:p>
          <a:p>
            <a:pPr lvl="1"/>
            <a:r>
              <a:rPr lang="en-US" sz="2000" b="1" dirty="0"/>
              <a:t>axis=0</a:t>
            </a:r>
            <a:r>
              <a:rPr lang="en-US" sz="2000" dirty="0"/>
              <a:t> computes the column-wise function (down each column).</a:t>
            </a:r>
          </a:p>
          <a:p>
            <a:pPr lvl="1"/>
            <a:r>
              <a:rPr lang="en-US" sz="2000" b="1" dirty="0"/>
              <a:t>axis=1</a:t>
            </a:r>
            <a:r>
              <a:rPr lang="en-US" sz="2000" dirty="0"/>
              <a:t> computes the row-wise function (across each row).</a:t>
            </a:r>
          </a:p>
          <a:p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endParaRPr kumimoji="0" lang="en-US" altLang="en-US" sz="5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endParaRPr lang="en-US" dirty="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98883DB8-4A9B-4407-BF23-10CCC0BE3F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0100"/>
            <a:ext cx="65" cy="276999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9FB64C72-646D-46E1-A8EF-A373BDDCF1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0100"/>
            <a:ext cx="65" cy="276999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27140A58-398B-4B0B-90FA-DF3807BB47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0100"/>
            <a:ext cx="65" cy="276999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81936B4-B3C5-4250-B525-E28E605A89F7}"/>
              </a:ext>
            </a:extLst>
          </p:cNvPr>
          <p:cNvGraphicFramePr>
            <a:graphicFrameLocks noGrp="1"/>
          </p:cNvGraphicFramePr>
          <p:nvPr/>
        </p:nvGraphicFramePr>
        <p:xfrm>
          <a:off x="7829544" y="1825624"/>
          <a:ext cx="4279266" cy="4359698"/>
        </p:xfrm>
        <a:graphic>
          <a:graphicData uri="http://schemas.openxmlformats.org/drawingml/2006/table">
            <a:tbl>
              <a:tblPr/>
              <a:tblGrid>
                <a:gridCol w="2139633">
                  <a:extLst>
                    <a:ext uri="{9D8B030D-6E8A-4147-A177-3AD203B41FA5}">
                      <a16:colId xmlns:a16="http://schemas.microsoft.com/office/drawing/2014/main" val="2160222046"/>
                    </a:ext>
                  </a:extLst>
                </a:gridCol>
                <a:gridCol w="2139633">
                  <a:extLst>
                    <a:ext uri="{9D8B030D-6E8A-4147-A177-3AD203B41FA5}">
                      <a16:colId xmlns:a16="http://schemas.microsoft.com/office/drawing/2014/main" val="1835847592"/>
                    </a:ext>
                  </a:extLst>
                </a:gridCol>
              </a:tblGrid>
              <a:tr h="271183">
                <a:tc>
                  <a:txBody>
                    <a:bodyPr/>
                    <a:lstStyle/>
                    <a:p>
                      <a:pPr algn="l"/>
                      <a:r>
                        <a:rPr lang="en-US" sz="1600" b="1" dirty="0">
                          <a:effectLst/>
                        </a:rPr>
                        <a:t>Functions</a:t>
                      </a:r>
                    </a:p>
                  </a:txBody>
                  <a:tcPr marL="135135" marR="135135" marT="67567" marB="675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dirty="0">
                          <a:effectLst/>
                        </a:rPr>
                        <a:t>Descriptions</a:t>
                      </a:r>
                    </a:p>
                  </a:txBody>
                  <a:tcPr marL="135135" marR="135135" marT="67567" marB="675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3766275"/>
                  </a:ext>
                </a:extLst>
              </a:tr>
              <a:tr h="445667">
                <a:tc>
                  <a:txBody>
                    <a:bodyPr/>
                    <a:lstStyle/>
                    <a:p>
                      <a:r>
                        <a:rPr lang="en-US" sz="1600" dirty="0">
                          <a:effectLst/>
                        </a:rPr>
                        <a:t>median()</a:t>
                      </a:r>
                    </a:p>
                  </a:txBody>
                  <a:tcPr marL="135135" marR="135135" marT="67567" marB="675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effectLst/>
                        </a:rPr>
                        <a:t>return the median of an array</a:t>
                      </a:r>
                    </a:p>
                  </a:txBody>
                  <a:tcPr marL="135135" marR="135135" marT="67567" marB="675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4497911"/>
                  </a:ext>
                </a:extLst>
              </a:tr>
              <a:tr h="445667">
                <a:tc>
                  <a:txBody>
                    <a:bodyPr/>
                    <a:lstStyle/>
                    <a:p>
                      <a:r>
                        <a:rPr lang="en-US" sz="1600" dirty="0">
                          <a:effectLst/>
                        </a:rPr>
                        <a:t>mean()</a:t>
                      </a:r>
                    </a:p>
                  </a:txBody>
                  <a:tcPr marL="135135" marR="135135" marT="67567" marB="675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effectLst/>
                        </a:rPr>
                        <a:t>return the mean of an array</a:t>
                      </a:r>
                    </a:p>
                  </a:txBody>
                  <a:tcPr marL="135135" marR="135135" marT="67567" marB="675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8407048"/>
                  </a:ext>
                </a:extLst>
              </a:tr>
              <a:tr h="445667">
                <a:tc>
                  <a:txBody>
                    <a:bodyPr/>
                    <a:lstStyle/>
                    <a:p>
                      <a:r>
                        <a:rPr lang="en-US" sz="1600" dirty="0">
                          <a:effectLst/>
                        </a:rPr>
                        <a:t>std()</a:t>
                      </a:r>
                    </a:p>
                  </a:txBody>
                  <a:tcPr marL="135135" marR="135135" marT="67567" marB="675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effectLst/>
                        </a:rPr>
                        <a:t>return the standard deviation of an array</a:t>
                      </a:r>
                    </a:p>
                  </a:txBody>
                  <a:tcPr marL="135135" marR="135135" marT="67567" marB="675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7506109"/>
                  </a:ext>
                </a:extLst>
              </a:tr>
              <a:tr h="620152">
                <a:tc>
                  <a:txBody>
                    <a:bodyPr/>
                    <a:lstStyle/>
                    <a:p>
                      <a:r>
                        <a:rPr lang="en-US" sz="1600" dirty="0">
                          <a:effectLst/>
                        </a:rPr>
                        <a:t>percentile()</a:t>
                      </a:r>
                    </a:p>
                  </a:txBody>
                  <a:tcPr marL="135135" marR="135135" marT="67567" marB="675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effectLst/>
                        </a:rPr>
                        <a:t>return the nth percentile of elements in an array</a:t>
                      </a:r>
                    </a:p>
                  </a:txBody>
                  <a:tcPr marL="135135" marR="135135" marT="67567" marB="675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4784372"/>
                  </a:ext>
                </a:extLst>
              </a:tr>
              <a:tr h="445667">
                <a:tc>
                  <a:txBody>
                    <a:bodyPr/>
                    <a:lstStyle/>
                    <a:p>
                      <a:r>
                        <a:rPr lang="en-US" sz="1600" dirty="0">
                          <a:effectLst/>
                        </a:rPr>
                        <a:t>min()</a:t>
                      </a:r>
                    </a:p>
                  </a:txBody>
                  <a:tcPr marL="135135" marR="135135" marT="67567" marB="675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effectLst/>
                        </a:rPr>
                        <a:t>return the minimum element of an array</a:t>
                      </a:r>
                    </a:p>
                  </a:txBody>
                  <a:tcPr marL="135135" marR="135135" marT="67567" marB="675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4514534"/>
                  </a:ext>
                </a:extLst>
              </a:tr>
              <a:tr h="445667">
                <a:tc>
                  <a:txBody>
                    <a:bodyPr/>
                    <a:lstStyle/>
                    <a:p>
                      <a:r>
                        <a:rPr lang="en-US" sz="1600">
                          <a:effectLst/>
                        </a:rPr>
                        <a:t>max()</a:t>
                      </a:r>
                    </a:p>
                  </a:txBody>
                  <a:tcPr marL="135135" marR="135135" marT="67567" marB="675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effectLst/>
                        </a:rPr>
                        <a:t>return the maximum element of an array</a:t>
                      </a:r>
                    </a:p>
                  </a:txBody>
                  <a:tcPr marL="135135" marR="135135" marT="67567" marB="675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69879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687280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A5021F-F668-419A-B286-CD1C170CFF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Random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7FE11C-4CCC-461D-B8EF-9575B01126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7"/>
            <a:ext cx="10515600" cy="4802187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NumPy offers the random module to work with random numbers.</a:t>
            </a:r>
          </a:p>
          <a:p>
            <a:r>
              <a:rPr lang="en-US" dirty="0"/>
              <a:t>Generate a random integer from 0 to 100:</a:t>
            </a:r>
          </a:p>
          <a:p>
            <a:pPr marL="1371600" lvl="3" indent="0">
              <a:buNone/>
            </a:pP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from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numpy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import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random</a:t>
            </a:r>
            <a:br>
              <a:rPr lang="en-US" dirty="0"/>
            </a:b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x =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random.randint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100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br>
              <a:rPr lang="en-US" dirty="0"/>
            </a:b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print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(x)</a:t>
            </a:r>
            <a:endParaRPr lang="en-US" dirty="0"/>
          </a:p>
          <a:p>
            <a:r>
              <a:rPr lang="en-US" dirty="0"/>
              <a:t>The random module's rand() method returns a random float between 0 and 1.</a:t>
            </a:r>
          </a:p>
          <a:p>
            <a:pPr marL="1371600" lvl="3" indent="0"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x =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random.rand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  <a:endParaRPr lang="en-US" dirty="0"/>
          </a:p>
          <a:p>
            <a:r>
              <a:rPr lang="en-US" dirty="0"/>
              <a:t>Generate random arrays: </a:t>
            </a:r>
          </a:p>
          <a:p>
            <a:pPr lvl="1"/>
            <a:r>
              <a:rPr lang="en-US" dirty="0"/>
              <a:t>The </a:t>
            </a:r>
            <a:r>
              <a:rPr lang="en-US" dirty="0" err="1"/>
              <a:t>randint</a:t>
            </a:r>
            <a:r>
              <a:rPr lang="en-US" dirty="0"/>
              <a:t>() method takes a size parameter where you can specify the shape of an array</a:t>
            </a:r>
          </a:p>
          <a:p>
            <a:pPr marL="1371600" lvl="3" indent="0"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x =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random.randint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100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 size=(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5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))</a:t>
            </a:r>
          </a:p>
          <a:p>
            <a:pPr marL="1371600" lvl="3" indent="0"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x =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random.randint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100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 size=(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3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5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))</a:t>
            </a:r>
            <a:endParaRPr lang="en-US" dirty="0"/>
          </a:p>
          <a:p>
            <a:pPr lvl="1"/>
            <a:r>
              <a:rPr lang="en-US" dirty="0"/>
              <a:t>The rand() method also allows you to specify the shape of the array.</a:t>
            </a:r>
          </a:p>
          <a:p>
            <a:pPr marL="1371600" lvl="3" indent="0"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x =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random.rand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5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 marL="1371600" lvl="3" indent="0"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x =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random.rand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3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5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43097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B45162-2850-468F-96AC-C9E07CEA6A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Random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DD3B0F-7B86-42E2-9273-E6FFD442B7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choice() method takes an array as a parameter and randomly returns one (or more) of the values.</a:t>
            </a:r>
          </a:p>
          <a:p>
            <a:pPr marL="1371600" lvl="3" indent="0">
              <a:buNone/>
            </a:pP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x =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random.choice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([</a:t>
            </a: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7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9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])</a:t>
            </a:r>
          </a:p>
          <a:p>
            <a:pPr marL="1371600" lvl="3" indent="0">
              <a:buNone/>
            </a:pP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x =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random.choice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([</a:t>
            </a: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7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9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], size=(</a:t>
            </a: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161805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30825F-7472-4E04-85C0-FC294BA4E1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Random Distributions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70CC96-5121-471D-A5C0-4D4D66DD82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0" i="0" dirty="0">
                <a:solidFill>
                  <a:srgbClr val="000000"/>
                </a:solidFill>
                <a:effectLst/>
              </a:rPr>
              <a:t>A random distribution is a set of random numbers that follow a certain </a:t>
            </a:r>
            <a:r>
              <a:rPr lang="en-US" b="0" i="1" dirty="0">
                <a:solidFill>
                  <a:srgbClr val="000000"/>
                </a:solidFill>
                <a:effectLst/>
              </a:rPr>
              <a:t>probability density function</a:t>
            </a:r>
            <a:r>
              <a:rPr lang="en-US" b="0" i="0" dirty="0">
                <a:solidFill>
                  <a:srgbClr val="000000"/>
                </a:solidFill>
                <a:effectLst/>
              </a:rPr>
              <a:t>.</a:t>
            </a:r>
          </a:p>
          <a:p>
            <a:r>
              <a:rPr lang="en-US" dirty="0"/>
              <a:t>Probability Density Function: A function that describes a continuous probability. i.e. probability of all values in an array.</a:t>
            </a:r>
          </a:p>
          <a:p>
            <a:r>
              <a:rPr lang="en-US" dirty="0"/>
              <a:t>We can generate random numbers based on defined probabilities using the choice() method of the random module.</a:t>
            </a:r>
          </a:p>
          <a:p>
            <a:r>
              <a:rPr lang="en-US" dirty="0"/>
              <a:t>The choice() method allows us to specify the probability for each value. (The sum of all probability numbers should be 1.)</a:t>
            </a:r>
          </a:p>
          <a:p>
            <a:pPr marL="1371600" lvl="3" indent="0">
              <a:buNone/>
            </a:pP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x =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random.choice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([</a:t>
            </a: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7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9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], p=[</a:t>
            </a: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0.1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0.3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0.6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0.0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], size=(</a:t>
            </a: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100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25213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9F6A2A-EAE3-47A5-8AA9-88DD8CB245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Random Distributions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3F5537-6747-4D7B-9BC5-4BE54A7121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Use the </a:t>
            </a:r>
            <a:r>
              <a:rPr lang="en-US" dirty="0" err="1"/>
              <a:t>random.normal</a:t>
            </a:r>
            <a:r>
              <a:rPr lang="en-US" dirty="0"/>
              <a:t>() method to get a Normal Data Distribution.</a:t>
            </a:r>
          </a:p>
          <a:p>
            <a:r>
              <a:rPr lang="en-US" dirty="0"/>
              <a:t>The method has three parameters:</a:t>
            </a:r>
          </a:p>
          <a:p>
            <a:pPr lvl="1"/>
            <a:r>
              <a:rPr lang="en-US" dirty="0"/>
              <a:t>loc - (Mean) where the peak of the bell exists.</a:t>
            </a:r>
          </a:p>
          <a:p>
            <a:pPr lvl="1"/>
            <a:r>
              <a:rPr lang="en-US" dirty="0"/>
              <a:t>scale - (Standard Deviation) how flat the graph distribution should be.</a:t>
            </a:r>
          </a:p>
          <a:p>
            <a:pPr lvl="1"/>
            <a:r>
              <a:rPr lang="en-US" dirty="0"/>
              <a:t>size - The shape of the returned array.</a:t>
            </a:r>
          </a:p>
          <a:p>
            <a:r>
              <a:rPr lang="en-US" dirty="0"/>
              <a:t>Examples: </a:t>
            </a:r>
          </a:p>
          <a:p>
            <a:pPr marL="914400" lvl="2" indent="0">
              <a:buNone/>
            </a:pP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x =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random.normal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(size=(</a:t>
            </a: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</a:t>
            </a:r>
          </a:p>
          <a:p>
            <a:pPr marL="914400" lvl="2" indent="0">
              <a:buNone/>
            </a:pP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x =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random.normal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(loc=</a:t>
            </a: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scale=</a:t>
            </a: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size=(</a:t>
            </a: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</a:t>
            </a:r>
            <a:endParaRPr lang="en-US" dirty="0"/>
          </a:p>
          <a:p>
            <a:r>
              <a:rPr lang="en-US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Visualization of Normal Distribution (more </a:t>
            </a:r>
            <a:r>
              <a:rPr lang="en-US" dirty="0">
                <a:solidFill>
                  <a:srgbClr val="000000"/>
                </a:solidFill>
                <a:latin typeface="Segoe UI" panose="020B0502040204020203" pitchFamily="34" charset="0"/>
              </a:rPr>
              <a:t>on this later</a:t>
            </a:r>
            <a:r>
              <a:rPr lang="en-US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)</a:t>
            </a:r>
          </a:p>
          <a:p>
            <a:pPr marL="914400" lvl="2" indent="0">
              <a:buNone/>
            </a:pP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matplotlib.pyplot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plt</a:t>
            </a:r>
            <a:br>
              <a:rPr lang="en-US" dirty="0"/>
            </a:b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seaborn 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sns</a:t>
            </a:r>
            <a:br>
              <a:rPr lang="en-US" dirty="0"/>
            </a:br>
            <a:r>
              <a:rPr lang="en-US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sns.distplot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random.normal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(size=</a:t>
            </a: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1000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), hist=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False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en-US" dirty="0"/>
            </a:br>
            <a:r>
              <a:rPr lang="en-US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plt.show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  <a:endParaRPr lang="en-US" b="0" i="0" dirty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457200" lvl="1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40176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5107</TotalTime>
  <Words>3109</Words>
  <Application>Microsoft Office PowerPoint</Application>
  <PresentationFormat>Widescreen</PresentationFormat>
  <Paragraphs>301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5" baseType="lpstr">
      <vt:lpstr>Arial</vt:lpstr>
      <vt:lpstr>Calibri</vt:lpstr>
      <vt:lpstr>Calibri Light</vt:lpstr>
      <vt:lpstr>Consolas</vt:lpstr>
      <vt:lpstr>Courier New</vt:lpstr>
      <vt:lpstr>inherit</vt:lpstr>
      <vt:lpstr>Noto Serif</vt:lpstr>
      <vt:lpstr>Nunito</vt:lpstr>
      <vt:lpstr>Open Sans</vt:lpstr>
      <vt:lpstr>Segoe UI</vt:lpstr>
      <vt:lpstr>Verdana</vt:lpstr>
      <vt:lpstr>Office Theme</vt:lpstr>
      <vt:lpstr>MGMT 58600: Python Programming</vt:lpstr>
      <vt:lpstr>NumPy</vt:lpstr>
      <vt:lpstr>Numpy: Installation and First Program</vt:lpstr>
      <vt:lpstr>Dimensions in Arrays</vt:lpstr>
      <vt:lpstr>Why Use NumPy?</vt:lpstr>
      <vt:lpstr>Dimensions in NumPy Arrays</vt:lpstr>
      <vt:lpstr>Dimensions in NumPy Arrays</vt:lpstr>
      <vt:lpstr>Access Array Elements</vt:lpstr>
      <vt:lpstr>Accessing Array Elements in &gt; 1 Dimensions</vt:lpstr>
      <vt:lpstr>Slicing in Higher  Dimensions</vt:lpstr>
      <vt:lpstr>Data Types in NumPy</vt:lpstr>
      <vt:lpstr>PowerPoint Presentation</vt:lpstr>
      <vt:lpstr>More Ways to Create Arrays</vt:lpstr>
      <vt:lpstr>Shape of Array</vt:lpstr>
      <vt:lpstr>Arithmetic with NumPy Arrays</vt:lpstr>
      <vt:lpstr>Universal Functions: Fast Element-Wise Array Functions</vt:lpstr>
      <vt:lpstr>Unary ufuncs</vt:lpstr>
      <vt:lpstr>Binary ufuncs</vt:lpstr>
      <vt:lpstr>Mathematical and Statistical Methods</vt:lpstr>
      <vt:lpstr>Random</vt:lpstr>
      <vt:lpstr>Random</vt:lpstr>
      <vt:lpstr>Random Distributions</vt:lpstr>
      <vt:lpstr>Random Distributions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MGMT 288-IBE: Programming for Business Applications</dc:title>
  <dc:creator>Khan, Shoaib Amjad</dc:creator>
  <cp:lastModifiedBy>Shoaib Amjad Khan</cp:lastModifiedBy>
  <cp:revision>66</cp:revision>
  <dcterms:created xsi:type="dcterms:W3CDTF">2024-01-10T16:08:38Z</dcterms:created>
  <dcterms:modified xsi:type="dcterms:W3CDTF">2025-09-16T13:00:44Z</dcterms:modified>
</cp:coreProperties>
</file>