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3" r:id="rId4"/>
    <p:sldId id="284" r:id="rId5"/>
    <p:sldId id="285" r:id="rId6"/>
    <p:sldId id="286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/>
              <a:t>Lecture 8</a:t>
            </a:r>
            <a:endParaRPr lang="en-US" dirty="0"/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5908-96A5-49C9-A608-791385A5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and Statistical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2CC5-A606-45D2-AE98-153B1373A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6871283" cy="447450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NumPy provides a set of mathematical functions that compute statistics about an entire array or about the data along an axis</a:t>
            </a:r>
          </a:p>
          <a:p>
            <a:r>
              <a:rPr lang="en-US" dirty="0"/>
              <a:t>For example: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/>
              <a:t>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en-US" dirty="0"/>
              <a:t>,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rgbClr val="3D3B49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88"/>
              </a:solidFill>
              <a:effectLst/>
              <a:latin typeface="Consolas" panose="020B0609020204030204" pitchFamily="49" charset="0"/>
            </a:endParaRP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mean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1371600" lvl="3" indent="0"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</a:rPr>
              <a:t>axis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dirty="0"/>
              <a:t>Note:</a:t>
            </a:r>
            <a:r>
              <a:rPr lang="en-US" sz="2400" dirty="0"/>
              <a:t> In a 2D array:</a:t>
            </a:r>
          </a:p>
          <a:p>
            <a:pPr lvl="1"/>
            <a:r>
              <a:rPr lang="en-US" sz="2000" b="1" dirty="0"/>
              <a:t>axis=0</a:t>
            </a:r>
            <a:r>
              <a:rPr lang="en-US" sz="2000" dirty="0"/>
              <a:t> computes the column-wise function (down each column).</a:t>
            </a:r>
          </a:p>
          <a:p>
            <a:pPr lvl="1"/>
            <a:r>
              <a:rPr lang="en-US" sz="2000" b="1" dirty="0"/>
              <a:t>axis=1</a:t>
            </a:r>
            <a:r>
              <a:rPr lang="en-US" sz="2000" dirty="0"/>
              <a:t> computes the row-wise function (across each row).</a:t>
            </a: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883DB8-4A9B-4407-BF23-10CCC0BE3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B64C72-646D-46E1-A8EF-A373BDDC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140A58-398B-4B0B-90FA-DF3807BB4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936B4-B3C5-4250-B525-E28E605A89F7}"/>
              </a:ext>
            </a:extLst>
          </p:cNvPr>
          <p:cNvGraphicFramePr>
            <a:graphicFrameLocks noGrp="1"/>
          </p:cNvGraphicFramePr>
          <p:nvPr/>
        </p:nvGraphicFramePr>
        <p:xfrm>
          <a:off x="7829544" y="1825624"/>
          <a:ext cx="4279266" cy="4359698"/>
        </p:xfrm>
        <a:graphic>
          <a:graphicData uri="http://schemas.openxmlformats.org/drawingml/2006/table">
            <a:tbl>
              <a:tblPr/>
              <a:tblGrid>
                <a:gridCol w="2139633">
                  <a:extLst>
                    <a:ext uri="{9D8B030D-6E8A-4147-A177-3AD203B41FA5}">
                      <a16:colId xmlns:a16="http://schemas.microsoft.com/office/drawing/2014/main" val="2160222046"/>
                    </a:ext>
                  </a:extLst>
                </a:gridCol>
                <a:gridCol w="2139633">
                  <a:extLst>
                    <a:ext uri="{9D8B030D-6E8A-4147-A177-3AD203B41FA5}">
                      <a16:colId xmlns:a16="http://schemas.microsoft.com/office/drawing/2014/main" val="1835847592"/>
                    </a:ext>
                  </a:extLst>
                </a:gridCol>
              </a:tblGrid>
              <a:tr h="271183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Functions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Descriptions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66275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median()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median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97911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mean()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mean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07048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std()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standard deviation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506109"/>
                  </a:ext>
                </a:extLst>
              </a:tr>
              <a:tr h="620152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percentile()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nth percentile of elements in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784372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min()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minimum element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514534"/>
                  </a:ext>
                </a:extLst>
              </a:tr>
              <a:tr h="445667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max()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return the maximum element of an array</a:t>
                      </a:r>
                    </a:p>
                  </a:txBody>
                  <a:tcPr marL="135135" marR="135135" marT="67567" marB="67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987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72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021F-F668-419A-B286-CD1C170C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FE11C-4CCC-461D-B8EF-9575B011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NumPy offers the random module to work with random numbers.</a:t>
            </a:r>
          </a:p>
          <a:p>
            <a:r>
              <a:rPr lang="en-US" dirty="0"/>
              <a:t>Generate a random integer from 0 to 100: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random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(x)</a:t>
            </a:r>
            <a:endParaRPr lang="en-US" dirty="0"/>
          </a:p>
          <a:p>
            <a:r>
              <a:rPr lang="en-US" dirty="0"/>
              <a:t>The random module's rand() method returns a random float between 0 and 1.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dirty="0"/>
          </a:p>
          <a:p>
            <a:r>
              <a:rPr lang="en-US" dirty="0"/>
              <a:t>Generate random arrays: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randint</a:t>
            </a:r>
            <a:r>
              <a:rPr lang="en-US" dirty="0"/>
              <a:t>() method takes a size parameter where you can specify the shape of an array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size=(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size=(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dirty="0"/>
          </a:p>
          <a:p>
            <a:pPr lvl="1"/>
            <a:r>
              <a:rPr lang="en-US" dirty="0"/>
              <a:t>The rand() method also allows you to specify the shape of the array.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x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0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162-2850-468F-96AC-C9E07CEA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D3B0F-7B86-42E2-9273-E6FFD442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choice() method takes an array as a parameter and randomly returns one (or more) of the values.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618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825F-7472-4E04-85C0-FC294BA4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0CC96-5121-471D-A5C0-4D4D66DD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 random distribution is a set of random numbers that follow a certain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probability density function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dirty="0"/>
              <a:t>Probability Density Function: A function that describes a continuous probability. i.e. probability of all values in an array.</a:t>
            </a:r>
          </a:p>
          <a:p>
            <a:r>
              <a:rPr lang="en-US" dirty="0"/>
              <a:t>We can generate random numbers based on defined probabilities using the choice() method of the random module.</a:t>
            </a:r>
          </a:p>
          <a:p>
            <a:r>
              <a:rPr lang="en-US" dirty="0"/>
              <a:t>The choice() method allows us to specify the probability for each value. (The sum of all probability numbers should be 1.)</a:t>
            </a:r>
          </a:p>
          <a:p>
            <a:pPr marL="1371600" lvl="3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random.choice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p=[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F6A2A-EAE3-47A5-8AA9-88DD8CB2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5537-6747-4D7B-9BC5-4BE54A712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dirty="0" err="1"/>
              <a:t>random.normal</a:t>
            </a:r>
            <a:r>
              <a:rPr lang="en-US" dirty="0"/>
              <a:t>() method to get a Normal Data Distribution.</a:t>
            </a:r>
          </a:p>
          <a:p>
            <a:r>
              <a:rPr lang="en-US" dirty="0"/>
              <a:t>The method has three parameters:</a:t>
            </a:r>
          </a:p>
          <a:p>
            <a:pPr lvl="1"/>
            <a:r>
              <a:rPr lang="en-US" dirty="0"/>
              <a:t>loc - (Mean) where the peak of the bell exists.</a:t>
            </a:r>
          </a:p>
          <a:p>
            <a:pPr lvl="1"/>
            <a:r>
              <a:rPr lang="en-US" dirty="0"/>
              <a:t>scale - (Standard Deviation) how flat the graph distribution should be.</a:t>
            </a:r>
          </a:p>
          <a:p>
            <a:pPr lvl="1"/>
            <a:r>
              <a:rPr lang="en-US" dirty="0"/>
              <a:t>size - The shape of the returned array.</a:t>
            </a:r>
          </a:p>
          <a:p>
            <a:r>
              <a:rPr lang="en-US" dirty="0"/>
              <a:t>Examples: 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(loc=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scale=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size=(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dirty="0"/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Visualization of Normal Distribution (more </a:t>
            </a:r>
            <a:r>
              <a:rPr lang="en-US" dirty="0">
                <a:solidFill>
                  <a:srgbClr val="000000"/>
                </a:solidFill>
                <a:latin typeface="Segoe UI" panose="020B0502040204020203" pitchFamily="34" charset="0"/>
              </a:rPr>
              <a:t>on this later</a:t>
            </a: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matplotlib.pyplot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</a:t>
            </a:r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seaborn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sns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sns.distplot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random.normal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(size=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hist=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plt.show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89B1-55C0-4C43-A864-406F703C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Selection with Boolean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42E25-F857-45A4-A33F-DBC418F84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i="0" dirty="0">
                <a:effectLst/>
                <a:latin typeface="euclid_circular_a"/>
              </a:rPr>
              <a:t>In NumPy, </a:t>
            </a:r>
            <a:r>
              <a:rPr lang="en-US" b="1" i="0" dirty="0">
                <a:effectLst/>
                <a:latin typeface="euclid_circular_a"/>
              </a:rPr>
              <a:t>Boolean Indexing</a:t>
            </a:r>
            <a:r>
              <a:rPr lang="en-US" b="0" i="0" dirty="0">
                <a:effectLst/>
                <a:latin typeface="euclid_circular_a"/>
              </a:rPr>
              <a:t> allows us to filter elements from an array based on a specific condition.</a:t>
            </a:r>
          </a:p>
          <a:p>
            <a:r>
              <a:rPr lang="en-US" b="0" i="0" dirty="0">
                <a:effectLst/>
                <a:latin typeface="euclid_circular_a"/>
              </a:rPr>
              <a:t>We use </a:t>
            </a:r>
            <a:r>
              <a:rPr lang="en-US" b="0" i="1" dirty="0">
                <a:effectLst/>
                <a:latin typeface="euclid_circular_a"/>
              </a:rPr>
              <a:t>Boolean Masks</a:t>
            </a:r>
            <a:r>
              <a:rPr lang="en-US" b="0" i="0" dirty="0">
                <a:effectLst/>
                <a:latin typeface="euclid_circular_a"/>
              </a:rPr>
              <a:t> to specify the condition.</a:t>
            </a:r>
            <a:endParaRPr lang="en-US" dirty="0">
              <a:latin typeface="euclid_circular_a"/>
            </a:endParaRPr>
          </a:p>
          <a:p>
            <a:pPr algn="l"/>
            <a:r>
              <a:rPr lang="en-US" i="0" dirty="0">
                <a:effectLst/>
                <a:latin typeface="euclid_circular_a"/>
              </a:rPr>
              <a:t>A</a:t>
            </a:r>
            <a:r>
              <a:rPr lang="en-US" b="1" i="0" dirty="0">
                <a:effectLst/>
                <a:latin typeface="euclid_circular_a"/>
              </a:rPr>
              <a:t> Boolean Mask</a:t>
            </a:r>
            <a:r>
              <a:rPr lang="en-US" b="0" i="0" dirty="0">
                <a:effectLst/>
                <a:latin typeface="euclid_circular_a"/>
              </a:rPr>
              <a:t> is a </a:t>
            </a:r>
            <a:r>
              <a:rPr lang="en-US" b="0" i="0" dirty="0" err="1">
                <a:effectLst/>
                <a:latin typeface="euclid_circular_a"/>
              </a:rPr>
              <a:t>numpy</a:t>
            </a:r>
            <a:r>
              <a:rPr lang="en-US" b="0" i="0" dirty="0">
                <a:effectLst/>
                <a:latin typeface="euclid_circular_a"/>
              </a:rPr>
              <a:t> array containing truth values (True/False) that correspond to each element in the array.</a:t>
            </a:r>
          </a:p>
          <a:p>
            <a:pPr algn="l"/>
            <a:r>
              <a:rPr lang="en-US" b="0" i="0" dirty="0">
                <a:effectLst/>
                <a:latin typeface="euclid_circular_a"/>
              </a:rPr>
              <a:t>Suppose we have an array</a:t>
            </a:r>
            <a:r>
              <a:rPr lang="en-US" dirty="0">
                <a:latin typeface="euclid_circular_a"/>
              </a:rPr>
              <a:t>: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rgbClr val="000088"/>
                </a:solidFill>
                <a:latin typeface="euclid_circular_a"/>
              </a:rPr>
              <a:t>		</a:t>
            </a:r>
            <a:r>
              <a:rPr lang="en-US" sz="2300" dirty="0">
                <a:solidFill>
                  <a:srgbClr val="000088"/>
                </a:solidFill>
                <a:latin typeface="Consolas" panose="020B0609020204030204" pitchFamily="49" charset="0"/>
              </a:rPr>
              <a:t>array1 = </a:t>
            </a:r>
            <a:r>
              <a:rPr lang="en-US" sz="2300" dirty="0" err="1">
                <a:solidFill>
                  <a:srgbClr val="000088"/>
                </a:solidFill>
                <a:latin typeface="Consolas" panose="020B0609020204030204" pitchFamily="49" charset="0"/>
              </a:rPr>
              <a:t>np.array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12, 24, 16, 21, 32, 29, 7, 15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US" b="0" i="0" dirty="0">
                <a:effectLst/>
                <a:latin typeface="euclid_circular_a"/>
              </a:rPr>
              <a:t>Now let's create a mask that selects all elements of </a:t>
            </a:r>
            <a:r>
              <a:rPr lang="en-US" sz="2200" b="0" i="0" dirty="0">
                <a:effectLst/>
                <a:latin typeface="Droid Sans Mono"/>
              </a:rPr>
              <a:t>array1</a:t>
            </a:r>
            <a:r>
              <a:rPr lang="en-US" b="0" i="0" dirty="0">
                <a:effectLst/>
                <a:latin typeface="euclid_circular_a"/>
              </a:rPr>
              <a:t> that are greater than </a:t>
            </a:r>
            <a:r>
              <a:rPr lang="en-US" sz="2600" b="1" i="0" dirty="0">
                <a:effectLst/>
                <a:latin typeface="euclid_circular_a"/>
              </a:rPr>
              <a:t>20</a:t>
            </a:r>
            <a:r>
              <a:rPr lang="en-US" b="1" i="0" dirty="0">
                <a:effectLst/>
                <a:latin typeface="euclid_circular_a"/>
              </a:rPr>
              <a:t> </a:t>
            </a:r>
            <a:r>
              <a:rPr lang="en-US" dirty="0">
                <a:latin typeface="euclid_circular_a"/>
              </a:rPr>
              <a:t>:</a:t>
            </a:r>
          </a:p>
          <a:p>
            <a:pPr marL="1371600" lvl="3" indent="0">
              <a:buNone/>
            </a:pPr>
            <a:r>
              <a:rPr lang="en-US" dirty="0">
                <a:solidFill>
                  <a:srgbClr val="000088"/>
                </a:solidFill>
                <a:latin typeface="Consolas" panose="020B0609020204030204" pitchFamily="49" charset="0"/>
              </a:rPr>
              <a:t>	</a:t>
            </a:r>
            <a:r>
              <a:rPr lang="en-US" sz="2300" dirty="0" err="1">
                <a:solidFill>
                  <a:srgbClr val="000088"/>
                </a:solidFill>
                <a:latin typeface="Consolas" panose="020B0609020204030204" pitchFamily="49" charset="0"/>
              </a:rPr>
              <a:t>boolean_mask</a:t>
            </a:r>
            <a:r>
              <a:rPr lang="en-US" sz="2300" dirty="0">
                <a:solidFill>
                  <a:srgbClr val="000088"/>
                </a:solidFill>
                <a:latin typeface="Consolas" panose="020B0609020204030204" pitchFamily="49" charset="0"/>
              </a:rPr>
              <a:t> = array1 &gt; </a:t>
            </a:r>
            <a:r>
              <a:rPr lang="en-US" sz="2300" dirty="0">
                <a:solidFill>
                  <a:srgbClr val="FF0000"/>
                </a:solidFill>
                <a:latin typeface="Consolas" panose="020B0609020204030204" pitchFamily="49" charset="0"/>
              </a:rPr>
              <a:t>20</a:t>
            </a:r>
            <a:br>
              <a:rPr lang="en-US" sz="2300" dirty="0"/>
            </a:br>
            <a:endParaRPr lang="en-US" dirty="0"/>
          </a:p>
          <a:p>
            <a:r>
              <a:rPr lang="en-US" b="0" i="0" dirty="0">
                <a:effectLst/>
                <a:latin typeface="euclid_circular_a"/>
              </a:rPr>
              <a:t>Here, array1 &gt; 20 creates a </a:t>
            </a:r>
            <a:r>
              <a:rPr lang="en-US" b="0" i="0" dirty="0" err="1">
                <a:effectLst/>
                <a:latin typeface="euclid_circular_a"/>
              </a:rPr>
              <a:t>boolean</a:t>
            </a:r>
            <a:r>
              <a:rPr lang="en-US" b="0" i="0" dirty="0">
                <a:effectLst/>
                <a:latin typeface="euclid_circular_a"/>
              </a:rPr>
              <a:t> mask that evaluates to True for elements that are greater than 20, and False for elements that are less than or equal to 20</a:t>
            </a:r>
          </a:p>
          <a:p>
            <a:r>
              <a:rPr lang="en-US" b="0" i="0" dirty="0">
                <a:effectLst/>
                <a:latin typeface="euclid_circular_a"/>
              </a:rPr>
              <a:t>The resulting mask is an array stored in the </a:t>
            </a:r>
            <a:r>
              <a:rPr lang="en-US" sz="2200" b="0" i="0" dirty="0" err="1">
                <a:effectLst/>
                <a:latin typeface="Droid Sans Mono"/>
              </a:rPr>
              <a:t>boolean_mask</a:t>
            </a:r>
            <a:r>
              <a:rPr lang="en-US" b="0" i="0" dirty="0">
                <a:effectLst/>
                <a:latin typeface="euclid_circular_a"/>
              </a:rPr>
              <a:t> variable as:</a:t>
            </a:r>
          </a:p>
          <a:p>
            <a:pPr marL="1828800" lvl="4" indent="0">
              <a:buNone/>
            </a:pP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endParaRPr lang="en-US" b="0" i="0" dirty="0">
              <a:effectLst/>
              <a:latin typeface="euclid_circular_a"/>
            </a:endParaRPr>
          </a:p>
        </p:txBody>
      </p:sp>
    </p:spTree>
    <p:extLst>
      <p:ext uri="{BB962C8B-B14F-4D97-AF65-F5344CB8AC3E}">
        <p14:creationId xmlns:p14="http://schemas.microsoft.com/office/powerpoint/2010/main" val="325131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E5E1E-2731-4D94-993F-705C8293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Boolean Indexing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317B7-A4BD-4EBA-9183-144028AAA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uclid_circular_a"/>
              </a:rPr>
              <a:t>Boolean Indexing allows us to create a filtered subset of an array by passing a </a:t>
            </a:r>
            <a:r>
              <a:rPr lang="en-US" b="0" i="0" dirty="0" err="1">
                <a:effectLst/>
                <a:latin typeface="euclid_circular_a"/>
              </a:rPr>
              <a:t>boolean</a:t>
            </a:r>
            <a:r>
              <a:rPr lang="en-US" b="0" i="0" dirty="0">
                <a:effectLst/>
                <a:latin typeface="euclid_circular_a"/>
              </a:rPr>
              <a:t> mask as an index.</a:t>
            </a:r>
          </a:p>
          <a:p>
            <a:r>
              <a:rPr lang="en-US" dirty="0"/>
              <a:t>The </a:t>
            </a:r>
            <a:r>
              <a:rPr lang="en-US" dirty="0" err="1"/>
              <a:t>boolean</a:t>
            </a:r>
            <a:r>
              <a:rPr lang="en-US" dirty="0"/>
              <a:t> mask selects only those elements in the array that have a True value at the corresponding index position.</a:t>
            </a:r>
          </a:p>
          <a:p>
            <a:r>
              <a:rPr lang="en-US" b="0" i="0" dirty="0">
                <a:effectLst/>
                <a:latin typeface="euclid_circular_a"/>
              </a:rPr>
              <a:t>In the above example: </a:t>
            </a:r>
            <a:r>
              <a:rPr lang="en-US" sz="2000" dirty="0">
                <a:solidFill>
                  <a:srgbClr val="000088"/>
                </a:solidFill>
                <a:latin typeface="Consolas" panose="020B0609020204030204" pitchFamily="49" charset="0"/>
              </a:rPr>
              <a:t>array1[</a:t>
            </a:r>
            <a:r>
              <a:rPr lang="en-US" sz="2000" dirty="0" err="1">
                <a:solidFill>
                  <a:srgbClr val="000088"/>
                </a:solidFill>
                <a:latin typeface="Consolas" panose="020B0609020204030204" pitchFamily="49" charset="0"/>
              </a:rPr>
              <a:t>boolean_mask</a:t>
            </a:r>
            <a:r>
              <a:rPr lang="en-US" sz="2000" dirty="0">
                <a:solidFill>
                  <a:srgbClr val="000088"/>
                </a:solidFill>
                <a:latin typeface="Consolas" panose="020B0609020204030204" pitchFamily="49" charset="0"/>
              </a:rPr>
              <a:t>] </a:t>
            </a:r>
            <a:r>
              <a:rPr lang="en-US" b="0" i="0" dirty="0">
                <a:effectLst/>
                <a:latin typeface="euclid_circular_a"/>
              </a:rPr>
              <a:t> results in </a:t>
            </a:r>
            <a:r>
              <a:rPr lang="en-US" sz="2400" b="0" i="0" dirty="0">
                <a:effectLst/>
                <a:latin typeface="euclid_circular_a"/>
              </a:rPr>
              <a:t>[</a:t>
            </a:r>
            <a:r>
              <a:rPr lang="en-US" sz="2400" dirty="0">
                <a:solidFill>
                  <a:srgbClr val="FF0000"/>
                </a:solidFill>
                <a:latin typeface="euclid_circular_a"/>
              </a:rPr>
              <a:t>24</a:t>
            </a:r>
            <a:r>
              <a:rPr lang="en-US" sz="2400" b="0" i="0" dirty="0">
                <a:effectLst/>
                <a:latin typeface="euclid_circular_a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euclid_circular_a"/>
              </a:rPr>
              <a:t>21</a:t>
            </a:r>
            <a:r>
              <a:rPr lang="en-US" sz="2400" b="0" i="0" dirty="0">
                <a:effectLst/>
                <a:latin typeface="euclid_circular_a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euclid_circular_a"/>
              </a:rPr>
              <a:t>32</a:t>
            </a:r>
            <a:r>
              <a:rPr lang="en-US" sz="2400" b="0" i="0" dirty="0">
                <a:effectLst/>
                <a:latin typeface="euclid_circular_a"/>
              </a:rPr>
              <a:t>, 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euclid_circular_a"/>
              </a:rPr>
              <a:t>29</a:t>
            </a:r>
            <a:r>
              <a:rPr lang="en-US" sz="2400" b="0" i="0" dirty="0">
                <a:effectLst/>
                <a:latin typeface="euclid_circular_a"/>
              </a:rPr>
              <a:t>]</a:t>
            </a:r>
          </a:p>
          <a:p>
            <a:r>
              <a:rPr lang="en-US" dirty="0"/>
              <a:t>Now let's see another example.</a:t>
            </a:r>
          </a:p>
          <a:p>
            <a:r>
              <a:rPr lang="en-US" dirty="0"/>
              <a:t>We'll use the </a:t>
            </a:r>
            <a:r>
              <a:rPr lang="en-US" dirty="0" err="1"/>
              <a:t>boolean</a:t>
            </a:r>
            <a:r>
              <a:rPr lang="en-US" dirty="0"/>
              <a:t> indexing to select only the odd numbers from an array.</a:t>
            </a:r>
          </a:p>
          <a:p>
            <a:endParaRPr lang="en-US" sz="2400" b="0" i="0" dirty="0">
              <a:effectLst/>
              <a:latin typeface="euclid_circular_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1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90C6-D5D2-4185-91F7-7C62151B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Boolean Indexing in NumPy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FCEC03-333C-4B5F-AFF5-A287B3C93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2069"/>
            <a:ext cx="7370130" cy="4351338"/>
          </a:xfrm>
        </p:spPr>
      </p:pic>
    </p:spTree>
    <p:extLst>
      <p:ext uri="{BB962C8B-B14F-4D97-AF65-F5344CB8AC3E}">
        <p14:creationId xmlns:p14="http://schemas.microsoft.com/office/powerpoint/2010/main" val="272091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C15C-C853-49DA-8AAD-85638644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1D Boolean Indexing in NumPy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CD77C-07BA-494B-9A41-88BE8329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98" y="1825625"/>
            <a:ext cx="10590402" cy="48520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dirty="0"/>
              <a:t>Here, we have created a </a:t>
            </a:r>
            <a:r>
              <a:rPr lang="en-US" sz="2200" dirty="0" err="1"/>
              <a:t>boolean</a:t>
            </a:r>
            <a:r>
              <a:rPr lang="en-US" sz="2200" dirty="0"/>
              <a:t> mask using the | operator to select all the elements in array1 that are less than 10 </a:t>
            </a:r>
            <a:r>
              <a:rPr lang="en-US" sz="2200" b="1" dirty="0"/>
              <a:t>or</a:t>
            </a:r>
            <a:r>
              <a:rPr lang="en-US" sz="2200" dirty="0"/>
              <a:t> greater than 40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D1ABE-6B3C-42C0-BCCA-E5614DE5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06798"/>
            <a:ext cx="8989471" cy="433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2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BDF9-6E1A-449E-8A02-7B1966AD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Elements Using Boolean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F779-741C-4137-BA73-0194A6962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effectLst/>
                <a:latin typeface="euclid_circular_a"/>
              </a:rPr>
              <a:t>In NumPy, we can use </a:t>
            </a:r>
            <a:r>
              <a:rPr lang="en-US" sz="2400" b="0" i="0" dirty="0" err="1">
                <a:effectLst/>
                <a:latin typeface="euclid_circular_a"/>
              </a:rPr>
              <a:t>boolean</a:t>
            </a:r>
            <a:r>
              <a:rPr lang="en-US" sz="2400" b="0" i="0" dirty="0">
                <a:effectLst/>
                <a:latin typeface="euclid_circular_a"/>
              </a:rPr>
              <a:t> indexing to modify elements of the array:</a:t>
            </a:r>
          </a:p>
          <a:p>
            <a:endParaRPr lang="en-US" dirty="0">
              <a:latin typeface="euclid_circular_a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106E1-7FB0-4E2F-8CBB-5FC2EA179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681" y="2236291"/>
            <a:ext cx="6434357" cy="453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1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16A5-5567-45A1-8C33-6FCE9904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 in 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F1C3F-CC13-4C54-8E34-44CCDB8CF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l"/>
            <a:r>
              <a:rPr lang="en-US" sz="2000" b="0" i="0" dirty="0">
                <a:effectLst/>
                <a:latin typeface="euclid_circular_a"/>
              </a:rPr>
              <a:t>Boolean indexing can also be applied to multi-dimensional arrays in NumPy. Here is an example of element wise Boolean indexing in 2D arrays: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CBD325-35D4-457C-AC76-85C497137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334" y="2265247"/>
            <a:ext cx="6249797" cy="45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16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E617-FAE6-4E26-8FA9-8AB6E9E8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 in 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5376-12D0-47F4-AF36-87A911D9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Example 2: Boolean Indexing on a 2D Array (Row Selection)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5A660-8598-4052-A65A-0690472D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79" y="2421433"/>
            <a:ext cx="7115350" cy="417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0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E617-FAE6-4E26-8FA9-8AB6E9E8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Indexing in Multi-Dimensional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5376-12D0-47F4-AF36-87A911D9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Example 3: Boolean Indexing on a 2D Array (Column Selection)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3728E6-D981-4014-8DC6-B427DC390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3" y="2345296"/>
            <a:ext cx="7681337" cy="451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93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6248-934E-41E1-87EC-129E5E05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600" dirty="0"/>
          </a:p>
          <a:p>
            <a:pPr marL="0" indent="0" algn="ctr">
              <a:buNone/>
            </a:pPr>
            <a:r>
              <a:rPr lang="en-US" sz="3600" b="1" dirty="0"/>
              <a:t>Class Activity</a:t>
            </a:r>
            <a:r>
              <a:rPr lang="en-US" sz="3600" dirty="0"/>
              <a:t> </a:t>
            </a:r>
          </a:p>
          <a:p>
            <a:pPr marL="0" indent="0" algn="ctr">
              <a:buNone/>
            </a:pPr>
            <a:r>
              <a:rPr lang="en-US" sz="3600" dirty="0"/>
              <a:t>Exploring Applications of </a:t>
            </a:r>
            <a:r>
              <a:rPr lang="en-US" sz="3600" dirty="0" err="1"/>
              <a:t>Numpy</a:t>
            </a:r>
            <a:r>
              <a:rPr lang="en-US" sz="3600" dirty="0"/>
              <a:t> in </a:t>
            </a:r>
          </a:p>
          <a:p>
            <a:pPr marL="0" indent="0" algn="ctr">
              <a:buNone/>
            </a:pPr>
            <a:r>
              <a:rPr lang="en-US" sz="3600" dirty="0"/>
              <a:t>Real World Business Scenarios</a:t>
            </a:r>
          </a:p>
        </p:txBody>
      </p:sp>
    </p:spTree>
    <p:extLst>
      <p:ext uri="{BB962C8B-B14F-4D97-AF65-F5344CB8AC3E}">
        <p14:creationId xmlns:p14="http://schemas.microsoft.com/office/powerpoint/2010/main" val="13084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47A45-4434-43AA-B735-47543F52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Scenario: Fraud Detection in Credit Card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603A-F9BC-4574-A2B2-83769D1C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Business Problem: </a:t>
            </a:r>
            <a:r>
              <a:rPr lang="en-US" dirty="0"/>
              <a:t>A bank wants to detect </a:t>
            </a:r>
            <a:r>
              <a:rPr lang="en-US" b="1" dirty="0"/>
              <a:t>potential fraudulent transactions</a:t>
            </a:r>
            <a:r>
              <a:rPr lang="en-US" dirty="0"/>
              <a:t> in real time.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They define fraud as transactions that meet </a:t>
            </a:r>
            <a:r>
              <a:rPr lang="en-US" b="1" dirty="0"/>
              <a:t>at least two</a:t>
            </a:r>
            <a:r>
              <a:rPr lang="en-US" dirty="0"/>
              <a:t> of the following criteria: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The amount is higher than </a:t>
            </a:r>
            <a:r>
              <a:rPr lang="en-US" sz="2800" b="1" dirty="0"/>
              <a:t>$5,000</a:t>
            </a:r>
            <a:r>
              <a:rPr lang="en-US" sz="28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The transaction occurs </a:t>
            </a:r>
            <a:r>
              <a:rPr lang="en-US" sz="2800" b="1" dirty="0"/>
              <a:t>outside regular business hours</a:t>
            </a:r>
            <a:r>
              <a:rPr lang="en-US" sz="2800" dirty="0"/>
              <a:t> (before </a:t>
            </a:r>
            <a:r>
              <a:rPr lang="en-US" sz="2800" b="1" dirty="0"/>
              <a:t>6 AM</a:t>
            </a:r>
            <a:r>
              <a:rPr lang="en-US" sz="2800" dirty="0"/>
              <a:t> or after </a:t>
            </a:r>
            <a:r>
              <a:rPr lang="en-US" sz="2800" b="1" dirty="0"/>
              <a:t>9 PM</a:t>
            </a:r>
            <a:r>
              <a:rPr lang="en-US" sz="2800" dirty="0"/>
              <a:t>).</a:t>
            </a:r>
          </a:p>
          <a:p>
            <a:pPr lvl="1">
              <a:buFont typeface="+mj-lt"/>
              <a:buAutoNum type="arabicPeriod"/>
            </a:pPr>
            <a:r>
              <a:rPr lang="en-US" sz="2800" dirty="0"/>
              <a:t>The transaction comes from a </a:t>
            </a:r>
            <a:r>
              <a:rPr lang="en-US" sz="2800" b="1" dirty="0"/>
              <a:t>blocked merchant ID</a:t>
            </a:r>
            <a:r>
              <a:rPr lang="en-US" sz="2800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b="1" dirty="0"/>
              <a:t>NumPy</a:t>
            </a:r>
            <a:r>
              <a:rPr lang="en-US" dirty="0"/>
              <a:t> to help the bank </a:t>
            </a:r>
            <a:r>
              <a:rPr lang="en-US" b="1" dirty="0"/>
              <a:t>quickly flag suspicious transactions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71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799F4-A579-4137-BD66-18DF0E9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Transaction Data: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16C14-3CC6-42FB-93E2-165FCFF0E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804" y="1825625"/>
            <a:ext cx="9426391" cy="4351338"/>
          </a:xfrm>
        </p:spPr>
      </p:pic>
    </p:spTree>
    <p:extLst>
      <p:ext uri="{BB962C8B-B14F-4D97-AF65-F5344CB8AC3E}">
        <p14:creationId xmlns:p14="http://schemas.microsoft.com/office/powerpoint/2010/main" val="645796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C384-99F5-4DE4-91C9-87B8A272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Scenario: Predicting Warehouse Restocking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BE41-CC05-417A-8B20-E80B32DFA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Business Context: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logistics company</a:t>
            </a:r>
            <a:r>
              <a:rPr lang="en-US" dirty="0"/>
              <a:t> wants to efficiently manage </a:t>
            </a:r>
            <a:r>
              <a:rPr lang="en-US" b="1" dirty="0"/>
              <a:t>inventory restocking</a:t>
            </a:r>
            <a:r>
              <a:rPr lang="en-US" dirty="0"/>
              <a:t> for its warehouses. They need to </a:t>
            </a:r>
            <a:r>
              <a:rPr lang="en-US" b="1" dirty="0"/>
              <a:t>identify products that require urgent restocking</a:t>
            </a:r>
            <a:r>
              <a:rPr lang="en-US" dirty="0"/>
              <a:t> based 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Current stock level</a:t>
            </a:r>
            <a:r>
              <a:rPr lang="en-US" sz="2600" dirty="0"/>
              <a:t> is below </a:t>
            </a:r>
            <a:r>
              <a:rPr lang="en-US" sz="2600" b="1" dirty="0"/>
              <a:t>20 units</a:t>
            </a:r>
            <a:r>
              <a:rPr lang="en-US" sz="26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Projected demand</a:t>
            </a:r>
            <a:r>
              <a:rPr lang="en-US" sz="2600" dirty="0"/>
              <a:t> (based on past trends) is more than </a:t>
            </a:r>
            <a:r>
              <a:rPr lang="en-US" sz="2600" b="1" dirty="0"/>
              <a:t>50 units</a:t>
            </a:r>
            <a:r>
              <a:rPr lang="en-US" sz="2600" dirty="0"/>
              <a:t> for the next week.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600" b="1" dirty="0"/>
              <a:t>Stock after </a:t>
            </a:r>
            <a:r>
              <a:rPr lang="en-US" sz="2600" b="1"/>
              <a:t>demand</a:t>
            </a:r>
            <a:r>
              <a:rPr lang="en-US" sz="2600"/>
              <a:t> would </a:t>
            </a:r>
            <a:r>
              <a:rPr lang="en-US" sz="2600" dirty="0"/>
              <a:t>fall below </a:t>
            </a:r>
            <a:r>
              <a:rPr lang="en-US" sz="2600" b="1" dirty="0"/>
              <a:t>10 units</a:t>
            </a:r>
            <a:r>
              <a:rPr lang="en-US" sz="2600" dirty="0"/>
              <a:t> after meeting the upcoming demand.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b="1" dirty="0"/>
              <a:t>NumPy </a:t>
            </a:r>
            <a:r>
              <a:rPr lang="en-US" dirty="0"/>
              <a:t>help the company </a:t>
            </a:r>
            <a:r>
              <a:rPr lang="en-US" b="1" dirty="0"/>
              <a:t>quickly determine which products need urgent restocking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38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31862-BC98-4FE3-9DCC-1ACB2A9BB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Inventory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79E6E8-C07B-45BA-9C00-F1BEAF885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5705"/>
            <a:ext cx="10515600" cy="4231178"/>
          </a:xfrm>
        </p:spPr>
      </p:pic>
    </p:spTree>
    <p:extLst>
      <p:ext uri="{BB962C8B-B14F-4D97-AF65-F5344CB8AC3E}">
        <p14:creationId xmlns:p14="http://schemas.microsoft.com/office/powerpoint/2010/main" val="1188403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5138</TotalTime>
  <Words>1197</Words>
  <Application>Microsoft Office PowerPoint</Application>
  <PresentationFormat>Widescreen</PresentationFormat>
  <Paragraphs>129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Courier New</vt:lpstr>
      <vt:lpstr>Droid Sans Mono</vt:lpstr>
      <vt:lpstr>euclid_circular_a</vt:lpstr>
      <vt:lpstr>Segoe UI</vt:lpstr>
      <vt:lpstr>Office Theme</vt:lpstr>
      <vt:lpstr>MGMT 58600: Python Programming</vt:lpstr>
      <vt:lpstr>Mathematical and Statistical Methods</vt:lpstr>
      <vt:lpstr>Random</vt:lpstr>
      <vt:lpstr>Random</vt:lpstr>
      <vt:lpstr>Random Distributions</vt:lpstr>
      <vt:lpstr>Random Distributions</vt:lpstr>
      <vt:lpstr>Data Selection with Boolean Indexing</vt:lpstr>
      <vt:lpstr>1D Boolean Indexing in NumPy</vt:lpstr>
      <vt:lpstr>1D Boolean Indexing in NumPy</vt:lpstr>
      <vt:lpstr>1D Boolean Indexing in NumPy</vt:lpstr>
      <vt:lpstr>Modify Elements Using Boolean Indexing</vt:lpstr>
      <vt:lpstr>Boolean Indexing in Multi-Dimensional Arrays</vt:lpstr>
      <vt:lpstr>Boolean Indexing in Multi-Dimensional Arrays</vt:lpstr>
      <vt:lpstr>Boolean Indexing in Multi-Dimensional Arrays</vt:lpstr>
      <vt:lpstr>PowerPoint Presentation</vt:lpstr>
      <vt:lpstr>Scenario: Fraud Detection in Credit Card Transactions</vt:lpstr>
      <vt:lpstr>Simulated Transaction Data:</vt:lpstr>
      <vt:lpstr>Scenario: Predicting Warehouse Restocking Needs</vt:lpstr>
      <vt:lpstr>Simulated Inventory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69</cp:revision>
  <dcterms:created xsi:type="dcterms:W3CDTF">2024-01-10T16:08:38Z</dcterms:created>
  <dcterms:modified xsi:type="dcterms:W3CDTF">2025-09-18T13:11:50Z</dcterms:modified>
</cp:coreProperties>
</file>