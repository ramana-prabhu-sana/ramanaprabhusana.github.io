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76" r:id="rId4"/>
    <p:sldId id="277" r:id="rId5"/>
    <p:sldId id="278" r:id="rId6"/>
    <p:sldId id="279" r:id="rId7"/>
    <p:sldId id="280" r:id="rId8"/>
    <p:sldId id="28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70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4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9939-3D19-4B0E-B892-58D36EBE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E14E-A85B-45EF-8532-FE0538C6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Parameters and variables that are assigned inside a function are said to exist in that function’s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local scope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Variables that are assigned outside all functions are said to exist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global scope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variable that exists in a local scope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local variable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variable that exists in the global scope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global variable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80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E5DA-2333-4A5E-8EA4-10CAB88D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CF2-2BEF-4F30-A887-6071E396D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300"/>
          </a:xfrm>
        </p:spPr>
        <p:txBody>
          <a:bodyPr/>
          <a:lstStyle/>
          <a:p>
            <a:r>
              <a:rPr lang="en-US" dirty="0"/>
              <a:t>Local variables cannot be used in the global scope</a:t>
            </a:r>
          </a:p>
          <a:p>
            <a:pPr marL="914400" lvl="2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31337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r>
              <a:rPr lang="en-US" sz="1800" dirty="0"/>
              <a:t> </a:t>
            </a:r>
          </a:p>
          <a:p>
            <a:r>
              <a:rPr lang="en-US" dirty="0"/>
              <a:t>Local scopes cannot use variables in other local scopes </a:t>
            </a:r>
          </a:p>
          <a:p>
            <a:pPr marL="457200" lvl="1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def spam():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eggs = 99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bacon()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print(eggs)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def bacon():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ham = 101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eggs = 0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000000"/>
                </a:solidFill>
                <a:latin typeface="ArialUnicodeMS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926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EBD8-F330-4CED-AF55-CBF15708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AB6F5-F10D-483E-86F4-D719B7DEA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Global variables can be read from a local scope</a:t>
            </a:r>
          </a:p>
          <a:p>
            <a:pPr marL="457200" lvl="1" indent="0">
              <a:buNone/>
            </a:pP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print(eggs)</a:t>
            </a:r>
          </a:p>
          <a:p>
            <a:pPr marL="457200" lvl="1" indent="0">
              <a:buNone/>
            </a:pP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42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r>
              <a:rPr lang="en-US" sz="3200" dirty="0"/>
              <a:t> </a:t>
            </a:r>
          </a:p>
          <a:p>
            <a:r>
              <a:rPr lang="en-US" dirty="0"/>
              <a:t>Local and global variables with the same name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eggs = 'spam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'spam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def bacon():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eggs = 'bacon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'bacon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spam()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'bacon local’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eggs = 'global'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bacon()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print(eggs)        # prints 'global'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1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80F8-7048-4587-802A-0A74FD6D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global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38A6A-D52B-482E-A365-3EED0F9B3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If you need to modify a global variable from within a function, 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global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statement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global eggs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eggs = 'spam'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'global'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8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5294-008A-42E6-A22D-89FB86A0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578D-9BC7-4768-8179-862F8118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There are four rules to tell whether a variable is in a local scope or global scope: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If a variable is being used in the global scope (that is, outside of all functions), then it is always a global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If there is a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global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 statement for that variable in a function, it is a global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Otherwise, if the variable is used in an assignment statement in the function, it is a local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But if the variable is not used in an assignment statement, it is a global variable.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2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AF54-44D5-46C0-B0D9-CD25CDDE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A2C61-62C7-4BAE-B8D1-4CF393CD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Until now, getting an error, or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exception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 in our Python program meant the entire program will crash.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We don’t want this to happen in real-world programs.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Instead, we want the program to detect errors, handle them, and then continue to run.</a:t>
            </a:r>
          </a:p>
          <a:p>
            <a:r>
              <a:rPr lang="en-US" dirty="0">
                <a:solidFill>
                  <a:srgbClr val="000000"/>
                </a:solidFill>
                <a:latin typeface="JansonTextLTStd"/>
              </a:rPr>
              <a:t>These exceptions can be handled using the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 and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 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statements</a:t>
            </a:r>
            <a:endParaRPr lang="en-US" b="0" i="0" dirty="0">
              <a:solidFill>
                <a:srgbClr val="000000"/>
              </a:solidFill>
              <a:effectLst/>
              <a:latin typeface="JansonTextLTStd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For example, consider the following program, which has a divide-by-zero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4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4A76-06D6-4850-B518-A12A636E1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7708C-17D4-4BE4-9EC4-19D6CD909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divideBy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return 42 /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divideBy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print(spam(2))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print(spam(12))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print(spam(0))</a:t>
            </a:r>
            <a:br>
              <a:rPr lang="en-US" sz="1800" dirty="0"/>
            </a:br>
            <a:endParaRPr lang="en-US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000" dirty="0"/>
              <a:t>You can put this divide-by-zero code in a try clause and have an except clause contain code to handle what happens when this error occurs.</a:t>
            </a:r>
          </a:p>
          <a:p>
            <a:pPr marL="457200" lvl="1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divideBy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try: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return 42 /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divideBy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except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ZeroDivisionError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print('Error: Invalid argument.')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print(spam(2))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print(spam(12))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print(spam(0))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print(spam(1))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8833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5ECC-9048-41C8-9596-A7C94ABE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Review: Python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89AB1-7EF7-4DFA-92E8-47A84FEC8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</a:rPr>
              <a:t>A </a:t>
            </a:r>
            <a:r>
              <a:rPr lang="en-US" b="1" dirty="0">
                <a:solidFill>
                  <a:srgbClr val="273239"/>
                </a:solidFill>
                <a:effectLst/>
              </a:rPr>
              <a:t>data structure</a:t>
            </a:r>
            <a:r>
              <a:rPr lang="en-US" b="0" i="0" dirty="0">
                <a:solidFill>
                  <a:srgbClr val="273239"/>
                </a:solidFill>
                <a:effectLst/>
              </a:rPr>
              <a:t> is a </a:t>
            </a:r>
            <a:r>
              <a:rPr lang="en-US" b="0" i="1" dirty="0">
                <a:solidFill>
                  <a:srgbClr val="273239"/>
                </a:solidFill>
                <a:effectLst/>
              </a:rPr>
              <a:t>collection</a:t>
            </a:r>
            <a:r>
              <a:rPr lang="en-US" b="0" i="0" dirty="0">
                <a:solidFill>
                  <a:srgbClr val="273239"/>
                </a:solidFill>
                <a:effectLst/>
              </a:rPr>
              <a:t> of different </a:t>
            </a:r>
            <a:r>
              <a:rPr lang="en-US" b="0" i="1" dirty="0">
                <a:solidFill>
                  <a:srgbClr val="273239"/>
                </a:solidFill>
                <a:effectLst/>
              </a:rPr>
              <a:t>data</a:t>
            </a:r>
            <a:r>
              <a:rPr lang="en-US" b="0" i="0" dirty="0">
                <a:solidFill>
                  <a:srgbClr val="273239"/>
                </a:solidFill>
                <a:effectLst/>
              </a:rPr>
              <a:t> </a:t>
            </a:r>
            <a:r>
              <a:rPr lang="en-US" b="0" i="1" dirty="0">
                <a:solidFill>
                  <a:srgbClr val="273239"/>
                </a:solidFill>
                <a:effectLst/>
              </a:rPr>
              <a:t>types </a:t>
            </a:r>
            <a:r>
              <a:rPr lang="en-US" b="0" i="0" dirty="0">
                <a:solidFill>
                  <a:srgbClr val="273239"/>
                </a:solidFill>
                <a:effectLst/>
              </a:rPr>
              <a:t>that has a set of specific operations that can be performed on it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Built-in data structures in Python can be divided into two broad categories: </a:t>
            </a:r>
            <a:r>
              <a:rPr lang="en-US" b="1" i="0" dirty="0">
                <a:solidFill>
                  <a:srgbClr val="212529"/>
                </a:solidFill>
                <a:effectLst/>
                <a:latin typeface="SSP Local"/>
              </a:rPr>
              <a:t>mutable</a:t>
            </a:r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 and </a:t>
            </a:r>
            <a:r>
              <a:rPr lang="en-US" b="1" i="0" dirty="0">
                <a:solidFill>
                  <a:srgbClr val="212529"/>
                </a:solidFill>
                <a:effectLst/>
                <a:latin typeface="SSP Local"/>
              </a:rPr>
              <a:t>immutable</a:t>
            </a:r>
            <a:endParaRPr lang="en-US" dirty="0">
              <a:solidFill>
                <a:srgbClr val="212529"/>
              </a:solidFill>
              <a:latin typeface="SSP Local"/>
            </a:endParaRP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Mutable data structures are those which we can modify e.g., by adding, removing, or changing their elements.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Python has three mutable data structures: </a:t>
            </a:r>
            <a:r>
              <a:rPr lang="en-US" b="1" i="0" dirty="0">
                <a:solidFill>
                  <a:srgbClr val="212529"/>
                </a:solidFill>
                <a:effectLst/>
                <a:latin typeface="SSP Local"/>
              </a:rPr>
              <a:t>lists</a:t>
            </a:r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, </a:t>
            </a:r>
            <a:r>
              <a:rPr lang="en-US" b="1" i="0" dirty="0">
                <a:solidFill>
                  <a:srgbClr val="212529"/>
                </a:solidFill>
                <a:effectLst/>
                <a:latin typeface="SSP Local"/>
              </a:rPr>
              <a:t>dictionaries</a:t>
            </a:r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, and </a:t>
            </a:r>
            <a:r>
              <a:rPr lang="en-US" b="1" i="0" dirty="0">
                <a:solidFill>
                  <a:srgbClr val="212529"/>
                </a:solidFill>
                <a:effectLst/>
                <a:latin typeface="SSP Local"/>
              </a:rPr>
              <a:t>sets</a:t>
            </a:r>
            <a:endParaRPr lang="en-US" b="0" i="0" dirty="0">
              <a:solidFill>
                <a:srgbClr val="273239"/>
              </a:solidFill>
              <a:effectLst/>
            </a:endParaRP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Immutable data structures are those that we cannot modify after their creation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The only basic built-in immutable data structure in Python is a </a:t>
            </a:r>
            <a:r>
              <a:rPr lang="en-US" b="1" i="0" dirty="0">
                <a:solidFill>
                  <a:srgbClr val="212529"/>
                </a:solidFill>
                <a:effectLst/>
                <a:latin typeface="SSP Local"/>
              </a:rPr>
              <a:t>tuple</a:t>
            </a:r>
            <a:r>
              <a:rPr lang="en-US" b="0" i="0" dirty="0">
                <a:solidFill>
                  <a:srgbClr val="212529"/>
                </a:solidFill>
                <a:effectLst/>
                <a:latin typeface="SSP Local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3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C092-DDDB-4212-AF75-F8796B9B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Review: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67F3-DA29-4FB3-90C2-A6FBA4490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List is a </a:t>
            </a:r>
            <a:r>
              <a:rPr lang="en-US" i="1" dirty="0"/>
              <a:t>sequence</a:t>
            </a:r>
            <a:r>
              <a:rPr lang="en-US" dirty="0"/>
              <a:t> data type which is used to store a </a:t>
            </a:r>
            <a:r>
              <a:rPr lang="en-US" i="1" dirty="0"/>
              <a:t>collection of data</a:t>
            </a:r>
          </a:p>
          <a:p>
            <a:r>
              <a:rPr lang="en-US" dirty="0"/>
              <a:t>Suppose we need to record the ages of 5 students. Instead of creating 5 separate variables, we can simply create a list</a:t>
            </a: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ages =  [17, 18, 19, 26, 23]</a:t>
            </a: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print(ages)</a:t>
            </a:r>
          </a:p>
          <a:p>
            <a:r>
              <a:rPr lang="en-US" dirty="0"/>
              <a:t>A list can store elements of different types (integer, float, string, etc.) and store duplicate elements</a:t>
            </a: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# list with elements of different data types</a:t>
            </a: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list1 = [1, "Hello", 3.4]</a:t>
            </a:r>
          </a:p>
          <a:p>
            <a:pPr marL="457200" lvl="1" indent="0">
              <a:buNone/>
            </a:pPr>
            <a:endParaRPr lang="en-U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# list with duplicate elements</a:t>
            </a: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list1 = [1, "Hello", 3.4, "Hello", 1]</a:t>
            </a:r>
          </a:p>
          <a:p>
            <a:pPr marL="457200" lvl="1" indent="0">
              <a:buNone/>
            </a:pPr>
            <a:endParaRPr lang="en-U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# empty list</a:t>
            </a:r>
          </a:p>
          <a:p>
            <a:pPr marL="457200" lvl="1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list3 = []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09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37F24-56DA-4495-99E2-81B085CF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B464-CCDA-44EF-83A5-E26BF8E60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euclid_circular_a"/>
              </a:rPr>
              <a:t>Lists are </a:t>
            </a:r>
            <a:r>
              <a:rPr lang="en-US" b="1" i="0" dirty="0">
                <a:effectLst/>
                <a:latin typeface="euclid_circular_a"/>
              </a:rPr>
              <a:t>ordered</a:t>
            </a:r>
            <a:r>
              <a:rPr lang="en-US" b="0" i="0" dirty="0">
                <a:effectLst/>
                <a:latin typeface="euclid_circular_a"/>
              </a:rPr>
              <a:t> and each item in a list is associated with a number. The number is known as a list </a:t>
            </a:r>
            <a:r>
              <a:rPr lang="en-US" b="1" i="0" dirty="0">
                <a:effectLst/>
                <a:latin typeface="euclid_circular_a"/>
              </a:rPr>
              <a:t>index</a:t>
            </a:r>
            <a:r>
              <a:rPr lang="en-US" b="0" i="0" dirty="0">
                <a:effectLst/>
                <a:latin typeface="euclid_circular_a"/>
              </a:rPr>
              <a:t>.</a:t>
            </a:r>
          </a:p>
          <a:p>
            <a:r>
              <a:rPr lang="en-US" dirty="0">
                <a:latin typeface="euclid_circular_a"/>
              </a:rPr>
              <a:t> The index of the first element is </a:t>
            </a:r>
            <a:r>
              <a:rPr lang="en-US" b="1" dirty="0">
                <a:latin typeface="euclid_circular_a"/>
              </a:rPr>
              <a:t>0</a:t>
            </a:r>
            <a:r>
              <a:rPr lang="en-US" dirty="0">
                <a:latin typeface="euclid_circular_a"/>
              </a:rPr>
              <a:t>, second element is </a:t>
            </a:r>
            <a:r>
              <a:rPr lang="en-US" b="1" dirty="0">
                <a:latin typeface="euclid_circular_a"/>
              </a:rPr>
              <a:t>1</a:t>
            </a:r>
            <a:r>
              <a:rPr lang="en-US" dirty="0">
                <a:latin typeface="euclid_circular_a"/>
              </a:rPr>
              <a:t> and so on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["Python", “Swift", "C++"]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access item at index 0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print(languages[0])   # Python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access item at index 2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print(languages[2])   # C++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8798D-07A9-4909-BF03-18A3FB896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670" y="3706813"/>
            <a:ext cx="6168280" cy="14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4B86-FD7C-40AF-B41E-35984383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Negative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DBA8B-9882-46D8-B1EB-B14575EC9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euclid_circular_a"/>
              </a:rPr>
              <a:t>Python allows negative indexing for its sequences. The index of -1 refers to the last item, -2 to the second last item and so on.</a:t>
            </a:r>
            <a:endParaRPr lang="en-US" b="0" i="0" dirty="0">
              <a:effectLst/>
              <a:latin typeface="euclid_circular_a"/>
            </a:endParaRP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["Python", "Swift", "C++"]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access item at index 0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print(languages[-1])   # C++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access item at index 2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print(languages[-3])   # Python</a:t>
            </a:r>
          </a:p>
          <a:p>
            <a:endParaRPr lang="en-US" dirty="0">
              <a:latin typeface="euclid_circular_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FE06C-9C6E-463A-B1B1-7AFC629D5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9362"/>
            <a:ext cx="62293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ED4A-3CAB-49D6-B05A-CB6453F3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0123D-FB44-4E55-BDA2-9EC21E2E4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Python, it is possible to access a portion of a list using the slicing operator “:”  e.g.,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List slicing in Python</a:t>
            </a:r>
          </a:p>
          <a:p>
            <a:pPr marL="457200" lvl="1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['p','r','o','g','r','a','m','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','n']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items from index 2 to index 4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[2:5])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items from index 5 to end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[5:])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items beginning to end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[:])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DE0D-59A0-4876-97AB-96887EEE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Elements to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7B1B-1C4B-4F06-93DD-9B96480F9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Using append(): the method adds an item at the end of the list.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[21, 34, 54, 12]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print("Before Append:", numbers)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using append method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numbers.append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(32)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print("After Append:", numbers)</a:t>
            </a:r>
          </a:p>
          <a:p>
            <a:r>
              <a:rPr lang="en-US" dirty="0"/>
              <a:t>Using extend(): the method adds all the items of an </a:t>
            </a:r>
            <a:r>
              <a:rPr lang="en-US" i="1" dirty="0" err="1"/>
              <a:t>iterable</a:t>
            </a:r>
            <a:r>
              <a:rPr lang="en-US" dirty="0"/>
              <a:t> (list, tuple, string, dictionary, etc.) to the end of the list.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[1, 3, 5]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even_numbers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[4, 6, 8]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add elements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even_numbers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the numbers list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numbers.extend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even_numbers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print("List after append:", numbers)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86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E36C-2F60-4B5F-B200-6ACA12057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Elements to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0AB9-5C5E-429E-9FB1-F813805E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insert(): this method adds an element at a specified index.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[10, 30, 40]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insert an element at index 1 (second position)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numbers.insert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(1, 20)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print(numbers) # [10, 20, 30, 40]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0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8C13-7E82-48F5-A0F3-7B8EBBC6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List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8F21-C0B6-4A8C-A536-59DAA9A2F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lists are mutable (can be modified). We can change items of a list by assigning new values using the = operator.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changing the third item to 'C'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languages[2] = 'C'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 # ['Python', 'Swift', 'C']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0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DEDE-8925-4534-A3D6-0F34EE44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 Items From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0273-18FB-4063-9EB5-B60F399A5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del statement: removes one or more items from a list. E.g.,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'C++', 'C', 'Java', 'Rust', 'R']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deleting the second item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languages[1]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# ['Python', 'C++', 'C', 'Java', 'Rust', 'R']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deleting the last item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languages[-1]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# ['Python', 'C++', 'C', 'Java', 'Rust']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delete the first two items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languages[0 : 2]  # ['C', 'Java', 'Rust']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</a:t>
            </a:r>
          </a:p>
        </p:txBody>
      </p:sp>
    </p:spTree>
    <p:extLst>
      <p:ext uri="{BB962C8B-B14F-4D97-AF65-F5344CB8AC3E}">
        <p14:creationId xmlns:p14="http://schemas.microsoft.com/office/powerpoint/2010/main" val="37717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DEC1-0337-4440-A764-0874817C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 Items From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AE71-AB6B-4155-9738-EEE23332B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use the remove() method to delete a list item. For example,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'C++', 'C', 'Java', 'Rust', 'R']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remove 'Python' from the list</a:t>
            </a:r>
          </a:p>
          <a:p>
            <a:pPr marL="914400" lvl="2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languages.remove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('Python')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# ['Swift', 'C++', 'C', 'Java', 'Rust', 'R']</a:t>
            </a:r>
          </a:p>
        </p:txBody>
      </p:sp>
    </p:spTree>
    <p:extLst>
      <p:ext uri="{BB962C8B-B14F-4D97-AF65-F5344CB8AC3E}">
        <p14:creationId xmlns:p14="http://schemas.microsoft.com/office/powerpoint/2010/main" val="103717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4F45-2E4F-40C2-A233-B8486E01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6E3CB-9B7F-4B56-9775-4337592A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6350" cy="40322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Python has many useful list methods that makes it really easy to work with lists.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DEF28-C076-4A64-BD63-02FA4599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475" y="1825625"/>
            <a:ext cx="6231031" cy="48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2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9650-C42C-4EE0-8361-99AFA0D4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Sorting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C0CC-608B-4CA1-A5E4-2059C65A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48950" cy="480377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sort() method is used to sort the elements of a list in ascending order by default. E.g.,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unsorted_list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[2,4,5,32,6,255,5,42]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unsorted_list.sort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print("Now it is sorted:",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unsorted_list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/>
              <a:t>To sort a list in descending order, set the reverse parameter to True of the sort() method. E.g.,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List of Integers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[1, 3, 4, 2]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Sorting list of Integers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print(numbers) # List of Floating point numbers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decimalnumber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[2.01, 2.00, 3.67, 3.28, 1.68]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Sorting list of Floating point numbers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decimalnumber.sort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decimalnumber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List of strings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words = [“programming", “is", “fun"]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Sorting list of strings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print(words)</a:t>
            </a:r>
          </a:p>
          <a:p>
            <a:pPr marL="914400" lvl="2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9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3472-0DA2-44A6-A0BD-1DE34F9B3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3B5B-0B89-42EA-9202-86A6D1C2A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Iteration: We can use a for loop to iterate over the elements of a list. For example,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iterating through the list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language in languages: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print(language)</a:t>
            </a:r>
          </a:p>
          <a:p>
            <a:r>
              <a:rPr lang="en-US" dirty="0"/>
              <a:t>Check if an Element Exists in a List: We use the ‘</a:t>
            </a:r>
            <a:r>
              <a:rPr lang="en-US" i="1" dirty="0"/>
              <a:t>in’</a:t>
            </a:r>
            <a:r>
              <a:rPr lang="en-US" dirty="0"/>
              <a:t> keyword to check if an item exists in the list or not. For example,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print('C' in languages)    # False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print('Python' in languages)    #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75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D936-7FE6-4066-A32B-4F314673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40FC-F384-4C8F-A506-B8366B055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List comprehension is a concise and elegant way to create lists. For example,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create a list with value n ** 2 where n is a number from 1 to 5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[n**2 for n in range(1, 6)]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print(numbers)    </a:t>
            </a:r>
          </a:p>
          <a:p>
            <a:endParaRPr lang="en-US" b="0" i="0" dirty="0"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1029484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3460</TotalTime>
  <Words>1993</Words>
  <Application>Microsoft Office PowerPoint</Application>
  <PresentationFormat>Widescreen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ArialUnicodeMS</vt:lpstr>
      <vt:lpstr>Calibri</vt:lpstr>
      <vt:lpstr>Calibri Light</vt:lpstr>
      <vt:lpstr>Courier New</vt:lpstr>
      <vt:lpstr>euclid_circular_a</vt:lpstr>
      <vt:lpstr>JansonTextLTStd</vt:lpstr>
      <vt:lpstr>SSP Local</vt:lpstr>
      <vt:lpstr>Office Theme</vt:lpstr>
      <vt:lpstr>MGMT 58600: Python Programming</vt:lpstr>
      <vt:lpstr>Scope of Variables</vt:lpstr>
      <vt:lpstr>Scoping Rules</vt:lpstr>
      <vt:lpstr>Scoping Rules</vt:lpstr>
      <vt:lpstr>The global Statement</vt:lpstr>
      <vt:lpstr>Four Rules</vt:lpstr>
      <vt:lpstr>Exception Handling</vt:lpstr>
      <vt:lpstr>Exception Handling</vt:lpstr>
      <vt:lpstr>Review: Python Data Structures</vt:lpstr>
      <vt:lpstr>Review: Lists</vt:lpstr>
      <vt:lpstr>Indexing</vt:lpstr>
      <vt:lpstr>Negative Indexing</vt:lpstr>
      <vt:lpstr>Slicing</vt:lpstr>
      <vt:lpstr>Add Elements to a List</vt:lpstr>
      <vt:lpstr>Add Elements to a List</vt:lpstr>
      <vt:lpstr>Changing List Items</vt:lpstr>
      <vt:lpstr>Remove Items From a List</vt:lpstr>
      <vt:lpstr>Remove Items From a List</vt:lpstr>
      <vt:lpstr>List Methods</vt:lpstr>
      <vt:lpstr>Sorting a List</vt:lpstr>
      <vt:lpstr>Working With Lists</vt:lpstr>
      <vt:lpstr>List Comprehension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51</cp:revision>
  <dcterms:created xsi:type="dcterms:W3CDTF">2024-01-10T16:08:38Z</dcterms:created>
  <dcterms:modified xsi:type="dcterms:W3CDTF">2025-09-04T17:35:24Z</dcterms:modified>
</cp:coreProperties>
</file>