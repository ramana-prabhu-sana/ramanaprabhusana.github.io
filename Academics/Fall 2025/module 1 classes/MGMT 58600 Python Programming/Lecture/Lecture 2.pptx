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76" r:id="rId31"/>
    <p:sldId id="277" r:id="rId32"/>
    <p:sldId id="278" r:id="rId33"/>
    <p:sldId id="27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8486-2CE7-4B00-8374-231741A4D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8C3DD-C382-4BAD-B83A-A1EBAA338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23CF6-3BCB-4565-B836-CCB09539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17FED-4672-476A-8757-7EBBBF26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A34DB-6033-4F22-B3A0-8B39FB93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1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5408-88FA-4722-A45F-9D984028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D323C-501B-4232-ACE5-C7B0DA40E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CDAF0-F5FD-4836-85D8-72F1C682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3139-7530-43AF-904E-B5577EBD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BAAC0-A791-49CA-B53E-22499AA2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2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4643-20CF-467A-9E45-A6A074EB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C36F4-FC02-4429-8AC5-DBA4EEBA5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3850-C43E-4690-9C72-B3D58D17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89A57-2FDC-4C7E-B8F6-B6BEDA63A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D344B-31AC-4701-9955-240C227D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5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18B7-C4AB-47DC-B0B9-CDB10397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41AAE-FA59-4342-B736-16160DD94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A9959-4F98-4CB2-84F6-AA5ACB73F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89EB2-FE51-4702-9B41-015FA9C6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02D4E-CB42-44A6-A6AB-5FF1AF703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30B4-59D7-4BD7-8380-F5894D50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00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3B37-B009-4C54-943E-28AE42A0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550C4-CB79-45F8-9C72-6B2F821A5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D125F-9EC3-41F8-A577-6AB4833F4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D7C87-F26D-4A09-BA05-3E8B690ED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90C03-8D6B-4245-B47D-16859ED19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FFFE9-244F-49DC-A47B-694E8636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76B589-C403-406D-B70F-573DB7F0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A1645-0DE6-4253-8A35-69B164BA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1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0D46-E5AC-447E-9A23-5A9CB130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F2B62-48F9-49FB-B1EA-E22BE1B3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1881C-6CCC-4406-8457-F1F6AAE6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267E5-2718-4BE7-ADC7-F49DC32C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2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D6C3E-643B-4892-9393-E4D7FCA3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B5C82-0A83-4137-A620-1DB96A19E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03531-7719-4414-929B-9CD08A00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4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6229-C951-4F9B-B687-CCED8998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186E2-2A8A-4C4E-96F0-BF7C2009E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EFBDF-F46D-4F3A-87E6-3A56ABAD7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1CD6D-CCC0-496E-A7EC-47506A90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33A58-50FC-43B9-A745-F77E9322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4E901-5577-4EDD-8972-EFB36B43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93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5514-C09D-49EE-989F-71FD12363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CFF1D-79E3-4068-A36F-06E27200C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4F85D-B97A-415B-9EC6-6BF5328A3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442E9-874A-4E6C-8F3F-429BD9F9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E4524-B093-4D06-92F2-B3851932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ADE9E-2047-40D6-9DEA-B6579BEE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4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0F2E-270F-4546-AA3B-E5DD0979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0A748-D3CE-4C49-9DBE-5ECE093AA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F91C9-91DD-4DAB-97E6-9B2F61C4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6E2F-85CF-45EC-98BC-31AB5B00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C97FA-DD14-4865-A5F8-111E561A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3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2D001-B13D-479F-982C-545C072FD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A7C3F-4573-4A24-A283-6536D869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5C727-2DA8-48BF-BFD3-B376DBAE9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370FD-BF10-4717-B14C-017C7B578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B4476-23DA-4ED1-817F-2CB9C408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78030E-B4CF-40FD-8FF9-10738028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5DD19-4123-4620-B5B0-7A1144CCE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620CF-A2B4-421A-BE7B-B79956B8E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E9CF7-B37A-4643-BCAC-E7383B7BB72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186FC-1449-480E-BBF0-5E780F542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597BB-1FCD-455A-B2EA-A51F69B2C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3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F7E6-E213-42E6-9661-56E2B5960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MGMT 58600: Python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0E5DA-4E35-4F3F-B1FA-07E843829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Lecture 2</a:t>
            </a:r>
          </a:p>
          <a:p>
            <a:endParaRPr lang="en-US" dirty="0"/>
          </a:p>
          <a:p>
            <a:r>
              <a:rPr lang="en-US" dirty="0"/>
              <a:t>Dr. Shoaib Khan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0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D9F1A-8BFB-4BD2-BD48-B25D0B5A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Variables and Assignment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6837B-1A3A-4371-BCD4-8545AF9AC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name a variable anything as long as it obeys the following three rules:</a:t>
            </a:r>
          </a:p>
          <a:p>
            <a:pPr lvl="1"/>
            <a:r>
              <a:rPr lang="en-US" dirty="0"/>
              <a:t>It can be only one word with no spaces.</a:t>
            </a:r>
          </a:p>
          <a:p>
            <a:pPr lvl="1"/>
            <a:r>
              <a:rPr lang="en-US" dirty="0"/>
              <a:t>It can use only letters, numbers, and the underscore (_) character.</a:t>
            </a:r>
          </a:p>
          <a:p>
            <a:pPr lvl="1"/>
            <a:r>
              <a:rPr lang="en-US" dirty="0"/>
              <a:t>It can’t begin with a number.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610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A747-F6B7-4E46-88C5-A6E767D2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First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F3909-2BCA-43DB-AE3D-3077224F8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Now it’s time to create your first program! When the file editor window opens, enter the following into it: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ArialUnicodeMS"/>
              </a:rPr>
              <a:t>➊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 # This program says hello and asks for my name &amp; age.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ArialUnicodeMS"/>
              </a:rPr>
              <a:t>➋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print('Hello, world!’)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print('What is your name?')    # ask for their name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ArialUnicodeMS"/>
              </a:rPr>
              <a:t>➌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myName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input()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ArialUnicodeMS"/>
              </a:rPr>
              <a:t>➍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 print('It is good to meet you, ' +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myName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ArialUnicodeMS"/>
              </a:rPr>
              <a:t>➎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 print('The length of your name is:')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print(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len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myName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))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ArialUnicodeMS"/>
              </a:rPr>
              <a:t>➏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 print('What is your age?')    # ask for their age</a:t>
            </a:r>
            <a:br>
              <a:rPr lang="en-US" dirty="0"/>
            </a:br>
            <a:r>
              <a:rPr lang="en-US" dirty="0"/>
              <a:t>   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myAge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input()</a:t>
            </a: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print('You will be ' + str(int(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myAge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 + 1) + ' in a year.')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07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44FE0-2DCB-4685-8AEB-731998BEC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Dissecting the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FAFC9-B1BB-42C5-AB68-9D0DAB4C1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b="1" i="1" dirty="0">
                <a:solidFill>
                  <a:srgbClr val="000000"/>
                </a:solidFill>
                <a:effectLst/>
                <a:latin typeface="TradeGothicLTStd"/>
              </a:rPr>
              <a:t>Comments</a:t>
            </a:r>
            <a:r>
              <a:rPr lang="en-US" b="1" dirty="0">
                <a:solidFill>
                  <a:srgbClr val="000000"/>
                </a:solidFill>
                <a:latin typeface="TradeGothicLTStd"/>
              </a:rPr>
              <a:t>: 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The following line is called a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comment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.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ArialUnicodeMS"/>
              </a:rPr>
              <a:t>➊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# This program says hello and asks for my name.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Python ignores comments, and you can use them to write notes or remind yourself what the code is trying to do. </a:t>
            </a:r>
          </a:p>
          <a:p>
            <a:r>
              <a:rPr lang="en-US" b="1" i="1" dirty="0">
                <a:solidFill>
                  <a:srgbClr val="000000"/>
                </a:solidFill>
                <a:effectLst/>
                <a:latin typeface="TradeGothicLTStd"/>
              </a:rPr>
              <a:t>The print() Function: 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Displays the string value inside its parentheses on the screen.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ArialUnicodeMS"/>
              </a:rPr>
              <a:t>➋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print('Hello, world!')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print('What is your name?') # ask for their name</a:t>
            </a:r>
            <a:endParaRPr lang="en-US" b="1" i="0" dirty="0">
              <a:solidFill>
                <a:srgbClr val="000000"/>
              </a:solidFill>
              <a:effectLst/>
              <a:latin typeface="TradeGothicLTStd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 </a:t>
            </a:r>
            <a:r>
              <a:rPr lang="en-US" b="1" i="1" dirty="0">
                <a:solidFill>
                  <a:srgbClr val="000000"/>
                </a:solidFill>
                <a:effectLst/>
                <a:latin typeface="TradeGothicLTStd"/>
              </a:rPr>
              <a:t>The input() Function: 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The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input()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function waits for the user to type some text on the keyboard and press ENTER.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ArialUnicodeMS"/>
              </a:rPr>
              <a:t>➌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myName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input()</a:t>
            </a:r>
            <a:endParaRPr lang="en-US" b="1" i="0" dirty="0">
              <a:solidFill>
                <a:srgbClr val="000000"/>
              </a:solidFill>
              <a:effectLst/>
              <a:latin typeface="TradeGothicLTStd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JansonTextLTStd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JansonTextLTStd"/>
            </a:endParaRPr>
          </a:p>
        </p:txBody>
      </p:sp>
    </p:spTree>
    <p:extLst>
      <p:ext uri="{BB962C8B-B14F-4D97-AF65-F5344CB8AC3E}">
        <p14:creationId xmlns:p14="http://schemas.microsoft.com/office/powerpoint/2010/main" val="159304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669B-57DF-4C3F-88FC-D7D425FB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Dissecting the Program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61B8D-44A6-44C3-B7CD-3BDC28F32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77525" cy="48514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i="1" dirty="0">
                <a:solidFill>
                  <a:srgbClr val="000000"/>
                </a:solidFill>
                <a:effectLst/>
                <a:latin typeface="TradeGothicLTStd"/>
              </a:rPr>
              <a:t>Printing the User’s Name</a:t>
            </a:r>
            <a:r>
              <a:rPr lang="en-US" b="1" dirty="0">
                <a:solidFill>
                  <a:srgbClr val="000000"/>
                </a:solidFill>
                <a:latin typeface="TradeGothicLTStd"/>
              </a:rPr>
              <a:t>: 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The following call to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print()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actually contains the expression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'It is good to meet you, ' +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myName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between the parentheses.</a:t>
            </a:r>
          </a:p>
          <a:p>
            <a:r>
              <a:rPr lang="en-US" b="1" i="1" dirty="0">
                <a:solidFill>
                  <a:srgbClr val="000000"/>
                </a:solidFill>
                <a:effectLst/>
                <a:latin typeface="TradeGothicLTStd"/>
              </a:rPr>
              <a:t>The </a:t>
            </a:r>
            <a:r>
              <a:rPr lang="en-US" b="1" i="1" dirty="0" err="1">
                <a:solidFill>
                  <a:srgbClr val="000000"/>
                </a:solidFill>
                <a:effectLst/>
                <a:latin typeface="TradeGothicLTStd"/>
              </a:rPr>
              <a:t>len</a:t>
            </a:r>
            <a:r>
              <a:rPr lang="en-US" b="1" i="1" dirty="0">
                <a:solidFill>
                  <a:srgbClr val="000000"/>
                </a:solidFill>
                <a:effectLst/>
                <a:latin typeface="TradeGothicLTStd"/>
              </a:rPr>
              <a:t>() Function: 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You can pass the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function a string value (or a variable containing a string), and the function returns the integer value of the number of characters in that string.</a:t>
            </a:r>
          </a:p>
          <a:p>
            <a:r>
              <a:rPr lang="en-US" b="1" i="1" dirty="0">
                <a:solidFill>
                  <a:srgbClr val="000000"/>
                </a:solidFill>
                <a:effectLst/>
                <a:latin typeface="TradeGothicLTStd"/>
              </a:rPr>
              <a:t>The str(), int(), and float() Functions</a:t>
            </a:r>
            <a:r>
              <a:rPr lang="en-US" b="1" dirty="0">
                <a:solidFill>
                  <a:srgbClr val="000000"/>
                </a:solidFill>
                <a:latin typeface="TradeGothicLTStd"/>
              </a:rPr>
              <a:t>: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If you want to concatenate an integer such as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29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with a string to pass to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print()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, you’ll need to get the value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'29'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, which is the string form of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29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. </a:t>
            </a:r>
            <a:endParaRPr lang="en-US" b="1" dirty="0">
              <a:solidFill>
                <a:srgbClr val="000000"/>
              </a:solidFill>
              <a:latin typeface="TradeGothicLTStd"/>
            </a:endParaRP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The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str()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function can be passed an integer value and will evaluate to a string value version of the integer, as follows:</a:t>
            </a:r>
          </a:p>
          <a:p>
            <a:pPr marL="914400" lvl="2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&gt;&gt;&gt; 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str(29)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'29'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&gt;&gt;&gt; 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print('I am ' + str(29) + ' years old.')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 am 29 years old.</a:t>
            </a:r>
            <a:endParaRPr lang="en-US" b="1" i="0" dirty="0">
              <a:solidFill>
                <a:srgbClr val="000000"/>
              </a:solidFill>
              <a:effectLst/>
              <a:latin typeface="TradeGothicLTStd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37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CFB43-0AC6-4F52-9D14-717259D99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Boolean Datatype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1FFC8-7CE6-4C11-BA96-26F017A79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Boolean</a:t>
            </a:r>
            <a:r>
              <a:rPr lang="en-US" dirty="0"/>
              <a:t> data type has only two values: True and False.</a:t>
            </a:r>
          </a:p>
          <a:p>
            <a:r>
              <a:rPr lang="en-US" dirty="0"/>
              <a:t>Like basic datatypes, Boolean values are used in expressions and can be stored in variables</a:t>
            </a:r>
          </a:p>
          <a:p>
            <a:r>
              <a:rPr lang="en-US" i="1" dirty="0"/>
              <a:t>Comparison operators</a:t>
            </a:r>
            <a:r>
              <a:rPr lang="en-US" dirty="0"/>
              <a:t>, also called </a:t>
            </a:r>
            <a:r>
              <a:rPr lang="en-US" i="1" dirty="0"/>
              <a:t>relational operators</a:t>
            </a:r>
            <a:r>
              <a:rPr lang="en-US" dirty="0"/>
              <a:t>, compare two values and evaluate down to a single Boolean value</a:t>
            </a:r>
          </a:p>
        </p:txBody>
      </p:sp>
    </p:spTree>
    <p:extLst>
      <p:ext uri="{BB962C8B-B14F-4D97-AF65-F5344CB8AC3E}">
        <p14:creationId xmlns:p14="http://schemas.microsoft.com/office/powerpoint/2010/main" val="163700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469D8-AC8A-448B-B126-9B2A091F5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 Operators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B5FBD-C2D8-4725-B983-1EF837177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Comparison Operators: </a:t>
            </a:r>
            <a:r>
              <a:rPr lang="en-US" dirty="0"/>
              <a:t>These operators evaluate to True or False depending on the values you give them.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DCEB37-8FBA-41AD-A7EC-13E57D3B4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731" y="2866960"/>
            <a:ext cx="5140538" cy="362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7CC09-6100-4097-9532-AB6FF7F0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Boolean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C7439-387A-445D-866F-89FD95E68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The three Boolean operators (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and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,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or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, and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) are sometimes used to combine Boolean expressions.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Like comparison operators, they evaluate these expressions down to a Boolean value.</a:t>
            </a:r>
            <a:endParaRPr lang="en-US" dirty="0">
              <a:solidFill>
                <a:srgbClr val="000000"/>
              </a:solidFill>
              <a:latin typeface="JansonTextLTStd"/>
            </a:endParaRP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The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and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JansonTextLTStd"/>
              </a:rPr>
              <a:t>and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or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operators always take two Boolean values (or expressions), so they’re considered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binary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operators.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The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and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operator evaluates an expression to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if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both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Boolean values are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; otherwise, it evaluates to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False</a:t>
            </a:r>
            <a:endParaRPr lang="en-US" dirty="0">
              <a:solidFill>
                <a:srgbClr val="000000"/>
              </a:solidFill>
              <a:latin typeface="JansonTextLTStd"/>
            </a:endParaRPr>
          </a:p>
        </p:txBody>
      </p:sp>
    </p:spTree>
    <p:extLst>
      <p:ext uri="{BB962C8B-B14F-4D97-AF65-F5344CB8AC3E}">
        <p14:creationId xmlns:p14="http://schemas.microsoft.com/office/powerpoint/2010/main" val="129863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8A673-88D0-45E8-9EA6-49E9A860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Boolean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AF953-485A-449C-B45A-7DFE0DCD6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radeGothicLTStd"/>
              </a:rPr>
              <a:t>The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and</a:t>
            </a:r>
            <a:r>
              <a:rPr lang="en-US" b="0" i="0" dirty="0">
                <a:solidFill>
                  <a:srgbClr val="000000"/>
                </a:solidFill>
                <a:effectLst/>
                <a:latin typeface="TradeGothicLTStd"/>
              </a:rPr>
              <a:t> Operator’s Truth Table: </a:t>
            </a:r>
            <a:endParaRPr lang="en-US" dirty="0"/>
          </a:p>
          <a:p>
            <a:endParaRPr lang="en-US" dirty="0">
              <a:solidFill>
                <a:srgbClr val="000000"/>
              </a:solidFill>
              <a:latin typeface="JansonTextLTStd"/>
            </a:endParaRPr>
          </a:p>
          <a:p>
            <a:endParaRPr lang="en-US" dirty="0">
              <a:solidFill>
                <a:srgbClr val="000000"/>
              </a:solidFill>
              <a:latin typeface="JansonTextLTStd"/>
            </a:endParaRPr>
          </a:p>
          <a:p>
            <a:r>
              <a:rPr lang="en-US" dirty="0">
                <a:solidFill>
                  <a:srgbClr val="000000"/>
                </a:solidFill>
                <a:latin typeface="JansonTextLTStd"/>
              </a:rPr>
              <a:t>The 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or</a:t>
            </a:r>
            <a:r>
              <a:rPr lang="en-US" dirty="0">
                <a:solidFill>
                  <a:srgbClr val="000000"/>
                </a:solidFill>
                <a:latin typeface="JansonTextLTStd"/>
              </a:rPr>
              <a:t> operator evaluates an expression to 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JansonTextLTStd"/>
              </a:rPr>
              <a:t> if </a:t>
            </a:r>
            <a:r>
              <a:rPr lang="en-US" i="1" dirty="0">
                <a:solidFill>
                  <a:srgbClr val="000000"/>
                </a:solidFill>
                <a:latin typeface="JansonTextLTStd"/>
              </a:rPr>
              <a:t>either</a:t>
            </a:r>
            <a:r>
              <a:rPr lang="en-US" dirty="0">
                <a:solidFill>
                  <a:srgbClr val="000000"/>
                </a:solidFill>
                <a:latin typeface="JansonTextLTStd"/>
              </a:rPr>
              <a:t> of the two Boolean values is 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True</a:t>
            </a:r>
            <a:r>
              <a:rPr lang="en-US" dirty="0">
                <a:solidFill>
                  <a:srgbClr val="000000"/>
                </a:solidFill>
                <a:latin typeface="JansonTextLTStd"/>
              </a:rPr>
              <a:t>. If both are 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JansonTextLTStd"/>
              </a:rPr>
              <a:t>, it evaluates to 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False</a:t>
            </a:r>
            <a:r>
              <a:rPr lang="en-US" dirty="0">
                <a:solidFill>
                  <a:srgbClr val="000000"/>
                </a:solidFill>
                <a:latin typeface="JansonTextLTStd"/>
              </a:rPr>
              <a:t>.</a:t>
            </a:r>
          </a:p>
          <a:p>
            <a:r>
              <a:rPr lang="en-US" dirty="0"/>
              <a:t>The or Operator’s Truth Table: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DF9C3-7C74-44B3-9FBC-1C4452C89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773" y="4344306"/>
            <a:ext cx="2985381" cy="21485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EA31FC-8F33-4F26-AF62-5B7091EBD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773" y="1157262"/>
            <a:ext cx="2985381" cy="214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27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054D9-3080-4E9E-92FD-F427DE82A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Boolean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C0138-0196-4EA9-A946-45E2FCCC3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JansonTextLTStd"/>
              </a:rPr>
              <a:t>Unlike 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and</a:t>
            </a:r>
            <a:r>
              <a:rPr lang="en-US" dirty="0">
                <a:solidFill>
                  <a:srgbClr val="000000"/>
                </a:solidFill>
                <a:latin typeface="JansonTextLTStd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JansonTextLTStd"/>
              </a:rPr>
              <a:t>and</a:t>
            </a:r>
            <a:r>
              <a:rPr lang="en-US" dirty="0">
                <a:solidFill>
                  <a:srgbClr val="000000"/>
                </a:solidFill>
                <a:latin typeface="JansonTextLTStd"/>
              </a:rPr>
              <a:t> 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or</a:t>
            </a:r>
            <a:r>
              <a:rPr lang="en-US" dirty="0">
                <a:solidFill>
                  <a:srgbClr val="000000"/>
                </a:solidFill>
                <a:latin typeface="JansonTextLTStd"/>
              </a:rPr>
              <a:t>, the 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JansonTextLTStd"/>
              </a:rPr>
              <a:t> operator operates on only one Boolean value (or expression). This makes it a </a:t>
            </a:r>
            <a:r>
              <a:rPr lang="en-US" i="1" dirty="0">
                <a:solidFill>
                  <a:srgbClr val="000000"/>
                </a:solidFill>
                <a:latin typeface="JansonTextLTStd"/>
              </a:rPr>
              <a:t>unary</a:t>
            </a:r>
            <a:r>
              <a:rPr lang="en-US" dirty="0">
                <a:solidFill>
                  <a:srgbClr val="000000"/>
                </a:solidFill>
                <a:latin typeface="JansonTextLTStd"/>
              </a:rPr>
              <a:t> operator.</a:t>
            </a:r>
          </a:p>
          <a:p>
            <a:r>
              <a:rPr lang="en-US" dirty="0">
                <a:solidFill>
                  <a:srgbClr val="000000"/>
                </a:solidFill>
                <a:latin typeface="JansonTextLTStd"/>
              </a:rPr>
              <a:t>The 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not</a:t>
            </a:r>
            <a:r>
              <a:rPr lang="en-US" dirty="0">
                <a:solidFill>
                  <a:srgbClr val="000000"/>
                </a:solidFill>
                <a:latin typeface="JansonTextLTStd"/>
              </a:rPr>
              <a:t> operator simply evaluates to the opposite Boolean value.</a:t>
            </a:r>
          </a:p>
          <a:p>
            <a:r>
              <a:rPr lang="en-US" dirty="0"/>
              <a:t>The not Operator’s Truth Table: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CD88F-8B6F-42C8-8E1E-16E3670BD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351" y="3753644"/>
            <a:ext cx="3405297" cy="155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915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230E8-0407-491E-B050-38C44EC91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Mixing Boolean and Comparison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E3856-4E51-4628-8FC7-4AE8B359B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Since the comparison operators evaluate to Boolean values, you can use them in expressions with the Boolean operators.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Recall that the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and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,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or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, and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operators are called Boolean operators because they always operate on the Boolean values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and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False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.</a:t>
            </a:r>
            <a:endParaRPr lang="en-US" dirty="0">
              <a:solidFill>
                <a:srgbClr val="000000"/>
              </a:solidFill>
              <a:latin typeface="JansonTextLTStd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While expressions like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4 &lt; 5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contain non-Boolean values, they are expressions that evaluate down to Boolean values.</a:t>
            </a:r>
          </a:p>
          <a:p>
            <a:r>
              <a:rPr lang="en-US" dirty="0">
                <a:solidFill>
                  <a:srgbClr val="000000"/>
                </a:solidFill>
                <a:latin typeface="JansonTextLTStd"/>
              </a:rPr>
              <a:t>Evaluate: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&gt;&gt;&gt; </a:t>
            </a:r>
            <a:r>
              <a:rPr lang="en-US" b="1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(4 &lt; 5) and (5 &lt; 6)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True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603572-E6B6-405D-84D9-838302D37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862" y="4559222"/>
            <a:ext cx="1936787" cy="205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46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16FF3-134F-4FBB-A492-E6427E847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Control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DF590-4A76-404A-9291-272380CD7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Droid Serif"/>
              </a:rPr>
              <a:t>A program’s </a:t>
            </a:r>
            <a:r>
              <a:rPr lang="en-US" b="1" i="0" dirty="0">
                <a:effectLst/>
                <a:latin typeface="Droid Serif"/>
              </a:rPr>
              <a:t>control flow</a:t>
            </a:r>
            <a:r>
              <a:rPr lang="en-US" b="0" i="0" dirty="0">
                <a:effectLst/>
                <a:latin typeface="Droid Serif"/>
              </a:rPr>
              <a:t> is the order in which the program’s instructions execute.</a:t>
            </a:r>
          </a:p>
          <a:p>
            <a:r>
              <a:rPr lang="en-US" b="0" i="0" dirty="0">
                <a:effectLst/>
                <a:latin typeface="Droid Serif"/>
              </a:rPr>
              <a:t>The control flow of a Python program is regulated by </a:t>
            </a:r>
            <a:r>
              <a:rPr lang="en-US" b="0" i="1" dirty="0">
                <a:effectLst/>
                <a:latin typeface="Droid Serif"/>
              </a:rPr>
              <a:t>conditional statements</a:t>
            </a:r>
            <a:r>
              <a:rPr lang="en-US" b="0" i="0" dirty="0">
                <a:effectLst/>
                <a:latin typeface="Droid Serif"/>
              </a:rPr>
              <a:t>, </a:t>
            </a:r>
            <a:r>
              <a:rPr lang="en-US" b="0" i="1" dirty="0">
                <a:effectLst/>
                <a:latin typeface="Droid Serif"/>
              </a:rPr>
              <a:t>loops</a:t>
            </a:r>
            <a:r>
              <a:rPr lang="en-US" b="0" i="0" dirty="0">
                <a:effectLst/>
                <a:latin typeface="Droid Serif"/>
              </a:rPr>
              <a:t>, and </a:t>
            </a:r>
            <a:r>
              <a:rPr lang="en-US" b="0" i="1" dirty="0">
                <a:effectLst/>
                <a:latin typeface="Droid Serif"/>
              </a:rPr>
              <a:t>function calls</a:t>
            </a:r>
            <a:r>
              <a:rPr lang="en-US" b="0" i="0" dirty="0">
                <a:effectLst/>
                <a:latin typeface="Droid Serif"/>
              </a:rPr>
              <a:t>.</a:t>
            </a:r>
          </a:p>
          <a:p>
            <a:pPr algn="l"/>
            <a:r>
              <a:rPr lang="en-US" b="0" i="0" dirty="0">
                <a:effectLst/>
                <a:latin typeface="Droid Serif"/>
              </a:rPr>
              <a:t>Python has </a:t>
            </a:r>
            <a:r>
              <a:rPr lang="en-US" b="0" i="1" dirty="0">
                <a:effectLst/>
                <a:latin typeface="Droid Serif"/>
              </a:rPr>
              <a:t>three</a:t>
            </a:r>
            <a:r>
              <a:rPr lang="en-US" b="0" i="0" dirty="0">
                <a:effectLst/>
                <a:latin typeface="Droid Serif"/>
              </a:rPr>
              <a:t> types of control structures:</a:t>
            </a:r>
          </a:p>
          <a:p>
            <a:pPr lvl="1"/>
            <a:r>
              <a:rPr lang="en-US" b="1" i="0" dirty="0">
                <a:effectLst/>
                <a:latin typeface="var(--font-family-body-lesson-markdown,&quot;Droid Serif&quot;)"/>
              </a:rPr>
              <a:t>Sequential</a:t>
            </a:r>
            <a:r>
              <a:rPr lang="en-US" b="0" i="0" dirty="0">
                <a:effectLst/>
                <a:latin typeface="Droid Serif"/>
              </a:rPr>
              <a:t> - default mode</a:t>
            </a:r>
          </a:p>
          <a:p>
            <a:pPr lvl="1"/>
            <a:r>
              <a:rPr lang="en-US" b="1" i="0" dirty="0">
                <a:effectLst/>
                <a:latin typeface="var(--font-family-body-lesson-markdown,&quot;Droid Serif&quot;)"/>
              </a:rPr>
              <a:t>Selection</a:t>
            </a:r>
            <a:r>
              <a:rPr lang="en-US" b="0" i="0" dirty="0">
                <a:effectLst/>
                <a:latin typeface="Droid Serif"/>
              </a:rPr>
              <a:t> - used for decisions and branching</a:t>
            </a:r>
          </a:p>
          <a:p>
            <a:pPr lvl="1"/>
            <a:r>
              <a:rPr lang="en-US" b="1" i="0" dirty="0">
                <a:effectLst/>
                <a:latin typeface="var(--font-family-body-lesson-markdown,&quot;Droid Serif&quot;)"/>
              </a:rPr>
              <a:t>Repetition</a:t>
            </a:r>
            <a:r>
              <a:rPr lang="en-US" b="0" i="0" dirty="0">
                <a:effectLst/>
                <a:latin typeface="Droid Serif"/>
              </a:rPr>
              <a:t> - used for looping, i.e., repeating a piece of code multiple times.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556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E5A8F-9A3A-494B-AF6E-A29B6EBD1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Selection/Decision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DF8DD-86AA-4D0B-8EAC-303336770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a.k.a. </a:t>
            </a:r>
            <a:r>
              <a:rPr lang="en-US" i="1" dirty="0"/>
              <a:t>Decision control statements</a:t>
            </a:r>
            <a:r>
              <a:rPr lang="en-US" dirty="0"/>
              <a:t> or </a:t>
            </a:r>
            <a:r>
              <a:rPr lang="en-US" i="1" dirty="0"/>
              <a:t>branching statements</a:t>
            </a:r>
            <a:r>
              <a:rPr lang="en-US" dirty="0"/>
              <a:t>.</a:t>
            </a:r>
          </a:p>
          <a:p>
            <a:r>
              <a:rPr lang="en-US" dirty="0"/>
              <a:t>Some decision control statements are:</a:t>
            </a:r>
          </a:p>
          <a:p>
            <a:pPr lvl="1"/>
            <a:r>
              <a:rPr lang="en-US" dirty="0"/>
              <a:t>if</a:t>
            </a:r>
          </a:p>
          <a:p>
            <a:pPr lvl="1"/>
            <a:r>
              <a:rPr lang="en-US" dirty="0"/>
              <a:t>if-else</a:t>
            </a:r>
          </a:p>
          <a:p>
            <a:pPr lvl="1"/>
            <a:r>
              <a:rPr lang="en-US" dirty="0"/>
              <a:t>nested if</a:t>
            </a:r>
          </a:p>
          <a:p>
            <a:pPr lvl="1"/>
            <a:r>
              <a:rPr lang="en-US" dirty="0"/>
              <a:t>if-</a:t>
            </a:r>
            <a:r>
              <a:rPr lang="en-US" dirty="0" err="1"/>
              <a:t>elif</a:t>
            </a:r>
            <a:r>
              <a:rPr lang="en-US" dirty="0"/>
              <a:t>-else</a:t>
            </a:r>
          </a:p>
        </p:txBody>
      </p:sp>
    </p:spTree>
    <p:extLst>
      <p:ext uri="{BB962C8B-B14F-4D97-AF65-F5344CB8AC3E}">
        <p14:creationId xmlns:p14="http://schemas.microsoft.com/office/powerpoint/2010/main" val="356800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51846-927B-4D6D-8A88-1530CDD0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Selection/Decision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66136-B115-4FE9-B24E-93CD41966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– allows us to run a particular block of code, but only when a certain condition is satisfied. It has one condition to check.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if &lt;condition&gt;:</a:t>
            </a:r>
          </a:p>
          <a:p>
            <a:pPr marL="457200" lvl="1" indent="0">
              <a:buNone/>
            </a:pPr>
            <a:r>
              <a:rPr lang="en-US" dirty="0"/>
              <a:t>     &lt;statement&gt;</a:t>
            </a:r>
          </a:p>
          <a:p>
            <a:endParaRPr lang="en-US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n 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n %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600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 is an even number"</a:t>
            </a:r>
            <a:r>
              <a:rPr lang="en-US" sz="1600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212236-BEE6-4204-9CF2-2BCAA2753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775" y="2657983"/>
            <a:ext cx="2638425" cy="365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2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26ECB-7122-4709-B786-AE219DB67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Grouping Statements: Indentation and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89F3B-2CF6-4051-8C5E-307C06789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37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Suppose you want to evaluate a condition and then do more than one thing if it is true:</a:t>
            </a:r>
          </a:p>
          <a:p>
            <a:pPr marL="457200" lvl="1" indent="0">
              <a:buNone/>
            </a:pPr>
            <a:r>
              <a:rPr lang="en-US" dirty="0"/>
              <a:t>If the weather is nice, then I will:</a:t>
            </a:r>
          </a:p>
          <a:p>
            <a:pPr lvl="2"/>
            <a:r>
              <a:rPr lang="en-US" dirty="0"/>
              <a:t>Mow the lawn</a:t>
            </a:r>
          </a:p>
          <a:p>
            <a:pPr lvl="2"/>
            <a:r>
              <a:rPr lang="en-US" dirty="0"/>
              <a:t>Weed the garden</a:t>
            </a:r>
          </a:p>
          <a:p>
            <a:pPr lvl="2"/>
            <a:r>
              <a:rPr lang="en-US" dirty="0"/>
              <a:t>Take the dog for a walk</a:t>
            </a:r>
          </a:p>
          <a:p>
            <a:pPr marL="457200" lvl="1" indent="0">
              <a:buNone/>
            </a:pPr>
            <a:r>
              <a:rPr lang="en-US" dirty="0"/>
              <a:t>(If the weather isn’t nice, then I won’t do any of these things.)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if &lt;expr&gt;:</a:t>
            </a:r>
          </a:p>
          <a:p>
            <a:pPr marL="457200" lvl="1" indent="0">
              <a:buNone/>
            </a:pPr>
            <a:r>
              <a:rPr lang="en-US" dirty="0"/>
              <a:t>    &lt;statement&gt;</a:t>
            </a:r>
          </a:p>
          <a:p>
            <a:pPr marL="457200" lvl="1" indent="0">
              <a:buNone/>
            </a:pPr>
            <a:r>
              <a:rPr lang="en-US" dirty="0"/>
              <a:t>    &lt;statement&gt;</a:t>
            </a:r>
          </a:p>
          <a:p>
            <a:pPr marL="457200" lvl="1" indent="0">
              <a:buNone/>
            </a:pPr>
            <a:r>
              <a:rPr lang="en-US" dirty="0"/>
              <a:t>    ...</a:t>
            </a:r>
          </a:p>
          <a:p>
            <a:pPr marL="457200" lvl="1" indent="0">
              <a:buNone/>
            </a:pPr>
            <a:r>
              <a:rPr lang="en-US" dirty="0"/>
              <a:t>    &lt;statement&gt;</a:t>
            </a:r>
          </a:p>
          <a:p>
            <a:pPr marL="457200" lvl="1" indent="0">
              <a:buNone/>
            </a:pPr>
            <a:r>
              <a:rPr lang="en-US" dirty="0"/>
              <a:t>&lt;</a:t>
            </a:r>
            <a:r>
              <a:rPr lang="en-US" dirty="0" err="1"/>
              <a:t>following_statement</a:t>
            </a:r>
            <a:r>
              <a:rPr lang="en-US" dirty="0"/>
              <a:t>&gt; 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All statements at the matching </a:t>
            </a: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indentation level</a:t>
            </a:r>
            <a:r>
              <a:rPr lang="en-US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 are considered part of the same code </a:t>
            </a:r>
            <a:r>
              <a:rPr lang="en-US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block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E40F7-F073-44C9-B776-ED8C26368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950" y="3886200"/>
            <a:ext cx="3814762" cy="186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91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25E23-70D6-4330-AEF1-18139F036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if-else Clause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8A497-2A24-42E8-8A8D-C4610B80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if-else statement evaluates the condition and executes the block of </a:t>
            </a:r>
            <a:r>
              <a:rPr lang="en-US" b="1" dirty="0"/>
              <a:t>if</a:t>
            </a:r>
            <a:r>
              <a:rPr lang="en-US" dirty="0"/>
              <a:t>, when the test condition is True, but when the condition is False, the block of </a:t>
            </a:r>
            <a:r>
              <a:rPr lang="en-US" b="1" dirty="0"/>
              <a:t>else</a:t>
            </a:r>
            <a:r>
              <a:rPr lang="en-US" dirty="0"/>
              <a:t> is executed.</a:t>
            </a:r>
          </a:p>
          <a:p>
            <a:pPr marL="457200" lvl="1" indent="0">
              <a:buNone/>
            </a:pPr>
            <a:r>
              <a:rPr lang="en-US" dirty="0"/>
              <a:t>if &lt;expr&gt;:</a:t>
            </a:r>
          </a:p>
          <a:p>
            <a:pPr marL="457200" lvl="1" indent="0">
              <a:buNone/>
            </a:pPr>
            <a:r>
              <a:rPr lang="en-US" dirty="0"/>
              <a:t>    &lt;statement(s)&gt;</a:t>
            </a:r>
          </a:p>
          <a:p>
            <a:pPr marL="457200" lvl="1" indent="0">
              <a:buNone/>
            </a:pPr>
            <a:r>
              <a:rPr lang="en-US" dirty="0"/>
              <a:t>else:</a:t>
            </a:r>
          </a:p>
          <a:p>
            <a:pPr marL="457200" lvl="1" indent="0">
              <a:buNone/>
            </a:pPr>
            <a:r>
              <a:rPr lang="en-US" dirty="0"/>
              <a:t>    &lt;statement(s)&gt;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n =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n %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 is even"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 is odd"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931CB-3619-4302-885B-ABFB2CD53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775" y="2768600"/>
            <a:ext cx="2800448" cy="361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127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B411E-C782-4E95-8DDF-9191D4F3A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Nested 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61278-38BF-4F4D-A17B-9866F6D6A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Nested if</a:t>
            </a:r>
            <a:r>
              <a:rPr lang="en-US" dirty="0"/>
              <a:t> statements are one or more if statement inside another if statement.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a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b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c =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a &gt; b: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a &gt; c: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 value is big"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 value is big"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b="0" dirty="0" err="1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b &gt; c: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 value is big"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 is big"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DD5129-A69B-4AB3-AF52-D6111E50A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305" y="2141537"/>
            <a:ext cx="36911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36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47264-A778-4904-B42D-ED9895147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if-</a:t>
            </a:r>
            <a:r>
              <a:rPr lang="en-US" b="1" dirty="0" err="1"/>
              <a:t>elif</a:t>
            </a:r>
            <a:r>
              <a:rPr lang="en-US" b="1" dirty="0"/>
              <a:t>-else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8C68C-E28C-42C8-82E7-6842E2A2D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29900" cy="46672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Sometimes we need to branch execution based on </a:t>
            </a:r>
            <a:r>
              <a:rPr lang="en-US" i="1" dirty="0"/>
              <a:t>several</a:t>
            </a:r>
            <a:r>
              <a:rPr lang="en-US" dirty="0"/>
              <a:t> alternatives.</a:t>
            </a:r>
          </a:p>
          <a:p>
            <a:r>
              <a:rPr lang="en-US" dirty="0"/>
              <a:t>For this, use one or more </a:t>
            </a:r>
            <a:r>
              <a:rPr lang="en-US" dirty="0" err="1"/>
              <a:t>elif</a:t>
            </a:r>
            <a:r>
              <a:rPr lang="en-US" dirty="0"/>
              <a:t> (short for else if) clauses.</a:t>
            </a:r>
          </a:p>
          <a:p>
            <a:pPr marL="457200" lvl="1" indent="0">
              <a:buNone/>
            </a:pPr>
            <a:r>
              <a:rPr lang="en-US" dirty="0"/>
              <a:t>if &lt;expr&gt;:</a:t>
            </a:r>
          </a:p>
          <a:p>
            <a:pPr marL="457200" lvl="1" indent="0">
              <a:buNone/>
            </a:pPr>
            <a:r>
              <a:rPr lang="en-US" dirty="0"/>
              <a:t>    &lt;statement(s)&gt;</a:t>
            </a:r>
          </a:p>
          <a:p>
            <a:pPr marL="457200" lvl="1" indent="0">
              <a:buNone/>
            </a:pPr>
            <a:r>
              <a:rPr lang="en-US" dirty="0" err="1"/>
              <a:t>elif</a:t>
            </a:r>
            <a:r>
              <a:rPr lang="en-US" dirty="0"/>
              <a:t> &lt;expr&gt;:</a:t>
            </a:r>
          </a:p>
          <a:p>
            <a:pPr marL="457200" lvl="1" indent="0">
              <a:buNone/>
            </a:pPr>
            <a:r>
              <a:rPr lang="en-US" dirty="0"/>
              <a:t>    &lt;statement(s)&gt;</a:t>
            </a:r>
          </a:p>
          <a:p>
            <a:pPr marL="457200" lvl="1" indent="0">
              <a:buNone/>
            </a:pPr>
            <a:r>
              <a:rPr lang="en-US" dirty="0" err="1"/>
              <a:t>elif</a:t>
            </a:r>
            <a:r>
              <a:rPr lang="en-US" dirty="0"/>
              <a:t> &lt;expr&gt;:</a:t>
            </a:r>
          </a:p>
          <a:p>
            <a:pPr marL="457200" lvl="1" indent="0">
              <a:buNone/>
            </a:pPr>
            <a:r>
              <a:rPr lang="en-US" dirty="0"/>
              <a:t>    &lt;statement(s)&gt;</a:t>
            </a:r>
          </a:p>
          <a:p>
            <a:pPr marL="457200" lvl="1" indent="0">
              <a:buNone/>
            </a:pPr>
            <a:r>
              <a:rPr lang="en-US" dirty="0"/>
              <a:t>    ...</a:t>
            </a:r>
          </a:p>
          <a:p>
            <a:pPr marL="457200" lvl="1" indent="0">
              <a:buNone/>
            </a:pPr>
            <a:r>
              <a:rPr lang="en-US" dirty="0"/>
              <a:t>else:</a:t>
            </a:r>
          </a:p>
          <a:p>
            <a:pPr marL="457200" lvl="1" indent="0">
              <a:buNone/>
            </a:pPr>
            <a:r>
              <a:rPr lang="en-US" dirty="0"/>
              <a:t>    &lt;statement(s)&gt;</a:t>
            </a:r>
          </a:p>
          <a:p>
            <a:r>
              <a:rPr lang="en-US" dirty="0"/>
              <a:t>Python evaluates each &lt;expr&gt; in turn and executes the </a:t>
            </a:r>
            <a:br>
              <a:rPr lang="en-US" dirty="0"/>
            </a:br>
            <a:r>
              <a:rPr lang="en-US" dirty="0"/>
              <a:t>block corresponding to the first that is true. </a:t>
            </a:r>
          </a:p>
          <a:p>
            <a:r>
              <a:rPr lang="en-US" dirty="0"/>
              <a:t>If none of the expressions are true, and an else clause </a:t>
            </a:r>
            <a:br>
              <a:rPr lang="en-US" dirty="0"/>
            </a:br>
            <a:r>
              <a:rPr lang="en-US" dirty="0"/>
              <a:t>is specified, then its block is executed.</a:t>
            </a:r>
          </a:p>
          <a:p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3745C0-A210-4E63-AB77-CF8EFEF2E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138" y="2447924"/>
            <a:ext cx="3904867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6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E7727-09E8-4991-89F9-E6D29FE44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if-</a:t>
            </a:r>
            <a:r>
              <a:rPr lang="en-US" b="1" dirty="0" err="1"/>
              <a:t>elif</a:t>
            </a:r>
            <a:r>
              <a:rPr lang="en-US" b="1" dirty="0"/>
              <a:t>-else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6FF7F-4ED8-432B-8D82-043F77E92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x =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y =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x == y: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"Both are Equal"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b="0" dirty="0" err="1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x &gt; y: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 is greater than y"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CDCDC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 is smaller than y"</a:t>
            </a:r>
            <a:r>
              <a:rPr lang="en-US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313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AFF66-AB9C-4C2B-B8D7-95C02853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333E9-21A7-4D2C-8A25-088884118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Droid Serif"/>
              </a:rPr>
              <a:t>A </a:t>
            </a:r>
            <a:r>
              <a:rPr lang="en-US" b="1" i="0" dirty="0">
                <a:solidFill>
                  <a:srgbClr val="374151"/>
                </a:solidFill>
                <a:effectLst/>
                <a:latin typeface="Droid Serif"/>
              </a:rPr>
              <a:t>repetition statement</a:t>
            </a:r>
            <a:r>
              <a:rPr lang="en-US" b="0" i="0" dirty="0">
                <a:solidFill>
                  <a:srgbClr val="374151"/>
                </a:solidFill>
                <a:effectLst/>
                <a:latin typeface="Droid Serif"/>
              </a:rPr>
              <a:t> is used to repeat a group(block) of programming instructions.</a:t>
            </a:r>
          </a:p>
          <a:p>
            <a:r>
              <a:rPr lang="en-US" dirty="0"/>
              <a:t>In Python, we generally have two loops/repetitive statements:</a:t>
            </a:r>
          </a:p>
          <a:p>
            <a:pPr lvl="1"/>
            <a:r>
              <a:rPr lang="en-US" b="1" dirty="0"/>
              <a:t>for</a:t>
            </a:r>
            <a:r>
              <a:rPr lang="en-US" dirty="0"/>
              <a:t> loop (</a:t>
            </a:r>
            <a:r>
              <a:rPr lang="en-US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definite iteration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while</a:t>
            </a:r>
            <a:r>
              <a:rPr lang="en-US" dirty="0"/>
              <a:t> loop (</a:t>
            </a:r>
            <a:r>
              <a:rPr lang="en-US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indefinite iteration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76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9A1EA-620D-4135-8A77-93B49B6F6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for </a:t>
            </a:r>
            <a:r>
              <a:rPr lang="en-US" b="1" dirty="0"/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24144-EB2A-4193-AFF0-2A4AFCEC2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for</a:t>
            </a:r>
            <a:r>
              <a:rPr lang="en-US" dirty="0"/>
              <a:t> loop is used to iterate over a sequence (a list, tuple, dictionary, or a set). We can execute a set of statements once for each item in the sequence.</a:t>
            </a:r>
          </a:p>
          <a:p>
            <a:pPr marL="457200" lvl="1" indent="0">
              <a:buNone/>
            </a:pPr>
            <a:r>
              <a:rPr lang="en-US" dirty="0"/>
              <a:t>for &lt;var&gt; in &lt;</a:t>
            </a:r>
            <a:r>
              <a:rPr lang="en-US" dirty="0" err="1"/>
              <a:t>iterable</a:t>
            </a:r>
            <a:r>
              <a:rPr lang="en-US" dirty="0"/>
              <a:t>&gt;:</a:t>
            </a:r>
          </a:p>
          <a:p>
            <a:pPr marL="457200" lvl="1" indent="0">
              <a:buNone/>
            </a:pPr>
            <a:r>
              <a:rPr lang="en-US" dirty="0"/>
              <a:t>    &lt;statement(s)&gt;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"1st example"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lst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= [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]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range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55A1E0"/>
                </a:solidFill>
                <a:latin typeface="Consolas" panose="020B0609020204030204" pitchFamily="49" charset="0"/>
              </a:rPr>
              <a:t>len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lst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)):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 </a:t>
            </a: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lst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[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], end =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 \n"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"2nd example"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j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range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):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55A1E0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(j, end =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 \n"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2A62D-6EB7-48CD-87E0-B915B98D1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229" y="2976384"/>
            <a:ext cx="3722430" cy="300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22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9FD46-D219-44F0-85FE-561A9EA34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while</a:t>
            </a:r>
            <a:r>
              <a:rPr lang="en-US" dirty="0"/>
              <a:t>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5DDDD-C4E0-44FC-BAF1-6BEF1872B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while</a:t>
            </a:r>
            <a:r>
              <a:rPr lang="en-US" dirty="0"/>
              <a:t> loops are used to execute a block of statements repeatedly until a given condition is satisfied. </a:t>
            </a:r>
          </a:p>
          <a:p>
            <a:r>
              <a:rPr lang="en-US" dirty="0"/>
              <a:t>The expression is checked in each iteration and, if it is still true, the body is executed again…</a:t>
            </a:r>
          </a:p>
          <a:p>
            <a:r>
              <a:rPr lang="en-US" dirty="0"/>
              <a:t>..until the expression becomes false.</a:t>
            </a:r>
          </a:p>
          <a:p>
            <a:pPr marL="457200" lvl="1" indent="0">
              <a:buNone/>
            </a:pPr>
            <a:r>
              <a:rPr lang="en-US" dirty="0"/>
              <a:t>while &lt;expr&gt;:</a:t>
            </a:r>
          </a:p>
          <a:p>
            <a:pPr marL="457200" lvl="1" indent="0">
              <a:buNone/>
            </a:pPr>
            <a:r>
              <a:rPr lang="en-US" dirty="0"/>
              <a:t>    &lt;statement(s)&gt;</a:t>
            </a:r>
          </a:p>
          <a:p>
            <a:pPr marL="457200" lvl="1" indent="0">
              <a:buNone/>
            </a:pPr>
            <a:r>
              <a:rPr lang="da-DK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m =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da-DK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da-DK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i = </a:t>
            </a:r>
            <a:r>
              <a:rPr lang="da-DK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da-DK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da-DK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i &lt; m:</a:t>
            </a:r>
          </a:p>
          <a:p>
            <a:pPr marL="457200" lvl="1" indent="0">
              <a:buNone/>
            </a:pP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da-DK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a-DK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(i, end = </a:t>
            </a:r>
            <a:r>
              <a:rPr lang="da-D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da-DK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da-DK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i = i +</a:t>
            </a:r>
            <a:r>
              <a:rPr lang="da-D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a-DK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endParaRPr lang="da-DK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da-DK" b="0" dirty="0">
                <a:solidFill>
                  <a:srgbClr val="55A1E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a-DK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a-D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"End"</a:t>
            </a:r>
            <a:r>
              <a:rPr lang="da-DK" b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A3E0D1-08F8-47F1-8452-1E0E0CC2F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580" y="3066849"/>
            <a:ext cx="2671777" cy="324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46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9F573-5815-4D5F-8FB8-5B7938759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2B5A3-A943-48A3-9DF0-D3E2BB606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function</a:t>
            </a:r>
            <a:r>
              <a:rPr lang="en-US" dirty="0"/>
              <a:t> is a packaged block of statements that performs a specific task</a:t>
            </a:r>
          </a:p>
          <a:p>
            <a:r>
              <a:rPr lang="en-US" dirty="0"/>
              <a:t>A function has a name and only runs when it is called.</a:t>
            </a:r>
          </a:p>
          <a:p>
            <a:r>
              <a:rPr lang="en-US" dirty="0"/>
              <a:t>You can pass data, known as </a:t>
            </a:r>
            <a:r>
              <a:rPr lang="en-US" i="1" dirty="0"/>
              <a:t>parameters</a:t>
            </a:r>
            <a:r>
              <a:rPr lang="en-US" dirty="0"/>
              <a:t> (or </a:t>
            </a:r>
            <a:r>
              <a:rPr lang="en-US" i="1" dirty="0"/>
              <a:t>arguments</a:t>
            </a:r>
            <a:r>
              <a:rPr lang="en-US" dirty="0"/>
              <a:t>), into a function.</a:t>
            </a:r>
          </a:p>
          <a:p>
            <a:r>
              <a:rPr lang="en-US" dirty="0"/>
              <a:t>A function can return data (</a:t>
            </a:r>
            <a:r>
              <a:rPr lang="en-US" i="1" dirty="0"/>
              <a:t>output</a:t>
            </a:r>
            <a:r>
              <a:rPr lang="en-US" dirty="0"/>
              <a:t> or </a:t>
            </a:r>
            <a:r>
              <a:rPr lang="en-US" i="1" dirty="0"/>
              <a:t>return value</a:t>
            </a:r>
            <a:r>
              <a:rPr lang="en-US" dirty="0"/>
              <a:t>) as a result.</a:t>
            </a:r>
          </a:p>
          <a:p>
            <a:r>
              <a:rPr lang="en-US" dirty="0"/>
              <a:t>There are two types of function in Python programming:</a:t>
            </a:r>
          </a:p>
          <a:p>
            <a:pPr lvl="1"/>
            <a:r>
              <a:rPr lang="en-US" b="1" dirty="0"/>
              <a:t>Standard library functions</a:t>
            </a:r>
            <a:r>
              <a:rPr lang="en-US" dirty="0"/>
              <a:t> - These are built-in functions in Python that are available to use e.g. print(), </a:t>
            </a:r>
            <a:r>
              <a:rPr lang="en-US" dirty="0" err="1"/>
              <a:t>len</a:t>
            </a:r>
            <a:r>
              <a:rPr lang="en-US" dirty="0"/>
              <a:t>(), str(), int() etc.</a:t>
            </a:r>
          </a:p>
          <a:p>
            <a:pPr lvl="1"/>
            <a:r>
              <a:rPr lang="en-US" b="1" dirty="0"/>
              <a:t>User-defined functions</a:t>
            </a:r>
            <a:r>
              <a:rPr lang="en-US" dirty="0"/>
              <a:t> - We can create our own functions based on our requirements.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07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CDBF-823D-488C-B986-6054B035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Function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1CBF9-F620-4A67-B042-66953B8CE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syntax to declare a function is: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328A52-8F45-4114-AE11-BE8937BF5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925" y="2428275"/>
            <a:ext cx="7824787" cy="354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976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B6E08-FF9C-4BBE-A09B-B51F75F9E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Some Examples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3C7AE4C-6CA0-41C8-8D9E-B4EE22D020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2025" y="2309386"/>
            <a:ext cx="405239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# A simple Python function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fun():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"Welcome to MGMT 586"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# Driver code to call a function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fun()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06193-19DE-44E1-A704-7600A98E561B}"/>
              </a:ext>
            </a:extLst>
          </p:cNvPr>
          <p:cNvSpPr txBox="1"/>
          <p:nvPr/>
        </p:nvSpPr>
        <p:spPr>
          <a:xfrm>
            <a:off x="5362575" y="2309386"/>
            <a:ext cx="60960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add(num1, num2):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"""Add two numbers"""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num3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num1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num2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num3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8200"/>
                </a:solidFill>
                <a:effectLst/>
                <a:latin typeface="Consolas" panose="020B0609020204030204" pitchFamily="49" charset="0"/>
              </a:rPr>
              <a:t># Driver code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num1, num2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9900"/>
                </a:solidFill>
                <a:effectLst/>
                <a:latin typeface="Consolas" panose="020B0609020204030204" pitchFamily="49" charset="0"/>
              </a:rPr>
              <a:t>15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add(num1, num2)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addition of {num1} and {num2} results {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}."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01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861F1-98CB-4F48-BE63-58DE4391D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Functions?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3A330-4B03-4517-86CB-1E5FAE637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Dividing a complex problem into smaller chunks makes our program easy to understand and implement</a:t>
            </a:r>
          </a:p>
          <a:p>
            <a:r>
              <a:rPr lang="en-US" dirty="0"/>
              <a:t>Reduces duplicate code within a program</a:t>
            </a:r>
          </a:p>
          <a:p>
            <a:r>
              <a:rPr lang="en-US" dirty="0"/>
              <a:t>Enables reuse of code across multiple programs</a:t>
            </a:r>
          </a:p>
          <a:p>
            <a:r>
              <a:rPr lang="en-US" dirty="0"/>
              <a:t>Divides a large programming task among various programmers or various stages of a project</a:t>
            </a:r>
          </a:p>
          <a:p>
            <a:r>
              <a:rPr lang="en-US" dirty="0"/>
              <a:t>Hides implementation details from users of the function</a:t>
            </a:r>
          </a:p>
          <a:p>
            <a:r>
              <a:rPr lang="en-US" dirty="0"/>
              <a:t>Improves readability of code by replacing a block of code with a function call where a descriptive function name serves to describe the block of code</a:t>
            </a:r>
          </a:p>
          <a:p>
            <a:r>
              <a:rPr lang="en-US" dirty="0"/>
              <a:t>Makes software easier to test, debug and maintain</a:t>
            </a:r>
          </a:p>
        </p:txBody>
      </p:sp>
    </p:spTree>
    <p:extLst>
      <p:ext uri="{BB962C8B-B14F-4D97-AF65-F5344CB8AC3E}">
        <p14:creationId xmlns:p14="http://schemas.microsoft.com/office/powerpoint/2010/main" val="335771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41112-C915-4F73-9BB3-25B51F72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Call Stack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FF40A8C-0A1E-4A44-8E03-35A6AE424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A Stack is a Last-In-First-Out (LIFO) data structure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The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call stack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(an OS level stack) is how a program remembers where to return the execution after each function call.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The call stack isn’t stored in a variable in your program; rather, Python handles it behind the scenes. 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When your program calls a function, Python creates a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frame object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on the top of the call stack.</a:t>
            </a:r>
            <a:endParaRPr lang="en-US" dirty="0">
              <a:solidFill>
                <a:srgbClr val="000000"/>
              </a:solidFill>
              <a:latin typeface="JansonTextLTStd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Frame objects store the line number of the original function call so that Python can remember where to return.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If another function call is made, Python puts another frame object on the call stack above the current one.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02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33CEC-DBEF-42FA-8E9F-3D3A6F6B1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Call Stack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2043BE-7157-4436-81BF-93DBE628C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7157" y="2186471"/>
            <a:ext cx="2590933" cy="3562533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E9F62C-E5A5-4141-8D9C-CB7B8AF42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890" y="3296699"/>
            <a:ext cx="657225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90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9939-3D19-4B0E-B892-58D36EBE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Scope of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EE14E-A85B-45EF-8532-FE0538C61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Parameters and variables that are assigned inside a function are said to exist in that function’s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local scope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Variables that are assigned outside all functions are said to exist in the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global scope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A variable that exists in a local scope is called a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local variable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A variable that exists in the global scope is called a </a:t>
            </a:r>
            <a:r>
              <a:rPr lang="en-US" b="0" i="1" dirty="0">
                <a:solidFill>
                  <a:srgbClr val="000000"/>
                </a:solidFill>
                <a:effectLst/>
                <a:latin typeface="JansonTextLTStd"/>
              </a:rPr>
              <a:t>global variable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80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1E5DA-2333-4A5E-8EA4-10CAB88D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Scoping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8CF2-2BEF-4F30-A887-6071E396D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3300"/>
          </a:xfrm>
        </p:spPr>
        <p:txBody>
          <a:bodyPr/>
          <a:lstStyle/>
          <a:p>
            <a:r>
              <a:rPr lang="en-US" dirty="0"/>
              <a:t>Local variables cannot be used in the global scope</a:t>
            </a:r>
          </a:p>
          <a:p>
            <a:pPr marL="914400" lvl="2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def spam():</a:t>
            </a:r>
            <a:br>
              <a:rPr lang="en-US" sz="1800" dirty="0"/>
            </a:br>
            <a:r>
              <a:rPr lang="en-US" sz="1800" dirty="0"/>
              <a:t>	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eggs = 31337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spam()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print(eggs)</a:t>
            </a:r>
            <a:r>
              <a:rPr lang="en-US" sz="1800" dirty="0"/>
              <a:t> </a:t>
            </a:r>
          </a:p>
          <a:p>
            <a:r>
              <a:rPr lang="en-US" dirty="0"/>
              <a:t>Local scopes cannot use variables in other local scopes </a:t>
            </a:r>
          </a:p>
          <a:p>
            <a:pPr marL="457200" lvl="1" indent="0">
              <a:buNone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def spam():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eggs = 99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bacon()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print(eggs)</a:t>
            </a:r>
            <a:br>
              <a:rPr lang="en-US" sz="1800" dirty="0"/>
            </a:b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def bacon():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ham = 101</a:t>
            </a:r>
            <a:br>
              <a:rPr lang="en-US" sz="1800" dirty="0"/>
            </a:b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eggs = 0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>
                <a:solidFill>
                  <a:srgbClr val="000000"/>
                </a:solidFill>
                <a:latin typeface="ArialUnicodeMS"/>
              </a:rPr>
              <a:t>   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spam()</a:t>
            </a:r>
          </a:p>
          <a:p>
            <a:pPr marL="457200" lvl="1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7926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BEBD8-F330-4CED-AF55-CBF157082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Scoping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AB6F5-F10D-483E-86F4-D719B7DEA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997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Global variables can be read from a local scope</a:t>
            </a:r>
          </a:p>
          <a:p>
            <a:pPr marL="457200" lvl="1" indent="0">
              <a:buNone/>
            </a:pPr>
            <a:r>
              <a:rPr lang="nb-NO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def spam():</a:t>
            </a:r>
            <a:br>
              <a:rPr lang="nb-NO" sz="2600" dirty="0"/>
            </a:br>
            <a:r>
              <a:rPr lang="nb-NO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print(eggs)</a:t>
            </a:r>
          </a:p>
          <a:p>
            <a:pPr marL="457200" lvl="1" indent="0">
              <a:buNone/>
            </a:pPr>
            <a:br>
              <a:rPr lang="nb-NO" sz="2600" dirty="0"/>
            </a:br>
            <a:r>
              <a:rPr lang="nb-NO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eggs = 42</a:t>
            </a:r>
            <a:br>
              <a:rPr lang="nb-NO" sz="2600" dirty="0"/>
            </a:br>
            <a:r>
              <a:rPr lang="nb-NO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spam()</a:t>
            </a:r>
            <a:br>
              <a:rPr lang="nb-NO" sz="2600" dirty="0"/>
            </a:br>
            <a:r>
              <a:rPr lang="nb-NO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print(eggs)</a:t>
            </a:r>
            <a:r>
              <a:rPr lang="en-US" sz="3200" dirty="0"/>
              <a:t> </a:t>
            </a:r>
          </a:p>
          <a:p>
            <a:r>
              <a:rPr lang="en-US" dirty="0"/>
              <a:t>Local and global variables with the same name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</a:t>
            </a: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def spam():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eggs = 'spam local'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print(eggs)    # prints 'spam local'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def bacon():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eggs = 'bacon local'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print(eggs)    # prints 'bacon local'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spam()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  print(eggs)    # prints 'bacon local’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eggs = 'global'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bacon()</a:t>
            </a:r>
            <a:b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r>
              <a:rPr lang="en-US" sz="26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print(eggs)        # prints 'global'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01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80F8-7048-4587-802A-0A74FD6D4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global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38A6A-D52B-482E-A365-3EED0F9B3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If you need to modify a global variable from within a function, use the 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global</a:t>
            </a:r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 statement</a:t>
            </a:r>
          </a:p>
          <a:p>
            <a:pPr marL="457200" lvl="1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def spam():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global eggs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  eggs = 'spam'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eggs = 'global'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spam()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print(eggs)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5849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5294-008A-42E6-A22D-89FB86A0F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6578D-9BC7-4768-8179-862F81182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JansonTextLTStd"/>
              </a:rPr>
              <a:t>There are four rules to tell whether a variable is in a local scope or global scope:</a:t>
            </a: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latin typeface="JansonTextLTStd"/>
              </a:rPr>
              <a:t>If a variable is being used in the global scope (that is, outside of all functions), then it is always a global variable.</a:t>
            </a: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latin typeface="JansonTextLTStd"/>
              </a:rPr>
              <a:t>If there is a 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global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JansonTextLTStd"/>
              </a:rPr>
              <a:t> statement for that variable in a function, it is a global variable.</a:t>
            </a: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latin typeface="JansonTextLTStd"/>
              </a:rPr>
              <a:t>Otherwise, if the variable is used in an assignment statement in the function, it is a local variable.</a:t>
            </a:r>
          </a:p>
          <a:p>
            <a:pPr lvl="1" algn="just"/>
            <a:r>
              <a:rPr lang="en-US" sz="2800" b="0" i="0" dirty="0">
                <a:solidFill>
                  <a:srgbClr val="000000"/>
                </a:solidFill>
                <a:effectLst/>
                <a:latin typeface="JansonTextLTStd"/>
              </a:rPr>
              <a:t>But if the variable is not used in an assignment statement, it is a global variable.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52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3479</TotalTime>
  <Words>2586</Words>
  <Application>Microsoft Office PowerPoint</Application>
  <PresentationFormat>Widescreen</PresentationFormat>
  <Paragraphs>242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Arial</vt:lpstr>
      <vt:lpstr>ArialUnicodeMS</vt:lpstr>
      <vt:lpstr>Calibri</vt:lpstr>
      <vt:lpstr>Calibri Light</vt:lpstr>
      <vt:lpstr>Consolas</vt:lpstr>
      <vt:lpstr>Courier New</vt:lpstr>
      <vt:lpstr>Droid Serif</vt:lpstr>
      <vt:lpstr>JansonTextLTStd</vt:lpstr>
      <vt:lpstr>source sans pro</vt:lpstr>
      <vt:lpstr>TradeGothicLTStd</vt:lpstr>
      <vt:lpstr>var(--font-family-body-lesson-markdown,"Droid Serif")</vt:lpstr>
      <vt:lpstr>Office Theme</vt:lpstr>
      <vt:lpstr>MGMT 58600: Python Programming</vt:lpstr>
      <vt:lpstr>Variables and Assignment</vt:lpstr>
      <vt:lpstr>First Program</vt:lpstr>
      <vt:lpstr>Dissecting the Program</vt:lpstr>
      <vt:lpstr>Dissecting the Program</vt:lpstr>
      <vt:lpstr>Boolean Datatype</vt:lpstr>
      <vt:lpstr>Comparison Operators</vt:lpstr>
      <vt:lpstr>Boolean Operators</vt:lpstr>
      <vt:lpstr>Boolean Operators</vt:lpstr>
      <vt:lpstr>Boolean Operators</vt:lpstr>
      <vt:lpstr>Mixing Boolean and Comparison Operators</vt:lpstr>
      <vt:lpstr>Control Flow</vt:lpstr>
      <vt:lpstr>Selection/Decision</vt:lpstr>
      <vt:lpstr>Selection/Decision</vt:lpstr>
      <vt:lpstr>Grouping Statements: Indentation and Blocks</vt:lpstr>
      <vt:lpstr>The if-else Clause </vt:lpstr>
      <vt:lpstr>Nested if</vt:lpstr>
      <vt:lpstr>if-elif-else</vt:lpstr>
      <vt:lpstr>if-elif-else</vt:lpstr>
      <vt:lpstr>Repetition</vt:lpstr>
      <vt:lpstr>for Loop</vt:lpstr>
      <vt:lpstr>while Loop</vt:lpstr>
      <vt:lpstr>Functions</vt:lpstr>
      <vt:lpstr>Python Function Declaration</vt:lpstr>
      <vt:lpstr>Some Examples</vt:lpstr>
      <vt:lpstr>Why Use Functions?</vt:lpstr>
      <vt:lpstr>Call Stack</vt:lpstr>
      <vt:lpstr>Call Stack Example</vt:lpstr>
      <vt:lpstr>Scope of Variables</vt:lpstr>
      <vt:lpstr>Scoping Rules</vt:lpstr>
      <vt:lpstr>Scoping Rules</vt:lpstr>
      <vt:lpstr>The global Statement</vt:lpstr>
      <vt:lpstr>Four Rules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 288-IBE: Programming for Business Applications</dc:title>
  <dc:creator>Khan, Shoaib Amjad</dc:creator>
  <cp:lastModifiedBy>Shoaib Amjad Khan</cp:lastModifiedBy>
  <cp:revision>53</cp:revision>
  <dcterms:created xsi:type="dcterms:W3CDTF">2024-01-10T16:08:38Z</dcterms:created>
  <dcterms:modified xsi:type="dcterms:W3CDTF">2025-08-28T16:54:44Z</dcterms:modified>
</cp:coreProperties>
</file>