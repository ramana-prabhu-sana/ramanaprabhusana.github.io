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951" r:id="rId1"/>
  </p:sldMasterIdLst>
  <p:notesMasterIdLst>
    <p:notesMasterId r:id="rId15"/>
  </p:notesMasterIdLst>
  <p:handoutMasterIdLst>
    <p:handoutMasterId r:id="rId16"/>
  </p:handoutMasterIdLst>
  <p:sldIdLst>
    <p:sldId id="710" r:id="rId2"/>
    <p:sldId id="742" r:id="rId3"/>
    <p:sldId id="736" r:id="rId4"/>
    <p:sldId id="741" r:id="rId5"/>
    <p:sldId id="737" r:id="rId6"/>
    <p:sldId id="743" r:id="rId7"/>
    <p:sldId id="738" r:id="rId8"/>
    <p:sldId id="744" r:id="rId9"/>
    <p:sldId id="739" r:id="rId10"/>
    <p:sldId id="745" r:id="rId11"/>
    <p:sldId id="740" r:id="rId12"/>
    <p:sldId id="746" r:id="rId13"/>
    <p:sldId id="747" r:id="rId14"/>
  </p:sldIdLst>
  <p:sldSz cx="9144000" cy="6858000" type="screen4x3"/>
  <p:notesSz cx="7010400" cy="9296400"/>
  <p:custDataLst>
    <p:tags r:id="rId17"/>
  </p:custDataLst>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07">
          <p15:clr>
            <a:srgbClr val="A4A3A4"/>
          </p15:clr>
        </p15:guide>
        <p15:guide id="2" pos="2880">
          <p15:clr>
            <a:srgbClr val="A4A3A4"/>
          </p15:clr>
        </p15:guide>
      </p15:sldGuideLst>
    </p:ext>
    <p:ext uri="{2D200454-40CA-4A62-9FC3-DE9A4176ACB9}">
      <p15:notesGuideLst xmlns:p15="http://schemas.microsoft.com/office/powerpoint/2012/main">
        <p15:guide id="1" orient="horz" pos="2929">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Thanh T" initials="NTT"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C8DF41"/>
    <a:srgbClr val="003399"/>
    <a:srgbClr val="FFCC00"/>
    <a:srgbClr val="00BC55"/>
    <a:srgbClr val="CC00CC"/>
    <a:srgbClr val="D600FF"/>
    <a:srgbClr val="B0CD53"/>
    <a:srgbClr val="3366CC"/>
    <a:srgbClr val="9300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76" autoAdjust="0"/>
    <p:restoredTop sz="95447" autoAdjust="0"/>
  </p:normalViewPr>
  <p:slideViewPr>
    <p:cSldViewPr snapToGrid="0">
      <p:cViewPr varScale="1">
        <p:scale>
          <a:sx n="97" d="100"/>
          <a:sy n="97" d="100"/>
        </p:scale>
        <p:origin x="1640" y="192"/>
      </p:cViewPr>
      <p:guideLst>
        <p:guide orient="horz" pos="30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40" d="100"/>
        <a:sy n="40" d="100"/>
      </p:scale>
      <p:origin x="0" y="0"/>
    </p:cViewPr>
  </p:sorterViewPr>
  <p:notesViewPr>
    <p:cSldViewPr snapToGrid="0">
      <p:cViewPr varScale="1">
        <p:scale>
          <a:sx n="74" d="100"/>
          <a:sy n="74" d="100"/>
        </p:scale>
        <p:origin x="-1974" y="-102"/>
      </p:cViewPr>
      <p:guideLst>
        <p:guide orient="horz" pos="2929"/>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11396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4720" y="4415990"/>
            <a:ext cx="5140960" cy="4182980"/>
          </a:xfrm>
          <a:prstGeom prst="rect">
            <a:avLst/>
          </a:prstGeom>
          <a:noFill/>
          <a:ln w="12700">
            <a:noFill/>
            <a:miter lim="800000"/>
            <a:headEnd/>
            <a:tailEnd/>
          </a:ln>
          <a:effectLst/>
        </p:spPr>
        <p:txBody>
          <a:bodyPr vert="horz" wrap="square" lIns="91619" tIns="45006" rIns="91619" bIns="45006" numCol="1" anchor="t" anchorCtr="0" compatLnSpc="1">
            <a:prstTxWarp prst="textNoShape">
              <a:avLst/>
            </a:prstTxWarp>
          </a:bodyPr>
          <a:lstStyle/>
          <a:p>
            <a:pPr lvl="0"/>
            <a:r>
              <a:rPr lang="en-US" noProof="0"/>
              <a:t>Click to edit Master notes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55299" name="Rectangle 3"/>
          <p:cNvSpPr>
            <a:spLocks noGrp="1" noRot="1" noChangeAspect="1" noChangeArrowheads="1" noTextEdit="1"/>
          </p:cNvSpPr>
          <p:nvPr>
            <p:ph type="sldImg" idx="2"/>
          </p:nvPr>
        </p:nvSpPr>
        <p:spPr bwMode="auto">
          <a:xfrm>
            <a:off x="1190625" y="703263"/>
            <a:ext cx="4630738" cy="3473450"/>
          </a:xfrm>
          <a:prstGeom prst="rect">
            <a:avLst/>
          </a:prstGeom>
          <a:noFill/>
          <a:ln w="12700">
            <a:solidFill>
              <a:schemeClr val="tx1"/>
            </a:solidFill>
            <a:miter lim="800000"/>
            <a:headEnd/>
            <a:tailEnd/>
          </a:ln>
        </p:spPr>
      </p:sp>
      <p:sp>
        <p:nvSpPr>
          <p:cNvPr id="2052" name="Rectangle 4"/>
          <p:cNvSpPr>
            <a:spLocks noChangeArrowheads="1"/>
          </p:cNvSpPr>
          <p:nvPr/>
        </p:nvSpPr>
        <p:spPr bwMode="auto">
          <a:xfrm>
            <a:off x="6518699" y="8895817"/>
            <a:ext cx="420299" cy="304827"/>
          </a:xfrm>
          <a:prstGeom prst="rect">
            <a:avLst/>
          </a:prstGeom>
          <a:noFill/>
          <a:ln w="12700">
            <a:noFill/>
            <a:miter lim="800000"/>
            <a:headEnd/>
            <a:tailEnd/>
          </a:ln>
          <a:effectLst/>
        </p:spPr>
        <p:txBody>
          <a:bodyPr wrap="none" lIns="91619" tIns="45006" rIns="91619" bIns="45006" anchor="ctr">
            <a:spAutoFit/>
          </a:bodyPr>
          <a:lstStyle/>
          <a:p>
            <a:pPr algn="r">
              <a:defRPr/>
            </a:pPr>
            <a:fld id="{7FA394DF-3E75-4777-B752-012A9A04ED53}" type="slidenum">
              <a:rPr lang="en-US" sz="1400">
                <a:latin typeface="Book Antiqua" pitchFamily="18" charset="0"/>
              </a:rPr>
              <a:pPr algn="r">
                <a:defRPr/>
              </a:pPr>
              <a:t>‹#›</a:t>
            </a:fld>
            <a:endParaRPr lang="en-US" sz="1400" dirty="0">
              <a:latin typeface="Book Antiqua" pitchFamily="18" charset="0"/>
            </a:endParaRPr>
          </a:p>
        </p:txBody>
      </p:sp>
    </p:spTree>
    <p:extLst>
      <p:ext uri="{BB962C8B-B14F-4D97-AF65-F5344CB8AC3E}">
        <p14:creationId xmlns:p14="http://schemas.microsoft.com/office/powerpoint/2010/main" val="244391352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Book Antiqua"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Book Antiqua"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Book Antiqua"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Book Antiqua"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346396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76400"/>
            <a:ext cx="7772400" cy="1676400"/>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dirty="0">
                <a:solidFill>
                  <a:prstClr val="black">
                    <a:tint val="75000"/>
                  </a:prstClr>
                </a:solidFill>
              </a:rPr>
              <a:t>MGMT 670</a:t>
            </a:r>
          </a:p>
        </p:txBody>
      </p:sp>
      <p:sp>
        <p:nvSpPr>
          <p:cNvPr id="6" name="Slide Number Placeholder 5"/>
          <p:cNvSpPr>
            <a:spLocks noGrp="1"/>
          </p:cNvSpPr>
          <p:nvPr>
            <p:ph type="sldNum" sz="quarter" idx="12"/>
          </p:nvPr>
        </p:nvSpPr>
        <p:spPr/>
        <p:txBody>
          <a:bodyPr/>
          <a:lstStyle/>
          <a:p>
            <a:fld id="{59F3DC7D-0DCD-4A83-BDE2-5D07B20F0357}" type="slidenum">
              <a:rPr lang="en-US">
                <a:solidFill>
                  <a:prstClr val="black">
                    <a:tint val="75000"/>
                  </a:prstClr>
                </a:solidFill>
              </a:rPr>
              <a:pPr/>
              <a:t>‹#›</a:t>
            </a:fld>
            <a:endParaRPr lang="en-US" dirty="0">
              <a:solidFill>
                <a:prstClr val="black">
                  <a:tint val="75000"/>
                </a:prstClr>
              </a:solidFill>
            </a:endParaRPr>
          </a:p>
        </p:txBody>
      </p:sp>
      <p:sp>
        <p:nvSpPr>
          <p:cNvPr id="8" name="Rectangle 7"/>
          <p:cNvSpPr/>
          <p:nvPr userDrawn="1"/>
        </p:nvSpPr>
        <p:spPr>
          <a:xfrm>
            <a:off x="1981200" y="3429000"/>
            <a:ext cx="4800600" cy="152400"/>
          </a:xfrm>
          <a:prstGeom prst="rect">
            <a:avLst/>
          </a:prstGeom>
          <a:gradFill flip="none" rotWithShape="1">
            <a:gsLst>
              <a:gs pos="0">
                <a:schemeClr val="accent3">
                  <a:lumMod val="40000"/>
                  <a:lumOff val="60000"/>
                  <a:shade val="30000"/>
                  <a:satMod val="115000"/>
                  <a:alpha val="74000"/>
                </a:schemeClr>
              </a:gs>
              <a:gs pos="50000">
                <a:schemeClr val="accent3">
                  <a:lumMod val="40000"/>
                  <a:lumOff val="60000"/>
                  <a:shade val="67500"/>
                  <a:satMod val="115000"/>
                </a:schemeClr>
              </a:gs>
              <a:gs pos="100000">
                <a:schemeClr val="accent3">
                  <a:lumMod val="40000"/>
                  <a:lumOff val="6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pic>
        <p:nvPicPr>
          <p:cNvPr id="9" name="Picture 27"/>
          <p:cNvPicPr>
            <a:picLocks noChangeAspect="1" noChangeArrowheads="1"/>
          </p:cNvPicPr>
          <p:nvPr userDrawn="1"/>
        </p:nvPicPr>
        <p:blipFill>
          <a:blip r:embed="rId2" cstate="print"/>
          <a:srcRect/>
          <a:stretch>
            <a:fillRect/>
          </a:stretch>
        </p:blipFill>
        <p:spPr bwMode="auto">
          <a:xfrm>
            <a:off x="3124200" y="4991531"/>
            <a:ext cx="2971800" cy="1790269"/>
          </a:xfrm>
          <a:prstGeom prst="rect">
            <a:avLst/>
          </a:prstGeom>
          <a:noFill/>
          <a:ln w="9525">
            <a:noFill/>
            <a:miter lim="800000"/>
            <a:headEnd/>
            <a:tailEnd/>
          </a:ln>
        </p:spPr>
      </p:pic>
    </p:spTree>
    <p:extLst>
      <p:ext uri="{BB962C8B-B14F-4D97-AF65-F5344CB8AC3E}">
        <p14:creationId xmlns:p14="http://schemas.microsoft.com/office/powerpoint/2010/main" val="1730891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ectangle 7"/>
          <p:cNvSpPr/>
          <p:nvPr userDrawn="1"/>
        </p:nvSpPr>
        <p:spPr>
          <a:xfrm>
            <a:off x="0" y="6400800"/>
            <a:ext cx="9144000" cy="4572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b="1">
                <a:solidFill>
                  <a:schemeClr val="tx1"/>
                </a:solidFill>
              </a:defRPr>
            </a:lvl1pPr>
          </a:lstStyle>
          <a:p>
            <a:r>
              <a:rPr lang="en-US" dirty="0">
                <a:solidFill>
                  <a:prstClr val="black"/>
                </a:solidFill>
              </a:rPr>
              <a:t>MGMT 670</a:t>
            </a:r>
          </a:p>
        </p:txBody>
      </p:sp>
      <p:sp>
        <p:nvSpPr>
          <p:cNvPr id="6" name="Slide Number Placeholder 5"/>
          <p:cNvSpPr>
            <a:spLocks noGrp="1"/>
          </p:cNvSpPr>
          <p:nvPr>
            <p:ph type="sldNum" sz="quarter" idx="12"/>
          </p:nvPr>
        </p:nvSpPr>
        <p:spPr/>
        <p:txBody>
          <a:bodyPr/>
          <a:lstStyle>
            <a:lvl1pPr>
              <a:defRPr b="1">
                <a:solidFill>
                  <a:schemeClr val="tx1"/>
                </a:solidFill>
              </a:defRPr>
            </a:lvl1pPr>
          </a:lstStyle>
          <a:p>
            <a:fld id="{59F3DC7D-0DCD-4A83-BDE2-5D07B20F0357}" type="slidenum">
              <a:rPr lang="en-US">
                <a:solidFill>
                  <a:prstClr val="black"/>
                </a:solidFill>
              </a:rPr>
              <a:pPr/>
              <a:t>‹#›</a:t>
            </a:fld>
            <a:endParaRPr lang="en-US" dirty="0">
              <a:solidFill>
                <a:prstClr val="black"/>
              </a:solidFill>
            </a:endParaRPr>
          </a:p>
        </p:txBody>
      </p:sp>
      <p:sp>
        <p:nvSpPr>
          <p:cNvPr id="9" name="Rectangle 8"/>
          <p:cNvSpPr/>
          <p:nvPr userDrawn="1"/>
        </p:nvSpPr>
        <p:spPr>
          <a:xfrm>
            <a:off x="762000" y="1457325"/>
            <a:ext cx="7696200" cy="71437"/>
          </a:xfrm>
          <a:prstGeom prst="rect">
            <a:avLst/>
          </a:prstGeom>
          <a:solidFill>
            <a:schemeClr val="accent3">
              <a:lumMod val="60000"/>
              <a:lumOff val="40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1357160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bg1">
            <a:alpha val="0"/>
          </a:schemeClr>
        </a:solidFill>
        <a:effectLst/>
      </p:bgPr>
    </p:bg>
    <p:spTree>
      <p:nvGrpSpPr>
        <p:cNvPr id="1" name=""/>
        <p:cNvGrpSpPr/>
        <p:nvPr/>
      </p:nvGrpSpPr>
      <p:grpSpPr>
        <a:xfrm>
          <a:off x="0" y="0"/>
          <a:ext cx="0" cy="0"/>
          <a:chOff x="0" y="0"/>
          <a:chExt cx="0" cy="0"/>
        </a:xfrm>
      </p:grpSpPr>
      <p:sp>
        <p:nvSpPr>
          <p:cNvPr id="8" name="Rectangle 7"/>
          <p:cNvSpPr/>
          <p:nvPr userDrawn="1"/>
        </p:nvSpPr>
        <p:spPr>
          <a:xfrm>
            <a:off x="0" y="6400800"/>
            <a:ext cx="9144000" cy="4572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lvl1pPr>
              <a:defRPr b="1">
                <a:solidFill>
                  <a:schemeClr val="tx1"/>
                </a:solidFill>
              </a:defRPr>
            </a:lvl1pPr>
          </a:lstStyle>
          <a:p>
            <a:r>
              <a:rPr lang="en-US" dirty="0">
                <a:solidFill>
                  <a:prstClr val="black"/>
                </a:solidFill>
              </a:rPr>
              <a:t>MGMT 670</a:t>
            </a:r>
          </a:p>
        </p:txBody>
      </p:sp>
      <p:sp>
        <p:nvSpPr>
          <p:cNvPr id="6" name="Slide Number Placeholder 5"/>
          <p:cNvSpPr>
            <a:spLocks noGrp="1"/>
          </p:cNvSpPr>
          <p:nvPr>
            <p:ph type="sldNum" sz="quarter" idx="12"/>
          </p:nvPr>
        </p:nvSpPr>
        <p:spPr/>
        <p:txBody>
          <a:bodyPr/>
          <a:lstStyle>
            <a:lvl1pPr>
              <a:defRPr b="1">
                <a:solidFill>
                  <a:schemeClr val="tx1"/>
                </a:solidFill>
              </a:defRPr>
            </a:lvl1pPr>
          </a:lstStyle>
          <a:p>
            <a:fld id="{59F3DC7D-0DCD-4A83-BDE2-5D07B20F0357}" type="slidenum">
              <a:rPr lang="en-US">
                <a:solidFill>
                  <a:prstClr val="black"/>
                </a:solidFill>
              </a:rPr>
              <a:pPr/>
              <a:t>‹#›</a:t>
            </a:fld>
            <a:endParaRPr lang="en-US" dirty="0">
              <a:solidFill>
                <a:prstClr val="black"/>
              </a:solidFill>
            </a:endParaRPr>
          </a:p>
        </p:txBody>
      </p:sp>
      <p:sp>
        <p:nvSpPr>
          <p:cNvPr id="9" name="Rectangle 8"/>
          <p:cNvSpPr/>
          <p:nvPr userDrawn="1"/>
        </p:nvSpPr>
        <p:spPr>
          <a:xfrm>
            <a:off x="0" y="-2380"/>
            <a:ext cx="9144000" cy="261143"/>
          </a:xfrm>
          <a:prstGeom prst="rect">
            <a:avLst/>
          </a:prstGeom>
          <a:solidFill>
            <a:schemeClr val="accent2">
              <a:lumMod val="40000"/>
              <a:lumOff val="60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11" name="Footer Placeholder 4"/>
          <p:cNvSpPr txBox="1">
            <a:spLocks/>
          </p:cNvSpPr>
          <p:nvPr userDrawn="1"/>
        </p:nvSpPr>
        <p:spPr>
          <a:xfrm>
            <a:off x="152400" y="6477000"/>
            <a:ext cx="2590800" cy="365125"/>
          </a:xfrm>
          <a:prstGeom prst="rect">
            <a:avLst/>
          </a:prstGeom>
        </p:spPr>
        <p:txBody>
          <a:bodyPr vert="horz" lIns="91440" tIns="45720" rIns="91440" bIns="45720" rtlCol="0" anchor="ctr"/>
          <a:lstStyle>
            <a:defPPr>
              <a:defRPr lang="en-AU"/>
            </a:defPPr>
            <a:lvl1pPr algn="ctr" rtl="0" eaLnBrk="0" fontAlgn="base" hangingPunct="0">
              <a:spcBef>
                <a:spcPct val="0"/>
              </a:spcBef>
              <a:spcAft>
                <a:spcPct val="0"/>
              </a:spcAft>
              <a:defRPr sz="12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3200"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3200"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Arial Narrow" pitchFamily="34" charset="0"/>
                <a:ea typeface="+mn-ea"/>
                <a:cs typeface="+mn-cs"/>
              </a:defRPr>
            </a:lvl5pPr>
            <a:lvl6pPr marL="2286000" algn="l" defTabSz="914400" rtl="0" eaLnBrk="1" latinLnBrk="0" hangingPunct="1">
              <a:defRPr sz="3200" kern="1200">
                <a:solidFill>
                  <a:schemeClr val="tx1"/>
                </a:solidFill>
                <a:latin typeface="Arial Narrow" pitchFamily="34" charset="0"/>
                <a:ea typeface="+mn-ea"/>
                <a:cs typeface="+mn-cs"/>
              </a:defRPr>
            </a:lvl6pPr>
            <a:lvl7pPr marL="2743200" algn="l" defTabSz="914400" rtl="0" eaLnBrk="1" latinLnBrk="0" hangingPunct="1">
              <a:defRPr sz="3200" kern="1200">
                <a:solidFill>
                  <a:schemeClr val="tx1"/>
                </a:solidFill>
                <a:latin typeface="Arial Narrow" pitchFamily="34" charset="0"/>
                <a:ea typeface="+mn-ea"/>
                <a:cs typeface="+mn-cs"/>
              </a:defRPr>
            </a:lvl7pPr>
            <a:lvl8pPr marL="3200400" algn="l" defTabSz="914400" rtl="0" eaLnBrk="1" latinLnBrk="0" hangingPunct="1">
              <a:defRPr sz="3200" kern="1200">
                <a:solidFill>
                  <a:schemeClr val="tx1"/>
                </a:solidFill>
                <a:latin typeface="Arial Narrow" pitchFamily="34" charset="0"/>
                <a:ea typeface="+mn-ea"/>
                <a:cs typeface="+mn-cs"/>
              </a:defRPr>
            </a:lvl8pPr>
            <a:lvl9pPr marL="3657600" algn="l" defTabSz="914400" rtl="0" eaLnBrk="1" latinLnBrk="0" hangingPunct="1">
              <a:defRPr sz="3200" kern="1200">
                <a:solidFill>
                  <a:schemeClr val="tx1"/>
                </a:solidFill>
                <a:latin typeface="Arial Narrow" pitchFamily="34" charset="0"/>
                <a:ea typeface="+mn-ea"/>
                <a:cs typeface="+mn-cs"/>
              </a:defRPr>
            </a:lvl9pPr>
          </a:lstStyle>
          <a:p>
            <a:r>
              <a:rPr lang="en-US" dirty="0">
                <a:solidFill>
                  <a:prstClr val="black"/>
                </a:solidFill>
              </a:rPr>
              <a:t>EXAMPLES,  PRACTICE QUESTIONS</a:t>
            </a:r>
          </a:p>
        </p:txBody>
      </p:sp>
    </p:spTree>
    <p:extLst>
      <p:ext uri="{BB962C8B-B14F-4D97-AF65-F5344CB8AC3E}">
        <p14:creationId xmlns:p14="http://schemas.microsoft.com/office/powerpoint/2010/main" val="227271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p:cNvSpPr/>
          <p:nvPr userDrawn="1"/>
        </p:nvSpPr>
        <p:spPr>
          <a:xfrm>
            <a:off x="0" y="6400800"/>
            <a:ext cx="9144000" cy="45720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solidFill>
                  <a:prstClr val="black"/>
                </a:solidFill>
              </a:rPr>
              <a:t>MGMT 670</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59F3DC7D-0DCD-4A83-BDE2-5D07B20F0357}" type="slidenum">
              <a:rPr lang="en-US">
                <a:solidFill>
                  <a:prstClr val="black"/>
                </a:solidFill>
              </a:rPr>
              <a:pPr/>
              <a:t>‹#›</a:t>
            </a:fld>
            <a:endParaRPr lang="en-US" dirty="0">
              <a:solidFill>
                <a:prstClr val="black"/>
              </a:solidFill>
            </a:endParaRPr>
          </a:p>
        </p:txBody>
      </p:sp>
      <p:sp>
        <p:nvSpPr>
          <p:cNvPr id="8" name="Footer Placeholder 4"/>
          <p:cNvSpPr txBox="1">
            <a:spLocks/>
          </p:cNvSpPr>
          <p:nvPr userDrawn="1"/>
        </p:nvSpPr>
        <p:spPr>
          <a:xfrm>
            <a:off x="152400" y="6492875"/>
            <a:ext cx="1600200" cy="365125"/>
          </a:xfrm>
          <a:prstGeom prst="rect">
            <a:avLst/>
          </a:prstGeom>
        </p:spPr>
        <p:txBody>
          <a:bodyPr vert="horz" lIns="91440" tIns="45720" rIns="91440" bIns="45720" rtlCol="0" anchor="ctr"/>
          <a:lstStyle>
            <a:defPPr>
              <a:defRPr lang="en-AU"/>
            </a:defPPr>
            <a:lvl1pPr algn="ctr" rtl="0" eaLnBrk="0" fontAlgn="base" hangingPunct="0">
              <a:spcBef>
                <a:spcPct val="0"/>
              </a:spcBef>
              <a:spcAft>
                <a:spcPct val="0"/>
              </a:spcAft>
              <a:defRPr sz="12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3200"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3200"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Arial Narrow" pitchFamily="34" charset="0"/>
                <a:ea typeface="+mn-ea"/>
                <a:cs typeface="+mn-cs"/>
              </a:defRPr>
            </a:lvl5pPr>
            <a:lvl6pPr marL="2286000" algn="l" defTabSz="914400" rtl="0" eaLnBrk="1" latinLnBrk="0" hangingPunct="1">
              <a:defRPr sz="3200" kern="1200">
                <a:solidFill>
                  <a:schemeClr val="tx1"/>
                </a:solidFill>
                <a:latin typeface="Arial Narrow" pitchFamily="34" charset="0"/>
                <a:ea typeface="+mn-ea"/>
                <a:cs typeface="+mn-cs"/>
              </a:defRPr>
            </a:lvl6pPr>
            <a:lvl7pPr marL="2743200" algn="l" defTabSz="914400" rtl="0" eaLnBrk="1" latinLnBrk="0" hangingPunct="1">
              <a:defRPr sz="3200" kern="1200">
                <a:solidFill>
                  <a:schemeClr val="tx1"/>
                </a:solidFill>
                <a:latin typeface="Arial Narrow" pitchFamily="34" charset="0"/>
                <a:ea typeface="+mn-ea"/>
                <a:cs typeface="+mn-cs"/>
              </a:defRPr>
            </a:lvl7pPr>
            <a:lvl8pPr marL="3200400" algn="l" defTabSz="914400" rtl="0" eaLnBrk="1" latinLnBrk="0" hangingPunct="1">
              <a:defRPr sz="3200" kern="1200">
                <a:solidFill>
                  <a:schemeClr val="tx1"/>
                </a:solidFill>
                <a:latin typeface="Arial Narrow" pitchFamily="34" charset="0"/>
                <a:ea typeface="+mn-ea"/>
                <a:cs typeface="+mn-cs"/>
              </a:defRPr>
            </a:lvl8pPr>
            <a:lvl9pPr marL="3657600" algn="l" defTabSz="914400" rtl="0" eaLnBrk="1" latinLnBrk="0" hangingPunct="1">
              <a:defRPr sz="3200" kern="1200">
                <a:solidFill>
                  <a:schemeClr val="tx1"/>
                </a:solidFill>
                <a:latin typeface="Arial Narrow" pitchFamily="34" charset="0"/>
                <a:ea typeface="+mn-ea"/>
                <a:cs typeface="+mn-cs"/>
              </a:defRPr>
            </a:lvl9pPr>
          </a:lstStyle>
          <a:p>
            <a:r>
              <a:rPr lang="en-US" dirty="0">
                <a:solidFill>
                  <a:prstClr val="black"/>
                </a:solidFill>
              </a:rPr>
              <a:t>TOOLS &amp; SOFTWARE</a:t>
            </a:r>
          </a:p>
        </p:txBody>
      </p:sp>
      <p:sp>
        <p:nvSpPr>
          <p:cNvPr id="9" name="Title 1"/>
          <p:cNvSpPr>
            <a:spLocks noGrp="1"/>
          </p:cNvSpPr>
          <p:nvPr>
            <p:ph type="title"/>
          </p:nvPr>
        </p:nvSpPr>
        <p:spPr>
          <a:xfrm>
            <a:off x="457200" y="274638"/>
            <a:ext cx="8229600" cy="1143000"/>
          </a:xfrm>
        </p:spPr>
        <p:txBody>
          <a:bodyPr/>
          <a:lstStyle/>
          <a:p>
            <a:r>
              <a:rPr lang="en-US"/>
              <a:t>Click to edit Master title style</a:t>
            </a:r>
          </a:p>
        </p:txBody>
      </p:sp>
      <p:sp>
        <p:nvSpPr>
          <p:cNvPr id="10" name="Rectangle 9"/>
          <p:cNvSpPr/>
          <p:nvPr userDrawn="1"/>
        </p:nvSpPr>
        <p:spPr>
          <a:xfrm>
            <a:off x="0" y="0"/>
            <a:ext cx="9144000" cy="274638"/>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1944038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dirty="0">
                <a:solidFill>
                  <a:prstClr val="black"/>
                </a:solidFill>
              </a:rPr>
              <a:t>MGMT 670</a:t>
            </a: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59F3DC7D-0DCD-4A83-BDE2-5D07B20F035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276069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lvl1pPr>
              <a:defRPr>
                <a:solidFill>
                  <a:schemeClr val="tx1"/>
                </a:solidFill>
              </a:defRPr>
            </a:lvl1pPr>
          </a:lstStyle>
          <a:p>
            <a:r>
              <a:rPr lang="en-US" dirty="0">
                <a:solidFill>
                  <a:prstClr val="black"/>
                </a:solidFill>
              </a:rPr>
              <a:t>MGMT 670</a:t>
            </a:r>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59F3DC7D-0DCD-4A83-BDE2-5D07B20F035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520735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MGMT 670</a:t>
            </a:r>
          </a:p>
        </p:txBody>
      </p:sp>
      <p:sp>
        <p:nvSpPr>
          <p:cNvPr id="6" name="Slide Number Placeholder 5"/>
          <p:cNvSpPr>
            <a:spLocks noGrp="1"/>
          </p:cNvSpPr>
          <p:nvPr>
            <p:ph type="sldNum" sz="quarter" idx="12"/>
          </p:nvPr>
        </p:nvSpPr>
        <p:spPr/>
        <p:txBody>
          <a:bodyPr/>
          <a:lstStyle/>
          <a:p>
            <a:fld id="{59F3DC7D-0DCD-4A83-BDE2-5D07B20F03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45306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MGMT 670</a:t>
            </a:r>
          </a:p>
        </p:txBody>
      </p:sp>
      <p:sp>
        <p:nvSpPr>
          <p:cNvPr id="7" name="Slide Number Placeholder 6"/>
          <p:cNvSpPr>
            <a:spLocks noGrp="1"/>
          </p:cNvSpPr>
          <p:nvPr>
            <p:ph type="sldNum" sz="quarter" idx="12"/>
          </p:nvPr>
        </p:nvSpPr>
        <p:spPr/>
        <p:txBody>
          <a:bodyPr/>
          <a:lstStyle/>
          <a:p>
            <a:fld id="{59F3DC7D-0DCD-4A83-BDE2-5D07B20F03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04604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MGMT 670</a:t>
            </a:r>
          </a:p>
        </p:txBody>
      </p:sp>
      <p:sp>
        <p:nvSpPr>
          <p:cNvPr id="9" name="Slide Number Placeholder 8"/>
          <p:cNvSpPr>
            <a:spLocks noGrp="1"/>
          </p:cNvSpPr>
          <p:nvPr>
            <p:ph type="sldNum" sz="quarter" idx="12"/>
          </p:nvPr>
        </p:nvSpPr>
        <p:spPr/>
        <p:txBody>
          <a:bodyPr/>
          <a:lstStyle/>
          <a:p>
            <a:fld id="{59F3DC7D-0DCD-4A83-BDE2-5D07B20F03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73694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MGMT 670</a:t>
            </a:r>
          </a:p>
        </p:txBody>
      </p:sp>
      <p:sp>
        <p:nvSpPr>
          <p:cNvPr id="7" name="Slide Number Placeholder 6"/>
          <p:cNvSpPr>
            <a:spLocks noGrp="1"/>
          </p:cNvSpPr>
          <p:nvPr>
            <p:ph type="sldNum" sz="quarter" idx="12"/>
          </p:nvPr>
        </p:nvSpPr>
        <p:spPr/>
        <p:txBody>
          <a:bodyPr/>
          <a:lstStyle/>
          <a:p>
            <a:fld id="{59F3DC7D-0DCD-4A83-BDE2-5D07B20F03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8431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MGMT 670</a:t>
            </a:r>
          </a:p>
        </p:txBody>
      </p:sp>
      <p:sp>
        <p:nvSpPr>
          <p:cNvPr id="7" name="Slide Number Placeholder 6"/>
          <p:cNvSpPr>
            <a:spLocks noGrp="1"/>
          </p:cNvSpPr>
          <p:nvPr>
            <p:ph type="sldNum" sz="quarter" idx="12"/>
          </p:nvPr>
        </p:nvSpPr>
        <p:spPr/>
        <p:txBody>
          <a:bodyPr/>
          <a:lstStyle/>
          <a:p>
            <a:fld id="{59F3DC7D-0DCD-4A83-BDE2-5D07B20F03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58848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MGMT 670</a:t>
            </a:r>
          </a:p>
        </p:txBody>
      </p:sp>
      <p:sp>
        <p:nvSpPr>
          <p:cNvPr id="6" name="Slide Number Placeholder 5"/>
          <p:cNvSpPr>
            <a:spLocks noGrp="1"/>
          </p:cNvSpPr>
          <p:nvPr>
            <p:ph type="sldNum" sz="quarter" idx="12"/>
          </p:nvPr>
        </p:nvSpPr>
        <p:spPr/>
        <p:txBody>
          <a:bodyPr/>
          <a:lstStyle/>
          <a:p>
            <a:fld id="{59F3DC7D-0DCD-4A83-BDE2-5D07B20F03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12796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MGMT 670</a:t>
            </a:r>
          </a:p>
        </p:txBody>
      </p:sp>
      <p:sp>
        <p:nvSpPr>
          <p:cNvPr id="6" name="Slide Number Placeholder 5"/>
          <p:cNvSpPr>
            <a:spLocks noGrp="1"/>
          </p:cNvSpPr>
          <p:nvPr>
            <p:ph type="sldNum" sz="quarter" idx="12"/>
          </p:nvPr>
        </p:nvSpPr>
        <p:spPr/>
        <p:txBody>
          <a:bodyPr/>
          <a:lstStyle/>
          <a:p>
            <a:fld id="{59F3DC7D-0DCD-4A83-BDE2-5D07B20F03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28552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600200" y="304800"/>
            <a:ext cx="7343775" cy="776288"/>
          </a:xfrm>
        </p:spPr>
        <p:txBody>
          <a:bodyPr/>
          <a:lstStyle/>
          <a:p>
            <a:r>
              <a:rPr lang="en-US"/>
              <a:t>Click to edit Master title style</a:t>
            </a:r>
          </a:p>
        </p:txBody>
      </p:sp>
      <p:sp>
        <p:nvSpPr>
          <p:cNvPr id="3" name="Table Placeholder 2"/>
          <p:cNvSpPr>
            <a:spLocks noGrp="1"/>
          </p:cNvSpPr>
          <p:nvPr>
            <p:ph type="tbl" idx="1"/>
          </p:nvPr>
        </p:nvSpPr>
        <p:spPr>
          <a:xfrm>
            <a:off x="685800" y="1752600"/>
            <a:ext cx="8001000" cy="4114800"/>
          </a:xfrm>
        </p:spPr>
        <p:txBody>
          <a:bodyPr/>
          <a:lstStyle/>
          <a:p>
            <a:pPr lvl="0"/>
            <a:endParaRPr lang="en-US" noProof="0"/>
          </a:p>
        </p:txBody>
      </p:sp>
      <p:sp>
        <p:nvSpPr>
          <p:cNvPr id="4" name="Rectangle 11"/>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r>
              <a:rPr lang="en-US">
                <a:solidFill>
                  <a:prstClr val="black">
                    <a:tint val="75000"/>
                  </a:prstClr>
                </a:solidFill>
              </a:rPr>
              <a:t>MGMT 670</a:t>
            </a:r>
          </a:p>
        </p:txBody>
      </p:sp>
      <p:sp>
        <p:nvSpPr>
          <p:cNvPr id="6" name="Rectangle 13"/>
          <p:cNvSpPr>
            <a:spLocks noGrp="1" noChangeArrowheads="1"/>
          </p:cNvSpPr>
          <p:nvPr>
            <p:ph type="sldNum" sz="quarter" idx="12"/>
          </p:nvPr>
        </p:nvSpPr>
        <p:spPr>
          <a:ln/>
        </p:spPr>
        <p:txBody>
          <a:bodyPr/>
          <a:lstStyle>
            <a:lvl1pPr>
              <a:defRPr/>
            </a:lvl1pPr>
          </a:lstStyle>
          <a:p>
            <a:pPr>
              <a:defRPr/>
            </a:pPr>
            <a:fld id="{BACE3A2C-B58B-42A1-9210-E87F0B84C7E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72079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304800"/>
            <a:ext cx="7343775" cy="776288"/>
          </a:xfrm>
        </p:spPr>
        <p:txBody>
          <a:bodyPr/>
          <a:lstStyle/>
          <a:p>
            <a:r>
              <a:rPr lang="en-US"/>
              <a:t>Click to edit Master title style</a:t>
            </a:r>
          </a:p>
        </p:txBody>
      </p:sp>
      <p:sp>
        <p:nvSpPr>
          <p:cNvPr id="3" name="Text Placeholder 2"/>
          <p:cNvSpPr>
            <a:spLocks noGrp="1"/>
          </p:cNvSpPr>
          <p:nvPr>
            <p:ph type="body" sz="half" idx="1"/>
          </p:nvPr>
        </p:nvSpPr>
        <p:spPr>
          <a:xfrm>
            <a:off x="685800" y="1752600"/>
            <a:ext cx="39243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1752600"/>
            <a:ext cx="39243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r>
              <a:rPr lang="en-US">
                <a:solidFill>
                  <a:prstClr val="black">
                    <a:tint val="75000"/>
                  </a:prstClr>
                </a:solidFill>
              </a:rPr>
              <a:t>MGMT 670</a:t>
            </a:r>
          </a:p>
        </p:txBody>
      </p:sp>
      <p:sp>
        <p:nvSpPr>
          <p:cNvPr id="7" name="Rectangle 13"/>
          <p:cNvSpPr>
            <a:spLocks noGrp="1" noChangeArrowheads="1"/>
          </p:cNvSpPr>
          <p:nvPr>
            <p:ph type="sldNum" sz="quarter" idx="12"/>
          </p:nvPr>
        </p:nvSpPr>
        <p:spPr>
          <a:ln/>
        </p:spPr>
        <p:txBody>
          <a:bodyPr/>
          <a:lstStyle>
            <a:lvl1pPr>
              <a:defRPr/>
            </a:lvl1pPr>
          </a:lstStyle>
          <a:p>
            <a:pPr>
              <a:defRPr/>
            </a:pPr>
            <a:fld id="{9A5489DB-FA0A-4FFC-9238-903C60E74022}"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0489742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50963" y="247650"/>
            <a:ext cx="7354887" cy="833438"/>
          </a:xfrm>
        </p:spPr>
        <p:txBody>
          <a:bodyPr/>
          <a:lstStyle/>
          <a:p>
            <a:r>
              <a:rPr lang="en-US"/>
              <a:t>Click to edit Master title style</a:t>
            </a:r>
          </a:p>
        </p:txBody>
      </p:sp>
      <p:sp>
        <p:nvSpPr>
          <p:cNvPr id="3" name="Text Placeholder 2"/>
          <p:cNvSpPr>
            <a:spLocks noGrp="1"/>
          </p:cNvSpPr>
          <p:nvPr>
            <p:ph type="body" sz="half" idx="1"/>
          </p:nvPr>
        </p:nvSpPr>
        <p:spPr>
          <a:xfrm>
            <a:off x="1182688" y="1560513"/>
            <a:ext cx="3676650" cy="4895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11738" y="1560513"/>
            <a:ext cx="3676650" cy="2371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11738" y="4084638"/>
            <a:ext cx="3676650" cy="2371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1"/>
          <p:cNvSpPr>
            <a:spLocks noGrp="1" noChangeArrowheads="1"/>
          </p:cNvSpPr>
          <p:nvPr>
            <p:ph type="dt" sz="half" idx="10"/>
          </p:nvPr>
        </p:nvSpPr>
        <p:spPr>
          <a:ln/>
        </p:spPr>
        <p:txBody>
          <a:bodyPr/>
          <a:lstStyle>
            <a:lvl1pPr>
              <a:defRPr/>
            </a:lvl1pPr>
          </a:lstStyle>
          <a:p>
            <a:pPr>
              <a:defRPr/>
            </a:pPr>
            <a:endParaRPr lang="en-US"/>
          </a:p>
        </p:txBody>
      </p:sp>
      <p:sp>
        <p:nvSpPr>
          <p:cNvPr id="7" name="Rectangle 12"/>
          <p:cNvSpPr>
            <a:spLocks noGrp="1" noChangeArrowheads="1"/>
          </p:cNvSpPr>
          <p:nvPr>
            <p:ph type="ftr" sz="quarter" idx="11"/>
          </p:nvPr>
        </p:nvSpPr>
        <p:spPr>
          <a:ln/>
        </p:spPr>
        <p:txBody>
          <a:bodyPr/>
          <a:lstStyle>
            <a:lvl1pPr>
              <a:defRPr/>
            </a:lvl1pPr>
          </a:lstStyle>
          <a:p>
            <a:pPr>
              <a:defRPr/>
            </a:pPr>
            <a:r>
              <a:rPr lang="en-US"/>
              <a:t>MGMT 670</a:t>
            </a:r>
          </a:p>
        </p:txBody>
      </p:sp>
      <p:sp>
        <p:nvSpPr>
          <p:cNvPr id="8" name="Rectangle 13"/>
          <p:cNvSpPr>
            <a:spLocks noGrp="1" noChangeArrowheads="1"/>
          </p:cNvSpPr>
          <p:nvPr>
            <p:ph type="sldNum" sz="quarter" idx="12"/>
          </p:nvPr>
        </p:nvSpPr>
        <p:spPr>
          <a:ln/>
        </p:spPr>
        <p:txBody>
          <a:bodyPr/>
          <a:lstStyle>
            <a:lvl1pPr>
              <a:defRPr/>
            </a:lvl1pPr>
          </a:lstStyle>
          <a:p>
            <a:pPr>
              <a:defRPr/>
            </a:pPr>
            <a:fld id="{BDB81C8F-25EC-4588-922D-2AB1323F1E45}" type="slidenum">
              <a:rPr lang="en-US"/>
              <a:pPr>
                <a:defRPr/>
              </a:pPr>
              <a:t>‹#›</a:t>
            </a:fld>
            <a:endParaRPr lang="en-US"/>
          </a:p>
        </p:txBody>
      </p:sp>
    </p:spTree>
    <p:extLst>
      <p:ext uri="{BB962C8B-B14F-4D97-AF65-F5344CB8AC3E}">
        <p14:creationId xmlns:p14="http://schemas.microsoft.com/office/powerpoint/2010/main" val="3494091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425450"/>
            <a:ext cx="7772400" cy="814388"/>
          </a:xfrm>
        </p:spPr>
        <p:txBody>
          <a:bodyPr/>
          <a:lstStyle/>
          <a:p>
            <a:r>
              <a:rPr lang="en-US"/>
              <a:t>Click to edit Master title style</a:t>
            </a:r>
          </a:p>
        </p:txBody>
      </p:sp>
      <p:sp>
        <p:nvSpPr>
          <p:cNvPr id="3" name="Content Placeholder 2"/>
          <p:cNvSpPr>
            <a:spLocks noGrp="1"/>
          </p:cNvSpPr>
          <p:nvPr>
            <p:ph sz="quarter" idx="1"/>
          </p:nvPr>
        </p:nvSpPr>
        <p:spPr>
          <a:xfrm>
            <a:off x="687388" y="1414463"/>
            <a:ext cx="3810000" cy="2244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9788" y="1414463"/>
            <a:ext cx="3810000" cy="2244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7388" y="3811588"/>
            <a:ext cx="3810000" cy="2246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9788" y="3811588"/>
            <a:ext cx="3810000" cy="2246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5217558"/>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425450"/>
            <a:ext cx="7772400" cy="814388"/>
          </a:xfrm>
        </p:spPr>
        <p:txBody>
          <a:bodyPr/>
          <a:lstStyle/>
          <a:p>
            <a:r>
              <a:rPr lang="en-US"/>
              <a:t>Click to edit Master title style</a:t>
            </a:r>
          </a:p>
        </p:txBody>
      </p:sp>
      <p:sp>
        <p:nvSpPr>
          <p:cNvPr id="3" name="Content Placeholder 2"/>
          <p:cNvSpPr>
            <a:spLocks noGrp="1"/>
          </p:cNvSpPr>
          <p:nvPr>
            <p:ph sz="half" idx="1"/>
          </p:nvPr>
        </p:nvSpPr>
        <p:spPr>
          <a:xfrm>
            <a:off x="687388" y="1414463"/>
            <a:ext cx="3810000" cy="4643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9788" y="1414463"/>
            <a:ext cx="3810000" cy="2244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9788" y="3811588"/>
            <a:ext cx="3810000" cy="2246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129298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1" fontAlgn="auto" hangingPunct="1">
              <a:spcBef>
                <a:spcPts val="0"/>
              </a:spcBef>
              <a:spcAft>
                <a:spcPts val="0"/>
              </a:spcAft>
            </a:pPr>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477000"/>
            <a:ext cx="2895600" cy="365125"/>
          </a:xfrm>
          <a:prstGeom prst="rect">
            <a:avLst/>
          </a:prstGeom>
        </p:spPr>
        <p:txBody>
          <a:bodyPr vert="horz" lIns="91440" tIns="45720" rIns="91440" bIns="45720" rtlCol="0" anchor="ctr"/>
          <a:lstStyle>
            <a:lvl1pPr algn="ctr">
              <a:defRPr sz="1200" b="1">
                <a:solidFill>
                  <a:schemeClr val="tx1">
                    <a:tint val="75000"/>
                  </a:schemeClr>
                </a:solidFill>
              </a:defRPr>
            </a:lvl1pPr>
          </a:lstStyle>
          <a:p>
            <a:pPr eaLnBrk="1" fontAlgn="auto" hangingPunct="1">
              <a:spcBef>
                <a:spcPts val="0"/>
              </a:spcBef>
              <a:spcAft>
                <a:spcPts val="0"/>
              </a:spcAft>
            </a:pPr>
            <a:r>
              <a:rPr lang="en-US" dirty="0">
                <a:solidFill>
                  <a:prstClr val="black">
                    <a:tint val="75000"/>
                  </a:prstClr>
                </a:solidFill>
                <a:latin typeface="Calibri"/>
              </a:rPr>
              <a:t>MGMT 670</a:t>
            </a:r>
          </a:p>
        </p:txBody>
      </p:sp>
      <p:sp>
        <p:nvSpPr>
          <p:cNvPr id="6" name="Slide Number Placeholder 5"/>
          <p:cNvSpPr>
            <a:spLocks noGrp="1"/>
          </p:cNvSpPr>
          <p:nvPr>
            <p:ph type="sldNum" sz="quarter" idx="4"/>
          </p:nvPr>
        </p:nvSpPr>
        <p:spPr>
          <a:xfrm>
            <a:off x="6858000" y="6477000"/>
            <a:ext cx="2133600"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pPr eaLnBrk="1" fontAlgn="auto" hangingPunct="1">
              <a:spcBef>
                <a:spcPts val="0"/>
              </a:spcBef>
              <a:spcAft>
                <a:spcPts val="0"/>
              </a:spcAft>
            </a:pPr>
            <a:fld id="{59F3DC7D-0DCD-4A83-BDE2-5D07B20F0357}" type="slidenum">
              <a:rPr lang="en-US" smtClean="0">
                <a:solidFill>
                  <a:prstClr val="black">
                    <a:tint val="75000"/>
                  </a:prstClr>
                </a:solidFill>
                <a:latin typeface="Calibri"/>
              </a:rPr>
              <a:pPr eaLnBrk="1" fontAlgn="auto" hangingPunct="1">
                <a:spcBef>
                  <a:spcPts val="0"/>
                </a:spcBef>
                <a:spcAft>
                  <a:spcPts val="0"/>
                </a:spcAft>
              </a:pPr>
              <a:t>‹#›</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1968833324"/>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 id="2147483963" r:id="rId12"/>
    <p:sldLayoutId id="2147483964" r:id="rId13"/>
    <p:sldLayoutId id="2147483965" r:id="rId14"/>
    <p:sldLayoutId id="2147483966" r:id="rId15"/>
    <p:sldLayoutId id="2147483967" r:id="rId16"/>
    <p:sldLayoutId id="2147483968" r:id="rId17"/>
    <p:sldLayoutId id="2147483969" r:id="rId18"/>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 Id="rId9" Type="http://schemas.openxmlformats.org/officeDocument/2006/relationships/image" Target="../media/image5.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0"/>
            <a:ext cx="7772400" cy="1676400"/>
          </a:xfrm>
        </p:spPr>
        <p:txBody>
          <a:bodyPr>
            <a:normAutofit/>
          </a:bodyPr>
          <a:lstStyle/>
          <a:p>
            <a:pPr>
              <a:spcBef>
                <a:spcPts val="1200"/>
              </a:spcBef>
            </a:pPr>
            <a:r>
              <a:rPr lang="en-US" dirty="0"/>
              <a:t>Practice of Sampling Distributions and Estimations</a:t>
            </a:r>
          </a:p>
        </p:txBody>
      </p:sp>
      <p:sp>
        <p:nvSpPr>
          <p:cNvPr id="3" name="Subtitle 2"/>
          <p:cNvSpPr>
            <a:spLocks noGrp="1"/>
          </p:cNvSpPr>
          <p:nvPr>
            <p:ph type="subTitle" idx="1"/>
          </p:nvPr>
        </p:nvSpPr>
        <p:spPr/>
        <p:txBody>
          <a:bodyPr/>
          <a:lstStyle/>
          <a:p>
            <a:r>
              <a:rPr lang="en-US" dirty="0">
                <a:solidFill>
                  <a:schemeClr val="tx1"/>
                </a:solidFill>
                <a:latin typeface="Book Antiqua" pitchFamily="18" charset="0"/>
                <a:cs typeface="Times New Roman" pitchFamily="18" charset="0"/>
              </a:rPr>
              <a:t>MGMT 670: Business Analytics </a:t>
            </a:r>
            <a:endParaRPr lang="en-US" dirty="0">
              <a:solidFill>
                <a:schemeClr val="tx1"/>
              </a:solidFill>
              <a:latin typeface="Book Antiqua" pitchFamily="18" charset="0"/>
              <a:cs typeface="Times New Roman" pitchFamily="18" charset="0"/>
              <a:sym typeface="Wingdings" pitchFamily="2" charset="2"/>
            </a:endParaRPr>
          </a:p>
          <a:p>
            <a:endParaRPr lang="en-US" dirty="0"/>
          </a:p>
        </p:txBody>
      </p:sp>
    </p:spTree>
    <p:extLst>
      <p:ext uri="{BB962C8B-B14F-4D97-AF65-F5344CB8AC3E}">
        <p14:creationId xmlns:p14="http://schemas.microsoft.com/office/powerpoint/2010/main" val="3742689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Formulas</a:t>
            </a:r>
          </a:p>
        </p:txBody>
      </p:sp>
      <p:sp>
        <p:nvSpPr>
          <p:cNvPr id="3" name="Content Placeholder 2"/>
          <p:cNvSpPr>
            <a:spLocks noGrp="1"/>
          </p:cNvSpPr>
          <p:nvPr>
            <p:ph idx="1"/>
          </p:nvPr>
        </p:nvSpPr>
        <p:spPr/>
        <p:txBody>
          <a:bodyPr/>
          <a:lstStyle/>
          <a:p>
            <a:r>
              <a:rPr lang="en-US" dirty="0"/>
              <a:t>Sampling Distribution</a:t>
            </a:r>
          </a:p>
          <a:p>
            <a:endParaRPr lang="en-US" dirty="0"/>
          </a:p>
          <a:p>
            <a:r>
              <a:rPr lang="en-US" dirty="0"/>
              <a:t>Known </a:t>
            </a:r>
            <a:r>
              <a:rPr lang="en-US" dirty="0" err="1"/>
              <a:t>stdev</a:t>
            </a:r>
            <a:endParaRPr lang="en-US" dirty="0"/>
          </a:p>
          <a:p>
            <a:endParaRPr lang="en-US" dirty="0"/>
          </a:p>
          <a:p>
            <a:r>
              <a:rPr lang="en-US" dirty="0"/>
              <a:t>Unknown </a:t>
            </a:r>
            <a:r>
              <a:rPr lang="en-US" dirty="0" err="1"/>
              <a:t>stdev</a:t>
            </a:r>
            <a:endParaRPr lang="en-US" dirty="0"/>
          </a:p>
          <a:p>
            <a:endParaRPr lang="en-US" dirty="0"/>
          </a:p>
          <a:p>
            <a:r>
              <a:rPr lang="en-US" dirty="0"/>
              <a:t>Proportion</a:t>
            </a:r>
          </a:p>
        </p:txBody>
      </p:sp>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2</a:t>
            </a:fld>
            <a:endParaRPr lang="en-US" dirty="0">
              <a:solidFill>
                <a:prstClr val="black"/>
              </a:solidFill>
            </a:endParaRPr>
          </a:p>
        </p:txBody>
      </p:sp>
      <p:graphicFrame>
        <p:nvGraphicFramePr>
          <p:cNvPr id="6" name="Object 5"/>
          <p:cNvGraphicFramePr>
            <a:graphicFrameLocks noGrp="1" noChangeAspect="1"/>
          </p:cNvGraphicFramePr>
          <p:nvPr>
            <p:extLst>
              <p:ext uri="{D42A27DB-BD31-4B8C-83A1-F6EECF244321}">
                <p14:modId xmlns:p14="http://schemas.microsoft.com/office/powerpoint/2010/main" val="24021537"/>
              </p:ext>
            </p:extLst>
          </p:nvPr>
        </p:nvGraphicFramePr>
        <p:xfrm>
          <a:off x="2466881" y="3188496"/>
          <a:ext cx="6170613" cy="944562"/>
        </p:xfrm>
        <a:graphic>
          <a:graphicData uri="http://schemas.openxmlformats.org/presentationml/2006/ole">
            <mc:AlternateContent xmlns:mc="http://schemas.openxmlformats.org/markup-compatibility/2006">
              <mc:Choice xmlns:v="urn:schemas-microsoft-com:vml" Requires="v">
                <p:oleObj name="Equation" r:id="rId2" imgW="2997000" imgH="457200" progId="Equation.DSMT4">
                  <p:embed/>
                </p:oleObj>
              </mc:Choice>
              <mc:Fallback>
                <p:oleObj name="Equation" r:id="rId2" imgW="2997000" imgH="457200" progId="Equation.DSMT4">
                  <p:embed/>
                  <p:pic>
                    <p:nvPicPr>
                      <p:cNvPr id="0" name=""/>
                      <p:cNvPicPr>
                        <a:picLocks noGrp="1" noChangeAspect="1" noChangeArrowheads="1"/>
                      </p:cNvPicPr>
                      <p:nvPr/>
                    </p:nvPicPr>
                    <p:blipFill>
                      <a:blip r:embed="rId3"/>
                      <a:srcRect/>
                      <a:stretch>
                        <a:fillRect/>
                      </a:stretch>
                    </p:blipFill>
                    <p:spPr bwMode="auto">
                      <a:xfrm>
                        <a:off x="2466881" y="3188496"/>
                        <a:ext cx="6170613" cy="944562"/>
                      </a:xfrm>
                      <a:prstGeom prst="rect">
                        <a:avLst/>
                      </a:prstGeom>
                      <a:noFill/>
                      <a:ln>
                        <a:noFill/>
                      </a:ln>
                    </p:spPr>
                  </p:pic>
                </p:oleObj>
              </mc:Fallback>
            </mc:AlternateContent>
          </a:graphicData>
        </a:graphic>
      </p:graphicFrame>
      <p:graphicFrame>
        <p:nvGraphicFramePr>
          <p:cNvPr id="7" name="Object 6"/>
          <p:cNvGraphicFramePr>
            <a:graphicFrameLocks noGrp="1" noChangeAspect="1"/>
          </p:cNvGraphicFramePr>
          <p:nvPr>
            <p:extLst>
              <p:ext uri="{D42A27DB-BD31-4B8C-83A1-F6EECF244321}">
                <p14:modId xmlns:p14="http://schemas.microsoft.com/office/powerpoint/2010/main" val="3191395761"/>
              </p:ext>
            </p:extLst>
          </p:nvPr>
        </p:nvGraphicFramePr>
        <p:xfrm>
          <a:off x="2763838" y="4353720"/>
          <a:ext cx="6091237" cy="944562"/>
        </p:xfrm>
        <a:graphic>
          <a:graphicData uri="http://schemas.openxmlformats.org/presentationml/2006/ole">
            <mc:AlternateContent xmlns:mc="http://schemas.openxmlformats.org/markup-compatibility/2006">
              <mc:Choice xmlns:v="urn:schemas-microsoft-com:vml" Requires="v">
                <p:oleObj name="Equation" r:id="rId4" imgW="2958840" imgH="457200" progId="Equation.DSMT4">
                  <p:embed/>
                </p:oleObj>
              </mc:Choice>
              <mc:Fallback>
                <p:oleObj name="Equation" r:id="rId4" imgW="2958840" imgH="457200" progId="Equation.DSMT4">
                  <p:embed/>
                  <p:pic>
                    <p:nvPicPr>
                      <p:cNvPr id="0" name=""/>
                      <p:cNvPicPr>
                        <a:picLocks noGrp="1" noChangeAspect="1" noChangeArrowheads="1"/>
                      </p:cNvPicPr>
                      <p:nvPr/>
                    </p:nvPicPr>
                    <p:blipFill>
                      <a:blip r:embed="rId5"/>
                      <a:srcRect/>
                      <a:stretch>
                        <a:fillRect/>
                      </a:stretch>
                    </p:blipFill>
                    <p:spPr bwMode="auto">
                      <a:xfrm>
                        <a:off x="2763838" y="4353720"/>
                        <a:ext cx="6091237" cy="944562"/>
                      </a:xfrm>
                      <a:prstGeom prst="rect">
                        <a:avLst/>
                      </a:prstGeom>
                      <a:noFill/>
                      <a:ln>
                        <a:noFill/>
                      </a:ln>
                    </p:spPr>
                  </p:pic>
                </p:oleObj>
              </mc:Fallback>
            </mc:AlternateContent>
          </a:graphicData>
        </a:graphic>
      </p:graphicFrame>
      <p:graphicFrame>
        <p:nvGraphicFramePr>
          <p:cNvPr id="8" name="Object 7"/>
          <p:cNvGraphicFramePr>
            <a:graphicFrameLocks noGrp="1" noChangeAspect="1"/>
          </p:cNvGraphicFramePr>
          <p:nvPr>
            <p:extLst>
              <p:ext uri="{D42A27DB-BD31-4B8C-83A1-F6EECF244321}">
                <p14:modId xmlns:p14="http://schemas.microsoft.com/office/powerpoint/2010/main" val="3124170441"/>
              </p:ext>
            </p:extLst>
          </p:nvPr>
        </p:nvGraphicFramePr>
        <p:xfrm>
          <a:off x="1662113" y="5440896"/>
          <a:ext cx="7329487" cy="1007442"/>
        </p:xfrm>
        <a:graphic>
          <a:graphicData uri="http://schemas.openxmlformats.org/presentationml/2006/ole">
            <mc:AlternateContent xmlns:mc="http://schemas.openxmlformats.org/markup-compatibility/2006">
              <mc:Choice xmlns:v="urn:schemas-microsoft-com:vml" Requires="v">
                <p:oleObj name="Equation" r:id="rId6" imgW="3708360" imgH="507960" progId="Equation.DSMT4">
                  <p:embed/>
                </p:oleObj>
              </mc:Choice>
              <mc:Fallback>
                <p:oleObj name="Equation" r:id="rId6" imgW="3708360" imgH="507960" progId="Equation.DSMT4">
                  <p:embed/>
                  <p:pic>
                    <p:nvPicPr>
                      <p:cNvPr id="0" name=""/>
                      <p:cNvPicPr>
                        <a:picLocks noGrp="1" noChangeAspect="1" noChangeArrowheads="1"/>
                      </p:cNvPicPr>
                      <p:nvPr/>
                    </p:nvPicPr>
                    <p:blipFill>
                      <a:blip r:embed="rId7"/>
                      <a:srcRect/>
                      <a:stretch>
                        <a:fillRect/>
                      </a:stretch>
                    </p:blipFill>
                    <p:spPr bwMode="auto">
                      <a:xfrm>
                        <a:off x="1662113" y="5440896"/>
                        <a:ext cx="7329487" cy="1007442"/>
                      </a:xfrm>
                      <a:prstGeom prst="rect">
                        <a:avLst/>
                      </a:prstGeom>
                      <a:noFill/>
                      <a:ln>
                        <a:noFill/>
                      </a:ln>
                    </p:spPr>
                  </p:pic>
                </p:oleObj>
              </mc:Fallback>
            </mc:AlternateContent>
          </a:graphicData>
        </a:graphic>
      </p:graphicFrame>
      <p:graphicFrame>
        <p:nvGraphicFramePr>
          <p:cNvPr id="9" name="Object 8"/>
          <p:cNvGraphicFramePr>
            <a:graphicFrameLocks noGrp="1" noChangeAspect="1"/>
          </p:cNvGraphicFramePr>
          <p:nvPr>
            <p:extLst>
              <p:ext uri="{D42A27DB-BD31-4B8C-83A1-F6EECF244321}">
                <p14:modId xmlns:p14="http://schemas.microsoft.com/office/powerpoint/2010/main" val="1838572144"/>
              </p:ext>
            </p:extLst>
          </p:nvPr>
        </p:nvGraphicFramePr>
        <p:xfrm>
          <a:off x="4448968" y="2020492"/>
          <a:ext cx="1360488" cy="865187"/>
        </p:xfrm>
        <a:graphic>
          <a:graphicData uri="http://schemas.openxmlformats.org/presentationml/2006/ole">
            <mc:AlternateContent xmlns:mc="http://schemas.openxmlformats.org/markup-compatibility/2006">
              <mc:Choice xmlns:v="urn:schemas-microsoft-com:vml" Requires="v">
                <p:oleObj name="Equation" r:id="rId8" imgW="660240" imgH="419040" progId="Equation.DSMT4">
                  <p:embed/>
                </p:oleObj>
              </mc:Choice>
              <mc:Fallback>
                <p:oleObj name="Equation" r:id="rId8" imgW="660240" imgH="419040" progId="Equation.DSMT4">
                  <p:embed/>
                  <p:pic>
                    <p:nvPicPr>
                      <p:cNvPr id="0" name=""/>
                      <p:cNvPicPr>
                        <a:picLocks noGrp="1" noChangeAspect="1" noChangeArrowheads="1"/>
                      </p:cNvPicPr>
                      <p:nvPr/>
                    </p:nvPicPr>
                    <p:blipFill>
                      <a:blip r:embed="rId9"/>
                      <a:srcRect/>
                      <a:stretch>
                        <a:fillRect/>
                      </a:stretch>
                    </p:blipFill>
                    <p:spPr bwMode="auto">
                      <a:xfrm>
                        <a:off x="4448968" y="2020492"/>
                        <a:ext cx="1360488" cy="86518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41007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distribution</a:t>
            </a:r>
          </a:p>
        </p:txBody>
      </p:sp>
      <p:sp>
        <p:nvSpPr>
          <p:cNvPr id="3" name="Content Placeholder 2"/>
          <p:cNvSpPr>
            <a:spLocks noGrp="1"/>
          </p:cNvSpPr>
          <p:nvPr>
            <p:ph idx="1"/>
          </p:nvPr>
        </p:nvSpPr>
        <p:spPr>
          <a:xfrm>
            <a:off x="457200" y="1600200"/>
            <a:ext cx="8229600" cy="3098800"/>
          </a:xfrm>
        </p:spPr>
        <p:txBody>
          <a:bodyPr>
            <a:normAutofit fontScale="85000" lnSpcReduction="20000"/>
          </a:bodyPr>
          <a:lstStyle/>
          <a:p>
            <a:pPr marL="0" indent="0">
              <a:buNone/>
            </a:pPr>
            <a:r>
              <a:rPr lang="en-US" dirty="0"/>
              <a:t>The manager of a grocery store has taken a random sample of 100 customers. The average length of time it took these 100 customers to check out was 3.0 minutes. It is known that the standard deviation of the population of checkout times is one minute. The population mean is </a:t>
            </a:r>
            <a:r>
              <a:rPr lang="el-GR" dirty="0"/>
              <a:t>μ</a:t>
            </a:r>
            <a:r>
              <a:rPr lang="en-US" dirty="0"/>
              <a:t> (unknown).</a:t>
            </a:r>
          </a:p>
          <a:p>
            <a:endParaRPr lang="en-US" dirty="0"/>
          </a:p>
          <a:p>
            <a:r>
              <a:rPr lang="en-US" dirty="0"/>
              <a:t>What is the distribution of the sample mean?</a:t>
            </a:r>
          </a:p>
        </p:txBody>
      </p:sp>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997326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241830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Interval Estimation</a:t>
            </a:r>
          </a:p>
        </p:txBody>
      </p:sp>
      <p:sp>
        <p:nvSpPr>
          <p:cNvPr id="3" name="Content Placeholder 2"/>
          <p:cNvSpPr>
            <a:spLocks noGrp="1"/>
          </p:cNvSpPr>
          <p:nvPr>
            <p:ph idx="1"/>
          </p:nvPr>
        </p:nvSpPr>
        <p:spPr>
          <a:xfrm>
            <a:off x="457200" y="1600200"/>
            <a:ext cx="8229600" cy="3098800"/>
          </a:xfrm>
        </p:spPr>
        <p:txBody>
          <a:bodyPr>
            <a:normAutofit fontScale="85000" lnSpcReduction="20000"/>
          </a:bodyPr>
          <a:lstStyle/>
          <a:p>
            <a:pPr marL="0" indent="0">
              <a:buNone/>
            </a:pPr>
            <a:r>
              <a:rPr lang="en-US" dirty="0"/>
              <a:t>The manager of a grocery store has taken a random sample of 100 customers. The average length of time it took these 100 customers to check out was 3.0 minutes. It is known that the standard deviation of the population of checkout times is one minute. The population mean is </a:t>
            </a:r>
            <a:r>
              <a:rPr lang="el-GR" dirty="0"/>
              <a:t>μ</a:t>
            </a:r>
            <a:r>
              <a:rPr lang="en-US" dirty="0"/>
              <a:t> (unknown).</a:t>
            </a:r>
          </a:p>
          <a:p>
            <a:endParaRPr lang="en-US" dirty="0"/>
          </a:p>
          <a:p>
            <a:r>
              <a:rPr lang="en-US" dirty="0"/>
              <a:t>What is the 95% Confidence interval for the mean?</a:t>
            </a:r>
          </a:p>
        </p:txBody>
      </p:sp>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3898650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2160586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Interval Estimation</a:t>
            </a:r>
          </a:p>
        </p:txBody>
      </p:sp>
      <p:sp>
        <p:nvSpPr>
          <p:cNvPr id="3" name="Content Placeholder 2"/>
          <p:cNvSpPr>
            <a:spLocks noGrp="1"/>
          </p:cNvSpPr>
          <p:nvPr>
            <p:ph idx="1"/>
          </p:nvPr>
        </p:nvSpPr>
        <p:spPr>
          <a:xfrm>
            <a:off x="457200" y="1600200"/>
            <a:ext cx="8229600" cy="3098800"/>
          </a:xfrm>
        </p:spPr>
        <p:txBody>
          <a:bodyPr>
            <a:normAutofit fontScale="85000" lnSpcReduction="10000"/>
          </a:bodyPr>
          <a:lstStyle/>
          <a:p>
            <a:pPr marL="0" indent="0">
              <a:buNone/>
            </a:pPr>
            <a:r>
              <a:rPr lang="en-US" dirty="0"/>
              <a:t>The manager of a grocery store has taken a random sample of 100 customers. The average length of time it took these 100 customers to check out was 3.0 minutes. </a:t>
            </a:r>
          </a:p>
          <a:p>
            <a:pPr marL="0" indent="0">
              <a:buNone/>
            </a:pPr>
            <a:endParaRPr lang="en-US" dirty="0"/>
          </a:p>
          <a:p>
            <a:pPr marL="0" indent="0">
              <a:buNone/>
            </a:pPr>
            <a:r>
              <a:rPr lang="en-US" dirty="0"/>
              <a:t>The sample standard deviation is one minute. </a:t>
            </a:r>
          </a:p>
          <a:p>
            <a:r>
              <a:rPr lang="en-US" dirty="0"/>
              <a:t>What is the 95% Confidence interval for the mean?</a:t>
            </a:r>
          </a:p>
        </p:txBody>
      </p:sp>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3235957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8</a:t>
            </a:fld>
            <a:endParaRPr lang="en-US" dirty="0">
              <a:solidFill>
                <a:prstClr val="black"/>
              </a:solidFill>
            </a:endParaRPr>
          </a:p>
        </p:txBody>
      </p:sp>
    </p:spTree>
    <p:extLst>
      <p:ext uri="{BB962C8B-B14F-4D97-AF65-F5344CB8AC3E}">
        <p14:creationId xmlns:p14="http://schemas.microsoft.com/office/powerpoint/2010/main" val="3490273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Interval Estimation</a:t>
            </a:r>
          </a:p>
        </p:txBody>
      </p:sp>
      <p:sp>
        <p:nvSpPr>
          <p:cNvPr id="3" name="Content Placeholder 2"/>
          <p:cNvSpPr>
            <a:spLocks noGrp="1"/>
          </p:cNvSpPr>
          <p:nvPr>
            <p:ph idx="1"/>
          </p:nvPr>
        </p:nvSpPr>
        <p:spPr>
          <a:xfrm>
            <a:off x="457200" y="1600200"/>
            <a:ext cx="8229600" cy="3276600"/>
          </a:xfrm>
        </p:spPr>
        <p:txBody>
          <a:bodyPr>
            <a:normAutofit fontScale="62500" lnSpcReduction="20000"/>
          </a:bodyPr>
          <a:lstStyle/>
          <a:p>
            <a:pPr marL="0" indent="0">
              <a:buNone/>
            </a:pPr>
            <a:r>
              <a:rPr lang="en-US" dirty="0"/>
              <a:t>A new brand of chocolate bar is being market tested. Four hundred of the new chocolate bars were given to consumers to try. The consumers were asked whether they liked or disliked the chocolate bar. You are given their responses below.</a:t>
            </a:r>
          </a:p>
          <a:p>
            <a:pPr marL="0" indent="0">
              <a:buNone/>
            </a:pPr>
            <a:endParaRPr lang="en-US" dirty="0"/>
          </a:p>
          <a:p>
            <a:pPr marL="0" indent="0">
              <a:buNone/>
            </a:pPr>
            <a:r>
              <a:rPr lang="en-US" dirty="0"/>
              <a:t>Response	Frequency</a:t>
            </a:r>
          </a:p>
          <a:p>
            <a:pPr marL="0" indent="0">
              <a:buNone/>
            </a:pPr>
            <a:r>
              <a:rPr lang="en-US" dirty="0"/>
              <a:t>Liked	                 300</a:t>
            </a:r>
          </a:p>
          <a:p>
            <a:pPr marL="0" indent="0">
              <a:buNone/>
            </a:pPr>
            <a:r>
              <a:rPr lang="en-US" dirty="0"/>
              <a:t>Disliked	                 100</a:t>
            </a:r>
          </a:p>
          <a:p>
            <a:pPr marL="0" indent="0">
              <a:buNone/>
            </a:pPr>
            <a:endParaRPr lang="en-US" dirty="0"/>
          </a:p>
          <a:p>
            <a:pPr marL="0" indent="0">
              <a:buNone/>
            </a:pPr>
            <a:r>
              <a:rPr lang="en-US" dirty="0"/>
              <a:t>Construct a 95% confidence interval for the true proportion of people who liked the chocolate bar.	</a:t>
            </a:r>
          </a:p>
          <a:p>
            <a:pPr marL="0" indent="0">
              <a:buNone/>
            </a:pPr>
            <a:endParaRPr lang="en-US" dirty="0"/>
          </a:p>
        </p:txBody>
      </p:sp>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1326437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10</a:t>
            </a:fld>
            <a:endParaRPr lang="en-US" dirty="0">
              <a:solidFill>
                <a:prstClr val="black"/>
              </a:solidFill>
            </a:endParaRPr>
          </a:p>
        </p:txBody>
      </p:sp>
    </p:spTree>
    <p:extLst>
      <p:ext uri="{BB962C8B-B14F-4D97-AF65-F5344CB8AC3E}">
        <p14:creationId xmlns:p14="http://schemas.microsoft.com/office/powerpoint/2010/main" val="3297697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Determine Sample Size</a:t>
            </a:r>
          </a:p>
        </p:txBody>
      </p:sp>
      <p:sp>
        <p:nvSpPr>
          <p:cNvPr id="3" name="Content Placeholder 2"/>
          <p:cNvSpPr>
            <a:spLocks noGrp="1"/>
          </p:cNvSpPr>
          <p:nvPr>
            <p:ph idx="1"/>
          </p:nvPr>
        </p:nvSpPr>
        <p:spPr>
          <a:xfrm>
            <a:off x="457200" y="1600200"/>
            <a:ext cx="8229600" cy="3276600"/>
          </a:xfrm>
        </p:spPr>
        <p:txBody>
          <a:bodyPr>
            <a:normAutofit fontScale="85000" lnSpcReduction="10000"/>
          </a:bodyPr>
          <a:lstStyle/>
          <a:p>
            <a:pPr marL="0" indent="0">
              <a:buNone/>
            </a:pPr>
            <a:r>
              <a:rPr lang="en-US" dirty="0"/>
              <a:t>A new brand of chocolate bar is being market tested. Four hundred of the new chocolate bars were given to consumers to try. The consumers were asked whether they liked or disliked the chocolate bar. </a:t>
            </a:r>
          </a:p>
          <a:p>
            <a:pPr marL="0" indent="0">
              <a:buNone/>
            </a:pPr>
            <a:endParaRPr lang="en-US" dirty="0"/>
          </a:p>
          <a:p>
            <a:pPr marL="0" indent="0">
              <a:buNone/>
            </a:pPr>
            <a:r>
              <a:rPr lang="en-US" dirty="0"/>
              <a:t>With a .95 probability, how large of a sample needs to be taken to provide a margin of error of 3% or less?	</a:t>
            </a:r>
          </a:p>
          <a:p>
            <a:pPr marL="0" indent="0">
              <a:buNone/>
            </a:pPr>
            <a:endParaRPr lang="en-US" dirty="0"/>
          </a:p>
        </p:txBody>
      </p:sp>
      <p:sp>
        <p:nvSpPr>
          <p:cNvPr id="4" name="Footer Placeholder 3"/>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59F3DC7D-0DCD-4A83-BDE2-5D07B20F0357}"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1710492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6CC09D-C498-5E4E-5DCE-120427BA489A}"/>
              </a:ext>
            </a:extLst>
          </p:cNvPr>
          <p:cNvPicPr>
            <a:picLocks noChangeAspect="1"/>
          </p:cNvPicPr>
          <p:nvPr/>
        </p:nvPicPr>
        <p:blipFill>
          <a:blip r:embed="rId2"/>
          <a:stretch>
            <a:fillRect/>
          </a:stretch>
        </p:blipFill>
        <p:spPr>
          <a:xfrm>
            <a:off x="172357" y="327025"/>
            <a:ext cx="8799286" cy="6005513"/>
          </a:xfrm>
          <a:prstGeom prst="rect">
            <a:avLst/>
          </a:prstGeom>
          <a:noFill/>
        </p:spPr>
      </p:pic>
      <p:sp>
        <p:nvSpPr>
          <p:cNvPr id="4" name="Footer Placeholder 3"/>
          <p:cNvSpPr>
            <a:spLocks noGrp="1"/>
          </p:cNvSpPr>
          <p:nvPr>
            <p:ph type="ftr" sz="quarter" idx="11"/>
          </p:nvPr>
        </p:nvSpPr>
        <p:spPr/>
        <p:txBody>
          <a:bodyPr/>
          <a:lstStyle/>
          <a:p>
            <a:pPr>
              <a:spcAft>
                <a:spcPts val="600"/>
              </a:spcAft>
            </a:pPr>
            <a:r>
              <a:rPr lang="en-US">
                <a:solidFill>
                  <a:prstClr val="black"/>
                </a:solidFill>
              </a:rPr>
              <a:t>MGMT 670</a:t>
            </a:r>
          </a:p>
        </p:txBody>
      </p:sp>
      <p:sp>
        <p:nvSpPr>
          <p:cNvPr id="5" name="Slide Number Placeholder 4" hidden="1"/>
          <p:cNvSpPr>
            <a:spLocks noGrp="1"/>
          </p:cNvSpPr>
          <p:nvPr>
            <p:ph type="sldNum" sz="quarter" idx="12"/>
          </p:nvPr>
        </p:nvSpPr>
        <p:spPr/>
        <p:txBody>
          <a:bodyPr/>
          <a:lstStyle/>
          <a:p>
            <a:pPr>
              <a:spcAft>
                <a:spcPts val="600"/>
              </a:spcAft>
            </a:pPr>
            <a:fld id="{59F3DC7D-0DCD-4A83-BDE2-5D07B20F0357}" type="slidenum">
              <a:rPr lang="en-US" smtClean="0">
                <a:solidFill>
                  <a:prstClr val="black"/>
                </a:solidFill>
              </a:rPr>
              <a:pPr>
                <a:spcAft>
                  <a:spcPts val="600"/>
                </a:spcAft>
              </a:pPr>
              <a:t>12</a:t>
            </a:fld>
            <a:endParaRPr lang="en-US">
              <a:solidFill>
                <a:prstClr val="black"/>
              </a:solidFill>
            </a:endParaRPr>
          </a:p>
        </p:txBody>
      </p:sp>
    </p:spTree>
    <p:extLst>
      <p:ext uri="{BB962C8B-B14F-4D97-AF65-F5344CB8AC3E}">
        <p14:creationId xmlns:p14="http://schemas.microsoft.com/office/powerpoint/2010/main" val="3678132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A7F6F7B-4E61-E463-6BFE-09ADD2AA5CDF}"/>
              </a:ext>
            </a:extLst>
          </p:cNvPr>
          <p:cNvPicPr>
            <a:picLocks noGrp="1" noChangeAspect="1"/>
          </p:cNvPicPr>
          <p:nvPr>
            <p:ph idx="1"/>
          </p:nvPr>
        </p:nvPicPr>
        <p:blipFill>
          <a:blip r:embed="rId2"/>
          <a:stretch>
            <a:fillRect/>
          </a:stretch>
        </p:blipFill>
        <p:spPr>
          <a:xfrm>
            <a:off x="653363" y="1028700"/>
            <a:ext cx="6633706" cy="4800600"/>
          </a:xfrm>
        </p:spPr>
      </p:pic>
      <p:sp>
        <p:nvSpPr>
          <p:cNvPr id="4" name="Footer Placeholder 3">
            <a:extLst>
              <a:ext uri="{FF2B5EF4-FFF2-40B4-BE49-F238E27FC236}">
                <a16:creationId xmlns:a16="http://schemas.microsoft.com/office/drawing/2014/main" id="{C0C6F328-FF39-ED58-E765-379093DBBDCA}"/>
              </a:ext>
            </a:extLst>
          </p:cNvPr>
          <p:cNvSpPr>
            <a:spLocks noGrp="1"/>
          </p:cNvSpPr>
          <p:nvPr>
            <p:ph type="ftr" sz="quarter" idx="11"/>
          </p:nvPr>
        </p:nvSpPr>
        <p:spPr/>
        <p:txBody>
          <a:bodyPr/>
          <a:lstStyle/>
          <a:p>
            <a:r>
              <a:rPr lang="en-US">
                <a:solidFill>
                  <a:prstClr val="black"/>
                </a:solidFill>
              </a:rPr>
              <a:t>MGMT 670</a:t>
            </a:r>
            <a:endParaRPr lang="en-US" dirty="0">
              <a:solidFill>
                <a:prstClr val="black"/>
              </a:solidFill>
            </a:endParaRPr>
          </a:p>
        </p:txBody>
      </p:sp>
      <p:sp>
        <p:nvSpPr>
          <p:cNvPr id="5" name="Slide Number Placeholder 4">
            <a:extLst>
              <a:ext uri="{FF2B5EF4-FFF2-40B4-BE49-F238E27FC236}">
                <a16:creationId xmlns:a16="http://schemas.microsoft.com/office/drawing/2014/main" id="{909B3BF6-DA14-5C90-0701-864E90A6361C}"/>
              </a:ext>
            </a:extLst>
          </p:cNvPr>
          <p:cNvSpPr>
            <a:spLocks noGrp="1"/>
          </p:cNvSpPr>
          <p:nvPr>
            <p:ph type="sldNum" sz="quarter" idx="12"/>
          </p:nvPr>
        </p:nvSpPr>
        <p:spPr/>
        <p:txBody>
          <a:bodyPr/>
          <a:lstStyle/>
          <a:p>
            <a:fld id="{59F3DC7D-0DCD-4A83-BDE2-5D07B20F0357}"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11439619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48"/>
  <p:tag name="DEFAULTHEIGHT" val="200"/>
  <p:tag name="MMPROD_NEXTUNIQUEID" val="10009"/>
  <p:tag name="MMPROD_THEME_BG_IMAGE" val=""/>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DQoJCTx1aXNob3cgbmFtZT0iYWx3YXlzU2NydW5jaCIgdmFsdWU9ImZhbHNlIi8+DQoJCTx1aXNob3cgbmFtZT0iaW5pdGlhbGRpc3BsYXltb2RlaXNub3JtYWwiIHZhbHVlPSJ0cnVlIi8+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whLS1xdWl6IHBvZCBhbmQgbWVzc2FnZSBib3ggdGV4dHMtLT4NCgkJPHVpdGV4dCBuYW1lPSJRVUlaUE9EX1FVSVpfQVRURU1QVCIgdmFsdWU9IlF1aXogQXR0ZW1wdDoiLz4NCgkJPHVpdGV4dCBuYW1lPSJRVUlaUE9EX1FVSVpfQVRURU1QVF9WQUxVRSIgdmFsdWU9IiVuIG9mICV0Ii8+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DQoJCTx1aXRleHQgbmFtZT0iUVVJWlBPRF9RVUlaQVRNUFRfSU5GIiB2YWx1ZT0iSW5maW5pdGUiLz4NCgkJPHVpdGV4dCBuYW1lPSJRVUlaUE9EX1FVRVNBVE1QVF9JTkYiIHZhbHVlPSJJbmZpbml0ZSIvPg0KCQk8dWl0ZXh0IG5hbWU9IldBUk5JTkdNU0dfWUVTU1RSSU5HIiB2YWx1ZT0iWWVzIi8+DQoJCTx1aXRleHQgbmFtZT0iV0FSTklOR01TR19OT1NUUklORyIgdmFsdWU9Ik5vIi8+DQoJCTx1aXRleHQgbmFtZT0iV0FSTklOR01TR19USVRMRVNUUklORyIgdmFsdWU9IlF1aXogTmF2aWdhdGlvbiBXYXJuaW5nIi8+DQoJCTx1aXRleHQgbmFtZT0iV0FSTklOR01TR19NU0dTVFJJTkciIHZhbHVlPSJUaGVyZSBhcmUgdW4tYXR0ZW1wdGVkIHF1ZXN0aW9ucyBpbiB0aGlzIFF1aXouJiN4QTsmI3hBO0NsaWNraW5nIFllcyB3aWxsIHRha2UgeW91IG91dCBvZiB0aGUgUXVpei4gQ2xpY2sgTm8gdG8gY29udGludWUgdGhlIFF1aXouIi8+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DQoJCTx1aXRleHQgbmFtZT0iRE9DV1JBUF9USVRMRSIgdmFsdWU9IlByZXNlbnRlciBGaWxlIEF0dGFjaG1lbnQiLz4NCgkJPHVpdGV4dCBuYW1lPSJET0NXUkFQX01TRyIgdmFsdWU9IlNhdmUgdG8gTXkgQ29tcHV0ZXIiLz4NCgkJPHVpdGV4dCBuYW1lPSJET0NXUkFQX1BST01QVCIgdmFsdWU9IkNsaWNrIHRvIERvd25sb2FkIi8+DQoJPC9sYW5ndWFnZT4NCgk8bGFuZ3VhZ2UgaWQ9ImRl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ZvbGllICVuIi8+DQoJCTwhLS0gc3Vic3RpdHV0aW9uOiAlbiA9PSBzbGlkZSBudW1iZXIgLS0+DQoJCTwhLS0gc3Vic3RpdHV0aW9uOiAldCA9PSB0b3RhbCBzbGlkZSBjb3VudCAtLT4NCgkJPHVpdGV4dCBuYW1lPSJTQ1JVQkJBUlNUQVRVU19TTElERUlORk8iIHZhbHVlPSJGb2xpZSAlbiAvICV0IHwgIi8+DQoJCTx1aXRleHQgbmFtZT0iU0NSVUJCQVJTVEFUVVNfU1RPUFBFRCIgdmFsdWU9IkJlZW5kZXQiLz4NCgkJPHVpdGV4dCBuYW1lPSJTQ1JVQkJBUlNUQVRVU19QTEFZSU5HIiB2YWx1ZT0iV2llZGVyZ2FiZSIvPg0KCQk8dWl0ZXh0IG5hbWU9IlNDUlVCQkFSU1RBVFVTX05PQVVESU8iIHZhbHVlPSJLZWluIEF1ZGlvIi8+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DQoJCTx1aXRleHQgbmFtZT0iU0NSVUJCQVJTVEFUVVNfUkVWSUVXUVVJWiIgdmFsdWU9Ik5vY2htYWxzIGR1cmNoc2VoZW4iLz4NCgkJPCEtLSBzdWJzdGl0dXRpb246ICVtID09IG1pbnV0ZXMgcmVtYWluaW5nIC0tPg0KCQk8IS0tIHN1YnN0aXR1dGlvbjogJXMgPT0gc2Vjb25kcyByZW1haW5pbmcgLS0+DQoJCTx1aXRleHQgbmFtZT0iRUxBUFNFRCIgdmFsdWU9IlJlc3RkYXVlcjogJW0gTWludXRlbiAlcyBTZWt1bmRlbiIvPg0KCQk8dWl0ZXh0IG5hbWU9Ik5PVEZPVU5EIiB2YWx1ZT0iTmljaHRzIGdlZnVuZGVuIi8+DQoJCTx1aXRleHQgbmFtZT0iQVRUQUNITUVOVFMiIHZhbHVlPSJBbmxhZ2VuIi8+DQoJCTwhLS0gc3Vic3RpdHV0aW9uOiAlcCA9PSBjdXJyZW50IHNwZWFrZXIncyB0aXRsZSAtLT4NCgkJPHVpdGV4dCBuYW1lPSJCSU9XSU5fVElUTEUiIHZhbHVlPSJTcHJlY2hlcjogJXAiLz4NCgkJPHVpdGV4dCBuYW1lPSJCSU9CVE5fVElUTEUiIHZhbHVlPSJTcHJlY2hlciIvPg0KCQk8dWl0ZXh0IG5hbWU9IkRJVklERVJCVE5fVElUTEUiIHZhbHVlPSJ8Ii8+DQoJCTx1aXRleHQgbmFtZT0iQ09OVEFDVEJUTl9USVRMRSIgdmFsdWU9IktvbnRha3QiLz4NCgkJPHVpdGV4dCBuYW1lPSJUQUJfUVVJWiIgdmFsdWU9IlF1aXoiLz4NCgkJPHVpdGV4dCBuYW1lPSJUQUJfT1VUTElORSIgdmFsdWU9IlN0cnVrdHVyIi8+DQoJCTx1aXRleHQgbmFtZT0iVEFCX1RIVU1CIiB2YWx1ZT0iTWluaWF0dXIiLz4NCgkJPHVpdGV4dCBuYW1lPSJUQUJfTk9URVMiIHZhbHVlPSJOb3RpemVuIi8+DQoJCTx1aXRleHQgbmFtZT0iVEFCX1NFQVJDSCIgdmFsdWU9IlN1Y2hlbiIvPg0KCQk8dWl0ZXh0IG5hbWU9IlNMSURFX0hFQURJTkciIHZhbHVlPSJGb2xpZW50aXRlbCIvPg0KCQk8dWl0ZXh0IG5hbWU9IkRVUkFUSU9OX0hFQURJTkciIHZhbHVlPSJEYXVlciIvPg0KCQk8dWl0ZXh0IG5hbWU9IlNFQVJDSF9IRUFESU5HIiB2YWx1ZT0iVGV4dCBzdWNoZW46Ii8+DQoJCTx1aXRleHQgbmFtZT0iVEhVTUJfSEVBRElORyIgdmFsdWU9IkZvbGllIi8+DQoJCTx1aXRleHQgbmFtZT0iVEhVTUJfSU5GTyIgdmFsdWU9IkZvbGllbnRpdGVsL0RhdWVyIi8+DQoJCTx1aXRleHQgbmFtZT0iQVRUQUNITkFNRV9IRUFESU5HIiB2YWx1ZT0iRGF0ZWluYW1lIi8+DQoJCTx1aXRleHQgbmFtZT0iQVRUQUNIU0laRV9IRUFESU5HIiB2YWx1ZT0iR3LDtsOfZSIvPg0KCQk8dWl0ZXh0IG5hbWU9IlNMSURFX05PVEVTIiB2YWx1ZT0iRm9saWVubm90aXplbiIvPg0KCQk8IS0tcXVpeiBwb2QgYW5kIG1lc3NhZ2UgYm94IHRleHRzLS0+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DQoJCTx1aXRleHQgbmFtZT0iUVVJWlBPRF9RVUVTVFlQRV9TVlkiIHZhbHVlPSJVbWZyYWdlIi8+DQoJCTx1aXRleHQgbmFtZT0iUVVJWlBPRF9RVUlaQVRNUFRfSU5GIiB2YWx1ZT0iVW5lbmRsaWNoIi8+DQoJCTx1aXRleHQgbmFtZT0iUVVJWlBPRF9RVUVTQVRNUFRfSU5GIiB2YWx1ZT0iVW5lbmRsaWNoIi8+DQoJCTx1aXRleHQgbmFtZT0iV0FSTklOR01TR19ZRVNTVFJJTkciIHZhbHVlPSJKYSIvPg0KCQk8dWl0ZXh0IG5hbWU9IldBUk5JTkdNU0dfTk9TVFJJTkciIHZhbHVlPSJOZWluIi8+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EZW4gVGVpbG5laG1lcm4gZGllIFNlaXRlbmxlaXN0ZSBhbnplaWdlbiIvPg0KCQk8dWl0ZXh0IG5hbWU9Ik1VVEUiIHZhbHVlPSJUb24gY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DQoJCTwhLS0gc3Vic3RpdHV0aW9uOiAlbiA9PSBzbGlkZSBudW1iZXIgLS0+DQoJCTwhLS0gc3Vic3RpdHV0aW9uOiAldCA9PSB0b3RhbCBzbGlkZSBjb3VudCAtLT4NCgkJPHVpdGV4dCBuYW1lPSJTQ1JVQkJBUlNUQVRVU19TTElERUlORk8iIHZhbHVlPSLjgrnjg6njgqTjg4kgOiAlbiAvICV0IHwgIi8+DQoJCTx1aXRleHQgbmFtZT0iU0NSVUJCQVJTVEFUVVNfU1RPUFBFRCIgdmFsdWU9IuWBnOatoiIvPg0KCQk8dWl0ZXh0IG5hbWU9IlNDUlVCQkFSU1RBVFVTX1BMQVlJTkciIHZhbHVlPSLlho3nlJ/kuK0iLz4NCgkJPHVpdGV4dCBuYW1lPSJTQ1JVQkJBUlNUQVRVU19OT0FVRElPIiB2YWx1ZT0i6Z+z5aOw44Gq44GXIi8+DQoJCTx1aXRleHQgbmFtZT0iU0NSVUJCQVJTVEFUVVNfVklEUExBWUlORyIgdmFsdWU9IuODk+ODh+OCquWGjeeUn+S4rSIvPg0KCQk8dWl0ZXh0IG5hbWU9IlNDUlVCQkFSU1RBVFVTX0xPQURJTkciIHZhbHVlPSLjg63jg7zjg4nkuK0iLz4NCgkJPHVpdGV4dCBuYW1lPSJTQ1JVQkJBUlNUQVRVU19CVUZGRVJJTkciIHZhbHVlPSLjg5Djg4Pjg5XjgqHkuK0iLz4NCgkJPHVpdGV4dCBuYW1lPSJTQ1JVQkJBUlNUQVRVU19RVUVTVElPTiIgdmFsdWU9IuizquWVj+OBq+etlOOBiOOBpuS4i+OBleOBhCIvPg0KCQk8dWl0ZXh0IG5hbWU9IlNDUlVCQkFSU1RBVFVTX1JFVklFV1FVSVoiIHZhbHVlPSLjgq/jgqTjgrrjgpLjg6zjg5Pjg6Xjg7zjgZfjgabjgYTjgb7jgZkiLz4NCgkJPCEtLSBzdWJzdGl0dXRpb246ICVtID09IG1pbnV0ZXMgcmVtYWluaW5nIC0tPg0KCQk8IS0tIHN1YnN0aXR1dGlvbjogJXMgPT0gc2Vjb25kcyByZW1haW5pbmcgLS0+DQoJCTx1aXRleHQgbmFtZT0iRUxBUFNFRCIgdmFsdWU9Iuaui+OCiiA6ICVtIOWIhiAlcyDnp5IiLz4NCgkJPHVpdGV4dCBuYW1lPSJOT1RGT1VORCIgdmFsdWU9IuS9leOCguimi+OBpOOBi+OCiuOBvuOBm+OCkyIvPg0KCQk8dWl0ZXh0IG5hbWU9IkFUVEFDSE1FTlRTIiB2YWx1ZT0i5re75LuYIi8+DQoJCTwhLS0gc3Vic3RpdHV0aW9uOiAlcCA9PSBjdXJyZW50IHNwZWFrZXIncyB0aXRsZSAtLT4NCgkJPHVpdGV4dCBuYW1lPSJCSU9XSU5fVElUTEUiIHZhbHVlPSLntYzmrbQgOiAlcCIvPg0KCQk8dWl0ZXh0IG5hbWU9IkJJT0JUTl9USVRMRSIgdmFsdWU9Iue1jOattCIvPg0KCQk8dWl0ZXh0IG5hbWU9IkRJVklERVJCVE5fVElUTEUiIHZhbHVlPSJ8Ii8+DQoJCTx1aXRleHQgbmFtZT0iQ09OVEFDVEJUTl9USVRMRSIgdmFsdWU9IuOBiuWVj+OBhOWQiOOCj+OBmyIvPg0KCQk8dWl0ZXh0IG5hbWU9IlRBQl9RVUlaIiB2YWx1ZT0i44Kv44Kk44K6Ii8+DQoJCTx1aXRleHQgbmFtZT0iVEFCX09VVExJTkUiIHZhbHVlPSLjgqLjgqbjg4jjg6njgqTjg7MiLz4NCgkJPHVpdGV4dCBuYW1lPSJUQUJfVEhVTUIiIHZhbHVlPSLjgrXjg6Djg43jg7zjg6siLz4NCgkJPHVpdGV4dCBuYW1lPSJUQUJfTk9URVMiIHZhbHVlPSLjg47jg7zjg4giLz4NCgkJPHVpdGV4dCBuYW1lPSJUQUJfU0VBUkNIIiB2YWx1ZT0i5qSc57SiIi8+DQoJCTx1aXRleHQgbmFtZT0iU0xJREVfSEVBRElORyIgdmFsdWU9IuOCueODqeOCpOODieOCv+OCpOODiOODqyIvPg0KCQk8dWl0ZXh0IG5hbWU9IkRVUkFUSU9OX0hFQURJTkciIHZhbHVlPSLplbfjgZUiLz4NCgkJPHVpdGV4dCBuYW1lPSJTRUFSQ0hfSEVBRElORyIgdmFsdWU9IuaknOe0ouOBmeOCi+ODhuOCreOCueODiCA6ICIvPg0KCQk8dWl0ZXh0IG5hbWU9IlRIVU1CX0hFQURJTkciIHZhbHVlPSLjgrnjg6njgqTjg4kiLz4NCgkJPHVpdGV4dCBuYW1lPSJUSFVNQl9JTkZPIiB2YWx1ZT0i44K544Op44Kk44OJ44K/44Kk44OI44OrIC8g6ZW344GVIi8+DQoJCTx1aXRleHQgbmFtZT0iQVRUQUNITkFNRV9IRUFESU5HIiB2YWx1ZT0i44OV44Kh44Kk44Or5ZCNIi8+DQoJCTx1aXRleHQgbmFtZT0iQVRUQUNIU0laRV9IRUFESU5HIiB2YWx1ZT0i44K144Kk44K6Ii8+DQoJCTx1aXRleHQgbmFtZT0iU0xJREVfTk9URVMiIHZhbHVlPSLjgrnjg6njgqTjg4njg47jg7zjg4giLz4NCgkJPCEtLXF1aXogcG9kIGFuZCBtZXNzYWdlIGJveCB0ZXh0cy0tPg0KCQk8dWl0ZXh0IG5hbWU9IlFVSVpQT0RfUVVJWl9BVFRFTVBUIiB2YWx1ZT0i44Kv44Kk44K66Kmm6KGM5Zue5pWwIDogIi8+DQoJCTx1aXRleHQgbmFtZT0iUVVJWlBPRF9RVUlaX0FUVEVNUFRfVkFMVUUiIHZhbHVlPSIlbiAvICV0Ii8+DQoJCTx1aXRleHQgbmFtZT0iUVVJWlBPRF9RVUlaX1NDT1JFIiB2YWx1ZT0i44K544Kz44KiIDogIi8+DQoJCTx1aXRleHQgbmFtZT0iUVVJWlBPRF9RVUlaX1BBU1NTQ09SRSIgdmFsdWU9IuWQiOagvOeCuSA6Ii8+DQoJCTx1aXRleHQgbmFtZT0iUVVJWlBPRF9RVUlaX01BWFNDT1JFIiB2YWx1ZT0i5pyA6auY5b6X54K5IDogIi8+DQoJCTx1aXRleHQgbmFtZT0iUVVJWlBPRF9RVUVTQVRNUFRfU1RSIiB2YWx1ZT0i6Kmm6KGM5Zue5pWwIDogJW4gLyAldCIvPg0KCQk8dWl0ZXh0IG5hbWU9IlFVSVpQT0RfUVVFU1RZUEVfU1RSIiB2YWx1ZT0i44K/44Kk44OXIDogJXMiLz4NCgkJPHVpdGV4dCBuYW1lPSJRVUlaUE9EX1FVRVNUWVBFX0dSRCIgdmFsdWU9IuipleS+oSIvPg0KCQk8dWl0ZXh0IG5hbWU9IlFVSVpQT0RfUVVFU1RZUEVfU1ZZIiB2YWx1ZT0i44Ki44Oz44Kx44O844OIIi8+DQoJCTx1aXRleHQgbmFtZT0iUVVJWlBPRF9RVUlaQVRNUFRfSU5GIiB2YWx1ZT0i54Sh5Yi26ZmQIi8+DQoJCTx1aXRleHQgbmFtZT0iUVVJWlBPRF9RVUVTQVRNUFRfSU5GIiB2YWx1ZT0i54Sh5Yi26ZmQIi8+DQoJCTx1aXRleHQgbmFtZT0iV0FSTklOR01TR19ZRVNTVFJJTkciIHZhbHVlPSLjga/jgYQiLz4NCgkJPHVpdGV4dCBuYW1lPSJXQVJOSU5HTVNHX05PU1RSSU5HIiB2YWx1ZT0i44GE44GE44GIIi8+DQoJCTx1aXRleHQgbmFtZT0iV0FSTklOR01TR19USVRMRVNUUklORyIgdmFsdWU9IuOCr+OCpOOCuuOBruODiuODk+OCsuODvOOCt+ODp+ODs+OBq+mWouOBmeOCi+itpuWRiiIvPg0KCQk8dWl0ZXh0IG5hbWU9IldBUk5JTkdNU0dfTVNHU1RSSU5HIiB2YWx1ZT0i44GT44Gu44Kv44Kk44K644Gr44Gv44CB44G+44Gg6Kej562U44GX44Gm44GE44Gq44GE6LOq5ZWP44GM44GC44KK44G+44GZ44CCJiN4QTsmI3hBOyDjgq/jgqTjgrrjgpLntYLkuobjgZnjgovjgavjga/jgIHjgIzjga/jgYTjgI3jgpLjgq/jg6rjg4Pjgq/jgZfjgb7jgZnjgILjgq/jgqTjgrrjgpLntprooYzjgZnjgovjgavjga/jgIHjgIzjgYTjgYTjgYjjgI3jgpLjgq/jg6rjg4Pjgq/jgZfjgb7jgZnjgIIiLz4NCgkJPHVpdGV4dCBuYW1lPSJJTkZPUk1BVElPTl9IMjY0X0ZMQVNIUExBWUVSIiB2YWx1ZT0i44GK5L2/44GE44Gu44Kz44Oz44OU44Ol44O844K/44Gr54++5Zyo44Kk44Oz44K544OI44O844Or44GV44KM44Gm44GE44KLIEZsYXNoIFBsYXllciDjga7jg5Djg7zjgrjjg6fjg7Pjga/jgIHjgZPjga7jg5Pjg4fjgqrjgpLjgrXjg53jg7zjg4jjgZfjgabjgYTjgb7jgZvjgpPjgILmnIDmlrDjga4gRmxhc2ggUGxheWVyIOOCkuODgOOCpuODs+ODreODvOODieOBmeOCi+OBq+OBr+OAgeODk+ODh+OCqumgmOWfn+OCkuOCr+ODquODg+OCr+OBl+OBpuOBj+OBoOOBleOBhOOAg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jgrXjgqTjg4njg5Djg7zjgpLlj4LliqDogIXjgavopovjgZvjgosiLz4NCgkJPHVpdGV4dCBuYW1lPSJNVVRFIiB2YWx1ZT0i44Of44Ol44O844OIIi8+DQoJCTx1aXRleHQgbmFtZT0iRE9DV1JBUF9USVRMRSIgdmFsdWU9IlByZXNlbnRlciDmt7vku5jjg5XjgqHjgqTjg6siLz4NCgkJPHVpdGV4dCBuYW1lPSJET0NXUkFQX01TRyIgdmFsdWU9IuODnuOCpOOCs+ODs+ODlOODpeODvOOCv+OBq+S/neWtmCIvPg0KCQk8dWl0ZXh0IG5hbWU9IkRPQ1dSQVBfUFJPTVBUIiB2YWx1ZT0i44Kv44Oq44OD44Kv44GX44Gm44OA44Km44Oz44Ot44O844OJIi8+DQoJPC9sYW5ndWFnZT4NCgk8bGFuZ3VhZ2UgaWQ9Imtv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siJg6Ii8+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siJg6ICVuLyV0Ii8+DQoJCTx1aXRleHQgbmFtZT0iUVVJWlBPRF9RVUVTVFlQRV9TVFIiIHZhbHVlPSLsnKDtmJU6ICVzIi8+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2AtOymiOulvCDsooXro4ztlZjroKTrqbQgW+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DQoJCTx1aXRleHQgbmFtZT0iU0NSVUJCQVJTVEFUVVNfVklEUExBWUlORyIgdmFsdWU9IlbDrWRlbyBlbiByZXByb2QuIi8+DQoJCTx1aXRleHQgbmFtZT0iU0NSVUJCQVJTVEFUVVNfTE9BRElORyIgdmFsdWU9IkNhcmdhbmRvIi8+DQoJCTx1aXRleHQgbmFtZT0iU0NSVUJCQVJTVEFUVVNfQlVGRkVSSU5HIiB2YWx1ZT0iQWxtYWNlbmFuZG8gZW4gYsO6ZmVyIi8+DQoJCTx1aXRleHQgbmFtZT0iU0NSVUJCQVJTVEFUVVNfUVVFU1RJT04iIHZhbHVlPSJDb250ZXN0YXIgcHJlZ3VudGEiLz4NCgkJPHVpdGV4dCBuYW1lPSJTQ1JVQkJBUlNUQVRVU19SRVZJRVdRVUlaIiB2YWx1ZT0iUmV2aXNhbmRvIHBydWViYSIvPg0KCQk8IS0tIHN1YnN0aXR1dGlvbjogJW0gPT0gbWludXRlcyByZW1haW5pbmcgLS0+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DQoJCTx1aXRleHQgbmFtZT0iQklPQlROX1RJVExFIiB2YWx1ZT0iQmlvZ3JhZsOtYSIvPg0KCQk8dWl0ZXh0IG5hbWU9IkRJVklERVJCVE5fVElUTEUiIHZhbHVlPSJ8Ii8+DQoJCTx1aXRleHQgbmFtZT0iQ09OVEFDVEJUTl9USVRMRSIgdmFsdWU9IkNvbnRhY3RvIi8+DQoJCTx1aXRleHQgbmFtZT0iVEFCX1FVSVoiIHZhbHVlPSJQcnVlYmEiLz4NCgkJPHVpdGV4dCBuYW1lPSJUQUJfT1VUTElORSIgdmFsdWU9IkNvbnRvcm5vIi8+DQoJCTx1aXRleHQgbmFtZT0iVEFCX1RIVU1CIiB2YWx1ZT0iTWluaWF0LiIvPg0KCQk8dWl0ZXh0IG5hbWU9IlRBQl9OT1RFUyIgdmFsdWU9Ik5vdGFzIi8+DQoJCTx1aXRleHQgbmFtZT0iVEFCX1NFQVJDSCIgdmFsdWU9IkJ1c2NhciIvPg0KCQk8dWl0ZXh0IG5hbWU9IlNMSURFX0hFQURJTkciIHZhbHVlPSJUw610dWxvIGRlIGRpYXBvc2l0aXZhIi8+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DQoJCTx1aXRleHQgbmFtZT0iQVRUQUNITkFNRV9IRUFESU5HIiB2YWx1ZT0iTm9tYnJlIGRlIGFyY2hpdm8iLz4NCgkJPHVpdGV4dCBuYW1lPSJBVFRBQ0hTSVpFX0hFQURJTkciIHZhbHVlPSJUYW1hw7FvIi8+DQoJCTx1aXRleHQgbmFtZT0iU0xJREVfTk9URVMiIHZhbHVlPSJOb3RhcyBkZSBkaWFwb3NpdGl2YS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lNpbGVuY2lhciIvPg0KCQk8dWl0ZXh0IG5hbWU9IkRPQ1dSQVBfVElUTEUiIHZhbHVlPSJBcmNoaXZvIGFkanVudG8gZGUgUHJlc2VudGVyIi8+DQoJCTx1aXRleHQgbmFtZT0iRE9DV1JBUF9NU0ciIHZhbHVlPSJHdWFyZGFyIGVuIE1pIFBDIi8+DQoJCTx1aXRleHQgbmFtZT0iRE9DV1JBUF9QUk9NUFQiIHZhbHVlPSJIYWdhIGNsaWMgZW4gRGVzY2FyZ2FyIi8+DQoJPC9sYW5ndWFnZT4NCgk8bGFuZ3VhZ2UgaWQ9InB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GF0byIvPg0KCQk8dWl0ZXh0IG5hbWU9IlRBQl9RVUlaIiB2YWx1ZT0iUXVlc3QuIi8+DQoJCTx1aXRleHQgbmFtZT0iVEFCX09VVExJTkUiIHZhbHVlPSJFc3F1ZW1hIi8+DQoJCTx1aXRleHQgbmFtZT0iVEFCX1RIVU1CIiB2YWx1ZT0iTWluaSIvPg0KCQk8dWl0ZXh0IG5hbWU9IlRBQl9OT1RFUyIgdmFsdWU9Ik5vdGFzIi8+DQoJCTx1aXRleHQgbmFtZT0iVEFCX1NFQVJDSCIgdmFsdWU9IkJ1c2NhIi8+DQoJCTx1aXRleHQgbmFtZT0iU0xJREVfSEVBRElORyIgdmFsdWU9IlTDrXR1bG8gZG8gc2xpZGUiLz4NCgkJPHVpdGV4dCBuYW1lPSJEVVJBVElPTl9IRUFESU5HIiB2YWx1ZT0iRHVyYcOnw6NvIi8+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DQoJCTx1aXRleHQgbmFtZT0iU0xJREVfTk9URVMiIHZhbHVlPSJBbm90YcOnw7VlcyBkbyBzbGlkZS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DQoJCTx1aXRleHQgbmFtZT0iUVVJWlBPRF9RVUVTVFlQRV9TVFIiIHZhbHVlPSJUaXBvOiAlcyIvPg0KCQk8dWl0ZXh0IG5hbWU9IlFVSVpQT0RfUVVFU1RZUEVfR1JEIiB2YWx1ZT0iQ29uIHZhbHV0YXppb25lIi8+DQoJCTx1aXRleHQgbmFtZT0iUVVJWlBPRF9RVUVTVFlQRV9TVlkiIHZhbHVlPSJJbmRhZ2luZSIvPg0KCQk8dWl0ZXh0IG5hbWU9IlFVSVpQT0RfUVVJWkFUTVBUX0lORiIgdmFsdWU9IkluZmluaXRpIi8+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DQoJCTx1aXRleHQgbmFtZT0iRE9DV1JBUF9USVRMRSIgdmFsdWU9IkFsbGVnYXRvIGZpbGUgUHJlc2VudGVyIi8+DQoJCTx1aXRleHQgbmFtZT0iRE9DV1JBUF9NU0ciIHZhbHVlPSJTYWx2YSBpbiBSaXNvcnNlIGRlbCBjb21wdXRlciIvPg0KCQk8dWl0ZXh0IG5hbWU9IkRPQ1dSQVBfUFJPTVBUIiB2YWx1ZT0iQ2xpYyBwZXIgc2NhcmljYXJlIi8+DQoJPC9sYW5ndWFnZT4NCgk8bGFuZ3VhZ2UgaWQ9Im5s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DQoJCTx1aXRleHQgbmFtZT0iU0NSVUJCQVJTVEFUVVNfVklEUExBWUlORyIgdmFsdWU9IlZpZGVvIGFmc3BlbGVuIi8+DQoJCTx1aXRleHQgbmFtZT0iU0NSVUJCQVJTVEFUVVNfTE9BRElORyIgdmFsdWU9IkxhZGVuIi8+DQoJCTx1aXRleHQgbmFtZT0iU0NSVUJCQVJTVEFUVVNfQlVGRkVSSU5HIiB2YWx1ZT0iQnVmZmVyZW4iLz4NCgkJPHVpdGV4dCBuYW1lPSJTQ1JVQkJBUlNUQVRVU19RVUVTVElPTiIgdmFsdWU9IlZyYWFnIG1ldCBhbnR3b29yZCIvPg0KCQk8dWl0ZXh0IG5hbWU9IlNDUlVCQkFSU1RBVFVTX1JFVklFV1FVSVoiIHZhbHVlPSJRdWl6IGNvbnRyb2xlcmVuIi8+DQoJCTwhLS0gc3Vic3RpdHV0aW9uOiAlbSA9PSBtaW51dGVzIHJlbWFpbmluZyAtLT4NCgkJPCEtLSBzdWJzdGl0dXRpb246ICVzID09IHNlY29uZHMgcmVtYWluaW5nIC0tPg0KCQk8dWl0ZXh0IG5hbWU9IkVMQVBTRUQiIHZhbHVlPSJFciByZXN0ZXJlbiAlbSBtaW51dGVuICVzIHNlY29uZGVuIi8+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DQoJCTx1aXRleHQgbmFtZT0iVEFCX1FVSVoiIHZhbHVlPSJRdWl6Ii8+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DQoJCTx1aXRleHQgbmFtZT0iU0VBUkNIX0hFQURJTkciIHZhbHVlPSJab2VrZW4gbmFhciB0ZWtzdDoiLz4NCgkJPHVpdGV4dCBuYW1lPSJUSFVNQl9IRUFESU5HIiB2YWx1ZT0iRGlhIi8+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DQoJCTwhLS1xdWl6IHBvZCBhbmQgbWVzc2FnZSBib3ggdGV4dHMtLT4NCgkJPHVpdGV4dCBuYW1lPSJRVUlaUE9EX1FVSVpfQVRURU1QVCIgdmFsdWU9IlF1aXpwb2dpbmc6Ii8+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DQoJCTx1aXRleHQgbmFtZT0iUVVJWlBPRF9RVUVTVFlQRV9TVFIiIHZhbHVlPSJUeXBlOiAlcyIvPg0KCQk8dWl0ZXh0IG5hbWU9IlFVSVpQT0RfUVVFU1RZUEVfR1JEIiB2YWx1ZT0iVGVsdCB2b29yIHNjb3JlIi8+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DQoJCTx1aWZvbnQgbmFtZT0iRk9OVF9QUkVTRU5UQVRJT05OQU1FIiB2YWx1ZT0i5a6L5L2TLTE4MDMwLDE0LGZhbHNlLGZhbHNlLHRydWUiLz4NCgkJPHVpZm9udCBuYW1lPSJGT05UX1BSRVNFTlRFUk5BTUUiIHZhbHVlPSLlrovkvZMtMTgwMzAsMTQsdHJ1ZSxmYWxzZSx0cnVlIi8+DQoJCTx1aWZvbnQgbmFtZT0iRk9OVF9QUkVTRU5URVJUSVRMRSIgdmFsdWU9IuWui+S9ky0xODAzMCwxMyxmYWxzZSxmYWxzZSx0cnVlIi8+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DQoJCTx1aWZvbnQgbmFtZT0iRk9OVF9NU0dCT1hfV0lOVElUTEUiIHZhbHVlPSLlrovkvZMtMTgwMzAsMTIsdHJ1ZSxmYWxzZSx0cnVlIi8+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DQoJCTx1aWZvbnQgbmFtZT0iRk9OVF9RVUlaUE9EX1FVRVNUSU9OX1NDT1JFIiB2YWx1ZT0i5a6L5L2TLTE4MDMwLDEwLGZhbHNlLGZhbHNlLHRydWUiLz4NCgkJPHVpZm9udCBuYW1lPSJGT05UX1FVSVpQT0RfUVVFU1RJT05fU0NPUkVfVkFMVUUiIHZhbHVlPSLlrovkvZMtMTgwMzAsMTAsdHJ1ZSxmYWxzZSx0cnVlIi8+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S9ky0xODAzMCwxMCxmYWxzZSxmYWxzZSx0cnVlIi8+DQoJCTx1aWZvbnQgbmFtZT0iRk9OVF9RVUlaUE9EX1FVSVpfUVVFU1RJT05fQVRURU1QVEVEX1ZBTFVFIiB2YWx1ZT0i5a6L5L2TLTE4MDMwLDEwLHRydWUsZmFsc2UsdHJ1ZSIvPg0KCQk8dWlmb250IG5hbWU9IkZPTlRfUVVJWlBPRF9RVUlaX1NDT1JFX1RBRyIgdmFsdWU9IuWui+S9ky0xODAzMCwxMix0cnVlLGZhbHNlLHRydWUiLz4NCgkJPHVpZm9udCBuYW1lPSJGT05UX1FVSVpQT0RfUVVJWl9TQ09SRSIgdmFsdWU9IuWui+S9ky0xODAzMCwxMCxmYWxzZSxmYWxzZSx0cnVlIi8+DQoJCTx1aWZvbnQgbmFtZT0iRk9OVF9RVUlaUE9EX1FVSVpfU0NPUkVfVkFMVUUiIHZhbHVlPSLlrovkvZMtMTgwMzAsMTAsdHJ1ZSxmYWxzZSx0cnVlIi8+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S9ky0xODAzMCwxMCxmYWxzZSxmYWxzZSx0cnVlIi8+DQoJCTx1aWZvbnQgbmFtZT0iRk9OVF9RVUlaUE9EX1FVSVpfUEFTU1NDT1JFX1ZBTFVFIiB2YWx1ZT0i5a6L5L2TLTE4MDMwLDEwLHRydWUsZmFsc2UsdHJ1ZSIvPg0KCQk8IS0tIHVpdGV4dCAtLT4NCgkJPCEtLSBzdWJzdGl0dXRpb246ICVuID09IHNsaWRlIG51bWJlciAtLT4NCgkJPHVpdGV4dCBuYW1lPSJVTk5BTUVEU0xJREVUSVRMRSIgdmFsdWU9IuW5u+eBr+eJhyAlbiIvPg0KCQk8IS0tIHN1YnN0aXR1dGlvbjogJW4gPT0gc2xpZGUgbnVtYmVyIC0tPg0KCQk8IS0tIHN1YnN0aXR1dGlvbjogJXQgPT0gdG90YWwgc2xpZGUgY291bnQgLS0+DQoJCTx1aXRleHQgbmFtZT0iU0NSVUJCQVJTVEFUVVNfU0xJREVJTkZPIiB2YWx1ZT0i5bm754Gv54mHICVuIC8gJXQgfCAiLz4NCgkJPHVpdGV4dCBuYW1lPSJTQ1JVQkJBUlNUQVRVU19TVE9QUEVEIiB2YWx1ZT0i5bey5YGc5q2iIi8+DQoJCTx1aXRleHQgbmFtZT0iU0NSVUJCQVJTVEFUVVNfUExBWUlORyIgdmFsdWU9Iuato+WcqOaSreaUviIvPg0KCQk8dWl0ZXh0IG5hbWU9IlNDUlVCQkFSU1RBVFVTX05PQVVESU8iIHZhbHVlPSLml6Dpn7PpopEiLz4NCgkJPHVpdGV4dCBuYW1lPSJTQ1JVQkJBUlNUQVRVU19WSURQTEFZSU5HIiB2YWx1ZT0i6KeG6aKR5pKt5pS+Ii8+DQoJCTx1aXRleHQgbmFtZT0iU0NSVUJCQVJTVEFUVVNfTE9BRElORyIgdmFsdWU9Iuato+WcqOi9veWFpSIvPg0KCQk8dWl0ZXh0IG5hbWU9IlNDUlVCQkFSU1RBVFVTX0JVRkZFUklORyIgdmFsdWU9Iuato+WcqOi/m+ihjOe8k+WGsuWkhOeQhiIvPg0KCQk8dWl0ZXh0IG5hbWU9IlNDUlVCQkFSU1RBVFVTX1FVRVNUSU9OIiB2YWx1ZT0i5Zue562U6Zeu6aKYIi8+DQoJCTx1aXRleHQgbmFtZT0iU0NSVUJCQVJTVEFUVVNfUkVWSUVXUVVJWiIgdmFsdWU9Iuato+WcqOWuoemYhea1i+mqjCIvPg0KCQk8IS0tIHN1YnN0aXR1dGlvbjogJW0gPT0gbWludXRlcyByZW1haW5pbmcgLS0+DQoJCTwhLS0gc3Vic3RpdHV0aW9uOiAlcyA9PSBzZWNvbmRzIHJlbWFpbmluZyAtLT4NCgkJPHVpdGV4dCBuYW1lPSJFTEFQU0VEIiB2YWx1ZT0i5Ymp5L2ZICVtIOWIhumSnyAlcyDnp5IiLz4NCgkJPHVpdGV4dCBuYW1lPSJOT1RGT1VORCIgdmFsdWU9IuacquaJvuWIsOS7u+S9leWGheWuuSIvPg0KCQk8dWl0ZXh0IG5hbWU9IkFUVEFDSE1FTlRTIiB2YWx1ZT0i6ZmE5Lu2Ii8+DQoJCTwhLS0gc3Vic3RpdHV0aW9uOiAlcCA9PSBjdXJyZW50IHNwZWFrZXIncyB0aXRsZSAtLT4NCgkJPHVpdGV4dCBuYW1lPSJCSU9XSU5fVElUTEUiIHZhbHVlPSLkuKrkurrnroDku4s6ICVwIi8+DQoJCTx1aXRleHQgbmFtZT0iQklPQlROX1RJVExFIiB2YWx1ZT0i5Liq5Lq6566A5LuLIi8+DQoJCTx1aXRleHQgbmFtZT0iRElWSURFUkJUTl9USVRMRSIgdmFsdWU9InwiLz4NCgkJPHVpdGV4dCBuYW1lPSJDT05UQUNUQlROX1RJVExFIiB2YWx1ZT0i6IGU57O75pa55byPIi8+DQoJCTx1aXRleHQgbmFtZT0iVEFCX1FVSVoiIHZhbHVlPSLmtYvpqowiLz4NCgkJPHVpdGV4dCBuYW1lPSJUQUJfT1VUTElORSIgdmFsdWU9IuWkp+e6siIvPg0KCQk8dWl0ZXh0IG5hbWU9IlRBQl9USFVNQiIgdmFsdWU9Iue8qeeVpeWbviIvPg0KCQk8dWl0ZXh0IG5hbWU9IlRBQl9OT1RFUyIgdmFsdWU9IuWkh+azqCIvPg0KCQk8dWl0ZXh0IG5hbWU9IlRBQl9TRUFSQ0giIHZhbHVlPSLmkJzntKIiLz4NCgkJPHVpdGV4dCBuYW1lPSJTTElERV9IRUFESU5HIiB2YWx1ZT0i5bm754Gv54mH5qCH6aKYIi8+DQoJCTx1aXRleHQgbmFtZT0iRFVSQVRJT05fSEVBRElORyIgdmFsdWU9IuaMgee7reaXtumXtCIvPg0KCQk8dWl0ZXh0IG5hbWU9IlNFQVJDSF9IRUFESU5HIiB2YWx1ZT0i5pCc57Si5paH5pysOiIvPg0KCQk8dWl0ZXh0IG5hbWU9IlRIVU1CX0hFQURJTkciIHZhbHVlPSLlubvnga/niYciLz4NCgkJPHVpdGV4dCBuYW1lPSJUSFVNQl9JTkZPIiB2YWx1ZT0i5bm754Gv54mH5qCH6aKYL+aMgee7reaXtumXtCIvPg0KCQk8dWl0ZXh0IG5hbWU9IkFUVEFDSE5BTUVfSEVBRElORyIgdmFsdWU9IuaWh+S7tuWQjSIvPg0KCQk8dWl0ZXh0IG5hbWU9IkFUVEFDSFNJWkVfSEVBRElORyIgdmFsdWU9IuWkp+WwjyIvPg0KCQk8dWl0ZXh0IG5hbWU9IlNMSURFX05PVEVTIiB2YWx1ZT0i5bm754Gv54mH5aSH5rOo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CEtLXF1aXogcG9kIGFuZCBtZXNzYWdlIGJveCB0ZXh0cy0tPg0KCQk8dWl0ZXh0IG5hbWU9IlFVSVpQT0RfUVVJWl9BVFRFTVBUIiB2YWx1ZT0iU8SxbmF2IERlbmVtZXNpOiIvPg0KCQk8dWl0ZXh0IG5hbWU9IlFVSVpQT0RfUVVJWl9BVFRFTVBUX1ZBTFVFIiB2YWx1ZT0iJW4vJXQiLz4NCgkJPHVpdGV4dCBuYW1lPSJRVUlaUE9EX1FVSVpfU0NPUkUiIHZhbHVlPSJQdWFuOiIvPg0KCQk8dWl0ZXh0IG5hbWU9IlFVSVpQT0RfUVVJWl9QQVNTU0NPUkUiIHZhbHVlPSJHZcOnbWUgUHVhbsSxOiIvPg0KCQk8dWl0ZXh0IG5hbWU9IlFVSVpQT0RfUVVJWl9NQVhTQ09SRSIgdmFsdWU9Ik1ha3NpbXVtIFB1YW46Ii8+DQoJCTx1aXRleHQgbmFtZT0iUVVJWlBPRF9RVUVTQVRNUFRfU1RSIiB2YWx1ZT0iRGVuZW1lOiAlbi8ldCIvPg0KCQk8dWl0ZXh0IG5hbWU9IlFVSVpQT0RfUVVFU1RZUEVfU1RSIiB2YWx1ZT0iVMO8cjogJXMiLz4NCgkJPHVpdGV4dCBuYW1lPSJRVUlaUE9EX1FVRVNUWVBFX0dSRCIgdmFsdWU9IkJhc2FtYWtsxLEiLz4NCgkJPHVpdGV4dCBuYW1lPSJRVUlaUE9EX1FVRVNUWVBFX1NWWSIgdmFsdWU9IkFua2V0Ii8+DQoJCTx1aXRleHQgbmFtZT0iUVVJWlBPRF9RVUlaQVRNUFRfSU5GIiB2YWx1ZT0iU8SxbsSxcnPEsXoiLz4NCgkJPHVpdGV4dCBuYW1lPSJRVUlaUE9EX1FVRVNBVE1QVF9JTkYiIHZhbHVlPSJTxLFuxLFyc8SxeiIvPg0KCQk8dWl0ZXh0IG5hbWU9IldBUk5JTkdNU0dfWUVTU1RSSU5HIiB2YWx1ZT0iRXZldCIvPg0KCQk8dWl0ZXh0IG5hbWU9IldBUk5JTkdNU0dfTk9TVFJJTkciIHZhbHVlPSJIYXnEsXIiLz4NCgkJPHVpdGV4dCBuYW1lPSJXQVJOSU5HTVNHX1RJVExFU1RSSU5HIiB2YWx1ZT0iU8SxbmF2IEdlemlubWUgVXlhcsSxc8SxIi8+DQoJCTx1aXRleHQgbmFtZT0iV0FSTklOR01TR19NU0dTVFJJTkciIHZhbHVlPSJCdSBTxLFuYXZkYSBkZW5lbm1lbWnFnyBzb3J1bGFyIHZhci4mI3hBOyYjeEE7RXZldCBzZcOnZW5lxJ9pbmkgdMSxa2xhdMSxcnNhbsSxeiBTxLFuYXZkYW4gw6fEsWthY2Frc8SxbsSxei4gU8SxbmF2YSBkZXZhbSBldG1layBpw6dpbiBIYXnEsXIgc2XDp2VuZcSfaW5pIHTEsWtsYXTEsW4uIi8+DQoJCTx1aXRleHQgbmFtZT0iSU5GT1JNQVRJT05fSDI2NF9GTEFTSFBMQVlFUiIgdmFsdWU9IkJpbGdpc2F5YXLEsW7EsXphIHnDvGtsw7wgb2xhbiBnZcOnZXJsaSBGbGFzaCBQbGF5ZXIgc8O8csO8bcO8IGJ1IHZpZGVveXUgZGVzdGVrbGVtaXlvci4gRW4gc29uIEZsYXNoIFBsYXllciBzw7xyw7xtw7xuw7wgaW5kaXJtZWsgacOnaW4gdmlkZW8gYWxhbsSxbsSxIHTEsWtsYXTEs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thdMSxbMSxbWPEsWxhcmEga2VuYXIgw6d1YnXEn3VudSBnw7ZzdGVyIi8+DQoJCTx1aXRleHQgbmFtZT0iTVVURSIgdmFsdWU9IlNlc3NpeiIvPg0KCQk8dWl0ZXh0IG5hbWU9IkRPQ1dSQVBfVElUTEUiIHZhbHVlPSJQcmVzZW50ZXIgRG9zeWEgRWtpIi8+DQoJCTx1aXRleHQgbmFtZT0iRE9DV1JBUF9NU0ciIHZhbHVlPSJCaWxnaXNheWFyxLFtYSBLYXlkZXQiLz4NCgkJPHVpdGV4dCBuYW1lPSJET0NXUkFQX1BST01QVCIgdmFsdWU9IsSwbmRpcm1layBpw6dpbiBUxLFrbGF0xLFuIi8+DQoJPC9sYW5ndWFnZT4NCgk8bGFuZ3VhZ2UgaWQ9InJ1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tCh0LvQsNC50LQgJW4iLz4NCgkJPCEtLSBzdWJzdGl0dXRpb246ICVuID09IHNsaWRlIG51bWJlciAtLT4NCgkJPCEtLSBzdWJzdGl0dXRpb246ICV0ID09IHRvdGFsIHNsaWRlIGNvdW50IC0tPg0KCQk8dWl0ZXh0IG5hbWU9IlNDUlVCQkFSU1RBVFVTX1NMSURFSU5GTyIgdmFsdWU9ItCh0LvQsNC50LQgJW4gLyAldCB8ICIvPg0KCQk8dWl0ZXh0IG5hbWU9IlNDUlVCQkFSU1RBVFVTX1NUT1BQRUQiIHZhbHVlPSLQntGB0YLQsNC90L7QstC70LXQvdC+Ii8+DQoJCTx1aXRleHQgbmFtZT0iU0NSVUJCQVJTVEFUVVNfUExBWUlORyIgdmFsdWU9ItCS0L7RgdC/0YDQvtC40LfQstC10LTQtdC90LjQtSIvPg0KCQk8dWl0ZXh0IG5hbWU9IlNDUlVCQkFSU1RBVFVTX05PQVVESU8iIHZhbHVlPSLQndC10YIg0LDRg9C00LjQviIvPg0KCQk8dWl0ZXh0IG5hbWU9IlNDUlVCQkFSU1RBVFVTX1ZJRFBMQVlJTkciIHZhbHVlPSLQktC+0YHQv9GA0L7QuNC30LLQtdC00LXQvdC40LUg0LLQuNC00LXQviIvPg0KCQk8dWl0ZXh0IG5hbWU9IlNDUlVCQkFSU1RBVFVTX0xPQURJTkciIHZhbHVlPSLQl9Cw0LPRgNGD0LfQutCwIi8+DQoJCTx1aXRleHQgbmFtZT0iU0NSVUJCQVJTVEFUVVNfQlVGRkVSSU5HIiB2YWx1ZT0i0JHRg9GE0LXRgNC40LfQsNGG0LjRjyIvPg0KCQk8dWl0ZXh0IG5hbWU9IlNDUlVCQkFSU1RBVFVTX1FVRVNUSU9OIiB2YWx1ZT0i0J7RgtCy0LXRgiDQvdCwINCy0L7Qv9GA0L7RgSIvPg0KCQk8dWl0ZXh0IG5hbWU9IlNDUlVCQkFSU1RBVFVTX1JFVklFV1FVSVoiIHZhbHVlPSLQntCx0LfQvtGAINC+0L/RgNC+0YHQsCIvPg0KCQk8IS0tIHN1YnN0aXR1dGlvbjogJW0gPT0gbWludXRlcyByZW1haW5pbmcgLS0+DQoJCTwhLS0gc3Vic3RpdHV0aW9uOiAlcyA9PSBzZWNvbmRzIHJlbWFpbmluZyAtLT4NCgkJPHVpdGV4dCBuYW1lPSJFTEFQU0VEIiB2YWx1ZT0i0J7RgdGC0LDQu9C+0YHRjCAlbSDQvNC40L0uICVzINGBIi8+DQoJCTx1aXRleHQgbmFtZT0iTk9URk9VTkQiIHZhbHVlPSLQndC40YfQtdCz0L4g0L3QtSDQvdCw0LnQtNC10L3QviIvPg0KCQk8dWl0ZXh0IG5hbWU9IkFUVEFDSE1FTlRTIiB2YWx1ZT0i0JLQu9C+0LbQtdC90LjRjyIvPg0KCQk8IS0tIHN1YnN0aXR1dGlvbjogJXAgPT0gY3VycmVudCBzcGVha2VyJ3MgdGl0bGUgLS0+DQoJCTx1aXRleHQgbmFtZT0iQklPV0lOX1RJVExFIiB2YWx1ZT0i0JHQuNC+0LPRgNCw0YTQuNGPOiAlcCIvPg0KCQk8dWl0ZXh0IG5hbWU9IkJJT0JUTl9USVRMRSIgdmFsdWU9ItCR0LjQvtCz0YDQsNGE0LjRjyIvPg0KCQk8dWl0ZXh0IG5hbWU9IkRJVklERVJCVE5fVElUTEUiIHZhbHVlPSJ8Ii8+DQoJCTx1aXRleHQgbmFtZT0iQ09OVEFDVEJUTl9USVRMRSIgdmFsdWU9ItCa0L7QvdGC0LDQutGCIi8+DQoJCTx1aXRleHQgbmFtZT0iVEFCX1FVSVoiIHZhbHVlPSLQntC/0YDQvtGBIi8+DQoJCTx1aXRleHQgbmFtZT0iVEFCX09VVExJTkUiIHZhbHVlPSLQodGF0LXQvNCwIi8+DQoJCTx1aXRleHQgbmFtZT0iVEFCX1RIVU1CIiB2YWx1ZT0i0JHQtdCz0YPQvdC+0LoiLz4NCgkJPHVpdGV4dCBuYW1lPSJUQUJfTk9URVMiIHZhbHVlPSLQl9Cw0LzQtdGC0LrQuCIvPg0KCQk8dWl0ZXh0IG5hbWU9IlRBQl9TRUFSQ0giIHZhbHVlPSLQn9C+0LjRgdC6Ii8+DQoJCTx1aXRleHQgbmFtZT0iU0xJREVfSEVBRElORyIgdmFsdWU9ItCX0LDQs9C+0LvQvtCy0L7QuiDRgdC70LDQudC00LAiLz4NCgkJPHVpdGV4dCBuYW1lPSJEVVJBVElPTl9IRUFESU5HIiB2YWx1ZT0i0JTQu9C40YIt0YHRgtGMIi8+DQoJCTx1aXRleHQgbmFtZT0iU0VBUkNIX0hFQURJTkciIHZhbHVlPSLQn9C+0LjRgdC6INGC0LXQutGB0YLQsDoiLz4NCgkJPHVpdGV4dCBuYW1lPSJUSFVNQl9IRUFESU5HIiB2YWx1ZT0i0KHQu9Cw0LnQtCIvPg0KCQk8dWl0ZXh0IG5hbWU9IlRIVU1CX0lORk8iIHZhbHVlPSLQndCw0LfQstCw0L3QuNC1L9C00LvQuNGCLdC90L7RgdGC0YwiLz4NCgkJPHVpdGV4dCBuYW1lPSJBVFRBQ0hOQU1FX0hFQURJTkciIHZhbHVlPSLQmNC80Y8g0YTQsNC50LvQsCIvPg0KCQk8dWl0ZXh0IG5hbWU9IkFUVEFDSFNJWkVfSEVBRElORyIgdmFsdWU9ItCg0LDQt9C80LXRgCIvPg0KCQk8dWl0ZXh0IG5hbWU9IlNMSURFX05PVEVTIiB2YWx1ZT0i0JfQsNC80LXRgtC60Lgg0Log0YHQu9Cw0LnQtNGDIi8+DQoJCTwhLS1xdWl6IHBvZCBhbmQgbWVzc2FnZSBib3ggdGV4dHMtLT4NCgkJPHVpdGV4dCBuYW1lPSJRVUlaUE9EX1FVSVpfQVRURU1QVCIgdmFsdWU9ItCf0L7Qv9GL0YLQutCwINC/0YDQvtC50YLQuCDQvtC/0YDQvtGBOiIvPg0KCQk8dWl0ZXh0IG5hbWU9IlFVSVpQT0RfUVVJWl9BVFRFTVBUX1ZBTFVFIiB2YWx1ZT0iJW4g0LjQtyAldCIvPg0KCQk8dWl0ZXh0IG5hbWU9IlFVSVpQT0RfUVVJWl9TQ09SRSIgdmFsdWU9ItCd0LDQsdGA0LDQvdC+INCx0LDQu9C70L7QsjoiLz4NCgkJPHVpdGV4dCBuYW1lPSJRVUlaUE9EX1FVSVpfUEFTU1NDT1JFIiB2YWx1ZT0i0J/RgNC+0YXQvtC00L3QvtC5INGA0LXQt9GD0LvRjNGC0LDRgjoiLz4NCgkJPHVpdGV4dCBuYW1lPSJRVUlaUE9EX1FVSVpfTUFYU0NPUkUiIHZhbHVlPSLQnNCw0LrRgdC40LzQsNC70YzQvdGL0Lkg0YDQtdC30YPQu9GM0YLQsNGCOiIvPg0KCQk8dWl0ZXh0IG5hbWU9IlFVSVpQT0RfUVVFU0FUTVBUX1NUUiIgdmFsdWU9ItCf0L7Qv9GL0YLQutCwOiAlbiDQuNC3ICV0Ii8+DQoJCTx1aXRleHQgbmFtZT0iUVVJWlBPRF9RVUVTVFlQRV9TVFIiIHZhbHVlPSLQotC40L86ICVzIi8+DQoJCTx1aXRleHQgbmFtZT0iUVVJWlBPRF9RVUVTVFlQRV9HUkQiIHZhbHVlPSLQoSDQvtGG0LXQvdC60L7QuSIvPg0KCQk8dWl0ZXh0IG5hbWU9IlFVSVpQT0RfUVVFU1RZUEVfU1ZZIiB2YWx1ZT0i0J7QsdC30L7RgCIvPg0KCQk8dWl0ZXh0IG5hbWU9IlFVSVpQT0RfUVVJWkFUTVBUX0lORiIgdmFsdWU9ItCR0L7Qu9GM0YjQvtC1INGH0LjRgdC70L4iLz4NCgkJPHVpdGV4dCBuYW1lPSJRVUlaUE9EX1FVRVNBVE1QVF9JTkYiIHZhbHVlPSLQkdC+0LvRjNGI0L7QtSDRh9C40YHQu9C+Ii8+DQoJCTx1aXRleHQgbmFtZT0iV0FSTklOR01TR19ZRVNTVFJJTkciIHZhbHVlPSLQlNCwIi8+DQoJCTx1aXRleHQgbmFtZT0iV0FSTklOR01TR19OT1NUUklORyIgdmFsdWU9ItCd0LXRgiIvPg0KCQk8dWl0ZXh0IG5hbWU9IldBUk5JTkdNU0dfVElUTEVTVFJJTkciIHZhbHVlPSLQn9GA0LXQtNGD0L/RgNC10LbQtNC10L3QuNC1INC+INC90LDQstC40LPQsNGG0LjQuCDQsiDQvtC/0YDQvtGB0LUiLz4NCgkJPHVpdGV4dCBuYW1lPSJXQVJOSU5HTVNHX01TR1NUUklORyIgdmFsdWU9ItCSINC+0L/RgNC+0YHQtSDQvtGB0YLQsNC70LjRgdGMINC90LXQvtGC0LLQtdGH0LXQvdC90YvQtSDQstC+0L/RgNC+0YHRiy7QndCw0LbQsNGC0LjQtSDQutC90L7Qv9C60LggJnF1b3Q70JTQsCZxdW90OyDQv9GA0LjQstC10LTQtdGCINC6INC30LDQutGA0YvRgtC40Y4g0L7Qv9GA0L7RgdCwLiDQndCw0LbQsNGC0LjQtSDQutC90L7Qv9C60LggJnF1b3Q70J3QtdGCJnF1b3Q7INC/0YDQvtC00L7Qu9C20LjRgiDQvtC/0YDQvtGBLiIvPg0KCQk8dWl0ZXh0IG5hbWU9IklORk9STUFUSU9OX0gyNjRfRkxBU0hQTEFZRVIiIHZhbHVlPSLQotC10LrRg9GJ0LDRjyDQstC10YDRgdC40Y8g0L/RgNC+0LjQs9GA0YvQstCw0YLQtdC70Y8gRmxhc2ggUGxheWVyLCDRg9GB0YLQsNC90L7QstC70LXQvdC90LDRjyDQvdCwINGN0YLQvtC8INC60L7QvNC/0YzRjtGC0LXRgNC1LCDQvdC1INC/0L7QtNC00LXRgNC20LjQstCw0LXRgiDRjdGC0L4g0LLQuNC00LXQvi4g0KnQtdC70LrQvdC40YLQtSDQsiDQvtCx0LvQsNGB0YLQuCDQstC40LTQtdC+LCDRh9GC0L7QsdGLINC30LDQs9GA0YPQt9C40YLRjCDQv9C+0YHQu9C10LTQvdGO0Y4g0LLQtdGA0YHQuNGOINC/0YDQvtC40LPRgNGL0LLQsNGC0LXQu9GP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0J/QvtC60LDQt9GL0LLQsNGC0Ywg0LLRgNC10LfQutGDINGD0YfQsNGB0YLQvdC40LrQsNC8Ii8+DQoJCTx1aXRleHQgbmFtZT0iTVVURSIgdmFsdWU9ItCe0YLQutC70Y7Rh9C40YLRjCDQt9Cy0YPQuiIvPg0KCQk8dWl0ZXh0IG5hbWU9IkRPQ1dSQVBfVElUTEUiIHZhbHVlPSLQktC70L7QttC10L3QuNC1INCyINGE0LDQudC7IEFkb2JlIFByZXNlbnRlciIvPg0KCQk8dWl0ZXh0IG5hbWU9IkRPQ1dSQVBfTVNHIiB2YWx1ZT0i0KHQvtGF0YDQsNC90LjRgtGMINCyINC/0LDQv9C60YMgJnF1b3Q70JzQvtC5INC60L7QvNC/0YzRjtGC0LXRgCZxdW90OyIvPg0KCQk8dWl0ZXh0IG5hbWU9IkRPQ1dSQVBfUFJPTVBUIiB2YWx1ZT0i0KnQtdC70LrQvdGD0YLRjCDQtNC70Y8g0LfQsNCz0YDRg9C30LrQuCIvPg0KCTwvbGFuZ3VhZ2U+DQo8L2NvbmZpZ3VyYXRpb24+DQo="/>
  <p:tag name="MMPROD_UIDATA" val="&lt;database version=&quot;7.0&quot;&gt;&lt;object type=&quot;1&quot; unique_id=&quot;10001&quot;&gt;&lt;property id=&quot;20141&quot; value=&quot;QM 7-8 (Estimation, IMM, 2011)&quot;/&gt;&lt;property id=&quot;20148&quot; value=&quot;5&quot;/&gt;&lt;property id=&quot;20184&quot; value=&quot;7&quot;/&gt;&lt;property id=&quot;20224&quot; value=&quot;C:\Documents and Settings\jtang\My Documents\My Adobe Presentations\QM 7-8 (Estimation, IMM, 2011)&quot;/&gt;&lt;property id=&quot;20250&quot; value=&quot;0&quot;/&gt;&lt;property id=&quot;20251&quot; value=&quot;0&quot;/&gt;&lt;property id=&quot;20259&quot; value=&quot;0&quot;/&gt;&lt;object type=&quot;8&quot; unique_id=&quot;10002&quot;&gt;&lt;/object&gt;&lt;object type=&quot;2&quot; unique_id=&quot;10003&quot;&gt;&lt;object type=&quot;3&quot; unique_id=&quot;21096&quot;&gt;&lt;property id=&quot;20148&quot; value=&quot;5&quot;/&gt;&lt;property id=&quot;20300&quot; value=&quot;Slide 1 - &amp;quot;Sampling Distributions and Estimations&amp;quot;&quot;/&gt;&lt;property id=&quot;20307&quot; value=&quot;514&quot;/&gt;&lt;/object&gt;&lt;object type=&quot;3&quot; unique_id=&quot;25267&quot;&gt;&lt;property id=&quot;20148&quot; value=&quot;5&quot;/&gt;&lt;property id=&quot;20300&quot; value=&quot;Slide 18 - &amp;quot;In Practice ….  &amp;quot;&quot;/&gt;&lt;property id=&quot;20307&quot; value=&quot;532&quot;/&gt;&lt;/object&gt;&lt;object type=&quot;3&quot; unique_id=&quot;27869&quot;&gt;&lt;property id=&quot;20148&quot; value=&quot;5&quot;/&gt;&lt;property id=&quot;20300&quot; value=&quot;Slide 48 - &amp;quot;Appendix:  Common confusion: &amp;#x0D;&amp;#x0A;Sampling Error/ Standard error&amp;quot;&quot;/&gt;&lt;property id=&quot;20307&quot; value=&quot;594&quot;/&gt;&lt;/object&gt;&lt;object type=&quot;3&quot; unique_id=&quot;28005&quot;&gt;&lt;property id=&quot;20148&quot; value=&quot;5&quot;/&gt;&lt;property id=&quot;20300&quot; value=&quot;Slide 2 - &amp;quot;Topics&amp;quot;&quot;/&gt;&lt;property id=&quot;20307&quot; value=&quot;595&quot;/&gt;&lt;/object&gt;&lt;object type=&quot;3&quot; unique_id=&quot;47144&quot;&gt;&lt;property id=&quot;20148&quot; value=&quot;5&quot;/&gt;&lt;property id=&quot;20300&quot; value=&quot;Slide 3 - &amp;quot;Process of Statistical Inference&amp;quot;&quot;/&gt;&lt;property id=&quot;20307&quot; value=&quot;605&quot;/&gt;&lt;/object&gt;&lt;object type=&quot;3&quot; unique_id=&quot;47145&quot;&gt;&lt;property id=&quot;20148&quot; value=&quot;5&quot;/&gt;&lt;property id=&quot;20300&quot; value=&quot;Slide 9 - &amp;quot;Other sampling Methods&amp;quot;&quot;/&gt;&lt;property id=&quot;20307&quot; value=&quot;603&quot;/&gt;&lt;/object&gt;&lt;object type=&quot;3&quot; unique_id=&quot;47146&quot;&gt;&lt;property id=&quot;20148&quot; value=&quot;5&quot;/&gt;&lt;property id=&quot;20300&quot; value=&quot;Slide 8 - &amp;quot;Sampling methods&amp;#x0D;&amp;#x0A;(The way I went about making this estimate)&amp;quot;&quot;/&gt;&lt;property id=&quot;20307&quot; value=&quot;604&quot;/&gt;&lt;/object&gt;&lt;object type=&quot;3&quot; unique_id=&quot;50293&quot;&gt;&lt;property id=&quot;20148&quot; value=&quot;5&quot;/&gt;&lt;property id=&quot;20300&quot; value=&quot;Slide 15 - &amp;quot;Central Limit Theorem:&amp;#x0D;&amp;#x0A;Sampling distribution of  &amp;quot;&quot;/&gt;&lt;property id=&quot;20307&quot; value=&quot;607&quot;/&gt;&lt;/object&gt;&lt;object type=&quot;3&quot; unique_id=&quot;50294&quot;&gt;&lt;property id=&quot;20148&quot; value=&quot;5&quot;/&gt;&lt;property id=&quot;20300&quot; value=&quot;Slide 19 - &amp;quot;Hospital Stay&amp;quot;&quot;/&gt;&lt;property id=&quot;20307&quot; value=&quot;608&quot;/&gt;&lt;/object&gt;&lt;object type=&quot;3&quot; unique_id=&quot;50295&quot;&gt;&lt;property id=&quot;20148&quot; value=&quot;5&quot;/&gt;&lt;property id=&quot;20300&quot; value=&quot;Slide 20 - &amp;quot;Hospital Stay&amp;quot;&quot;/&gt;&lt;property id=&quot;20307&quot; value=&quot;609&quot;/&gt;&lt;/object&gt;&lt;object type=&quot;3&quot; unique_id=&quot;50296&quot;&gt;&lt;property id=&quot;20148&quot; value=&quot;5&quot;/&gt;&lt;property id=&quot;20300&quot; value=&quot;Slide 24 - &amp;quot;Interval Estimation&amp;quot;&quot;/&gt;&lt;property id=&quot;20307&quot; value=&quot;646&quot;/&gt;&lt;/object&gt;&lt;object type=&quot;3&quot; unique_id=&quot;50298&quot;&gt;&lt;property id=&quot;20148&quot; value=&quot;5&quot;/&gt;&lt;property id=&quot;20300&quot; value=&quot;Slide 25 - &amp;quot;(1-α)×100% confidence interval for mean&amp;#x0D;&amp;#x0A;α=0.1, we get 90% confidence  interval&amp;#x0D;&amp;#x0A;α=0.05, we get 95% confidence  inte&quot;/&gt;&lt;property id=&quot;20307&quot; value=&quot;616&quot;/&gt;&lt;/object&gt;&lt;object type=&quot;3&quot; unique_id=&quot;50300&quot;&gt;&lt;property id=&quot;20148&quot; value=&quot;5&quot;/&gt;&lt;property id=&quot;20300&quot; value=&quot;Slide 27 - &amp;quot;Confidence for Population Mean: &amp;#x0D;&amp;#x0A; known; large sample(n&amp;gt;30)&amp;quot;&quot;/&gt;&lt;property id=&quot;20307&quot; value=&quot;618&quot;/&gt;&lt;/object&gt;&lt;object type=&quot;3&quot; unique_id=&quot;50662&quot;&gt;&lt;property id=&quot;20148&quot; value=&quot;5&quot;/&gt;&lt;property id=&quot;20300&quot; value=&quot;Slide 21 - &amp;quot;Hospital Stay: &amp;#x0D;&amp;#x0A;a more realistic scenario&amp;quot;&quot;/&gt;&lt;property id=&quot;20307&quot; value=&quot;647&quot;/&gt;&lt;/object&gt;&lt;object type=&quot;3&quot; unique_id=&quot;53330&quot;&gt;&lt;property id=&quot;20148&quot; value=&quot;5&quot;/&gt;&lt;property id=&quot;20300&quot; value=&quot;Slide 31 - &amp;quot;Factors Affecting Intervals&amp;quot;&quot;/&gt;&lt;property id=&quot;20307&quot; value=&quot;650&quot;/&gt;&lt;/object&gt;&lt;object type=&quot;3&quot; unique_id=&quot;53335&quot;&gt;&lt;property id=&quot;20148&quot; value=&quot;5&quot;/&gt;&lt;property id=&quot;20300&quot; value=&quot;Slide 32 - &amp;quot;Sample size determination&amp;#x0D;&amp;#x0A;Example:  Hospital Stay&amp;quot;&quot;/&gt;&lt;property id=&quot;20307&quot; value=&quot;655&quot;/&gt;&lt;/object&gt;&lt;object type=&quot;3&quot; unique_id=&quot;53336&quot;&gt;&lt;property id=&quot;20148&quot; value=&quot;5&quot;/&gt;&lt;property id=&quot;20300&quot; value=&quot;Slide 33 - &amp;quot;Hospital Stay: &amp;#x0D;&amp;#x0A;even more realistic scenario&amp;quot;&quot;/&gt;&lt;property id=&quot;20307&quot; value=&quot;656&quot;/&gt;&lt;/object&gt;&lt;object type=&quot;3&quot; unique_id=&quot;53337&quot;&gt;&lt;property id=&quot;20148&quot; value=&quot;5&quot;/&gt;&lt;property id=&quot;20300&quot; value=&quot;Slide 34 - &amp;quot;Interval Estimation of a Population Mean: Ϭ Unknown&amp;quot;&quot;/&gt;&lt;property id=&quot;20307&quot; value=&quot;657&quot;/&gt;&lt;/object&gt;&lt;object type=&quot;3&quot; unique_id=&quot;53338&quot;&gt;&lt;property id=&quot;20148&quot; value=&quot;5&quot;/&gt;&lt;property id=&quot;20300&quot; value=&quot;Slide 35 - &amp;quot;t Distribution&amp;quot;&quot;/&gt;&lt;property id=&quot;20307&quot; value=&quot;658&quot;/&gt;&lt;/object&gt;&lt;object type=&quot;3&quot; unique_id=&quot;53339&quot;&gt;&lt;property id=&quot;20148&quot; value=&quot;5&quot;/&gt;&lt;property id=&quot;20300&quot; value=&quot;Slide 36 - &amp;quot;Degrees of Freedom&amp;quot;&quot;/&gt;&lt;property id=&quot;20307&quot; value=&quot;659&quot;/&gt;&lt;/object&gt;&lt;object type=&quot;3&quot; unique_id=&quot;53341&quot;&gt;&lt;property id=&quot;20148&quot; value=&quot;5&quot;/&gt;&lt;property id=&quot;20300&quot; value=&quot;Slide 38&quot;/&gt;&lt;property id=&quot;20307&quot; value=&quot;661&quot;/&gt;&lt;/object&gt;&lt;object type=&quot;3&quot; unique_id=&quot;53342&quot;&gt;&lt;property id=&quot;20148&quot; value=&quot;5&quot;/&gt;&lt;property id=&quot;20300&quot; value=&quot;Slide 39 - &amp;quot;Example:  Hospital stay&amp;quot;&quot;/&gt;&lt;property id=&quot;20307&quot; value=&quot;662&quot;/&gt;&lt;/object&gt;&lt;object type=&quot;3&quot; unique_id=&quot;53343&quot;&gt;&lt;property id=&quot;20148&quot; value=&quot;5&quot;/&gt;&lt;property id=&quot;20300&quot; value=&quot;Slide 40 - &amp;quot;Sampling Distributions and Statistical Inference for Population Mean &amp;quot;&quot;/&gt;&lt;property id=&quot;20307&quot; value=&quot;672&quot;/&gt;&lt;/object&gt;&lt;object type=&quot;3&quot; unique_id=&quot;53344&quot;&gt;&lt;property id=&quot;20148&quot; value=&quot;5&quot;/&gt;&lt;property id=&quot;20300&quot; value=&quot;Slide 42 - &amp;quot;Proportions&amp;quot;&quot;/&gt;&lt;property id=&quot;20307&quot; value=&quot;664&quot;/&gt;&lt;/object&gt;&lt;object type=&quot;3&quot; unique_id=&quot;53347&quot;&gt;&lt;property id=&quot;20148&quot; value=&quot;5&quot;/&gt;&lt;property id=&quot;20300&quot; value=&quot;Slide 41 - &amp;quot;Example:  Political Science, Inc.&amp;quot;&quot;/&gt;&lt;property id=&quot;20307&quot; value=&quot;667&quot;/&gt;&lt;/object&gt;&lt;object type=&quot;3&quot; unique_id=&quot;53348&quot;&gt;&lt;property id=&quot;20148&quot; value=&quot;5&quot;/&gt;&lt;property id=&quot;20300&quot; value=&quot;Slide 44 - &amp;quot;Example:  Political Science, Inc.&amp;quot;&quot;/&gt;&lt;property id=&quot;20307&quot; value=&quot;668&quot;/&gt;&lt;/object&gt;&lt;object type=&quot;3&quot; unique_id=&quot;53349&quot;&gt;&lt;property id=&quot;20148&quot; value=&quot;5&quot;/&gt;&lt;property id=&quot;20300&quot; value=&quot;Slide 45 - &amp;quot;Sample Size for an Interval Estimate&amp;#x0D;&amp;#x0A;of a Population Proportion&amp;quot;&quot;/&gt;&lt;property id=&quot;20307&quot; value=&quot;669&quot;/&gt;&lt;/object&gt;&lt;object type=&quot;3&quot; unique_id=&quot;53350&quot;&gt;&lt;property id=&quot;20148&quot; value=&quot;5&quot;/&gt;&lt;property id=&quot;20300&quot; value=&quot;Slide 46 - &amp;quot;Example:  Political Science, Inc.&amp;quot;&quot;/&gt;&lt;property id=&quot;20307&quot; value=&quot;670&quot;/&gt;&lt;/object&gt;&lt;object type=&quot;3&quot; unique_id=&quot;53351&quot;&gt;&lt;property id=&quot;20148&quot; value=&quot;5&quot;/&gt;&lt;property id=&quot;20300&quot; value=&quot;Slide 47 - &amp;quot;Summary&amp;quot;&quot;/&gt;&lt;property id=&quot;20307&quot; value=&quot;671&quot;/&gt;&lt;/object&gt;&lt;object type=&quot;3&quot; unique_id=&quot;53686&quot;&gt;&lt;property id=&quot;20148&quot; value=&quot;5&quot;/&gt;&lt;property id=&quot;20300&quot; value=&quot;Slide 37 - &amp;quot;Hospital Stay &amp;quot;&quot;/&gt;&lt;property id=&quot;20307&quot; value=&quot;673&quot;/&gt;&lt;/object&gt;&lt;object type=&quot;3&quot; unique_id=&quot;63617&quot;&gt;&lt;property id=&quot;20148&quot; value=&quot;5&quot;/&gt;&lt;property id=&quot;20300&quot; value=&quot;Slide 11 - &amp;quot;Idea: sampling distribution&amp;quot;&quot;/&gt;&lt;property id=&quot;20307&quot; value=&quot;677&quot;/&gt;&lt;/object&gt;&lt;object type=&quot;3&quot; unique_id=&quot;64235&quot;&gt;&lt;property id=&quot;20148&quot; value=&quot;5&quot;/&gt;&lt;property id=&quot;20300&quot; value=&quot;Slide 14 - &amp;quot;Estimating the proportion of voters voting for Mr. A using &amp;quot;&quot;/&gt;&lt;property id=&quot;20307&quot; value=&quot;680&quot;/&gt;&lt;/object&gt;&lt;object type=&quot;3&quot; unique_id=&quot;64239&quot;&gt;&lt;property id=&quot;20148&quot; value=&quot;5&quot;/&gt;&lt;property id=&quot;20300&quot; value=&quot;Slide 22 - &amp;quot;Interval estimation: trying to catch µ&amp;quot;&quot;/&gt;&lt;property id=&quot;20307&quot; value=&quot;683&quot;/&gt;&lt;/object&gt;&lt;object type=&quot;3&quot; unique_id=&quot;64489&quot;&gt;&lt;property id=&quot;20148&quot; value=&quot;5&quot;/&gt;&lt;property id=&quot;20300&quot; value=&quot;Slide 12&quot;/&gt;&lt;property id=&quot;20307&quot; value=&quot;685&quot;/&gt;&lt;/object&gt;&lt;object type=&quot;3&quot; unique_id=&quot;64828&quot;&gt;&lt;property id=&quot;20148&quot; value=&quot;5&quot;/&gt;&lt;property id=&quot;20300&quot; value=&quot;Slide 13 - &amp;quot;Example: estimating auto-parts average sales using     :&amp;quot;&quot;/&gt;&lt;property id=&quot;20307&quot; value=&quot;687&quot;/&gt;&lt;/object&gt;&lt;object type=&quot;3&quot; unique_id=&quot;64829&quot;&gt;&lt;property id=&quot;20148&quot; value=&quot;5&quot;/&gt;&lt;property id=&quot;20300&quot; value=&quot;Slide 17 - &amp;quot;Same conclusions for other population distributions&amp;#x0D;&amp;#x0A;Fig 7.3 p.273 SBE&amp;quot;&quot;/&gt;&lt;property id=&quot;20307&quot; value=&quot;686&quot;/&gt;&lt;/object&gt;&lt;object type=&quot;3&quot; unique_id=&quot;65446&quot;&gt;&lt;property id=&quot;20148&quot; value=&quot;5&quot;/&gt;&lt;property id=&quot;20300&quot; value=&quot;Slide 26 - &amp;quot;Compute&amp;quot;&quot;/&gt;&lt;property id=&quot;20307&quot; value=&quot;688&quot;/&gt;&lt;/object&gt;&lt;object type=&quot;3&quot; unique_id=&quot;65447&quot;&gt;&lt;property id=&quot;20148&quot; value=&quot;5&quot;/&gt;&lt;property id=&quot;20300&quot; value=&quot;Slide 28&quot;/&gt;&lt;property id=&quot;20307&quot; value=&quot;689&quot;/&gt;&lt;/object&gt;&lt;object type=&quot;3&quot; unique_id=&quot;65448&quot;&gt;&lt;property id=&quot;20148&quot; value=&quot;5&quot;/&gt;&lt;property id=&quot;20300&quot; value=&quot;Slide 43 - &amp;quot;Central Limit Theorem:&amp;#x0D;&amp;#x0A;Sampling distribution of  &amp;quot;&quot;/&gt;&lt;property id=&quot;20307&quot; value=&quot;690&quot;/&gt;&lt;/object&gt;&lt;object type=&quot;3&quot; unique_id=&quot;69114&quot;&gt;&lt;property id=&quot;20148&quot; value=&quot;5&quot;/&gt;&lt;property id=&quot;20300&quot; value=&quot;Slide 23 - &amp;quot;Interpretation&amp;quot;&quot;/&gt;&lt;property id=&quot;20307&quot; value=&quot;696&quot;/&gt;&lt;/object&gt;&lt;object type=&quot;3&quot; unique_id=&quot;69115&quot;&gt;&lt;property id=&quot;20148&quot; value=&quot;5&quot;/&gt;&lt;property id=&quot;20300&quot; value=&quot;Slide 49 - &amp;quot;Appendix: an example of central limit theorem:   Rolling dice …&amp;quot;&quot;/&gt;&lt;property id=&quot;20307&quot; value=&quot;692&quot;/&gt;&lt;/object&gt;&lt;object type=&quot;3&quot; unique_id=&quot;69116&quot;&gt;&lt;property id=&quot;20148&quot; value=&quot;5&quot;/&gt;&lt;property id=&quot;20300&quot; value=&quot;Slide 50 - &amp;quot;How does the average of 5 rolls behave?&amp;quot;&quot;/&gt;&lt;property id=&quot;20307&quot; value=&quot;693&quot;/&gt;&lt;/object&gt;&lt;object type=&quot;3&quot; unique_id=&quot;69117&quot;&gt;&lt;property id=&quot;20148&quot; value=&quot;5&quot;/&gt;&lt;property id=&quot;20300&quot; value=&quot;Slide 51 - &amp;quot;How does average of 40 rolls behave?&amp;quot;&quot;/&gt;&lt;property id=&quot;20307&quot; value=&quot;694&quot;/&gt;&lt;/object&gt;&lt;object type=&quot;3&quot; unique_id=&quot;69118&quot;&gt;&lt;property id=&quot;20148&quot; value=&quot;5&quot;/&gt;&lt;property id=&quot;20300&quot; value=&quot;Slide 52&quot;/&gt;&lt;property id=&quot;20307&quot; value=&quot;695&quot;/&gt;&lt;/object&gt;&lt;object type=&quot;3&quot; unique_id=&quot;69681&quot;&gt;&lt;property id=&quot;20148&quot; value=&quot;5&quot;/&gt;&lt;property id=&quot;20300&quot; value=&quot;Slide 29 - &amp;quot;How and to whom does the margin of error matter?&amp;quot;&quot;/&gt;&lt;property id=&quot;20307&quot; value=&quot;697&quot;/&gt;&lt;/object&gt;&lt;object type=&quot;3&quot; unique_id=&quot;69682&quot;&gt;&lt;property id=&quot;20148&quot; value=&quot;5&quot;/&gt;&lt;property id=&quot;20300&quot; value=&quot;Slide 30 - &amp;quot;Sometimes It’s Right to Say “Maybe”&amp;quot;&quot;/&gt;&lt;property id=&quot;20307&quot; value=&quot;698&quot;/&gt;&lt;/object&gt;&lt;object type=&quot;3&quot; unique_id=&quot;70019&quot;&gt;&lt;property id=&quot;20148&quot; value=&quot;5&quot;/&gt;&lt;property id=&quot;20300&quot; value=&quot;Slide 16 - &amp;quot;Central Limit Theorem:&amp;#x0D;&amp;#x0A;Sampling distribution of  &amp;quot;&quot;/&gt;&lt;property id=&quot;20307&quot; value=&quot;699&quot;/&gt;&lt;/object&gt;&lt;object type=&quot;3&quot; unique_id=&quot;70303&quot;&gt;&lt;property id=&quot;20148&quot; value=&quot;5&quot;/&gt;&lt;property id=&quot;20300&quot; value=&quot;Slide 4 - &amp;quot;Examples&amp;quot;&quot;/&gt;&lt;property id=&quot;20307&quot; value=&quot;700&quot;/&gt;&lt;/object&gt;&lt;object type=&quot;3&quot; unique_id=&quot;70304&quot;&gt;&lt;property id=&quot;20148&quot; value=&quot;5&quot;/&gt;&lt;property id=&quot;20300&quot; value=&quot;Slide 5 - &amp;quot;Example political campaign&amp;quot;&quot;/&gt;&lt;property id=&quot;20307&quot; value=&quot;701&quot;/&gt;&lt;/object&gt;&lt;object type=&quot;3&quot; unique_id=&quot;70305&quot;&gt;&lt;property id=&quot;20148&quot; value=&quot;5&quot;/&gt;&lt;property id=&quot;20300&quot; value=&quot;Slide 6 - &amp;quot;Point Estimation&amp;quot;&quot;/&gt;&lt;property id=&quot;20307&quot; value=&quot;702&quot;/&gt;&lt;/object&gt;&lt;object type=&quot;3&quot; unique_id=&quot;70306&quot;&gt;&lt;property id=&quot;20148&quot; value=&quot;5&quot;/&gt;&lt;property id=&quot;20300&quot; value=&quot;Slide 7 - &amp;quot;Here’s the “Language” of Estimation&amp;quot;&quot;/&gt;&lt;property id=&quot;20307&quot; value=&quot;703&quot;/&gt;&lt;/object&gt;&lt;object type=&quot;3&quot; unique_id=&quot;70307&quot;&gt;&lt;property id=&quot;20148&quot; value=&quot;5&quot;/&gt;&lt;property id=&quot;20300&quot; value=&quot;Slide 10 - &amp;quot;Here’s the “Language” of Estimation&amp;quot;&quot;/&gt;&lt;property id=&quot;20307&quot; value=&quot;704&quot;/&gt;&lt;/object&gt;&lt;/object&gt;&lt;object type=&quot;10&quot; unique_id=&quot;16430&quot;&gt;&lt;object type=&quot;11&quot; unique_id=&quot;16431&quot;&gt;&lt;/object&gt;&lt;/object&gt;&lt;object type=&quot;4&quot; unique_id=&quot;16432&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2800" dirty="0" smtClean="0">
            <a:latin typeface="+mj-lt"/>
          </a:defRPr>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15782</TotalTime>
  <Pages>39</Pages>
  <Words>392</Words>
  <Application>Microsoft Macintosh PowerPoint</Application>
  <PresentationFormat>On-screen Show (4:3)</PresentationFormat>
  <Paragraphs>59</Paragraphs>
  <Slides>13</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9" baseType="lpstr">
      <vt:lpstr>Arial</vt:lpstr>
      <vt:lpstr>Book Antiqua</vt:lpstr>
      <vt:lpstr>Calibri</vt:lpstr>
      <vt:lpstr>Tahoma</vt:lpstr>
      <vt:lpstr>Office Theme</vt:lpstr>
      <vt:lpstr>Equation</vt:lpstr>
      <vt:lpstr>Practice of Sampling Distributions and Estimations</vt:lpstr>
      <vt:lpstr>Formulas</vt:lpstr>
      <vt:lpstr>Sampling distribution</vt:lpstr>
      <vt:lpstr>PowerPoint Presentation</vt:lpstr>
      <vt:lpstr>Interval Estimation</vt:lpstr>
      <vt:lpstr>PowerPoint Presentation</vt:lpstr>
      <vt:lpstr>Interval Estimation</vt:lpstr>
      <vt:lpstr>PowerPoint Presentation</vt:lpstr>
      <vt:lpstr>Interval Estimation</vt:lpstr>
      <vt:lpstr>PowerPoint Presentation</vt:lpstr>
      <vt:lpstr>Determine Sample Size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Estimation</dc:title>
  <dc:creator>Mohit Tawarmalani</dc:creator>
  <cp:lastModifiedBy>Wei Sun</cp:lastModifiedBy>
  <cp:revision>1260</cp:revision>
  <cp:lastPrinted>2014-08-05T15:09:54Z</cp:lastPrinted>
  <dcterms:created xsi:type="dcterms:W3CDTF">1996-08-26T10:41:32Z</dcterms:created>
  <dcterms:modified xsi:type="dcterms:W3CDTF">2025-09-15T21:35:50Z</dcterms:modified>
</cp:coreProperties>
</file>