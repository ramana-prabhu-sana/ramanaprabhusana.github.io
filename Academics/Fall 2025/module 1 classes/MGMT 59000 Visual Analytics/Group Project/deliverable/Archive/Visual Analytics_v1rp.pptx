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2"/>
  </p:notesMasterIdLst>
  <p:sldIdLst>
    <p:sldId id="277" r:id="rId2"/>
    <p:sldId id="291" r:id="rId3"/>
    <p:sldId id="285" r:id="rId4"/>
    <p:sldId id="287" r:id="rId5"/>
    <p:sldId id="289" r:id="rId6"/>
    <p:sldId id="273" r:id="rId7"/>
    <p:sldId id="286" r:id="rId8"/>
    <p:sldId id="288" r:id="rId9"/>
    <p:sldId id="260" r:id="rId10"/>
    <p:sldId id="29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3703FB-17C1-DD44-8EF2-B45EF9AE342F}">
          <p14:sldIdLst>
            <p14:sldId id="277"/>
            <p14:sldId id="291"/>
            <p14:sldId id="285"/>
            <p14:sldId id="287"/>
            <p14:sldId id="289"/>
            <p14:sldId id="273"/>
            <p14:sldId id="286"/>
            <p14:sldId id="288"/>
            <p14:sldId id="260"/>
          </p14:sldIdLst>
        </p14:section>
        <p14:section name="Additional chart" id="{D9D3A006-228E-F544-A8C6-55A92ED5C399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orient="horz" pos="255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7" pos="22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>
      <p:cViewPr varScale="1">
        <p:scale>
          <a:sx n="112" d="100"/>
          <a:sy n="112" d="100"/>
        </p:scale>
        <p:origin x="600" y="200"/>
      </p:cViewPr>
      <p:guideLst>
        <p:guide pos="234"/>
        <p:guide pos="7446"/>
        <p:guide orient="horz" pos="255"/>
        <p:guide orient="horz" pos="4065"/>
        <p:guide pos="22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D6CD2-B8C7-4A42-98E8-9DEB628E42C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228F1-2C3A-BD40-828D-3EA84B9B3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68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228F1-2C3A-BD40-828D-3EA84B9B37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2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228F1-2C3A-BD40-828D-3EA84B9B37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5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9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92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6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4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33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34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33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49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2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304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43DC240-B741-00C5-9205-F6677A9F7C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0794" y="421957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C50F682-E09B-2158-002A-47A92176C5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4582" y="4219576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90A76D8-61EF-6B21-2860-71C7AFFA5D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43900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8D42403-AB04-F09E-68F5-3E03C822E5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57687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EC75B0E-F830-7F44-9846-DCD9AA5863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562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1182D46-7CDB-3EF8-BBD6-9D2568794F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2100" y="1663700"/>
            <a:ext cx="2819400" cy="2997200"/>
          </a:xfrm>
          <a:custGeom>
            <a:avLst/>
            <a:gdLst>
              <a:gd name="connsiteX0" fmla="*/ 0 w 2819400"/>
              <a:gd name="connsiteY0" fmla="*/ 0 h 2997200"/>
              <a:gd name="connsiteX1" fmla="*/ 2819400 w 2819400"/>
              <a:gd name="connsiteY1" fmla="*/ 0 h 2997200"/>
              <a:gd name="connsiteX2" fmla="*/ 2819400 w 2819400"/>
              <a:gd name="connsiteY2" fmla="*/ 2997200 h 2997200"/>
              <a:gd name="connsiteX3" fmla="*/ 0 w 2819400"/>
              <a:gd name="connsiteY3" fmla="*/ 299720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400" h="2997200">
                <a:moveTo>
                  <a:pt x="0" y="0"/>
                </a:moveTo>
                <a:lnTo>
                  <a:pt x="2819400" y="0"/>
                </a:lnTo>
                <a:lnTo>
                  <a:pt x="2819400" y="2997200"/>
                </a:lnTo>
                <a:lnTo>
                  <a:pt x="0" y="2997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0F0743-71C0-CC7C-CA13-3E9FADBB9C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2400" y="1638300"/>
            <a:ext cx="2819400" cy="2997200"/>
          </a:xfrm>
          <a:custGeom>
            <a:avLst/>
            <a:gdLst>
              <a:gd name="connsiteX0" fmla="*/ 0 w 2819400"/>
              <a:gd name="connsiteY0" fmla="*/ 0 h 2997200"/>
              <a:gd name="connsiteX1" fmla="*/ 2819400 w 2819400"/>
              <a:gd name="connsiteY1" fmla="*/ 0 h 2997200"/>
              <a:gd name="connsiteX2" fmla="*/ 2819400 w 2819400"/>
              <a:gd name="connsiteY2" fmla="*/ 2997200 h 2997200"/>
              <a:gd name="connsiteX3" fmla="*/ 0 w 2819400"/>
              <a:gd name="connsiteY3" fmla="*/ 299720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400" h="2997200">
                <a:moveTo>
                  <a:pt x="0" y="0"/>
                </a:moveTo>
                <a:lnTo>
                  <a:pt x="2819400" y="0"/>
                </a:lnTo>
                <a:lnTo>
                  <a:pt x="2819400" y="2997200"/>
                </a:lnTo>
                <a:lnTo>
                  <a:pt x="0" y="2997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663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43DC240-B741-00C5-9205-F6677A9F7C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0794" y="421957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C50F682-E09B-2158-002A-47A92176C5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4582" y="4219576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90A76D8-61EF-6B21-2860-71C7AFFA5D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43900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8D42403-AB04-F09E-68F5-3E03C822E5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57687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EC75B0E-F830-7F44-9846-DCD9AA5863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91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C4018-BE8D-45B9-804E-4F15BB5A4561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close-up of gloves&#10;&#10;Description automatically generated">
            <a:extLst>
              <a:ext uri="{FF2B5EF4-FFF2-40B4-BE49-F238E27FC236}">
                <a16:creationId xmlns:a16="http://schemas.microsoft.com/office/drawing/2014/main" id="{38858B34-5AF3-C863-1F29-508993C4698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21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661" r:id="rId13"/>
    <p:sldLayoutId id="214748372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fist&#10;&#10;Description automatically generated">
            <a:extLst>
              <a:ext uri="{FF2B5EF4-FFF2-40B4-BE49-F238E27FC236}">
                <a16:creationId xmlns:a16="http://schemas.microsoft.com/office/drawing/2014/main" id="{1AA2BEE7-DA9D-8192-F1B9-CE88532293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AA86FCB-832C-7CB4-F6FB-4244A987C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215" y="2540167"/>
            <a:ext cx="5230711" cy="1777665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2C1FEF-53A6-642E-82DC-20CC8AF40D09}"/>
              </a:ext>
            </a:extLst>
          </p:cNvPr>
          <p:cNvSpPr txBox="1"/>
          <p:nvPr/>
        </p:nvSpPr>
        <p:spPr>
          <a:xfrm>
            <a:off x="523432" y="4779497"/>
            <a:ext cx="93292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1" dirty="0">
                <a:solidFill>
                  <a:schemeClr val="tx1">
                    <a:lumMod val="85000"/>
                  </a:schemeClr>
                </a:solidFill>
                <a:ea typeface="Calibri"/>
                <a:cs typeface="Calibri"/>
              </a:rPr>
              <a:t>Main Event Matchmaking Executive Pitch</a:t>
            </a:r>
            <a:endParaRPr lang="en-US" sz="3600" b="1" i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538517-6029-10F8-0BC8-D3A4A03868C6}"/>
              </a:ext>
            </a:extLst>
          </p:cNvPr>
          <p:cNvSpPr txBox="1"/>
          <p:nvPr/>
        </p:nvSpPr>
        <p:spPr>
          <a:xfrm>
            <a:off x="721215" y="4317832"/>
            <a:ext cx="29589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i="1" dirty="0">
                <a:solidFill>
                  <a:schemeClr val="tx1">
                    <a:lumMod val="85000"/>
                  </a:schemeClr>
                </a:solidFill>
              </a:rPr>
              <a:t>It's time!👊🏽</a:t>
            </a:r>
            <a:endParaRPr lang="en-US" sz="2400" i="1" dirty="0">
              <a:solidFill>
                <a:schemeClr val="tx1">
                  <a:lumMod val="8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279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1EB6-B822-9610-3A7E-B731BAB6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7E226D-C882-D645-6CAE-C0A1C64D03C4}"/>
              </a:ext>
            </a:extLst>
          </p:cNvPr>
          <p:cNvSpPr txBox="1"/>
          <p:nvPr/>
        </p:nvSpPr>
        <p:spPr>
          <a:xfrm>
            <a:off x="383286" y="1797784"/>
            <a:ext cx="11425427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UFC Q1 and Q2 Revenue has been lower than in previous years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Tasked with planning and pitching a main event and backup/co-main event for final five events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Given event data from 1994-2021 from Kaggle UFC Master Dataset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Balancing fighter payouts and operational costs remains a key challenge for maintaining profitability.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Global expansion and localized marketing are needed to maximize audience reach and revenue potential.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Data-driven strategies and digital fan engagement are increasingly critical for event success.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BD735-4F21-2A79-A997-B30142BC7DA2}"/>
              </a:ext>
            </a:extLst>
          </p:cNvPr>
          <p:cNvSpPr txBox="1"/>
          <p:nvPr/>
        </p:nvSpPr>
        <p:spPr>
          <a:xfrm>
            <a:off x="257719" y="424284"/>
            <a:ext cx="9015911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i="1" dirty="0"/>
              <a:t>Addressing Revenue Decline: Strategic Event Planning for UFC’s Future</a:t>
            </a:r>
            <a:endParaRPr lang="en-IN" sz="2800" b="1" i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5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B407-FB09-8EA7-2726-D16FEC10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114FF1-D126-4E15-6561-1CDD1DB71FB5}"/>
              </a:ext>
            </a:extLst>
          </p:cNvPr>
          <p:cNvSpPr txBox="1"/>
          <p:nvPr/>
        </p:nvSpPr>
        <p:spPr>
          <a:xfrm>
            <a:off x="1882865" y="2451185"/>
            <a:ext cx="5083113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 T-Mobile Arena, Las Vegas</a:t>
            </a:r>
            <a:endParaRPr lang="en-IN" sz="140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093D79-A8A6-8E46-F353-36752D15C6FA}"/>
              </a:ext>
            </a:extLst>
          </p:cNvPr>
          <p:cNvSpPr txBox="1"/>
          <p:nvPr/>
        </p:nvSpPr>
        <p:spPr>
          <a:xfrm>
            <a:off x="1882865" y="3672324"/>
            <a:ext cx="5432335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 Madison Square Garden, New York</a:t>
            </a:r>
            <a:endParaRPr lang="en-IN" sz="1400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30E0C6-51D4-8C22-5005-26E03E4542E0}"/>
              </a:ext>
            </a:extLst>
          </p:cNvPr>
          <p:cNvSpPr txBox="1"/>
          <p:nvPr/>
        </p:nvSpPr>
        <p:spPr>
          <a:xfrm>
            <a:off x="1882865" y="4720054"/>
            <a:ext cx="5432335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 The O2 Arena, London</a:t>
            </a:r>
            <a:endParaRPr lang="en-IN" sz="140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F50DFD-E825-CA88-5479-8797B8940D23}"/>
              </a:ext>
            </a:extLst>
          </p:cNvPr>
          <p:cNvSpPr txBox="1"/>
          <p:nvPr/>
        </p:nvSpPr>
        <p:spPr>
          <a:xfrm>
            <a:off x="1882865" y="6079090"/>
            <a:ext cx="543233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400">
                <a:latin typeface="Arial"/>
                <a:cs typeface="Arial"/>
              </a:rPr>
              <a:t>           </a:t>
            </a:r>
            <a:r>
              <a:rPr lang="pt-BR" sz="1400" err="1">
                <a:latin typeface="Arial"/>
                <a:cs typeface="Arial"/>
              </a:rPr>
              <a:t>Jeunesse</a:t>
            </a:r>
            <a:r>
              <a:rPr lang="pt-BR" sz="1400">
                <a:latin typeface="Arial"/>
                <a:cs typeface="Arial"/>
              </a:rPr>
              <a:t> Arena, Rio de Janeiro</a:t>
            </a:r>
            <a:endParaRPr lang="en-IN" sz="1400">
              <a:latin typeface="Arial"/>
              <a:cs typeface="Arial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44AFB3-FF3A-7484-353F-76EFA5DD5F74}"/>
              </a:ext>
            </a:extLst>
          </p:cNvPr>
          <p:cNvCxnSpPr>
            <a:cxnSpLocks/>
          </p:cNvCxnSpPr>
          <p:nvPr/>
        </p:nvCxnSpPr>
        <p:spPr>
          <a:xfrm>
            <a:off x="1725612" y="2369067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58F462-25CD-F72A-5139-EE1E6A9D0A27}"/>
              </a:ext>
            </a:extLst>
          </p:cNvPr>
          <p:cNvCxnSpPr>
            <a:cxnSpLocks/>
          </p:cNvCxnSpPr>
          <p:nvPr/>
        </p:nvCxnSpPr>
        <p:spPr>
          <a:xfrm>
            <a:off x="2010522" y="3342579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BBCD66-DB26-585F-C750-8133DEAD2838}"/>
              </a:ext>
            </a:extLst>
          </p:cNvPr>
          <p:cNvCxnSpPr>
            <a:cxnSpLocks/>
          </p:cNvCxnSpPr>
          <p:nvPr/>
        </p:nvCxnSpPr>
        <p:spPr>
          <a:xfrm>
            <a:off x="1768475" y="4614745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2108F7-9033-DF69-9C29-DF251D5368D8}"/>
              </a:ext>
            </a:extLst>
          </p:cNvPr>
          <p:cNvCxnSpPr>
            <a:cxnSpLocks/>
          </p:cNvCxnSpPr>
          <p:nvPr/>
        </p:nvCxnSpPr>
        <p:spPr>
          <a:xfrm>
            <a:off x="1768475" y="5828230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Placeholder 24" descr="A large red sign in front of a large building&#10;&#10;Description automatically generated">
            <a:extLst>
              <a:ext uri="{FF2B5EF4-FFF2-40B4-BE49-F238E27FC236}">
                <a16:creationId xmlns:a16="http://schemas.microsoft.com/office/drawing/2014/main" id="{AA1C9AEE-B662-D023-B3D7-1B92BED7C6F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7276" y="2365359"/>
            <a:ext cx="1397000" cy="755527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pic>
        <p:nvPicPr>
          <p:cNvPr id="4" name="Picture Placeholder 28" descr="A large arena with a crowd of people&#10;&#10;Description automatically generated">
            <a:extLst>
              <a:ext uri="{FF2B5EF4-FFF2-40B4-BE49-F238E27FC236}">
                <a16:creationId xmlns:a16="http://schemas.microsoft.com/office/drawing/2014/main" id="{A66C65CF-E52E-E8FC-7427-6CD62C3BA4F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7276" y="3443017"/>
            <a:ext cx="1431199" cy="798129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pic>
        <p:nvPicPr>
          <p:cNvPr id="6" name="Picture Placeholder 32" descr="A large arena filled with people&#10;&#10;Description automatically generated">
            <a:extLst>
              <a:ext uri="{FF2B5EF4-FFF2-40B4-BE49-F238E27FC236}">
                <a16:creationId xmlns:a16="http://schemas.microsoft.com/office/drawing/2014/main" id="{384BD8BF-CEC9-C1A3-7D7B-42BCBBFFC82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176" y="4610299"/>
            <a:ext cx="1465397" cy="844331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pic>
        <p:nvPicPr>
          <p:cNvPr id="8" name="Picture Placeholder 36" descr="A boxing ring in a stadium&#10;&#10;Description automatically generated">
            <a:extLst>
              <a:ext uri="{FF2B5EF4-FFF2-40B4-BE49-F238E27FC236}">
                <a16:creationId xmlns:a16="http://schemas.microsoft.com/office/drawing/2014/main" id="{452B030D-29BD-7566-27C4-50E7AD2C50D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182" y="5816373"/>
            <a:ext cx="1422491" cy="802431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857BE1A-7F6E-F21F-D72F-CD415ED443B1}"/>
              </a:ext>
            </a:extLst>
          </p:cNvPr>
          <p:cNvSpPr txBox="1"/>
          <p:nvPr/>
        </p:nvSpPr>
        <p:spPr>
          <a:xfrm>
            <a:off x="1874201" y="1489196"/>
            <a:ext cx="5083113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Etihad Arena, Abu Dhabi</a:t>
            </a:r>
            <a:endParaRPr lang="en-IN" sz="1400">
              <a:latin typeface="Arial"/>
              <a:cs typeface="Arial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7BFB3E-3F4F-FFDC-766F-62F8064C6798}"/>
              </a:ext>
            </a:extLst>
          </p:cNvPr>
          <p:cNvCxnSpPr>
            <a:cxnSpLocks/>
          </p:cNvCxnSpPr>
          <p:nvPr/>
        </p:nvCxnSpPr>
        <p:spPr>
          <a:xfrm>
            <a:off x="1716948" y="1407078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Placeholder 2" descr="Aerial view of a building&#10;&#10;Description automatically generated">
            <a:extLst>
              <a:ext uri="{FF2B5EF4-FFF2-40B4-BE49-F238E27FC236}">
                <a16:creationId xmlns:a16="http://schemas.microsoft.com/office/drawing/2014/main" id="{6ECFD074-402A-FBD0-1880-BF72A04BD9A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612" y="1397795"/>
            <a:ext cx="1405664" cy="755527"/>
          </a:xfr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13A5119-6B67-C0F5-5C4F-584CA6302629}"/>
              </a:ext>
            </a:extLst>
          </p:cNvPr>
          <p:cNvSpPr txBox="1"/>
          <p:nvPr/>
        </p:nvSpPr>
        <p:spPr>
          <a:xfrm>
            <a:off x="257719" y="424284"/>
            <a:ext cx="901591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i="1" dirty="0">
                <a:solidFill>
                  <a:schemeClr val="tx1">
                    <a:lumMod val="85000"/>
                  </a:schemeClr>
                </a:solidFill>
              </a:rPr>
              <a:t>Battle Across Borders: UFC’s World-Class Event Destinations</a:t>
            </a:r>
            <a:endParaRPr lang="en-IN" sz="2800" b="1" i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Picture 24" descr="Two men wearing boxing gloves hugging&#10;&#10;Description automatically generated">
            <a:extLst>
              <a:ext uri="{FF2B5EF4-FFF2-40B4-BE49-F238E27FC236}">
                <a16:creationId xmlns:a16="http://schemas.microsoft.com/office/drawing/2014/main" id="{7288A5CB-F581-760C-2CBD-D5D955C629C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8" t="14049" r="24504" b="5574"/>
          <a:stretch/>
        </p:blipFill>
        <p:spPr>
          <a:xfrm>
            <a:off x="7743847" y="424284"/>
            <a:ext cx="4175126" cy="6592888"/>
          </a:xfrm>
          <a:prstGeom prst="rect">
            <a:avLst/>
          </a:prstGeom>
          <a:effectLst>
            <a:glow rad="101600">
              <a:schemeClr val="tx1">
                <a:alpha val="40000"/>
              </a:schemeClr>
            </a:glow>
          </a:effectLst>
        </p:spPr>
      </p:pic>
      <p:pic>
        <p:nvPicPr>
          <p:cNvPr id="7" name="Graphic 6" descr="Marker with solid fill">
            <a:extLst>
              <a:ext uri="{FF2B5EF4-FFF2-40B4-BE49-F238E27FC236}">
                <a16:creationId xmlns:a16="http://schemas.microsoft.com/office/drawing/2014/main" id="{F7E64129-7083-98A2-EBE6-6065324D76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6776" y="1494036"/>
            <a:ext cx="746052" cy="660634"/>
          </a:xfrm>
          <a:prstGeom prst="rect">
            <a:avLst/>
          </a:prstGeom>
        </p:spPr>
      </p:pic>
      <p:pic>
        <p:nvPicPr>
          <p:cNvPr id="20" name="Graphic 19" descr="Marker with solid fill">
            <a:extLst>
              <a:ext uri="{FF2B5EF4-FFF2-40B4-BE49-F238E27FC236}">
                <a16:creationId xmlns:a16="http://schemas.microsoft.com/office/drawing/2014/main" id="{8EB610BB-5A78-739B-F1C4-CBF9449A50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6775" y="2449512"/>
            <a:ext cx="746052" cy="653950"/>
          </a:xfrm>
          <a:prstGeom prst="rect">
            <a:avLst/>
          </a:prstGeom>
        </p:spPr>
      </p:pic>
      <p:pic>
        <p:nvPicPr>
          <p:cNvPr id="26" name="Graphic 25" descr="Marker with solid fill">
            <a:extLst>
              <a:ext uri="{FF2B5EF4-FFF2-40B4-BE49-F238E27FC236}">
                <a16:creationId xmlns:a16="http://schemas.microsoft.com/office/drawing/2014/main" id="{697859F4-DB81-B64E-6CEA-A41ED0E189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0090" y="3669943"/>
            <a:ext cx="746052" cy="660634"/>
          </a:xfrm>
          <a:prstGeom prst="rect">
            <a:avLst/>
          </a:prstGeom>
        </p:spPr>
      </p:pic>
      <p:pic>
        <p:nvPicPr>
          <p:cNvPr id="27" name="Graphic 26" descr="Marker with solid fill">
            <a:extLst>
              <a:ext uri="{FF2B5EF4-FFF2-40B4-BE49-F238E27FC236}">
                <a16:creationId xmlns:a16="http://schemas.microsoft.com/office/drawing/2014/main" id="{15804409-6365-71DD-D8E7-0AC79476B4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10490" y="4695171"/>
            <a:ext cx="746052" cy="667317"/>
          </a:xfrm>
          <a:prstGeom prst="rect">
            <a:avLst/>
          </a:prstGeom>
        </p:spPr>
      </p:pic>
      <p:pic>
        <p:nvPicPr>
          <p:cNvPr id="31" name="Graphic 30" descr="Marker with solid fill">
            <a:extLst>
              <a:ext uri="{FF2B5EF4-FFF2-40B4-BE49-F238E27FC236}">
                <a16:creationId xmlns:a16="http://schemas.microsoft.com/office/drawing/2014/main" id="{90B45269-0DA6-0357-77E3-038D4C74B9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05142" y="5989232"/>
            <a:ext cx="746052" cy="64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1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845A-1EA3-7992-1F63-6DC41B53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988100-88BB-0141-F257-35B96A9B3DC1}"/>
              </a:ext>
            </a:extLst>
          </p:cNvPr>
          <p:cNvSpPr txBox="1"/>
          <p:nvPr/>
        </p:nvSpPr>
        <p:spPr>
          <a:xfrm>
            <a:off x="518923" y="1181715"/>
            <a:ext cx="6624827" cy="5450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Each bout features two marquee fighters, building new rivalries and storylines.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No repeat matchups, every fight is fresh, using detailed historical data (as of 2021) for eligibility.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Weight classes: Fighters compete in the same or one adjacent class, maximizing competitive balance.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Spotlight on current stars as well as popular retired athletes (eligible if retired within the past 3 years).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Event Selection Highlights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IN"/>
              <a:t>Rigorous criteria ensure every card delivers excitement, fairness, and market appeal.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IN"/>
              <a:t>Locations chosen for maximum international reach and audience impact</a:t>
            </a:r>
          </a:p>
        </p:txBody>
      </p:sp>
      <p:pic>
        <p:nvPicPr>
          <p:cNvPr id="6" name="Picture Placeholder 28" descr="A large arena with a crowd of people&#10;&#10;Description automatically generated">
            <a:extLst>
              <a:ext uri="{FF2B5EF4-FFF2-40B4-BE49-F238E27FC236}">
                <a16:creationId xmlns:a16="http://schemas.microsoft.com/office/drawing/2014/main" id="{7D47249B-38CA-4022-397B-782B9D4E38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" r="129"/>
          <a:stretch>
            <a:fillRect/>
          </a:stretch>
        </p:blipFill>
        <p:spPr>
          <a:xfrm>
            <a:off x="7348935" y="3970443"/>
            <a:ext cx="4499729" cy="245498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2" name="Picture 1" descr="A close up of a belt&#10;&#10;Description automatically generated">
            <a:extLst>
              <a:ext uri="{FF2B5EF4-FFF2-40B4-BE49-F238E27FC236}">
                <a16:creationId xmlns:a16="http://schemas.microsoft.com/office/drawing/2014/main" id="{DF098B67-82ED-358F-B7D0-76BDC88FA4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049749">
            <a:off x="7396506" y="-565299"/>
            <a:ext cx="4404589" cy="4331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4E8E2D-790B-263D-6077-33A6B069DD32}"/>
              </a:ext>
            </a:extLst>
          </p:cNvPr>
          <p:cNvSpPr txBox="1"/>
          <p:nvPr/>
        </p:nvSpPr>
        <p:spPr>
          <a:xfrm>
            <a:off x="257719" y="424284"/>
            <a:ext cx="901591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i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Fight Night Formula: Parameters for Event Success</a:t>
            </a:r>
          </a:p>
        </p:txBody>
      </p:sp>
    </p:spTree>
    <p:extLst>
      <p:ext uri="{BB962C8B-B14F-4D97-AF65-F5344CB8AC3E}">
        <p14:creationId xmlns:p14="http://schemas.microsoft.com/office/powerpoint/2010/main" val="381142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66636-AECF-5BC7-B07F-0AE15A04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F1C451-9E73-2EDE-5318-133235AF4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513472"/>
              </p:ext>
            </p:extLst>
          </p:nvPr>
        </p:nvGraphicFramePr>
        <p:xfrm>
          <a:off x="549788" y="826540"/>
          <a:ext cx="11092423" cy="5546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91246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2616028">
                  <a:extLst>
                    <a:ext uri="{9D8B030D-6E8A-4147-A177-3AD203B41FA5}">
                      <a16:colId xmlns:a16="http://schemas.microsoft.com/office/drawing/2014/main" val="1871102911"/>
                    </a:ext>
                  </a:extLst>
                </a:gridCol>
                <a:gridCol w="1526431">
                  <a:extLst>
                    <a:ext uri="{9D8B030D-6E8A-4147-A177-3AD203B41FA5}">
                      <a16:colId xmlns:a16="http://schemas.microsoft.com/office/drawing/2014/main" val="2250101671"/>
                    </a:ext>
                  </a:extLst>
                </a:gridCol>
                <a:gridCol w="1929359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929359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</a:tblGrid>
              <a:tr h="273087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</a:rPr>
                        <a:t>Location &amp; Venue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</a:rPr>
                        <a:t>Fight Card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</a:rPr>
                        <a:t>Weight Class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Reward tier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Tier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Madison Square Garden, New York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Jon Jones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Sergei Pavlovich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Heavyweight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Colby Covington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Shavkat Rakhmonov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Welterweight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Etihad Arena, Abu Dhabi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Khamzat Chimaev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Sean Strickland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Middleweight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Islam Makhachev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Beneil Dariush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Lightweight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  <a:tr h="37547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T-Mobile Arena, Las Vegas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Justin </a:t>
                      </a:r>
                      <a:r>
                        <a:rPr lang="en-IN" sz="1200" err="1">
                          <a:solidFill>
                            <a:schemeClr val="tx1"/>
                          </a:solidFill>
                          <a:effectLst/>
                        </a:rPr>
                        <a:t>Gaethje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Rafael </a:t>
                      </a:r>
                      <a:r>
                        <a:rPr lang="en-IN" sz="1200" err="1">
                          <a:solidFill>
                            <a:schemeClr val="tx1"/>
                          </a:solidFill>
                          <a:effectLst/>
                        </a:rPr>
                        <a:t>Fiziev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Lightweight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Medi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22479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Dustin Poirier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Arman Tsarukyan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Lightweight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45402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The O2 Arena, London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Leon Edwards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Belal Muhammad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Welterweight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561382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Tom Aspinall vs. Curtis Blaydes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Heavyweight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541285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Jeunesse Arena, Rio de Janeiro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Amanda Nunes vs. Irene Aldana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Women's Bantamweight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076527"/>
                  </a:ext>
                </a:extLst>
              </a:tr>
              <a:tr h="37547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Deiveson Figueiredo vs. Petr Yan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Flyweight vs Bantamweight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5470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25649DA-A771-8E0B-8E68-FAD1643C4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389" y="1337737"/>
            <a:ext cx="381752" cy="340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EDEC1E-451E-EAD4-ABED-415D996E7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23265" y="1856016"/>
            <a:ext cx="396000" cy="342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92942B-0A88-A221-B7A8-5B4DB9A02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389" y="2392635"/>
            <a:ext cx="381752" cy="340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B34C39-3C09-6DE4-EC7D-CBEEC8715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2887173"/>
            <a:ext cx="360000" cy="376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A60E3-5817-68AE-7D29-FAA2DDEEA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23265" y="3397013"/>
            <a:ext cx="396000" cy="342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C8F1F9-F807-0C68-0643-6C8DE1070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3872824"/>
            <a:ext cx="360000" cy="376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7DEBE9-7CBA-EE6C-FA2B-F80DC0677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4412521"/>
            <a:ext cx="396000" cy="3425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42A159-994C-57C1-34D7-2BEE5793A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4405" y="4918189"/>
            <a:ext cx="360000" cy="3766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059045-D7DB-938D-5EF7-C11DB2C2A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5480313"/>
            <a:ext cx="396000" cy="342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21AE7F-B593-8D4E-C80C-F7B3ECCC5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4405" y="5950684"/>
            <a:ext cx="360000" cy="37661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B714A114-2D79-4FBE-C8BC-6ED241EC25D0}"/>
              </a:ext>
            </a:extLst>
          </p:cNvPr>
          <p:cNvGrpSpPr>
            <a:grpSpLocks noChangeAspect="1"/>
          </p:cNvGrpSpPr>
          <p:nvPr/>
        </p:nvGrpSpPr>
        <p:grpSpPr>
          <a:xfrm>
            <a:off x="8427124" y="1323624"/>
            <a:ext cx="655635" cy="340724"/>
            <a:chOff x="8720985" y="1197893"/>
            <a:chExt cx="655635" cy="34072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D20C725-AF0E-BCB2-D42A-4C9ACB171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E6845CF-DBD5-96FF-F318-3DCBFAE4F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1FE9D3F-7EFE-9E32-7664-A8548A116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4D7E61E-EE8C-72E3-6B23-EFA476FB4CB3}"/>
              </a:ext>
            </a:extLst>
          </p:cNvPr>
          <p:cNvGrpSpPr>
            <a:grpSpLocks noChangeAspect="1"/>
          </p:cNvGrpSpPr>
          <p:nvPr/>
        </p:nvGrpSpPr>
        <p:grpSpPr>
          <a:xfrm>
            <a:off x="8530398" y="1845142"/>
            <a:ext cx="429470" cy="340724"/>
            <a:chOff x="8720985" y="1197893"/>
            <a:chExt cx="429470" cy="340724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527CAED-41EB-CFEB-947E-5F40BD7AC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B0A58C3-2A91-6133-3DA9-5750A4F4E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9531844-175E-E324-ED71-EECE5D947B4B}"/>
              </a:ext>
            </a:extLst>
          </p:cNvPr>
          <p:cNvGrpSpPr>
            <a:grpSpLocks noChangeAspect="1"/>
          </p:cNvGrpSpPr>
          <p:nvPr/>
        </p:nvGrpSpPr>
        <p:grpSpPr>
          <a:xfrm>
            <a:off x="8421408" y="2378522"/>
            <a:ext cx="655635" cy="340724"/>
            <a:chOff x="8720985" y="1197893"/>
            <a:chExt cx="655635" cy="34072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8252916-A926-36B9-2E3E-FC753F509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6091E7F-D2C7-EB06-832E-D22FF515E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0EF28FB-386D-B871-A5CE-C19A3D007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9E6B09-D1FA-0D4B-BD36-5BB6B99D5CC9}"/>
              </a:ext>
            </a:extLst>
          </p:cNvPr>
          <p:cNvGrpSpPr>
            <a:grpSpLocks noChangeAspect="1"/>
          </p:cNvGrpSpPr>
          <p:nvPr/>
        </p:nvGrpSpPr>
        <p:grpSpPr>
          <a:xfrm>
            <a:off x="8415692" y="2915141"/>
            <a:ext cx="655635" cy="340724"/>
            <a:chOff x="8720985" y="1197893"/>
            <a:chExt cx="655635" cy="34072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6115618-81FE-D39E-B35B-70F307563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1790ECD-9D8C-2DAC-E026-EA3E25408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536F263-67DE-6CDE-3CE3-54FEA3583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A43FC54-8CFD-8A6A-3EC7-471F4D564716}"/>
              </a:ext>
            </a:extLst>
          </p:cNvPr>
          <p:cNvGrpSpPr>
            <a:grpSpLocks noChangeAspect="1"/>
          </p:cNvGrpSpPr>
          <p:nvPr/>
        </p:nvGrpSpPr>
        <p:grpSpPr>
          <a:xfrm>
            <a:off x="8427124" y="3392257"/>
            <a:ext cx="655635" cy="340724"/>
            <a:chOff x="8720985" y="1197893"/>
            <a:chExt cx="655635" cy="340724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9A26DC9-5038-87CB-A742-E8C98C90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5A07C71-9C2C-54F3-A3E4-5E928645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C5DFEE5-45CE-CF14-4AA8-8A92FFB32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922494-2E14-F755-76D2-2D197401140D}"/>
              </a:ext>
            </a:extLst>
          </p:cNvPr>
          <p:cNvGrpSpPr>
            <a:grpSpLocks noChangeAspect="1"/>
          </p:cNvGrpSpPr>
          <p:nvPr/>
        </p:nvGrpSpPr>
        <p:grpSpPr>
          <a:xfrm>
            <a:off x="8438556" y="3869373"/>
            <a:ext cx="655635" cy="340724"/>
            <a:chOff x="8720985" y="1197893"/>
            <a:chExt cx="655635" cy="340724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5A0EBA6-8B33-031D-C4E6-ECBB390B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0E73E12-D36D-97A9-BCE0-E72C3D127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68B2DB2-EAA1-9AFE-BB74-24752F01D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6DDADB2-AB08-AE03-0C3E-D765FA4171E6}"/>
              </a:ext>
            </a:extLst>
          </p:cNvPr>
          <p:cNvGrpSpPr>
            <a:grpSpLocks noChangeAspect="1"/>
          </p:cNvGrpSpPr>
          <p:nvPr/>
        </p:nvGrpSpPr>
        <p:grpSpPr>
          <a:xfrm>
            <a:off x="8523059" y="4936134"/>
            <a:ext cx="440900" cy="340723"/>
            <a:chOff x="8935720" y="1197894"/>
            <a:chExt cx="440900" cy="34072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90112A-AA41-A092-128B-054556E1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DB6B79-A32E-C84D-F333-540C58C89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EF85E0-89BC-0C4F-FC5A-433446EAD6D3}"/>
              </a:ext>
            </a:extLst>
          </p:cNvPr>
          <p:cNvGrpSpPr>
            <a:grpSpLocks noChangeAspect="1"/>
          </p:cNvGrpSpPr>
          <p:nvPr/>
        </p:nvGrpSpPr>
        <p:grpSpPr>
          <a:xfrm>
            <a:off x="8432840" y="4414383"/>
            <a:ext cx="655635" cy="340724"/>
            <a:chOff x="8720985" y="1197893"/>
            <a:chExt cx="655635" cy="34072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01BA6D0-89CA-D7B1-57D0-CAA97E277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14D2CDF-3002-7B84-8DFC-0B6E37DA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FFFE904-768C-A7F7-AF9A-157715F30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544C534-89DF-E912-ECE4-DF7A930E3129}"/>
              </a:ext>
            </a:extLst>
          </p:cNvPr>
          <p:cNvGrpSpPr>
            <a:grpSpLocks noChangeAspect="1"/>
          </p:cNvGrpSpPr>
          <p:nvPr/>
        </p:nvGrpSpPr>
        <p:grpSpPr>
          <a:xfrm>
            <a:off x="8517344" y="5485117"/>
            <a:ext cx="440900" cy="340723"/>
            <a:chOff x="8935720" y="1197894"/>
            <a:chExt cx="440900" cy="34072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2584330-E1E5-8954-685D-9C2E167CB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0826BF4-4536-50F8-96D4-6FFE667E6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6F0517-7BB6-065D-6DF2-069210A13DC6}"/>
              </a:ext>
            </a:extLst>
          </p:cNvPr>
          <p:cNvGrpSpPr>
            <a:grpSpLocks noChangeAspect="1"/>
          </p:cNvGrpSpPr>
          <p:nvPr/>
        </p:nvGrpSpPr>
        <p:grpSpPr>
          <a:xfrm>
            <a:off x="8511629" y="5968629"/>
            <a:ext cx="440900" cy="340723"/>
            <a:chOff x="8935720" y="1197894"/>
            <a:chExt cx="440900" cy="340723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2AACFDE-6C07-6E96-4DF4-3C1589558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B26499E-7A50-9D13-12F8-1C82DD121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D4D9141-BB67-D5AB-0EEE-24A6F4049205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Event Matchups: Balancing High Stakes &amp; Big Rewards</a:t>
            </a:r>
            <a:endParaRPr lang="en-IN" sz="2400" b="1" i="1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A3F52-C59D-26D6-0862-73B9191280F7}"/>
              </a:ext>
            </a:extLst>
          </p:cNvPr>
          <p:cNvSpPr txBox="1"/>
          <p:nvPr/>
        </p:nvSpPr>
        <p:spPr>
          <a:xfrm>
            <a:off x="0" y="6470001"/>
            <a:ext cx="12251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             - High risk,             - Medium risk, ,           - safe bet                                                                                                                          - high reward,                - medium reward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1786EB-D04C-078A-BF9B-300F81A91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036" y="6465567"/>
            <a:ext cx="381752" cy="3407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70D0A5-3867-DA89-24A8-69FAD76E1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1653" y="6453362"/>
            <a:ext cx="396000" cy="3425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725A11-1F62-9EF0-F410-6D684C54B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2135" y="6447621"/>
            <a:ext cx="360000" cy="37661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3B94A5-BD14-7DE7-B2E9-763DBC1A9505}"/>
              </a:ext>
            </a:extLst>
          </p:cNvPr>
          <p:cNvGrpSpPr>
            <a:grpSpLocks noChangeAspect="1"/>
          </p:cNvGrpSpPr>
          <p:nvPr/>
        </p:nvGrpSpPr>
        <p:grpSpPr>
          <a:xfrm>
            <a:off x="10093925" y="6453527"/>
            <a:ext cx="440900" cy="340723"/>
            <a:chOff x="8935720" y="1197894"/>
            <a:chExt cx="440900" cy="34072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960B15D-CB80-DCF7-2701-A01A3D5A9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2917818-A856-67FD-FD4C-D9C689FCF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B28CCC8-1046-C35A-B5DE-7FE0524A3039}"/>
              </a:ext>
            </a:extLst>
          </p:cNvPr>
          <p:cNvGrpSpPr>
            <a:grpSpLocks noChangeAspect="1"/>
          </p:cNvGrpSpPr>
          <p:nvPr/>
        </p:nvGrpSpPr>
        <p:grpSpPr>
          <a:xfrm>
            <a:off x="8222165" y="6453526"/>
            <a:ext cx="655635" cy="340724"/>
            <a:chOff x="8720985" y="1197893"/>
            <a:chExt cx="655635" cy="340724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7B617F0-1DB9-1BBC-D4CC-EA9592469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80621809-4B87-E892-2F4D-646DD88CC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E891B23-9300-FCED-2374-6DED54575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713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8B2764-FA61-85CB-0B80-BFCB0FF69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65331"/>
              </p:ext>
            </p:extLst>
          </p:nvPr>
        </p:nvGraphicFramePr>
        <p:xfrm>
          <a:off x="594393" y="866156"/>
          <a:ext cx="4772264" cy="253257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32280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958349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881635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</a:tblGrid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Normalized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4190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Win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35%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4190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Total Fights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Finishes(KO/TKO)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Significant Strikes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0.80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69E9206-8A02-5DB3-D4AE-43936000B135}"/>
              </a:ext>
            </a:extLst>
          </p:cNvPr>
          <p:cNvSpPr txBox="1"/>
          <p:nvPr/>
        </p:nvSpPr>
        <p:spPr>
          <a:xfrm>
            <a:off x="2193506" y="3657825"/>
            <a:ext cx="101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Fighter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3217FC-3BDD-2753-E409-2DDD4082F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310348"/>
              </p:ext>
            </p:extLst>
          </p:nvPr>
        </p:nvGraphicFramePr>
        <p:xfrm>
          <a:off x="6647230" y="865658"/>
          <a:ext cx="4772264" cy="261449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07367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918904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</a:tblGrid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Normalized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Win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35%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Total Fights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Finishes(KO/TKO)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Significant Strikes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C897C2-1A03-5039-9481-BDB2CBC53327}"/>
              </a:ext>
            </a:extLst>
          </p:cNvPr>
          <p:cNvSpPr txBox="1"/>
          <p:nvPr/>
        </p:nvSpPr>
        <p:spPr>
          <a:xfrm>
            <a:off x="8405174" y="3657825"/>
            <a:ext cx="1012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Fighter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B6F7EA-2CAE-C364-8C75-31F245B12BBE}"/>
              </a:ext>
            </a:extLst>
          </p:cNvPr>
          <p:cNvSpPr txBox="1"/>
          <p:nvPr/>
        </p:nvSpPr>
        <p:spPr>
          <a:xfrm>
            <a:off x="1870259" y="4395460"/>
            <a:ext cx="732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Popularity Index </a:t>
            </a:r>
            <a:r>
              <a:rPr lang="en-US" sz="1600" baseline="-25000"/>
              <a:t>Fighter 1</a:t>
            </a:r>
            <a:r>
              <a:rPr lang="en-US" sz="1600"/>
              <a:t>  = (0.35*0.78) + (0.25*0.76) + (0.25*0.90) + (0.10*0.80) = 0.77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D349D5-4895-F1B0-E6F9-92AF1A4B4AE5}"/>
              </a:ext>
            </a:extLst>
          </p:cNvPr>
          <p:cNvSpPr txBox="1"/>
          <p:nvPr/>
        </p:nvSpPr>
        <p:spPr>
          <a:xfrm>
            <a:off x="1923050" y="4942466"/>
            <a:ext cx="8345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Popularity Index </a:t>
            </a:r>
            <a:r>
              <a:rPr lang="en-US" sz="1600" baseline="-25000"/>
              <a:t>Fighter 2  </a:t>
            </a:r>
            <a:r>
              <a:rPr lang="en-US" sz="1600"/>
              <a:t>= (0.35*0.73) + (0.25*0.80) + (0.25*0.83) + (0.10*0.71) = 0.73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EF1638-DD65-F76D-5C35-A43808D2ECDA}"/>
              </a:ext>
            </a:extLst>
          </p:cNvPr>
          <p:cNvSpPr txBox="1"/>
          <p:nvPr/>
        </p:nvSpPr>
        <p:spPr>
          <a:xfrm>
            <a:off x="3233431" y="5489473"/>
            <a:ext cx="4666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Combined Popularity Index = PI </a:t>
            </a:r>
            <a:r>
              <a:rPr lang="en-US" sz="1600" baseline="-25000"/>
              <a:t>Fighter 1</a:t>
            </a:r>
            <a:r>
              <a:rPr lang="en-US" sz="1600"/>
              <a:t> + PI </a:t>
            </a:r>
            <a:r>
              <a:rPr lang="en-US" sz="1600" baseline="-25000"/>
              <a:t>Fighter 2</a:t>
            </a:r>
            <a:r>
              <a:rPr lang="en-US" sz="1600"/>
              <a:t> = 1.5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96A26-E962-506D-0C6D-FD2CFF6956D3}"/>
              </a:ext>
            </a:extLst>
          </p:cNvPr>
          <p:cNvSpPr txBox="1"/>
          <p:nvPr/>
        </p:nvSpPr>
        <p:spPr>
          <a:xfrm>
            <a:off x="-297180" y="22517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48D9B-56D9-46E2-FEEA-BD4641DADA96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Matchmaking Metrics: The Formula Behind the Fight</a:t>
            </a:r>
          </a:p>
        </p:txBody>
      </p:sp>
    </p:spTree>
    <p:extLst>
      <p:ext uri="{BB962C8B-B14F-4D97-AF65-F5344CB8AC3E}">
        <p14:creationId xmlns:p14="http://schemas.microsoft.com/office/powerpoint/2010/main" val="46916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FF9F7-C192-806A-C1F9-8C591CDB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tattoos on his arm&#10;&#10;Description automatically generated">
            <a:extLst>
              <a:ext uri="{FF2B5EF4-FFF2-40B4-BE49-F238E27FC236}">
                <a16:creationId xmlns:a16="http://schemas.microsoft.com/office/drawing/2014/main" id="{BDD38ADD-F010-4F53-A381-7CB9BBA34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851431-D96F-1093-CEF2-B2A802489EB0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Unleashing Potential: Comparative Event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5CEF09-2A4E-DB91-1EE8-A271B1E0B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" r="448"/>
          <a:stretch/>
        </p:blipFill>
        <p:spPr>
          <a:xfrm>
            <a:off x="0" y="3209310"/>
            <a:ext cx="12192000" cy="3091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20629F-F515-96FF-F7F0-6D6D4EB96175}"/>
              </a:ext>
            </a:extLst>
          </p:cNvPr>
          <p:cNvSpPr txBox="1"/>
          <p:nvPr/>
        </p:nvSpPr>
        <p:spPr>
          <a:xfrm>
            <a:off x="3312795" y="6470001"/>
            <a:ext cx="8938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/>
              <a:t>The main and co-main matches for each city have been taken into account for the event rankings.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6E03F-642C-0770-29EF-9EA47343B7A5}"/>
              </a:ext>
            </a:extLst>
          </p:cNvPr>
          <p:cNvSpPr txBox="1"/>
          <p:nvPr/>
        </p:nvSpPr>
        <p:spPr>
          <a:xfrm>
            <a:off x="205740" y="859243"/>
            <a:ext cx="11780520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 Vegas: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Total Reward and Anchor Strength, strong expected PPV sales from Anchor.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New York: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Blockbuster Potential, but lowest Portfolio Balance (large PPV disparity) and lowest Risk Mitigation (higher risk).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Abu Dhabi: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Portfolio Balance (even PPV distribution) and good Marketability.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London: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Moderate performance across most metrics, relatively high Risk Mitigation (lower risk).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Rio de Janeiro: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Lowest Total Reward, Anchor Strength, Blockbuster Potential, and Marketability (lower expected PPV and popularity</a:t>
            </a:r>
            <a:r>
              <a:rPr lang="en-IN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High-Risk Mitigation and Good 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Portfolio Balance.</a:t>
            </a:r>
          </a:p>
        </p:txBody>
      </p:sp>
    </p:spTree>
    <p:extLst>
      <p:ext uri="{BB962C8B-B14F-4D97-AF65-F5344CB8AC3E}">
        <p14:creationId xmlns:p14="http://schemas.microsoft.com/office/powerpoint/2010/main" val="384407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40FD-ABF5-6C5B-50C8-9CB06B08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2C43F6-F2D0-37F5-A36C-0852BE91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39100"/>
              </p:ext>
            </p:extLst>
          </p:nvPr>
        </p:nvGraphicFramePr>
        <p:xfrm>
          <a:off x="549788" y="748494"/>
          <a:ext cx="10863821" cy="583732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69437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1871102911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2250101671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3439827279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820440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  <a:gridCol w="1820440">
                  <a:extLst>
                    <a:ext uri="{9D8B030D-6E8A-4147-A177-3AD203B41FA5}">
                      <a16:colId xmlns:a16="http://schemas.microsoft.com/office/drawing/2014/main" val="1428578527"/>
                    </a:ext>
                  </a:extLst>
                </a:gridCol>
              </a:tblGrid>
              <a:tr h="1132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Location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Media &amp; Marketing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Fighter Payouts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Venue &amp; Operations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Total Investment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Expected ROI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Expected Return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Las Vegas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20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15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43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55%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>
                          <a:effectLst/>
                        </a:rPr>
                        <a:t>23.65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Abu Dhabi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24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65%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15.60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New York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7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37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60%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22.20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London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19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68%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12.92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Rio de Janeiro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75%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10.50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22479"/>
                  </a:ext>
                </a:extLst>
              </a:tr>
            </a:tbl>
          </a:graphicData>
        </a:graphic>
      </p:graphicFrame>
      <p:pic>
        <p:nvPicPr>
          <p:cNvPr id="8" name="Picture 7" descr="A green white and black flag&#10;&#10;AI-generated content may be incorrect.">
            <a:extLst>
              <a:ext uri="{FF2B5EF4-FFF2-40B4-BE49-F238E27FC236}">
                <a16:creationId xmlns:a16="http://schemas.microsoft.com/office/drawing/2014/main" id="{3D3CE363-71C4-CADB-1816-43CDB4A2A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69" y="3253986"/>
            <a:ext cx="746078" cy="370693"/>
          </a:xfrm>
          <a:prstGeom prst="rect">
            <a:avLst/>
          </a:prstGeom>
        </p:spPr>
      </p:pic>
      <p:pic>
        <p:nvPicPr>
          <p:cNvPr id="10" name="Picture 9" descr="A flag with stars and stripes&#10;&#10;AI-generated content may be incorrect.">
            <a:extLst>
              <a:ext uri="{FF2B5EF4-FFF2-40B4-BE49-F238E27FC236}">
                <a16:creationId xmlns:a16="http://schemas.microsoft.com/office/drawing/2014/main" id="{66D8359F-2FB4-4AB0-DC56-E5E1947B5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69" y="2296301"/>
            <a:ext cx="746078" cy="412829"/>
          </a:xfrm>
          <a:prstGeom prst="rect">
            <a:avLst/>
          </a:prstGeom>
        </p:spPr>
      </p:pic>
      <p:pic>
        <p:nvPicPr>
          <p:cNvPr id="11" name="Picture 10" descr="A flag with stars and stripes&#10;&#10;AI-generated content may be incorrect.">
            <a:extLst>
              <a:ext uri="{FF2B5EF4-FFF2-40B4-BE49-F238E27FC236}">
                <a16:creationId xmlns:a16="http://schemas.microsoft.com/office/drawing/2014/main" id="{54B1E1D4-C3B7-42D6-C576-0C0FA63EB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69" y="4189543"/>
            <a:ext cx="746078" cy="412829"/>
          </a:xfrm>
          <a:prstGeom prst="rect">
            <a:avLst/>
          </a:prstGeom>
        </p:spPr>
      </p:pic>
      <p:pic>
        <p:nvPicPr>
          <p:cNvPr id="13" name="Picture 12" descr="A flag with a blue circle and white text&#10;&#10;AI-generated content may be incorrect.">
            <a:extLst>
              <a:ext uri="{FF2B5EF4-FFF2-40B4-BE49-F238E27FC236}">
                <a16:creationId xmlns:a16="http://schemas.microsoft.com/office/drawing/2014/main" id="{40D2E58B-584E-4C6E-1310-9B4BCCD1C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91" y="5977992"/>
            <a:ext cx="746079" cy="519271"/>
          </a:xfrm>
          <a:prstGeom prst="rect">
            <a:avLst/>
          </a:prstGeom>
        </p:spPr>
      </p:pic>
      <p:pic>
        <p:nvPicPr>
          <p:cNvPr id="15" name="Picture 14" descr="A flag with a cross in the middle with Great Britain in the background&#10;&#10;AI-generated content may be incorrect.">
            <a:extLst>
              <a:ext uri="{FF2B5EF4-FFF2-40B4-BE49-F238E27FC236}">
                <a16:creationId xmlns:a16="http://schemas.microsoft.com/office/drawing/2014/main" id="{90F9129F-21EA-20BA-85E5-6D5745F4C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91" y="5075796"/>
            <a:ext cx="740158" cy="4440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0A6435-0D08-180F-BB46-5B72A1DE9E7E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Maximizing Impact: Investment &amp; Returns Across Key UFC locations</a:t>
            </a:r>
          </a:p>
        </p:txBody>
      </p:sp>
    </p:spTree>
    <p:extLst>
      <p:ext uri="{BB962C8B-B14F-4D97-AF65-F5344CB8AC3E}">
        <p14:creationId xmlns:p14="http://schemas.microsoft.com/office/powerpoint/2010/main" val="389601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CD695E-B29F-E596-385E-478AD3F8C28D}"/>
              </a:ext>
            </a:extLst>
          </p:cNvPr>
          <p:cNvSpPr txBox="1"/>
          <p:nvPr/>
        </p:nvSpPr>
        <p:spPr>
          <a:xfrm>
            <a:off x="3654947" y="2705725"/>
            <a:ext cx="501816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3399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CFAF-7190-DC0F-E444-81FD47CA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tattoos on his arm&#10;&#10;Description automatically generated">
            <a:extLst>
              <a:ext uri="{FF2B5EF4-FFF2-40B4-BE49-F238E27FC236}">
                <a16:creationId xmlns:a16="http://schemas.microsoft.com/office/drawing/2014/main" id="{83AA445A-64B6-D557-7854-D14D4100E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0EE41D-A35C-2D16-407A-F0CE35155B0D}"/>
              </a:ext>
            </a:extLst>
          </p:cNvPr>
          <p:cNvSpPr txBox="1"/>
          <p:nvPr/>
        </p:nvSpPr>
        <p:spPr>
          <a:xfrm>
            <a:off x="5332858" y="6476870"/>
            <a:ext cx="6859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i="1" dirty="0"/>
              <a:t>The main and co-main matches for each city have been taken into account for the event rankings.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DE52F-23A5-346C-1606-E75EEF936657}"/>
              </a:ext>
            </a:extLst>
          </p:cNvPr>
          <p:cNvSpPr txBox="1"/>
          <p:nvPr/>
        </p:nvSpPr>
        <p:spPr>
          <a:xfrm>
            <a:off x="451878" y="78836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>
                <a:latin typeface="Calibri" panose="020F0502020204030204" pitchFamily="34" charset="0"/>
                <a:cs typeface="Calibri" panose="020F0502020204030204" pitchFamily="34" charset="0"/>
              </a:rPr>
              <a:t>Unleashing Potential: Comparative Event Analysis</a:t>
            </a:r>
            <a:endParaRPr lang="en-IN" sz="2400" b="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7874FDD-0099-AA95-6A10-391CBCE972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3" b="-389"/>
          <a:stretch>
            <a:fillRect/>
          </a:stretch>
        </p:blipFill>
        <p:spPr bwMode="auto">
          <a:xfrm>
            <a:off x="5914654" y="540501"/>
            <a:ext cx="6213339" cy="583223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EFE1A8-E369-E5DF-A8E5-2248EF174D52}"/>
              </a:ext>
            </a:extLst>
          </p:cNvPr>
          <p:cNvSpPr/>
          <p:nvPr/>
        </p:nvSpPr>
        <p:spPr>
          <a:xfrm>
            <a:off x="8330565" y="0"/>
            <a:ext cx="2031123" cy="6869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Combined graph (alternative)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573EA-6AB5-8CA6-0832-FD0C3EDEF481}"/>
              </a:ext>
            </a:extLst>
          </p:cNvPr>
          <p:cNvSpPr txBox="1"/>
          <p:nvPr/>
        </p:nvSpPr>
        <p:spPr>
          <a:xfrm>
            <a:off x="205740" y="859243"/>
            <a:ext cx="5644907" cy="545085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 Vegas: 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Highest Total Reward and Anchor Strength, strong expected PPV sales from Anchor.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New York: 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Highest Blockbuster Potential, but lowest Portfolio Balance (large PPV disparity) and lowest Risk Mitigation (higher risk).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Abu Dhabi: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Portfolio Balance (even PPV distribution) and good Marketability.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London: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Moderate performance across most metrics, relatively high Risk Mitigation (lower risk).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Rio de Janeiro: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Lowest Total Reward, Anchor Strength, Blockbuster Potential, and Marketability (lower expected PPV and popularity</a:t>
            </a:r>
            <a:r>
              <a:rPr lang="en-IN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High-Risk Mitigation and Good </a:t>
            </a:r>
            <a:r>
              <a:rPr lang="en-IN" b="0" i="0" dirty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Portfolio Balance.</a:t>
            </a:r>
          </a:p>
        </p:txBody>
      </p:sp>
    </p:spTree>
    <p:extLst>
      <p:ext uri="{BB962C8B-B14F-4D97-AF65-F5344CB8AC3E}">
        <p14:creationId xmlns:p14="http://schemas.microsoft.com/office/powerpoint/2010/main" val="39280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899</Words>
  <Application>Microsoft Macintosh PowerPoint</Application>
  <PresentationFormat>Widescreen</PresentationFormat>
  <Paragraphs>176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Nithya V</dc:creator>
  <cp:lastModifiedBy>Ramana prabhu Sana</cp:lastModifiedBy>
  <cp:revision>1</cp:revision>
  <dcterms:created xsi:type="dcterms:W3CDTF">2024-02-26T04:40:59Z</dcterms:created>
  <dcterms:modified xsi:type="dcterms:W3CDTF">2025-10-08T15:12:41Z</dcterms:modified>
</cp:coreProperties>
</file>