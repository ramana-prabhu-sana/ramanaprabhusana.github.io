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4"/>
  </p:sldMasterIdLst>
  <p:notesMasterIdLst>
    <p:notesMasterId r:id="rId34"/>
  </p:notesMasterIdLst>
  <p:sldIdLst>
    <p:sldId id="267" r:id="rId5"/>
    <p:sldId id="268" r:id="rId6"/>
    <p:sldId id="409" r:id="rId7"/>
    <p:sldId id="412" r:id="rId8"/>
    <p:sldId id="300" r:id="rId9"/>
    <p:sldId id="323" r:id="rId10"/>
    <p:sldId id="423" r:id="rId11"/>
    <p:sldId id="424" r:id="rId12"/>
    <p:sldId id="425" r:id="rId13"/>
    <p:sldId id="426" r:id="rId14"/>
    <p:sldId id="413" r:id="rId15"/>
    <p:sldId id="414" r:id="rId16"/>
    <p:sldId id="422" r:id="rId17"/>
    <p:sldId id="427" r:id="rId18"/>
    <p:sldId id="428" r:id="rId19"/>
    <p:sldId id="420" r:id="rId20"/>
    <p:sldId id="429" r:id="rId21"/>
    <p:sldId id="304" r:id="rId22"/>
    <p:sldId id="324" r:id="rId23"/>
    <p:sldId id="325" r:id="rId24"/>
    <p:sldId id="404" r:id="rId25"/>
    <p:sldId id="421" r:id="rId26"/>
    <p:sldId id="405" r:id="rId27"/>
    <p:sldId id="406" r:id="rId28"/>
    <p:sldId id="329" r:id="rId29"/>
    <p:sldId id="299" r:id="rId30"/>
    <p:sldId id="274" r:id="rId31"/>
    <p:sldId id="269" r:id="rId32"/>
    <p:sldId id="285" r:id="rId33"/>
  </p:sldIdLst>
  <p:sldSz cx="12192000" cy="6858000"/>
  <p:notesSz cx="6858000" cy="9144000"/>
  <p:embeddedFontLst>
    <p:embeddedFont>
      <p:font typeface="Acumin Pro" panose="020B0604020202020204" charset="0"/>
      <p:regular r:id="rId35"/>
      <p:bold r:id="rId36"/>
      <p:italic r:id="rId37"/>
      <p:boldItalic r:id="rId38"/>
    </p:embeddedFont>
    <p:embeddedFont>
      <p:font typeface="Acumin Pro Condensed Semibold" panose="020B0604020202020204" charset="0"/>
      <p:regular r:id="rId39"/>
      <p:bold r:id="rId40"/>
      <p:italic r:id="rId41"/>
      <p:boldItalic r:id="rId42"/>
    </p:embeddedFont>
    <p:embeddedFont>
      <p:font typeface="Acumin Pro Medium" panose="020B0604020202020204" charset="0"/>
      <p:regular r:id="rId43"/>
      <p:italic r:id="rId44"/>
    </p:embeddedFont>
    <p:embeddedFont>
      <p:font typeface="Acumin Pro Semibold" panose="020B0604020202020204" charset="0"/>
      <p:regular r:id="rId45"/>
      <p:bold r:id="rId46"/>
      <p:italic r:id="rId47"/>
      <p:boldItalic r:id="rId48"/>
    </p:embeddedFont>
    <p:embeddedFont>
      <p:font typeface="Franklin Gothic Book" panose="020B0503020102020204" pitchFamily="34" charset="0"/>
      <p:regular r:id="rId49"/>
      <p:italic r:id="rId50"/>
    </p:embeddedFont>
    <p:embeddedFont>
      <p:font typeface="Franklin Gothic Medium" panose="020B0603020102020204" pitchFamily="34" charset="0"/>
      <p:regular r:id="rId51"/>
      <p:italic r:id="rId52"/>
    </p:embeddedFont>
    <p:embeddedFont>
      <p:font typeface="Franklin Gothic Medium Cond" panose="020B0606030402020204" pitchFamily="34" charset="0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BF9D4ED-34DD-459C-B077-609AE9A63272}">
          <p14:sldIdLst>
            <p14:sldId id="267"/>
            <p14:sldId id="268"/>
            <p14:sldId id="409"/>
            <p14:sldId id="412"/>
          </p14:sldIdLst>
        </p14:section>
        <p14:section name="Intro" id="{0F7B4774-DAA2-4008-B4F9-7F734B0D4D6F}">
          <p14:sldIdLst>
            <p14:sldId id="300"/>
            <p14:sldId id="323"/>
            <p14:sldId id="423"/>
            <p14:sldId id="424"/>
            <p14:sldId id="425"/>
            <p14:sldId id="426"/>
            <p14:sldId id="413"/>
            <p14:sldId id="414"/>
            <p14:sldId id="422"/>
            <p14:sldId id="427"/>
            <p14:sldId id="428"/>
            <p14:sldId id="420"/>
            <p14:sldId id="429"/>
          </p14:sldIdLst>
        </p14:section>
        <p14:section name="Descriptive" id="{A4EF6E03-3FCE-4BB0-A21D-1CF970F9B6F2}">
          <p14:sldIdLst>
            <p14:sldId id="304"/>
            <p14:sldId id="324"/>
            <p14:sldId id="325"/>
            <p14:sldId id="404"/>
            <p14:sldId id="421"/>
          </p14:sldIdLst>
        </p14:section>
        <p14:section name="Assignment 1" id="{B085167A-3D40-4749-9A90-EA755DB5CF4C}">
          <p14:sldIdLst>
            <p14:sldId id="405"/>
            <p14:sldId id="406"/>
            <p14:sldId id="329"/>
          </p14:sldIdLst>
        </p14:section>
        <p14:section name="Group Project" id="{0190CA0E-E2AA-4B9E-94AE-3250C830C7E3}">
          <p14:sldIdLst>
            <p14:sldId id="299"/>
            <p14:sldId id="274"/>
            <p14:sldId id="269"/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D99F"/>
    <a:srgbClr val="CFB991"/>
    <a:srgbClr val="DDB9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/>
  </p:normalViewPr>
  <p:slideViewPr>
    <p:cSldViewPr snapToGrid="0">
      <p:cViewPr varScale="1">
        <p:scale>
          <a:sx n="102" d="100"/>
          <a:sy n="102" d="100"/>
        </p:scale>
        <p:origin x="150" y="828"/>
      </p:cViewPr>
      <p:guideLst>
        <p:guide orient="horz" pos="1080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5.fntdata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font" Target="fonts/font19.fntdata"/><Relationship Id="rId58" Type="http://schemas.microsoft.com/office/2018/10/relationships/authors" Target="author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font" Target="fonts/font17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6.xml"/><Relationship Id="rId41" Type="http://schemas.openxmlformats.org/officeDocument/2006/relationships/font" Target="fonts/font7.fntdata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2.fntdata"/><Relationship Id="rId49" Type="http://schemas.openxmlformats.org/officeDocument/2006/relationships/font" Target="fonts/font15.fntdata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font" Target="fonts/font10.fntdata"/><Relationship Id="rId52" Type="http://schemas.openxmlformats.org/officeDocument/2006/relationships/font" Target="fonts/font18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F2AB27-46F7-4845-B94B-7E03A85F388B}" type="doc">
      <dgm:prSet loTypeId="urn:microsoft.com/office/officeart/2005/8/layout/cycle5" loCatId="cycle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87EA6A6B-A542-4581-8C4C-1215E9108DAD}">
      <dgm:prSet phldrT="[Text]" custT="1"/>
      <dgm:spPr/>
      <dgm:t>
        <a:bodyPr/>
        <a:lstStyle/>
        <a:p>
          <a:r>
            <a:rPr lang="en-US" sz="1600" b="1" dirty="0"/>
            <a:t>1. Identifies trends and correlations</a:t>
          </a:r>
        </a:p>
      </dgm:t>
    </dgm:pt>
    <dgm:pt modelId="{EBAEED0C-1DA1-44A9-8914-3E50E5A6D620}" type="parTrans" cxnId="{267047CC-660C-4F3C-8E6A-0177018CB09F}">
      <dgm:prSet/>
      <dgm:spPr/>
      <dgm:t>
        <a:bodyPr/>
        <a:lstStyle/>
        <a:p>
          <a:endParaRPr lang="en-US" sz="1600"/>
        </a:p>
      </dgm:t>
    </dgm:pt>
    <dgm:pt modelId="{DD4A1CD5-7156-404C-934D-FA2837472D9C}" type="sibTrans" cxnId="{267047CC-660C-4F3C-8E6A-0177018CB09F}">
      <dgm:prSet/>
      <dgm:spPr/>
      <dgm:t>
        <a:bodyPr/>
        <a:lstStyle/>
        <a:p>
          <a:endParaRPr lang="en-US" sz="1600"/>
        </a:p>
      </dgm:t>
    </dgm:pt>
    <dgm:pt modelId="{31E12A1B-1EA4-444C-8695-90AEDBEED0A2}">
      <dgm:prSet phldrT="[Text]" custT="1"/>
      <dgm:spPr/>
      <dgm:t>
        <a:bodyPr/>
        <a:lstStyle/>
        <a:p>
          <a:r>
            <a:rPr lang="en-US" sz="1600" b="1" dirty="0"/>
            <a:t>2. Enhances data interpretation</a:t>
          </a:r>
        </a:p>
      </dgm:t>
    </dgm:pt>
    <dgm:pt modelId="{39603393-2DA0-465A-9D13-527277F4DDB7}" type="parTrans" cxnId="{B557B4AB-A33E-48DA-B42A-591A09E6538C}">
      <dgm:prSet/>
      <dgm:spPr/>
      <dgm:t>
        <a:bodyPr/>
        <a:lstStyle/>
        <a:p>
          <a:endParaRPr lang="en-US" sz="1600"/>
        </a:p>
      </dgm:t>
    </dgm:pt>
    <dgm:pt modelId="{C19F1E58-105A-47E3-A05C-4332CD6B94B1}" type="sibTrans" cxnId="{B557B4AB-A33E-48DA-B42A-591A09E6538C}">
      <dgm:prSet/>
      <dgm:spPr/>
      <dgm:t>
        <a:bodyPr/>
        <a:lstStyle/>
        <a:p>
          <a:endParaRPr lang="en-US" sz="1600"/>
        </a:p>
      </dgm:t>
    </dgm:pt>
    <dgm:pt modelId="{222067CA-D8FC-4334-AA35-73FF97EAFA50}">
      <dgm:prSet phldrT="[Text]" custT="1"/>
      <dgm:spPr/>
      <dgm:t>
        <a:bodyPr/>
        <a:lstStyle/>
        <a:p>
          <a:r>
            <a:rPr lang="en-US" sz="1600" b="1" dirty="0"/>
            <a:t>3. Increases engagement and comprehension</a:t>
          </a:r>
        </a:p>
      </dgm:t>
    </dgm:pt>
    <dgm:pt modelId="{F7C18FAD-BA4C-4B9B-A053-C673474BC4C4}" type="parTrans" cxnId="{9D4216A3-F149-4811-B35A-C753B913C86A}">
      <dgm:prSet/>
      <dgm:spPr/>
      <dgm:t>
        <a:bodyPr/>
        <a:lstStyle/>
        <a:p>
          <a:endParaRPr lang="en-US" sz="1600"/>
        </a:p>
      </dgm:t>
    </dgm:pt>
    <dgm:pt modelId="{30E29644-ADC1-4464-AA3F-1F74B9FBD728}" type="sibTrans" cxnId="{9D4216A3-F149-4811-B35A-C753B913C86A}">
      <dgm:prSet/>
      <dgm:spPr/>
      <dgm:t>
        <a:bodyPr/>
        <a:lstStyle/>
        <a:p>
          <a:endParaRPr lang="en-US" sz="1600"/>
        </a:p>
      </dgm:t>
    </dgm:pt>
    <dgm:pt modelId="{20B3073F-4662-4F01-AEF7-C8480B72EFE9}">
      <dgm:prSet phldrT="[Text]" custT="1"/>
      <dgm:spPr/>
      <dgm:t>
        <a:bodyPr/>
        <a:lstStyle/>
        <a:p>
          <a:r>
            <a:rPr lang="en-US" sz="1600" b="1" dirty="0"/>
            <a:t>4. Communicates complex data effectively</a:t>
          </a:r>
        </a:p>
      </dgm:t>
    </dgm:pt>
    <dgm:pt modelId="{17FE4791-D474-445A-BB50-FC6C0E182017}" type="parTrans" cxnId="{0DA4F446-72F4-4475-8F6F-24795306F24A}">
      <dgm:prSet/>
      <dgm:spPr/>
      <dgm:t>
        <a:bodyPr/>
        <a:lstStyle/>
        <a:p>
          <a:endParaRPr lang="en-US" sz="1600"/>
        </a:p>
      </dgm:t>
    </dgm:pt>
    <dgm:pt modelId="{EF87C0EA-58D2-4E57-B07E-DED1E55D29B0}" type="sibTrans" cxnId="{0DA4F446-72F4-4475-8F6F-24795306F24A}">
      <dgm:prSet/>
      <dgm:spPr/>
      <dgm:t>
        <a:bodyPr/>
        <a:lstStyle/>
        <a:p>
          <a:endParaRPr lang="en-US" sz="1600"/>
        </a:p>
      </dgm:t>
    </dgm:pt>
    <dgm:pt modelId="{5D4E6FEA-0491-4A9F-B8C9-2F1256A1D101}">
      <dgm:prSet phldrT="[Text]" custT="1"/>
      <dgm:spPr>
        <a:ln>
          <a:solidFill>
            <a:srgbClr val="0070C0"/>
          </a:solidFill>
        </a:ln>
      </dgm:spPr>
      <dgm:t>
        <a:bodyPr/>
        <a:lstStyle/>
        <a:p>
          <a:r>
            <a:rPr lang="en-US" sz="1600" b="1" dirty="0">
              <a:solidFill>
                <a:srgbClr val="0070C0"/>
              </a:solidFill>
            </a:rPr>
            <a:t>5. Improves decision-making</a:t>
          </a:r>
        </a:p>
      </dgm:t>
    </dgm:pt>
    <dgm:pt modelId="{A82B0F5C-773B-4FFE-A0BE-B3DD58050701}" type="parTrans" cxnId="{05389735-6B8E-4E34-BDA8-54B34FC778D0}">
      <dgm:prSet/>
      <dgm:spPr/>
      <dgm:t>
        <a:bodyPr/>
        <a:lstStyle/>
        <a:p>
          <a:endParaRPr lang="en-US" sz="1600"/>
        </a:p>
      </dgm:t>
    </dgm:pt>
    <dgm:pt modelId="{8B7EB3B8-56F6-4C99-8D4E-2B45788822E2}" type="sibTrans" cxnId="{05389735-6B8E-4E34-BDA8-54B34FC778D0}">
      <dgm:prSet/>
      <dgm:spPr/>
      <dgm:t>
        <a:bodyPr/>
        <a:lstStyle/>
        <a:p>
          <a:endParaRPr lang="en-US" sz="1600"/>
        </a:p>
      </dgm:t>
    </dgm:pt>
    <dgm:pt modelId="{0411D95B-DCCE-4CF6-AB10-5EA967129794}" type="pres">
      <dgm:prSet presAssocID="{F7F2AB27-46F7-4845-B94B-7E03A85F388B}" presName="cycle" presStyleCnt="0">
        <dgm:presLayoutVars>
          <dgm:dir/>
          <dgm:resizeHandles val="exact"/>
        </dgm:presLayoutVars>
      </dgm:prSet>
      <dgm:spPr/>
    </dgm:pt>
    <dgm:pt modelId="{FFF1781D-2847-4925-B3AD-183F1AD3B901}" type="pres">
      <dgm:prSet presAssocID="{87EA6A6B-A542-4581-8C4C-1215E9108DAD}" presName="node" presStyleLbl="node1" presStyleIdx="0" presStyleCnt="5" custScaleX="120703">
        <dgm:presLayoutVars>
          <dgm:bulletEnabled val="1"/>
        </dgm:presLayoutVars>
      </dgm:prSet>
      <dgm:spPr/>
    </dgm:pt>
    <dgm:pt modelId="{7AB349A4-332A-418D-AAB7-5C6E59FE5B85}" type="pres">
      <dgm:prSet presAssocID="{87EA6A6B-A542-4581-8C4C-1215E9108DAD}" presName="spNode" presStyleCnt="0"/>
      <dgm:spPr/>
    </dgm:pt>
    <dgm:pt modelId="{EDAA4D6F-A6EC-4AF7-9124-E6217A1FD5B8}" type="pres">
      <dgm:prSet presAssocID="{DD4A1CD5-7156-404C-934D-FA2837472D9C}" presName="sibTrans" presStyleLbl="sibTrans1D1" presStyleIdx="0" presStyleCnt="5"/>
      <dgm:spPr/>
    </dgm:pt>
    <dgm:pt modelId="{567D5814-9744-4AE4-B866-55064B4C5FCF}" type="pres">
      <dgm:prSet presAssocID="{31E12A1B-1EA4-444C-8695-90AEDBEED0A2}" presName="node" presStyleLbl="node1" presStyleIdx="1" presStyleCnt="5" custScaleX="120703">
        <dgm:presLayoutVars>
          <dgm:bulletEnabled val="1"/>
        </dgm:presLayoutVars>
      </dgm:prSet>
      <dgm:spPr/>
    </dgm:pt>
    <dgm:pt modelId="{4F8DD7F9-6341-47B8-B96E-5C6D0316E935}" type="pres">
      <dgm:prSet presAssocID="{31E12A1B-1EA4-444C-8695-90AEDBEED0A2}" presName="spNode" presStyleCnt="0"/>
      <dgm:spPr/>
    </dgm:pt>
    <dgm:pt modelId="{0418A721-71A8-4B04-9138-20593770E1C3}" type="pres">
      <dgm:prSet presAssocID="{C19F1E58-105A-47E3-A05C-4332CD6B94B1}" presName="sibTrans" presStyleLbl="sibTrans1D1" presStyleIdx="1" presStyleCnt="5"/>
      <dgm:spPr/>
    </dgm:pt>
    <dgm:pt modelId="{81989AB9-44FD-4624-81B7-434E9A7A6E5B}" type="pres">
      <dgm:prSet presAssocID="{222067CA-D8FC-4334-AA35-73FF97EAFA50}" presName="node" presStyleLbl="node1" presStyleIdx="2" presStyleCnt="5" custScaleX="120703">
        <dgm:presLayoutVars>
          <dgm:bulletEnabled val="1"/>
        </dgm:presLayoutVars>
      </dgm:prSet>
      <dgm:spPr/>
    </dgm:pt>
    <dgm:pt modelId="{8A23A1C1-FD25-4C49-A53F-EC9F57E81D6A}" type="pres">
      <dgm:prSet presAssocID="{222067CA-D8FC-4334-AA35-73FF97EAFA50}" presName="spNode" presStyleCnt="0"/>
      <dgm:spPr/>
    </dgm:pt>
    <dgm:pt modelId="{03E1BA10-9D74-439C-A6FB-0758752208AB}" type="pres">
      <dgm:prSet presAssocID="{30E29644-ADC1-4464-AA3F-1F74B9FBD728}" presName="sibTrans" presStyleLbl="sibTrans1D1" presStyleIdx="2" presStyleCnt="5"/>
      <dgm:spPr/>
    </dgm:pt>
    <dgm:pt modelId="{189266B0-7171-44DE-86D2-9600CE7FCB5D}" type="pres">
      <dgm:prSet presAssocID="{20B3073F-4662-4F01-AEF7-C8480B72EFE9}" presName="node" presStyleLbl="node1" presStyleIdx="3" presStyleCnt="5" custScaleX="120703">
        <dgm:presLayoutVars>
          <dgm:bulletEnabled val="1"/>
        </dgm:presLayoutVars>
      </dgm:prSet>
      <dgm:spPr/>
    </dgm:pt>
    <dgm:pt modelId="{6445115F-3641-41BA-8270-B300166AB928}" type="pres">
      <dgm:prSet presAssocID="{20B3073F-4662-4F01-AEF7-C8480B72EFE9}" presName="spNode" presStyleCnt="0"/>
      <dgm:spPr/>
    </dgm:pt>
    <dgm:pt modelId="{E81B256C-A4CC-4A81-9D85-CC1D00911DA0}" type="pres">
      <dgm:prSet presAssocID="{EF87C0EA-58D2-4E57-B07E-DED1E55D29B0}" presName="sibTrans" presStyleLbl="sibTrans1D1" presStyleIdx="3" presStyleCnt="5"/>
      <dgm:spPr/>
    </dgm:pt>
    <dgm:pt modelId="{60A202A9-B2FB-4C11-9585-D46455357F1E}" type="pres">
      <dgm:prSet presAssocID="{5D4E6FEA-0491-4A9F-B8C9-2F1256A1D101}" presName="node" presStyleLbl="node1" presStyleIdx="4" presStyleCnt="5" custScaleX="120703">
        <dgm:presLayoutVars>
          <dgm:bulletEnabled val="1"/>
        </dgm:presLayoutVars>
      </dgm:prSet>
      <dgm:spPr/>
    </dgm:pt>
    <dgm:pt modelId="{27B90DAB-FBC0-419A-BCA9-A4DEA5805631}" type="pres">
      <dgm:prSet presAssocID="{5D4E6FEA-0491-4A9F-B8C9-2F1256A1D101}" presName="spNode" presStyleCnt="0"/>
      <dgm:spPr/>
    </dgm:pt>
    <dgm:pt modelId="{D52B5BE3-E3D9-471A-A823-F3FE9FAE3DC4}" type="pres">
      <dgm:prSet presAssocID="{8B7EB3B8-56F6-4C99-8D4E-2B45788822E2}" presName="sibTrans" presStyleLbl="sibTrans1D1" presStyleIdx="4" presStyleCnt="5"/>
      <dgm:spPr/>
    </dgm:pt>
  </dgm:ptLst>
  <dgm:cxnLst>
    <dgm:cxn modelId="{DEE7E104-7F0A-402F-BB0D-C7514DE82546}" type="presOf" srcId="{C19F1E58-105A-47E3-A05C-4332CD6B94B1}" destId="{0418A721-71A8-4B04-9138-20593770E1C3}" srcOrd="0" destOrd="0" presId="urn:microsoft.com/office/officeart/2005/8/layout/cycle5"/>
    <dgm:cxn modelId="{05389735-6B8E-4E34-BDA8-54B34FC778D0}" srcId="{F7F2AB27-46F7-4845-B94B-7E03A85F388B}" destId="{5D4E6FEA-0491-4A9F-B8C9-2F1256A1D101}" srcOrd="4" destOrd="0" parTransId="{A82B0F5C-773B-4FFE-A0BE-B3DD58050701}" sibTransId="{8B7EB3B8-56F6-4C99-8D4E-2B45788822E2}"/>
    <dgm:cxn modelId="{C1892F38-4E00-4FFF-A442-94C694CB5B08}" type="presOf" srcId="{EF87C0EA-58D2-4E57-B07E-DED1E55D29B0}" destId="{E81B256C-A4CC-4A81-9D85-CC1D00911DA0}" srcOrd="0" destOrd="0" presId="urn:microsoft.com/office/officeart/2005/8/layout/cycle5"/>
    <dgm:cxn modelId="{0DA4F446-72F4-4475-8F6F-24795306F24A}" srcId="{F7F2AB27-46F7-4845-B94B-7E03A85F388B}" destId="{20B3073F-4662-4F01-AEF7-C8480B72EFE9}" srcOrd="3" destOrd="0" parTransId="{17FE4791-D474-445A-BB50-FC6C0E182017}" sibTransId="{EF87C0EA-58D2-4E57-B07E-DED1E55D29B0}"/>
    <dgm:cxn modelId="{A4561073-CBD8-43C7-B5C8-F68F78523EE5}" type="presOf" srcId="{222067CA-D8FC-4334-AA35-73FF97EAFA50}" destId="{81989AB9-44FD-4624-81B7-434E9A7A6E5B}" srcOrd="0" destOrd="0" presId="urn:microsoft.com/office/officeart/2005/8/layout/cycle5"/>
    <dgm:cxn modelId="{976DFC5A-A5D8-4FD0-A5FF-4542B2882954}" type="presOf" srcId="{DD4A1CD5-7156-404C-934D-FA2837472D9C}" destId="{EDAA4D6F-A6EC-4AF7-9124-E6217A1FD5B8}" srcOrd="0" destOrd="0" presId="urn:microsoft.com/office/officeart/2005/8/layout/cycle5"/>
    <dgm:cxn modelId="{07078B9E-D8E5-4007-8754-EBD0C0C44695}" type="presOf" srcId="{87EA6A6B-A542-4581-8C4C-1215E9108DAD}" destId="{FFF1781D-2847-4925-B3AD-183F1AD3B901}" srcOrd="0" destOrd="0" presId="urn:microsoft.com/office/officeart/2005/8/layout/cycle5"/>
    <dgm:cxn modelId="{9D4216A3-F149-4811-B35A-C753B913C86A}" srcId="{F7F2AB27-46F7-4845-B94B-7E03A85F388B}" destId="{222067CA-D8FC-4334-AA35-73FF97EAFA50}" srcOrd="2" destOrd="0" parTransId="{F7C18FAD-BA4C-4B9B-A053-C673474BC4C4}" sibTransId="{30E29644-ADC1-4464-AA3F-1F74B9FBD728}"/>
    <dgm:cxn modelId="{B557B4AB-A33E-48DA-B42A-591A09E6538C}" srcId="{F7F2AB27-46F7-4845-B94B-7E03A85F388B}" destId="{31E12A1B-1EA4-444C-8695-90AEDBEED0A2}" srcOrd="1" destOrd="0" parTransId="{39603393-2DA0-465A-9D13-527277F4DDB7}" sibTransId="{C19F1E58-105A-47E3-A05C-4332CD6B94B1}"/>
    <dgm:cxn modelId="{807593B3-234D-44D4-9CFD-9468926D8705}" type="presOf" srcId="{30E29644-ADC1-4464-AA3F-1F74B9FBD728}" destId="{03E1BA10-9D74-439C-A6FB-0758752208AB}" srcOrd="0" destOrd="0" presId="urn:microsoft.com/office/officeart/2005/8/layout/cycle5"/>
    <dgm:cxn modelId="{E00CB7B5-4BE6-4B04-9BB0-9EE396295DF6}" type="presOf" srcId="{5D4E6FEA-0491-4A9F-B8C9-2F1256A1D101}" destId="{60A202A9-B2FB-4C11-9585-D46455357F1E}" srcOrd="0" destOrd="0" presId="urn:microsoft.com/office/officeart/2005/8/layout/cycle5"/>
    <dgm:cxn modelId="{E68293B8-3186-4EF0-8133-C5C81BEC1B8A}" type="presOf" srcId="{F7F2AB27-46F7-4845-B94B-7E03A85F388B}" destId="{0411D95B-DCCE-4CF6-AB10-5EA967129794}" srcOrd="0" destOrd="0" presId="urn:microsoft.com/office/officeart/2005/8/layout/cycle5"/>
    <dgm:cxn modelId="{9012FBBC-E493-4C73-BD48-6D9A66421218}" type="presOf" srcId="{8B7EB3B8-56F6-4C99-8D4E-2B45788822E2}" destId="{D52B5BE3-E3D9-471A-A823-F3FE9FAE3DC4}" srcOrd="0" destOrd="0" presId="urn:microsoft.com/office/officeart/2005/8/layout/cycle5"/>
    <dgm:cxn modelId="{267047CC-660C-4F3C-8E6A-0177018CB09F}" srcId="{F7F2AB27-46F7-4845-B94B-7E03A85F388B}" destId="{87EA6A6B-A542-4581-8C4C-1215E9108DAD}" srcOrd="0" destOrd="0" parTransId="{EBAEED0C-1DA1-44A9-8914-3E50E5A6D620}" sibTransId="{DD4A1CD5-7156-404C-934D-FA2837472D9C}"/>
    <dgm:cxn modelId="{1C9EFDD8-D288-45D2-BC42-F1FB4E781A5C}" type="presOf" srcId="{20B3073F-4662-4F01-AEF7-C8480B72EFE9}" destId="{189266B0-7171-44DE-86D2-9600CE7FCB5D}" srcOrd="0" destOrd="0" presId="urn:microsoft.com/office/officeart/2005/8/layout/cycle5"/>
    <dgm:cxn modelId="{67B445F8-A3A5-4073-865D-CA939A4C7AF1}" type="presOf" srcId="{31E12A1B-1EA4-444C-8695-90AEDBEED0A2}" destId="{567D5814-9744-4AE4-B866-55064B4C5FCF}" srcOrd="0" destOrd="0" presId="urn:microsoft.com/office/officeart/2005/8/layout/cycle5"/>
    <dgm:cxn modelId="{21934D90-571B-4B14-8286-5337725BBCC1}" type="presParOf" srcId="{0411D95B-DCCE-4CF6-AB10-5EA967129794}" destId="{FFF1781D-2847-4925-B3AD-183F1AD3B901}" srcOrd="0" destOrd="0" presId="urn:microsoft.com/office/officeart/2005/8/layout/cycle5"/>
    <dgm:cxn modelId="{DA2DE791-4069-4925-BC6E-368E0CE9326B}" type="presParOf" srcId="{0411D95B-DCCE-4CF6-AB10-5EA967129794}" destId="{7AB349A4-332A-418D-AAB7-5C6E59FE5B85}" srcOrd="1" destOrd="0" presId="urn:microsoft.com/office/officeart/2005/8/layout/cycle5"/>
    <dgm:cxn modelId="{1C08EC96-1850-485D-9B30-9FAC28EEA3B8}" type="presParOf" srcId="{0411D95B-DCCE-4CF6-AB10-5EA967129794}" destId="{EDAA4D6F-A6EC-4AF7-9124-E6217A1FD5B8}" srcOrd="2" destOrd="0" presId="urn:microsoft.com/office/officeart/2005/8/layout/cycle5"/>
    <dgm:cxn modelId="{66C49CDA-2E35-4BD1-9B0B-EC21BC60EA57}" type="presParOf" srcId="{0411D95B-DCCE-4CF6-AB10-5EA967129794}" destId="{567D5814-9744-4AE4-B866-55064B4C5FCF}" srcOrd="3" destOrd="0" presId="urn:microsoft.com/office/officeart/2005/8/layout/cycle5"/>
    <dgm:cxn modelId="{9B75231D-CD62-4C44-A7A9-4545252EBFDA}" type="presParOf" srcId="{0411D95B-DCCE-4CF6-AB10-5EA967129794}" destId="{4F8DD7F9-6341-47B8-B96E-5C6D0316E935}" srcOrd="4" destOrd="0" presId="urn:microsoft.com/office/officeart/2005/8/layout/cycle5"/>
    <dgm:cxn modelId="{272314DB-7B9D-41D0-BE48-F2AF31EA2A3B}" type="presParOf" srcId="{0411D95B-DCCE-4CF6-AB10-5EA967129794}" destId="{0418A721-71A8-4B04-9138-20593770E1C3}" srcOrd="5" destOrd="0" presId="urn:microsoft.com/office/officeart/2005/8/layout/cycle5"/>
    <dgm:cxn modelId="{A1FEADAB-DF7F-484B-8930-C8A1F07E5234}" type="presParOf" srcId="{0411D95B-DCCE-4CF6-AB10-5EA967129794}" destId="{81989AB9-44FD-4624-81B7-434E9A7A6E5B}" srcOrd="6" destOrd="0" presId="urn:microsoft.com/office/officeart/2005/8/layout/cycle5"/>
    <dgm:cxn modelId="{40D5F364-9D93-4E14-92AE-8C7863EFF35F}" type="presParOf" srcId="{0411D95B-DCCE-4CF6-AB10-5EA967129794}" destId="{8A23A1C1-FD25-4C49-A53F-EC9F57E81D6A}" srcOrd="7" destOrd="0" presId="urn:microsoft.com/office/officeart/2005/8/layout/cycle5"/>
    <dgm:cxn modelId="{2805B90E-B6A0-438B-9E06-E001B8C9C501}" type="presParOf" srcId="{0411D95B-DCCE-4CF6-AB10-5EA967129794}" destId="{03E1BA10-9D74-439C-A6FB-0758752208AB}" srcOrd="8" destOrd="0" presId="urn:microsoft.com/office/officeart/2005/8/layout/cycle5"/>
    <dgm:cxn modelId="{7D01B85D-5190-4532-919C-EBE451059581}" type="presParOf" srcId="{0411D95B-DCCE-4CF6-AB10-5EA967129794}" destId="{189266B0-7171-44DE-86D2-9600CE7FCB5D}" srcOrd="9" destOrd="0" presId="urn:microsoft.com/office/officeart/2005/8/layout/cycle5"/>
    <dgm:cxn modelId="{EBCD4EE1-F856-45E4-A15D-73BAA40C75F5}" type="presParOf" srcId="{0411D95B-DCCE-4CF6-AB10-5EA967129794}" destId="{6445115F-3641-41BA-8270-B300166AB928}" srcOrd="10" destOrd="0" presId="urn:microsoft.com/office/officeart/2005/8/layout/cycle5"/>
    <dgm:cxn modelId="{3D3915BE-B220-4903-9BEA-3707B567F0BE}" type="presParOf" srcId="{0411D95B-DCCE-4CF6-AB10-5EA967129794}" destId="{E81B256C-A4CC-4A81-9D85-CC1D00911DA0}" srcOrd="11" destOrd="0" presId="urn:microsoft.com/office/officeart/2005/8/layout/cycle5"/>
    <dgm:cxn modelId="{D89181B6-75DB-430B-9829-D216F339D97D}" type="presParOf" srcId="{0411D95B-DCCE-4CF6-AB10-5EA967129794}" destId="{60A202A9-B2FB-4C11-9585-D46455357F1E}" srcOrd="12" destOrd="0" presId="urn:microsoft.com/office/officeart/2005/8/layout/cycle5"/>
    <dgm:cxn modelId="{C19A6033-3991-4722-9090-BAF6A895AFFE}" type="presParOf" srcId="{0411D95B-DCCE-4CF6-AB10-5EA967129794}" destId="{27B90DAB-FBC0-419A-BCA9-A4DEA5805631}" srcOrd="13" destOrd="0" presId="urn:microsoft.com/office/officeart/2005/8/layout/cycle5"/>
    <dgm:cxn modelId="{6D31492B-7BAB-4692-AF46-2035D36F0D97}" type="presParOf" srcId="{0411D95B-DCCE-4CF6-AB10-5EA967129794}" destId="{D52B5BE3-E3D9-471A-A823-F3FE9FAE3DC4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F1781D-2847-4925-B3AD-183F1AD3B901}">
      <dsp:nvSpPr>
        <dsp:cNvPr id="0" name=""/>
        <dsp:cNvSpPr/>
      </dsp:nvSpPr>
      <dsp:spPr>
        <a:xfrm>
          <a:off x="4750106" y="987"/>
          <a:ext cx="1766274" cy="951159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1. Identifies trends and correlations</a:t>
          </a:r>
        </a:p>
      </dsp:txBody>
      <dsp:txXfrm>
        <a:off x="4796538" y="47419"/>
        <a:ext cx="1673410" cy="858295"/>
      </dsp:txXfrm>
    </dsp:sp>
    <dsp:sp modelId="{EDAA4D6F-A6EC-4AF7-9124-E6217A1FD5B8}">
      <dsp:nvSpPr>
        <dsp:cNvPr id="0" name=""/>
        <dsp:cNvSpPr/>
      </dsp:nvSpPr>
      <dsp:spPr>
        <a:xfrm>
          <a:off x="3732558" y="476567"/>
          <a:ext cx="3801370" cy="3801370"/>
        </a:xfrm>
        <a:custGeom>
          <a:avLst/>
          <a:gdLst/>
          <a:ahLst/>
          <a:cxnLst/>
          <a:rect l="0" t="0" r="0" b="0"/>
          <a:pathLst>
            <a:path>
              <a:moveTo>
                <a:pt x="2943973" y="311926"/>
              </a:moveTo>
              <a:arcTo wR="1900685" hR="1900685" stAng="18197500" swAng="1026060"/>
            </a:path>
          </a:pathLst>
        </a:cu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7D5814-9744-4AE4-B866-55064B4C5FCF}">
      <dsp:nvSpPr>
        <dsp:cNvPr id="0" name=""/>
        <dsp:cNvSpPr/>
      </dsp:nvSpPr>
      <dsp:spPr>
        <a:xfrm>
          <a:off x="6557765" y="1314329"/>
          <a:ext cx="1766274" cy="951159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2. Enhances data interpretation</a:t>
          </a:r>
        </a:p>
      </dsp:txBody>
      <dsp:txXfrm>
        <a:off x="6604197" y="1360761"/>
        <a:ext cx="1673410" cy="858295"/>
      </dsp:txXfrm>
    </dsp:sp>
    <dsp:sp modelId="{0418A721-71A8-4B04-9138-20593770E1C3}">
      <dsp:nvSpPr>
        <dsp:cNvPr id="0" name=""/>
        <dsp:cNvSpPr/>
      </dsp:nvSpPr>
      <dsp:spPr>
        <a:xfrm>
          <a:off x="3732558" y="476567"/>
          <a:ext cx="3801370" cy="3801370"/>
        </a:xfrm>
        <a:custGeom>
          <a:avLst/>
          <a:gdLst/>
          <a:ahLst/>
          <a:cxnLst/>
          <a:rect l="0" t="0" r="0" b="0"/>
          <a:pathLst>
            <a:path>
              <a:moveTo>
                <a:pt x="3796818" y="2032153"/>
              </a:moveTo>
              <a:arcTo wR="1900685" hR="1900685" stAng="21837975" swAng="1360166"/>
            </a:path>
          </a:pathLst>
        </a:cu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989AB9-44FD-4624-81B7-434E9A7A6E5B}">
      <dsp:nvSpPr>
        <dsp:cNvPr id="0" name=""/>
        <dsp:cNvSpPr/>
      </dsp:nvSpPr>
      <dsp:spPr>
        <a:xfrm>
          <a:off x="5867300" y="3439359"/>
          <a:ext cx="1766274" cy="951159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3. Increases engagement and comprehension</a:t>
          </a:r>
        </a:p>
      </dsp:txBody>
      <dsp:txXfrm>
        <a:off x="5913732" y="3485791"/>
        <a:ext cx="1673410" cy="858295"/>
      </dsp:txXfrm>
    </dsp:sp>
    <dsp:sp modelId="{03E1BA10-9D74-439C-A6FB-0758752208AB}">
      <dsp:nvSpPr>
        <dsp:cNvPr id="0" name=""/>
        <dsp:cNvSpPr/>
      </dsp:nvSpPr>
      <dsp:spPr>
        <a:xfrm>
          <a:off x="3732558" y="476567"/>
          <a:ext cx="3801370" cy="3801370"/>
        </a:xfrm>
        <a:custGeom>
          <a:avLst/>
          <a:gdLst/>
          <a:ahLst/>
          <a:cxnLst/>
          <a:rect l="0" t="0" r="0" b="0"/>
          <a:pathLst>
            <a:path>
              <a:moveTo>
                <a:pt x="2041586" y="3796140"/>
              </a:moveTo>
              <a:arcTo wR="1900685" hR="1900685" stAng="5144921" swAng="510159"/>
            </a:path>
          </a:pathLst>
        </a:cu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9266B0-7171-44DE-86D2-9600CE7FCB5D}">
      <dsp:nvSpPr>
        <dsp:cNvPr id="0" name=""/>
        <dsp:cNvSpPr/>
      </dsp:nvSpPr>
      <dsp:spPr>
        <a:xfrm>
          <a:off x="3632911" y="3439359"/>
          <a:ext cx="1766274" cy="951159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4. Communicates complex data effectively</a:t>
          </a:r>
        </a:p>
      </dsp:txBody>
      <dsp:txXfrm>
        <a:off x="3679343" y="3485791"/>
        <a:ext cx="1673410" cy="858295"/>
      </dsp:txXfrm>
    </dsp:sp>
    <dsp:sp modelId="{E81B256C-A4CC-4A81-9D85-CC1D00911DA0}">
      <dsp:nvSpPr>
        <dsp:cNvPr id="0" name=""/>
        <dsp:cNvSpPr/>
      </dsp:nvSpPr>
      <dsp:spPr>
        <a:xfrm>
          <a:off x="3732558" y="476567"/>
          <a:ext cx="3801370" cy="3801370"/>
        </a:xfrm>
        <a:custGeom>
          <a:avLst/>
          <a:gdLst/>
          <a:ahLst/>
          <a:cxnLst/>
          <a:rect l="0" t="0" r="0" b="0"/>
          <a:pathLst>
            <a:path>
              <a:moveTo>
                <a:pt x="201709" y="2752792"/>
              </a:moveTo>
              <a:arcTo wR="1900685" hR="1900685" stAng="9201859" swAng="1360166"/>
            </a:path>
          </a:pathLst>
        </a:cu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A202A9-B2FB-4C11-9585-D46455357F1E}">
      <dsp:nvSpPr>
        <dsp:cNvPr id="0" name=""/>
        <dsp:cNvSpPr/>
      </dsp:nvSpPr>
      <dsp:spPr>
        <a:xfrm>
          <a:off x="2942446" y="1314329"/>
          <a:ext cx="1766274" cy="951159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solidFill>
            <a:srgbClr val="0070C0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0070C0"/>
              </a:solidFill>
            </a:rPr>
            <a:t>5. Improves decision-making</a:t>
          </a:r>
        </a:p>
      </dsp:txBody>
      <dsp:txXfrm>
        <a:off x="2988878" y="1360761"/>
        <a:ext cx="1673410" cy="858295"/>
      </dsp:txXfrm>
    </dsp:sp>
    <dsp:sp modelId="{D52B5BE3-E3D9-471A-A823-F3FE9FAE3DC4}">
      <dsp:nvSpPr>
        <dsp:cNvPr id="0" name=""/>
        <dsp:cNvSpPr/>
      </dsp:nvSpPr>
      <dsp:spPr>
        <a:xfrm>
          <a:off x="3732558" y="476567"/>
          <a:ext cx="3801370" cy="3801370"/>
        </a:xfrm>
        <a:custGeom>
          <a:avLst/>
          <a:gdLst/>
          <a:ahLst/>
          <a:cxnLst/>
          <a:rect l="0" t="0" r="0" b="0"/>
          <a:pathLst>
            <a:path>
              <a:moveTo>
                <a:pt x="436337" y="688955"/>
              </a:moveTo>
              <a:arcTo wR="1900685" hR="1900685" stAng="13176440" swAng="1026060"/>
            </a:path>
          </a:pathLst>
        </a:cu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20:12:53.782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14250.17676"/>
      <inkml:brushProperty name="anchorY" value="-1950.56897"/>
      <inkml:brushProperty name="scaleFactor" value="0.5"/>
    </inkml:brush>
  </inkml:definitions>
  <inkml:trace contextRef="#ctx0" brushRef="#br0">34 3381 24575,'0'0'0,"-6"-6"0,-1-8 0,0-6 0,2-5 0,1-10 0,2-3 0,0-14 0,2 0 0,0-18 0,0-10 0,0-1 0,7-6 0,12-4 0,8 5 0,5 4 0,-4 5 0,-6 11 0,13-1 0,1 7 0,-5 7 0,7 8 0,5-20 0,1 9 0,-2 10 0,-8 7 0,-3 11 0,-2 3 0,-7 1 0,6 6 0,2 5 0,-5-2 0,1-2 0,-6-5 0,1 3 0,2 3 0,2 5 0,2 4 0,2 3 0,9 3 0,0 1 0,21 0 0,5 1 0,11-12 0,-3-2 0,5-12 0,-3 2 0,6-11 0,-10-7 0,18-9 0,-10-13 0,-7-4 0,1-10 0,-9 6 0,-14-6 0,-9 10 0,0 1 0,-3 3 0,-7 7 0,-9 1 0,-7-8 0,-1-1 0,-3 4 0,-3 0 0,-2 0 0,-3 6 0,-1-8 0,-1 6 0,0-2 0,-1-7 0,-6 5 0,-7 5 0,-6 6 0,-11 13 0,2 4 0,-3 11 0,6 1 0,1 6 0,0 4 0,-2 4 0,-1 3 0,-15 2 0,-1 7 0,-1 8 0,2 0 0,3 5 0,-10 17 0,2 4 0,-12 9 0,-16 12 0,3 5 0,6 4 0,-4 6 0,8-7 0,-5 6 0,7-9 0,13-8 0,8-9 0,12-6 0,10-7 0,8-2 0,6 4 0,16-7 0,9-7 0,13-7 0,5-8 0,2-4 0,0-3 0,4-2 0,5-2 0,5 1 0,-3 0 0,16-1 0,2 2 0,3-1 0,-8 1 0,-7 0 0,-2 0 0,-8-6 0,2-1 0,-4 1 0,2-6 0,-3 2 0,10-6 0,4 3 0,4-5 0,-5-3 0,-5 3 0,-7 3 0,-5-2 0,-5-9 0,-2 3 0,5 3 0,-2-2 0,1 0 0,-1-4 0,-2 5 0,-1-2 0,-1 5 0,-8-2 0,7 5 0,-6-3 0,0 4 0,1 3 0,1 4 0,2 2 0,0 3 0,1 2 0,1 0 0,7 0 0,0 1 0,0 0 0,-1-1 0,-2 0 0,-1 1 0,-2-1 0,6 0 0,0 0 0,0 0 0,-2 0 0,-1 0 0,-2 6 0,-1 0 0,7 1 0,-1 5 0,-1 4 0,-1 6 0,-1 5 0,-8 9 0,-1 2 0,-1 1 0,-5 0 0,6-2 0,-4-1 0,-5-2 0,2-1 0,1 6 0,-3 6 0,2 0 0,-4-1 0,-4-3 0,3 4 0,-4-3 0,-2-1 0,-3-3 0,-2-2 0,4-8 0,6-8 0,-1-7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20:12:53.783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19349.89453"/>
      <inkml:brushProperty name="anchorY" value="-1256.43091"/>
      <inkml:brushProperty name="scaleFactor" value="0.5"/>
    </inkml:brush>
  </inkml:definitions>
  <inkml:trace contextRef="#ctx0" brushRef="#br0">1 1321 24575,'0'0'0,"11"6"0,11 2 0,10-1 0,5-1 0,21-2 0,14-2 0,31 0 0,15-2 0,12 1 0,30-2 0,10-12 0,25-13 0,-6-1 0,-2-17 0,12-14 0,-6-14 0,-12-4 0,-13-9 0,-21-4 0,-24 3 0,-14-3 0,-81 61 0,29-34 0,9-11 0,-21 13 0,-11-2 0,-14 8 0,-9 6 0,-6 6 0,-4 4 0,-3 4 0,0-5 0,0 1 0,-6 0 0,-7 8 0,-5 8 0,-5 8 0,-10 6 0,-3 11 0,-1 2 0,36-1 0,-1-2 0,1 0 0,-1 1 0,1-1 0,-1 1 0,1-1 0,-6 7 0,-22 24 0,2 5 0,6 2 0,1 0 0,5 10 0,4-1 0,6-1 0,3-4 0,2-4 0,2 4 0,0-3 0,1-1 0,0-3 0,0-2 0,6-1 0,0-1 0,-1 6 0,0 0 0,4-1 0,-1-1 0,5-1 0,5-2 0,11 0 0,5-8 0,8-7 0,13-7 0,1-5 0,3-4 0,9-2 0,-6-2 0,-5-1 0,5 1 0,-6 0 0,-5 0 0,-7 0 0,-5 1 0,-4 0 0,11 0 0,-2 0 0,-1 0 0,-2 0 0,-3 0 0,-2-6 0,-3-7 0,5 0 0,0-5 0,-8-5 0,-7-3 0,-1-9 0,-1 3 0,-4 0 0,1 0 0,-3 1 0,-11 6 0,-4 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20:12:53.784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26117.66406"/>
      <inkml:brushProperty name="anchorY" value="-4451.59033"/>
      <inkml:brushProperty name="scaleFactor" value="0.5"/>
    </inkml:brush>
  </inkml:definitions>
  <inkml:trace contextRef="#ctx0" brushRef="#br0">0 865 24575,'0'0'0,"0"-6"0,0-15 0,0-7 0,0-12 0,0-4 0,0 0 0,0-7 0,0 3 0,7 2 0,0 3 0,0 3 0,-2 2 0,13 10 0,-1 0 0,-2 2 0,4-9 0,3 5 0,5-1 0,2 7 0,-4-22 0,1 6 0,-5-1 0,2 8 0,7 9 0,4 8 0,9 7 0,1 6 0,0 2 0,5 2 0,-1 1 0,-3-1 0,-10 14 0,-3 0 0,-1 6 0,12 5 0,2 4 0,0-5 0,-8 9 0,11 7 0,-8 3 0,-2-1 0,-9 0 0,-1-3 0,-2 12 0,-5-1 0,1-2 0,2-9 0,-4-5 0,-4-3 0,-6 6 0,-3 7 0,-4 0 0,-2 0 0,-1-1 0,-1 3 0,0-2 0,0-1 0,-6-10 0,-1-3 0,-6-8 0,-6-8 0,-6-5 0,-3-6 0,-17-2 0,40-7 0,-1 3 0,0 0 0,0 0 0,0-1 0,-7-4 0,-36-23 0,10-6 0,-4-17 0,4-2 0,8 2 0,8 3 0,9 5 0,7 3 0,4-2 0,3 0 0,2 3 0,1 1 0,0 3 0,-1 1 0,0 0 0,7 9 0,12-7 0,9 0 0,4-1 0,11-1 0,7 7 0,8 1 0,11 7 0,-2 6 0,1 6 0,20-10 0,-5 2 0,5 3 0,18-4 0,10 4 0,4 3 0,5-10 0,18 2 0,18 3 0,-5 4 0,-15 4 0,-12 3 0,-26 3 0,-2 1 0,-18 1 0,-8 1 0,-13 0 0,-4 0 0,0-1 0,-7 1 0,-4-1 0,-5 13 0,2 1 0,-1 7 0,-10-3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2005070"/>
            <a:ext cx="7763458" cy="592834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29338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07129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C3163-7E89-C90A-4497-846BA498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F1C9772-21E9-60AF-EA4D-990518FB84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1812045"/>
            <a:ext cx="7763458" cy="719757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17146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48847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8F108-1702-5F20-3D95-B2102374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4CFA9E7-7538-3E2F-C153-0158206399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671391"/>
            <a:ext cx="11266714" cy="14014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972" y="6085510"/>
            <a:ext cx="11266714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12192000" cy="6867525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FC2CE8-E7A7-5DA8-903C-7C61B21A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CEF9E-3A6E-C6FF-42DA-EDF0D1D9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CAD524F-ADFB-FF46-A001-5030604377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2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85743F-DCAE-A9EE-5293-03DFB306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99B4CAC-1043-AFE7-E5AB-E64101AF155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998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54E73-61A3-FF0B-7F4C-17B1D97376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705AEC-1F4B-D402-6142-24D61C516A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6" y="1543324"/>
            <a:ext cx="5413169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157" y="1543324"/>
            <a:ext cx="5425643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9EA93-442C-59A0-2250-A5181989CD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2AE1B83-EE6D-EA0B-DD6A-AF15AFD6A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7" y="1543324"/>
            <a:ext cx="3507565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42217" y="1543323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137" y="1543322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7EB8B-3A4C-F880-133B-94D59A7B36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A8E3C9-6B0B-C4C1-8036-586EE70629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3" y="3652272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1" y="1543323"/>
            <a:ext cx="546974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75945" y="1543323"/>
            <a:ext cx="5458727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64929" y="3652271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7288C-38D9-0159-D0E4-B042D466D1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9FCD37-EAE5-5E1F-F19B-0843EF6AF1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4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2" y="1543323"/>
            <a:ext cx="3534479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336974" y="1543324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5959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205605" y="1532307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4590" y="3641255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7B2B3-AD22-934B-7901-EF00010BA35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8043993-A23E-2800-6166-87A2E901B8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457200"/>
            <a:ext cx="4314823" cy="964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570383"/>
            <a:ext cx="4314823" cy="4298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871" y="457200"/>
            <a:ext cx="6662927" cy="54117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6DC60-EE89-734D-242E-5043417AC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5D3C33-27D3-B844-8764-066A5767D1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9A83-2C12-9A72-A547-B9374C10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70037"/>
            <a:ext cx="4325711" cy="1034775"/>
          </a:xfrm>
        </p:spPr>
        <p:txBody>
          <a:bodyPr anchor="b"/>
          <a:lstStyle>
            <a:lvl1pPr fontAlgn="t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70037"/>
            <a:ext cx="6562498" cy="539101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14" y="1759226"/>
            <a:ext cx="4325711" cy="408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806-6E08-B58A-6B09-ECD209B75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2FD94D-1CE6-402A-C500-6DCE6F9A3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15540"/>
            <a:ext cx="3350434" cy="35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354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3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86962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80C45-204B-0517-4FC2-236945E741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8E9D75D-EF46-B669-7F0B-847008B9553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8086" y="1543323"/>
            <a:ext cx="5862679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5759" y="1543322"/>
            <a:ext cx="5129927" cy="4307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486577" y="3795304"/>
            <a:ext cx="2844188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8086" y="3795304"/>
            <a:ext cx="2844188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3C43D-3312-15BB-B055-F99C088EB6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77598CD-72E0-76B5-3E7C-CE820E7B58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428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7200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325104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181729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303332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181729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13656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3542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4303332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819300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281560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8193008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924D92CB-DB6C-EEE8-BDA7-E3D7B06436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A2560-8530-94AA-9E7F-F5A56AB4E3D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AF31650-E388-54F8-9AE5-64910C9556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4" y="1542762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34406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23655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12904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843620" y="3651150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74136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3385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72767-6954-6B12-1677-BE947CE88E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C297EAB-60AE-2CA6-7FC1-B2BF3AB108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21986" y="3884037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1726" y="3395949"/>
            <a:ext cx="521294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6521856" y="5636913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21726" y="5636913"/>
            <a:ext cx="521281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45827-5CB3-E873-7680-6D8C2AAB95D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C87E9216-1A8F-085F-5596-89DFB20E79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287219" y="3884037"/>
            <a:ext cx="2447580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521986" y="3879120"/>
            <a:ext cx="2528916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1823" y="3395949"/>
            <a:ext cx="5162846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6512818" y="5631997"/>
            <a:ext cx="251233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62654" y="5631997"/>
            <a:ext cx="2488248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9287218" y="5641703"/>
            <a:ext cx="2431941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9337055" y="5641703"/>
            <a:ext cx="2408630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CBD603-B977-E0E5-7C2E-C0061CD0B72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7F1900C-EBAA-D81A-8063-47664791EA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7938475" y="1315894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4420956" y="1315895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903437" y="1315896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506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943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284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721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803" y="143391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7240" y="4043274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0B5B1B-89D1-9945-6AB1-0D9B2E2700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87907" y="2065260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AB75A6-8C36-AD93-09A1-D377BF55C68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4605427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BFCE088-E342-EDAD-213D-39C8B8D85057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22945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2A11A-CEFD-01B7-2324-466BE85E97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F1D30E38-DCA5-D7B3-D3F6-C20A366C60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7938216" y="1315892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4420697" y="1315893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903178" y="1315894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247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025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544" y="143391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01684" y="2040670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04880" y="2065258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684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462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6981" y="4043272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8129414" y="2071424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556C0F-0FF4-1816-A9DC-60D03FBFCE5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ED305B7-F98B-EB39-4331-AD7D293F0E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1008584" y="1660596"/>
            <a:ext cx="1918020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1011339" y="2160555"/>
            <a:ext cx="1915265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3045437" y="1660596"/>
            <a:ext cx="1918020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3048192" y="2160555"/>
            <a:ext cx="1915265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5082290" y="1660596"/>
            <a:ext cx="1918020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5085045" y="2160555"/>
            <a:ext cx="1915265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7119143" y="1660596"/>
            <a:ext cx="1918020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7121898" y="2160555"/>
            <a:ext cx="1915265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9155998" y="1660596"/>
            <a:ext cx="1918020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9158753" y="2160555"/>
            <a:ext cx="1915265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584" y="1783909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5438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82291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19145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56000" y="1770870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7982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3175312" y="2299864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5212165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7249018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9285873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28143-5B5E-2F91-1A50-ECF61312F188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3566E4A-BC5E-1BD6-D669-AED4803AE4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4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-944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836B8-46F8-6347-6A27-7BDA1D77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5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3C719-BBA8-8B6C-9920-142BDE7B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ED8702-10BE-D052-6922-2244FAA25D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E3761E7-C1FB-3C92-9D08-465FECF576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192696"/>
            <a:ext cx="11266714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CC5ACE-5747-34C7-00B2-2E4EABE6A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657" r:id="rId13"/>
    <p:sldLayoutId id="2147483706" r:id="rId14"/>
    <p:sldLayoutId id="2147483705" r:id="rId15"/>
    <p:sldLayoutId id="2147483707" r:id="rId16"/>
    <p:sldLayoutId id="2147483713" r:id="rId17"/>
    <p:sldLayoutId id="2147483709" r:id="rId18"/>
    <p:sldLayoutId id="2147483710" r:id="rId19"/>
    <p:sldLayoutId id="2147483653" r:id="rId20"/>
    <p:sldLayoutId id="2147483690" r:id="rId21"/>
    <p:sldLayoutId id="2147483704" r:id="rId22"/>
    <p:sldLayoutId id="2147483692" r:id="rId23"/>
    <p:sldLayoutId id="2147483693" r:id="rId24"/>
    <p:sldLayoutId id="2147483691" r:id="rId25"/>
    <p:sldLayoutId id="2147483703" r:id="rId26"/>
  </p:sldLayoutIdLst>
  <p:hf hdr="0" ftr="0" dt="0"/>
  <p:txStyles>
    <p:titleStyle>
      <a:lvl1pPr algn="l" defTabSz="914400" rtl="0" eaLnBrk="1" fontAlgn="b" latinLnBrk="0" hangingPunct="1">
        <a:lnSpc>
          <a:spcPct val="90000"/>
        </a:lnSpc>
        <a:spcBef>
          <a:spcPct val="0"/>
        </a:spcBef>
        <a:buNone/>
        <a:defRPr lang="en-US" sz="48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0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5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customXml" Target="../ink/ink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RGBZDpBvwLqhZZGahvAOxenRAVopQWht?usp=sharing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MGMT590 - Visual Analytics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3257" y="3107129"/>
            <a:ext cx="7763458" cy="980239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Dr. Cecilia Ying</a:t>
            </a:r>
          </a:p>
          <a:p>
            <a:r>
              <a:rPr lang="en-US" dirty="0"/>
              <a:t>Updated: 08/26/2025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109357-AD24-68AB-5A63-C9F933A2F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Session 2: Foundations of Data Visualization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508C8-A5AC-4924-8B87-28E71FFB46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en-US" sz="3600" dirty="0"/>
              <a:t>Introduction to Visual Analytics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/>
              <a:t>Descriptive Analytics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Code Demo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Business Applications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/>
              <a:t>Assignment 1 Details</a:t>
            </a:r>
          </a:p>
          <a:p>
            <a:pPr marL="342900" indent="-342900">
              <a:buFont typeface="+mj-lt"/>
              <a:buAutoNum type="arabicPeriod"/>
            </a:pPr>
            <a:endParaRPr lang="en-US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EC2D793-4689-37D3-A1F3-4F69B43BA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Today’s agenda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E50891-E5D9-2921-93A4-91B3EFCD5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519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406D27-7898-9235-DFA5-6B5915F49E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Bonus marks – Here’s a “special” graph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26D66-8CCD-76D5-0895-C7D213D44E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/>
              <a:t>5 mins </a:t>
            </a:r>
            <a:r>
              <a:rPr lang="en-US" sz="3600" dirty="0">
                <a:solidFill>
                  <a:srgbClr val="0070C0"/>
                </a:solidFill>
              </a:rPr>
              <a:t>show and tell </a:t>
            </a:r>
            <a:r>
              <a:rPr lang="en-US" sz="3600" dirty="0"/>
              <a:t>of a “special” graph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/>
              <a:t>What makes it “special”?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It’s really good: Why is it good? What information is being communicated?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It’s really bad: Why is it bad? What would you change to improve it?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It’s really cool: Why is it cool? Where else can you use this type of graph?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/>
              <a:t>Flex your managerial muscles and get ready to critique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endParaRPr lang="en-US" sz="2200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8446A55-068C-27BA-6336-6078DA31A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Special Announcement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173D7-F93A-419A-2E83-EE3B93473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433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515F7-A571-FFF5-9C55-092FA19EF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8709F4-451A-2B63-E3E9-658C206C5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 anchor="ctr">
            <a:normAutofit/>
          </a:bodyPr>
          <a:lstStyle/>
          <a:p>
            <a:r>
              <a:rPr lang="en-US" sz="3400"/>
              <a:t>Here’s an example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7CB5E3E-471C-6D78-B807-187A80D25D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/>
          <a:lstStyle/>
          <a:p>
            <a:r>
              <a:rPr lang="en-US" dirty="0"/>
              <a:t>Just a terrible graph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84CC91-92B4-30B7-5F4E-607FC23A9C8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B14673-E2EC-D99C-7F0B-E0BD401B872D}"/>
              </a:ext>
            </a:extLst>
          </p:cNvPr>
          <p:cNvSpPr/>
          <p:nvPr/>
        </p:nvSpPr>
        <p:spPr>
          <a:xfrm>
            <a:off x="7892007" y="4080764"/>
            <a:ext cx="3512745" cy="103209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Prompt: “a graph, in color, similar to the ones William Playfair created”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C9AA81-57C8-37EC-C1CC-189DB0ED3479}"/>
              </a:ext>
            </a:extLst>
          </p:cNvPr>
          <p:cNvSpPr/>
          <p:nvPr/>
        </p:nvSpPr>
        <p:spPr>
          <a:xfrm>
            <a:off x="6798047" y="1586880"/>
            <a:ext cx="3512745" cy="60491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Why is this terrible?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225A2A-1238-81BF-469B-89E984E6680A}"/>
              </a:ext>
            </a:extLst>
          </p:cNvPr>
          <p:cNvSpPr/>
          <p:nvPr/>
        </p:nvSpPr>
        <p:spPr>
          <a:xfrm>
            <a:off x="6798047" y="2458624"/>
            <a:ext cx="3512745" cy="60491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How was this made?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67514-9600-ADD0-EAD4-C12E712F1BAE}"/>
              </a:ext>
            </a:extLst>
          </p:cNvPr>
          <p:cNvSpPr/>
          <p:nvPr/>
        </p:nvSpPr>
        <p:spPr>
          <a:xfrm>
            <a:off x="7892007" y="3330368"/>
            <a:ext cx="3512745" cy="60491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Randomly generated </a:t>
            </a:r>
          </a:p>
          <a:p>
            <a:pPr algn="ctr"/>
            <a:r>
              <a:rPr lang="en-US" dirty="0"/>
              <a:t>using Stable Diffusion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4D1F194-3240-3523-5B15-721316789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786" y="1401146"/>
            <a:ext cx="4608214" cy="4608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6409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5E678-759D-016F-F931-5296AD949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0A0B1-52DA-A640-AD89-183CA8E0C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1812045"/>
            <a:ext cx="8258308" cy="719757"/>
          </a:xfrm>
        </p:spPr>
        <p:txBody>
          <a:bodyPr/>
          <a:lstStyle/>
          <a:p>
            <a:r>
              <a:rPr lang="en-US" dirty="0"/>
              <a:t>Introduction: Visual Analytics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81FB2-08BF-B528-29E8-0F8906DC6B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A44A4-02B1-803D-F3E8-D8BCF75104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78D37F-1BD2-0F57-4B4D-046809A2D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097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B165C6-8696-386D-3B10-3977AFD10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Stages of Analytics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75024-D458-57FB-5D7E-74BA469240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Descriptive, Diagnostic, Predictive and Prescriptive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8C8F05-0FBC-EAFD-9702-46C9DD31EC5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31510211-ABCA-9109-80FB-B59AD4D5A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219" y="1908164"/>
            <a:ext cx="6562725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4207E9A-7FC7-54F0-CB0E-EF8C82C5B51E}"/>
                  </a:ext>
                </a:extLst>
              </p14:cNvPr>
              <p14:cNvContentPartPr/>
              <p14:nvPr/>
            </p14:nvContentPartPr>
            <p14:xfrm>
              <a:off x="4991906" y="1902300"/>
              <a:ext cx="1391040" cy="1217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4207E9A-7FC7-54F0-CB0E-EF8C82C5B5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55897" y="1866300"/>
                <a:ext cx="1462699" cy="12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C51592E-AD5C-C3D4-1FCD-5455854019C8}"/>
                  </a:ext>
                </a:extLst>
              </p14:cNvPr>
              <p14:cNvContentPartPr/>
              <p14:nvPr/>
            </p14:nvContentPartPr>
            <p14:xfrm>
              <a:off x="8608719" y="1902660"/>
              <a:ext cx="1395360" cy="488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C51592E-AD5C-C3D4-1FCD-5455854019C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72710" y="1866660"/>
                <a:ext cx="1467018" cy="56016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9CB95EE-D108-917F-2E9D-56E54EF21A36}"/>
              </a:ext>
            </a:extLst>
          </p:cNvPr>
          <p:cNvSpPr txBox="1"/>
          <p:nvPr/>
        </p:nvSpPr>
        <p:spPr>
          <a:xfrm>
            <a:off x="3684583" y="1387495"/>
            <a:ext cx="375589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Machine Learning Models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CDC3E9-DDE0-30C8-1003-BB078E379FBE}"/>
              </a:ext>
            </a:extLst>
          </p:cNvPr>
          <p:cNvSpPr txBox="1"/>
          <p:nvPr/>
        </p:nvSpPr>
        <p:spPr>
          <a:xfrm>
            <a:off x="10117338" y="1864549"/>
            <a:ext cx="176541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Artificial Intelligence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0A2A10-2C62-E7A1-E825-8ECDB8D53808}"/>
              </a:ext>
            </a:extLst>
          </p:cNvPr>
          <p:cNvSpPr txBox="1"/>
          <p:nvPr/>
        </p:nvSpPr>
        <p:spPr>
          <a:xfrm>
            <a:off x="9751480" y="2873961"/>
            <a:ext cx="2250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Automating the decision-making based on predictions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1CE0A0-2640-7938-4EDC-6A4F3C9C184B}"/>
              </a:ext>
            </a:extLst>
          </p:cNvPr>
          <p:cNvSpPr txBox="1"/>
          <p:nvPr/>
        </p:nvSpPr>
        <p:spPr>
          <a:xfrm>
            <a:off x="896737" y="4408601"/>
            <a:ext cx="224117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Data Visualization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87C4040-1FCD-11EE-05E9-E03E90065E3F}"/>
                  </a:ext>
                </a:extLst>
              </p14:cNvPr>
              <p14:cNvContentPartPr/>
              <p14:nvPr/>
            </p14:nvContentPartPr>
            <p14:xfrm>
              <a:off x="2288622" y="4359898"/>
              <a:ext cx="1255320" cy="400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87C4040-1FCD-11EE-05E9-E03E90065E3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52622" y="4323898"/>
                <a:ext cx="1326960" cy="47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5851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56A3AA-9C22-8682-1A1C-F9B206A15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Descriptive Analytics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904B-E20D-5E69-511C-FC8B32A2BB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What happened?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194845-8151-9BB8-F660-D90B3052BD0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1E2920-2EC6-2FC2-692D-9503B31F9ACC}"/>
              </a:ext>
            </a:extLst>
          </p:cNvPr>
          <p:cNvSpPr txBox="1"/>
          <p:nvPr/>
        </p:nvSpPr>
        <p:spPr>
          <a:xfrm>
            <a:off x="590746" y="1398883"/>
            <a:ext cx="550525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Examines </a:t>
            </a:r>
            <a:r>
              <a:rPr lang="en-US" sz="2500" b="1" dirty="0"/>
              <a:t>historical data </a:t>
            </a:r>
            <a:r>
              <a:rPr lang="en-US" sz="2500" dirty="0"/>
              <a:t>to </a:t>
            </a:r>
            <a:r>
              <a:rPr lang="en-US" sz="2500" b="1" dirty="0"/>
              <a:t>identify trends</a:t>
            </a:r>
            <a:r>
              <a:rPr lang="en-US" sz="2500" dirty="0"/>
              <a:t>, </a:t>
            </a:r>
            <a:r>
              <a:rPr lang="en-US" sz="2500" b="1" dirty="0"/>
              <a:t>patterns</a:t>
            </a:r>
            <a:r>
              <a:rPr lang="en-US" sz="2500" dirty="0"/>
              <a:t>, and </a:t>
            </a:r>
            <a:r>
              <a:rPr lang="en-US" sz="2500" b="1" dirty="0"/>
              <a:t>correlations</a:t>
            </a:r>
            <a:r>
              <a:rPr lang="en-US" sz="2500" dirty="0"/>
              <a:t>, providing insights into </a:t>
            </a:r>
            <a:r>
              <a:rPr lang="en-US" sz="2500" b="1" dirty="0"/>
              <a:t>what happened</a:t>
            </a:r>
            <a:r>
              <a:rPr lang="en-US" sz="2500" dirty="0"/>
              <a:t>.</a:t>
            </a:r>
          </a:p>
        </p:txBody>
      </p:sp>
      <p:pic>
        <p:nvPicPr>
          <p:cNvPr id="1026" name="Picture 2" descr="Image generated by meta.ai from prompt Descriptive analytics examines historical data">
            <a:extLst>
              <a:ext uri="{FF2B5EF4-FFF2-40B4-BE49-F238E27FC236}">
                <a16:creationId xmlns:a16="http://schemas.microsoft.com/office/drawing/2014/main" id="{8666B07A-198F-778A-1ADB-55E587BF6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9812" y="1889338"/>
            <a:ext cx="3450521" cy="345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4451BA-F576-C68A-0613-A8B256CAEF0B}"/>
              </a:ext>
            </a:extLst>
          </p:cNvPr>
          <p:cNvSpPr txBox="1"/>
          <p:nvPr/>
        </p:nvSpPr>
        <p:spPr>
          <a:xfrm>
            <a:off x="468086" y="272421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Sales Analysis</a:t>
            </a:r>
            <a:r>
              <a:rPr lang="en-US" dirty="0"/>
              <a:t>: Analyzing monthly sales data to identify top-selling products, revenue trends, and seasonal fluctuations.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71AD87-DB3A-997B-6ED5-3D75039DF8B5}"/>
              </a:ext>
            </a:extLst>
          </p:cNvPr>
          <p:cNvSpPr txBox="1"/>
          <p:nvPr/>
        </p:nvSpPr>
        <p:spPr>
          <a:xfrm>
            <a:off x="457200" y="4804868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Website Traffic Analysis</a:t>
            </a:r>
            <a:r>
              <a:rPr lang="en-US" dirty="0"/>
              <a:t>: Examining website traffic metrics, such as page views, bounce rates, and user demographics, to understand user behavior and engagement.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D7000A-EB5B-ABE7-6056-E830C81BEB85}"/>
              </a:ext>
            </a:extLst>
          </p:cNvPr>
          <p:cNvSpPr txBox="1"/>
          <p:nvPr/>
        </p:nvSpPr>
        <p:spPr>
          <a:xfrm>
            <a:off x="468086" y="3604539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Customer Segmentation</a:t>
            </a:r>
            <a:r>
              <a:rPr lang="en-US" dirty="0"/>
              <a:t>: Analyzing customer data, such as demographics, purchase history, and behavior, to identify distinct customer segments and tailor marketing strategies.</a:t>
            </a:r>
          </a:p>
        </p:txBody>
      </p:sp>
    </p:spTree>
    <p:extLst>
      <p:ext uri="{BB962C8B-B14F-4D97-AF65-F5344CB8AC3E}">
        <p14:creationId xmlns:p14="http://schemas.microsoft.com/office/powerpoint/2010/main" val="1116650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2D5E049-63D6-94A7-5151-591F65474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Diagnostic Analytics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200797-6DE3-74B7-8B3C-EF6D6B4507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Why did it happen?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802F64-4800-2BF5-3AF1-772BFAE7543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F0C271-6D0C-173A-7C7A-DFD31313DF75}"/>
              </a:ext>
            </a:extLst>
          </p:cNvPr>
          <p:cNvSpPr txBox="1"/>
          <p:nvPr/>
        </p:nvSpPr>
        <p:spPr>
          <a:xfrm>
            <a:off x="590745" y="1398883"/>
            <a:ext cx="617769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Examines </a:t>
            </a:r>
            <a:r>
              <a:rPr lang="en-US" sz="2500" b="1" dirty="0"/>
              <a:t>historical data </a:t>
            </a:r>
            <a:r>
              <a:rPr lang="en-US" sz="2500" dirty="0"/>
              <a:t>to identify the </a:t>
            </a:r>
            <a:r>
              <a:rPr lang="en-US" sz="2500" b="1" dirty="0"/>
              <a:t>root causes of problems</a:t>
            </a:r>
            <a:r>
              <a:rPr lang="en-US" sz="2500" dirty="0"/>
              <a:t> or </a:t>
            </a:r>
            <a:r>
              <a:rPr lang="en-US" sz="2500" b="1" dirty="0"/>
              <a:t>events</a:t>
            </a:r>
            <a:r>
              <a:rPr lang="en-US" sz="2500" dirty="0"/>
              <a:t>, providing insights into why certain events occurred.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1B403B-3DFE-A830-4D55-776C2523C3E3}"/>
              </a:ext>
            </a:extLst>
          </p:cNvPr>
          <p:cNvSpPr txBox="1"/>
          <p:nvPr/>
        </p:nvSpPr>
        <p:spPr>
          <a:xfrm>
            <a:off x="468086" y="272421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Root Cause Analysis: </a:t>
            </a:r>
            <a:r>
              <a:rPr lang="en-US" dirty="0"/>
              <a:t>Analyzing production data to identify the causes of equipment failures or quality control issues.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C56112-EBC7-44CA-151F-97D884058933}"/>
              </a:ext>
            </a:extLst>
          </p:cNvPr>
          <p:cNvSpPr txBox="1"/>
          <p:nvPr/>
        </p:nvSpPr>
        <p:spPr>
          <a:xfrm>
            <a:off x="457200" y="4804868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Supply Chain Disruption Analysis: </a:t>
            </a:r>
            <a:r>
              <a:rPr lang="en-US" dirty="0"/>
              <a:t>Investigating data to identify the causes of supply chain disruptions, such as supplier insolvency or logistics issues.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D17427-C524-07F7-9559-CAF720B42932}"/>
              </a:ext>
            </a:extLst>
          </p:cNvPr>
          <p:cNvSpPr txBox="1"/>
          <p:nvPr/>
        </p:nvSpPr>
        <p:spPr>
          <a:xfrm>
            <a:off x="468086" y="3604539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Customer Churn Analysis: </a:t>
            </a:r>
            <a:r>
              <a:rPr lang="en-US" dirty="0"/>
              <a:t>Examining customer data to determine the reasons behind customer churn, such as poor service or product dissatisfaction.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487597-3E79-0BDB-41A8-FF7EB59C2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9160" y="1732764"/>
            <a:ext cx="3392471" cy="339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665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20A2FF-2728-57FD-9ADD-BB225FBB4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Predictive Analytics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67F186-EBD7-E886-94D7-713F2D2E80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What will happen?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08D502-BE21-2A1C-A179-F387FC50A08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EB9A39-DA30-97FE-7875-8FC0046D3E4B}"/>
              </a:ext>
            </a:extLst>
          </p:cNvPr>
          <p:cNvSpPr txBox="1"/>
          <p:nvPr/>
        </p:nvSpPr>
        <p:spPr>
          <a:xfrm>
            <a:off x="590745" y="1398883"/>
            <a:ext cx="6988406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Uses </a:t>
            </a:r>
            <a:r>
              <a:rPr lang="en-US" sz="2500" b="1" dirty="0"/>
              <a:t>statistical models </a:t>
            </a:r>
            <a:r>
              <a:rPr lang="en-US" sz="2500" dirty="0"/>
              <a:t>and </a:t>
            </a:r>
            <a:r>
              <a:rPr lang="en-US" sz="2500" b="1" dirty="0"/>
              <a:t>machine learning algorithms </a:t>
            </a:r>
            <a:r>
              <a:rPr lang="en-US" sz="2500" dirty="0"/>
              <a:t>to </a:t>
            </a:r>
            <a:r>
              <a:rPr lang="en-US" sz="2500" b="1" dirty="0"/>
              <a:t>forecast future events </a:t>
            </a:r>
            <a:r>
              <a:rPr lang="en-US" sz="2500" dirty="0"/>
              <a:t>or </a:t>
            </a:r>
            <a:r>
              <a:rPr lang="en-US" sz="2500" b="1" dirty="0"/>
              <a:t>outcomes</a:t>
            </a:r>
            <a:r>
              <a:rPr lang="en-US" sz="2500" dirty="0"/>
              <a:t>, providing insights into what may happen.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02C048-BB3A-4522-F979-0CD8F13A3742}"/>
              </a:ext>
            </a:extLst>
          </p:cNvPr>
          <p:cNvSpPr txBox="1"/>
          <p:nvPr/>
        </p:nvSpPr>
        <p:spPr>
          <a:xfrm>
            <a:off x="455628" y="304191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Demand Forecasting:</a:t>
            </a:r>
            <a:r>
              <a:rPr lang="en-US" dirty="0"/>
              <a:t> Using historical sales data and seasonal trends to predict future demand for products.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66AEED-7566-C22B-E698-C6608E564CF2}"/>
              </a:ext>
            </a:extLst>
          </p:cNvPr>
          <p:cNvSpPr txBox="1"/>
          <p:nvPr/>
        </p:nvSpPr>
        <p:spPr>
          <a:xfrm>
            <a:off x="457200" y="4804868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Predictive Maintenance: </a:t>
            </a:r>
            <a:r>
              <a:rPr lang="en-US" dirty="0"/>
              <a:t>Using sensor data and machine learning algorithms to predict equipment failures and schedule maintenance.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D33594-B84D-47A5-7A8A-5D4A8D8F5015}"/>
              </a:ext>
            </a:extLst>
          </p:cNvPr>
          <p:cNvSpPr txBox="1"/>
          <p:nvPr/>
        </p:nvSpPr>
        <p:spPr>
          <a:xfrm>
            <a:off x="455628" y="3922240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Credit Risk Assessment: </a:t>
            </a:r>
            <a:r>
              <a:rPr lang="en-US" dirty="0"/>
              <a:t>Analyzing customer credit data to predict the likelihood of loan defaults.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76CE75-AE8A-FC67-F797-FAECF09DF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570" y="2022130"/>
            <a:ext cx="3562290" cy="356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268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A6EAD3B-8DA0-7004-17C5-5B1B58EE0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Prescriptive Analytics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960BE-7DE4-5AD3-ED62-BC28F1EBE1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How can we make it happen?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8344ED-6AFE-C841-6FCC-ED4CE399B98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F7250A-8E5C-A68E-77A8-889C1E880996}"/>
              </a:ext>
            </a:extLst>
          </p:cNvPr>
          <p:cNvSpPr txBox="1"/>
          <p:nvPr/>
        </p:nvSpPr>
        <p:spPr>
          <a:xfrm>
            <a:off x="590745" y="1398883"/>
            <a:ext cx="617769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Provides </a:t>
            </a:r>
            <a:r>
              <a:rPr lang="en-US" sz="2500" b="1" dirty="0"/>
              <a:t>recommendations on actions </a:t>
            </a:r>
            <a:r>
              <a:rPr lang="en-US" sz="2500" dirty="0"/>
              <a:t>to take to </a:t>
            </a:r>
            <a:r>
              <a:rPr lang="en-US" sz="2500" b="1" dirty="0"/>
              <a:t>achieve a specific goal or outcome</a:t>
            </a:r>
            <a:r>
              <a:rPr lang="en-US" sz="2500" dirty="0"/>
              <a:t>, providing insights into what should be done.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32A20D-2313-0F07-5D46-831A5967E625}"/>
              </a:ext>
            </a:extLst>
          </p:cNvPr>
          <p:cNvSpPr txBox="1"/>
          <p:nvPr/>
        </p:nvSpPr>
        <p:spPr>
          <a:xfrm>
            <a:off x="468086" y="294109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Optimal Pricing: </a:t>
            </a:r>
            <a:r>
              <a:rPr lang="en-US" dirty="0"/>
              <a:t>Analyzing market data and customer behavior to determine the optimal price for a product.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75E793-0887-8E37-4E69-E92B99E4B6F2}"/>
              </a:ext>
            </a:extLst>
          </p:cNvPr>
          <p:cNvSpPr txBox="1"/>
          <p:nvPr/>
        </p:nvSpPr>
        <p:spPr>
          <a:xfrm>
            <a:off x="457200" y="4804868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Personalized Recommendations: </a:t>
            </a:r>
            <a:r>
              <a:rPr lang="en-US" dirty="0"/>
              <a:t>Providing personalized product recommendations to customers based on their purchase history and behavior.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A1360B-E20F-1C65-8A53-226B2EA5A519}"/>
              </a:ext>
            </a:extLst>
          </p:cNvPr>
          <p:cNvSpPr txBox="1"/>
          <p:nvPr/>
        </p:nvSpPr>
        <p:spPr>
          <a:xfrm>
            <a:off x="468086" y="3821423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Resource Allocation: </a:t>
            </a:r>
            <a:r>
              <a:rPr lang="en-US" dirty="0"/>
              <a:t>Using optimization algorithms to allocate resources, such as personnel or equipment, to maximize efficiency.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6FF2077-6557-F419-312A-3D446CF0C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075" y="1398883"/>
            <a:ext cx="4293517" cy="429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677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F85D10-C88B-66F8-9724-66EC8AC54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Descriptive Analytics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ADA4C7-FDD7-8D10-6BE0-C73A69BF06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Use of data visualization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320388-10FC-3312-F7B9-E5F4D714545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A13A56A-04EB-1143-C774-D847073D04F9}"/>
              </a:ext>
            </a:extLst>
          </p:cNvPr>
          <p:cNvGraphicFramePr>
            <a:graphicFrameLocks noGrp="1"/>
          </p:cNvGraphicFramePr>
          <p:nvPr>
            <p:ph idx="14"/>
            <p:extLst>
              <p:ext uri="{D42A27DB-BD31-4B8C-83A1-F6EECF244321}">
                <p14:modId xmlns:p14="http://schemas.microsoft.com/office/powerpoint/2010/main" val="452545265"/>
              </p:ext>
            </p:extLst>
          </p:nvPr>
        </p:nvGraphicFramePr>
        <p:xfrm>
          <a:off x="468313" y="1543050"/>
          <a:ext cx="11266487" cy="4454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2C0CB49-EAFC-5A59-26DE-3451B301CE6D}"/>
              </a:ext>
            </a:extLst>
          </p:cNvPr>
          <p:cNvSpPr txBox="1"/>
          <p:nvPr/>
        </p:nvSpPr>
        <p:spPr>
          <a:xfrm>
            <a:off x="7803915" y="1767440"/>
            <a:ext cx="29266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We will go beyond 2D graphs and charts!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E6FAEF-CDA8-ECF4-4B1A-F6208388FBFB}"/>
              </a:ext>
            </a:extLst>
          </p:cNvPr>
          <p:cNvSpPr txBox="1"/>
          <p:nvPr/>
        </p:nvSpPr>
        <p:spPr>
          <a:xfrm>
            <a:off x="8442697" y="4137666"/>
            <a:ext cx="25486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Finding meaning in multi-dimensional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D61B85-97DE-60FD-B931-2CA839686F9B}"/>
              </a:ext>
            </a:extLst>
          </p:cNvPr>
          <p:cNvSpPr txBox="1"/>
          <p:nvPr/>
        </p:nvSpPr>
        <p:spPr>
          <a:xfrm>
            <a:off x="1600910" y="4460831"/>
            <a:ext cx="25486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“A picture is worth a thousand words”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7937D5-188F-3382-219F-6E8C073729EC}"/>
              </a:ext>
            </a:extLst>
          </p:cNvPr>
          <p:cNvSpPr txBox="1"/>
          <p:nvPr/>
        </p:nvSpPr>
        <p:spPr>
          <a:xfrm>
            <a:off x="1305837" y="2107063"/>
            <a:ext cx="25486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Most important!!!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41DE9B-39D4-AAEA-7882-6D63965C5FB7}"/>
              </a:ext>
            </a:extLst>
          </p:cNvPr>
          <p:cNvSpPr txBox="1"/>
          <p:nvPr/>
        </p:nvSpPr>
        <p:spPr>
          <a:xfrm>
            <a:off x="887548" y="2536881"/>
            <a:ext cx="25486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So that we don’t get replaced by AI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3A83AF-4E34-CB81-97DB-1D77D94678DA}"/>
              </a:ext>
            </a:extLst>
          </p:cNvPr>
          <p:cNvSpPr txBox="1"/>
          <p:nvPr/>
        </p:nvSpPr>
        <p:spPr>
          <a:xfrm>
            <a:off x="5282120" y="266433"/>
            <a:ext cx="656769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“In this world of big data, data literacy—the ability to </a:t>
            </a:r>
            <a:r>
              <a:rPr lang="en-US" sz="2200" b="1" dirty="0"/>
              <a:t>analyze</a:t>
            </a:r>
            <a:r>
              <a:rPr lang="en-US" sz="2200" dirty="0"/>
              <a:t>, </a:t>
            </a:r>
            <a:r>
              <a:rPr lang="en-US" sz="2200" b="1" dirty="0"/>
              <a:t>interpret</a:t>
            </a:r>
            <a:r>
              <a:rPr lang="en-US" sz="2200" dirty="0"/>
              <a:t>, and even </a:t>
            </a:r>
            <a:r>
              <a:rPr lang="en-US" sz="2200" b="1" dirty="0"/>
              <a:t>question</a:t>
            </a:r>
            <a:r>
              <a:rPr lang="en-US" sz="2200" dirty="0"/>
              <a:t> data—is an increasingly valuable skill.” - Prof. Jan Hammond, HBS</a:t>
            </a:r>
          </a:p>
        </p:txBody>
      </p:sp>
    </p:spTree>
    <p:extLst>
      <p:ext uri="{BB962C8B-B14F-4D97-AF65-F5344CB8AC3E}">
        <p14:creationId xmlns:p14="http://schemas.microsoft.com/office/powerpoint/2010/main" val="4050674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orrelation Analysis to Identify the Effective Data in Machine Learning:  Prediction of Depressive Disorder and Emotion States">
            <a:extLst>
              <a:ext uri="{FF2B5EF4-FFF2-40B4-BE49-F238E27FC236}">
                <a16:creationId xmlns:a16="http://schemas.microsoft.com/office/drawing/2014/main" id="{CEF95243-4D91-3D4C-8D04-A80255876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65962" y="1543324"/>
            <a:ext cx="7070962" cy="445470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8CAF089-ED8A-2DBC-4B0E-2753AB583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 anchor="ctr">
            <a:normAutofit/>
          </a:bodyPr>
          <a:lstStyle/>
          <a:p>
            <a:r>
              <a:rPr lang="en-US" sz="3400"/>
              <a:t>1. Identify trends and correlations</a:t>
            </a:r>
          </a:p>
        </p:txBody>
      </p:sp>
      <p:sp>
        <p:nvSpPr>
          <p:cNvPr id="5127" name="Text Placeholder 3">
            <a:extLst>
              <a:ext uri="{FF2B5EF4-FFF2-40B4-BE49-F238E27FC236}">
                <a16:creationId xmlns:a16="http://schemas.microsoft.com/office/drawing/2014/main" id="{E7E6BCE4-C542-2B12-5382-F25B76E0AF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/>
          <a:lstStyle/>
          <a:p>
            <a:r>
              <a:rPr lang="en-US" dirty="0"/>
              <a:t>Positive, negative, or no correlation?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6D1E6B-D068-5623-A231-38839B2EC01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961773-6108-C6D9-3EEF-3F094F7B4FAB}"/>
              </a:ext>
            </a:extLst>
          </p:cNvPr>
          <p:cNvSpPr txBox="1"/>
          <p:nvPr/>
        </p:nvSpPr>
        <p:spPr>
          <a:xfrm>
            <a:off x="330740" y="1819072"/>
            <a:ext cx="202121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Use of unsupervised ML for clustering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To find similarity in high dimensional data</a:t>
            </a:r>
          </a:p>
        </p:txBody>
      </p:sp>
    </p:spTree>
    <p:extLst>
      <p:ext uri="{BB962C8B-B14F-4D97-AF65-F5344CB8AC3E}">
        <p14:creationId xmlns:p14="http://schemas.microsoft.com/office/powerpoint/2010/main" val="4131539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360B1C-8D18-A27B-78A3-A5B106052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Enhance data interpretation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CD5B01-187D-56DF-8CEE-0B0902C1FF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Are there more male than female passengers?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C0F5A-34CC-6064-2171-19F75A92E5C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2DD5E0-67D6-BE3A-7ABE-EDD22F716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79" y="1636813"/>
            <a:ext cx="6145288" cy="4014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2D238E-0C40-8A72-0555-14ABCA4E9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116" y="2060448"/>
            <a:ext cx="5309705" cy="359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59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5FA778-39D0-6DC5-184D-DA84A912C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Increase engagement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8BDE08-6C8E-061A-F2E8-B1745CDBCB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What can we do with this information?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C45AE-0D6E-C163-1F3F-A31E2191EFE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39F9660-551B-B040-C31D-BE8C7237D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416" y="1426959"/>
            <a:ext cx="6619875" cy="44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6096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8E3C04-D95C-653B-A89A-7A6475782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Communicate complex data effectively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2594D-716B-0562-2FA4-A70AAF8616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EA342E-0325-378A-15EA-836C72D8B5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09EB79A-7959-529A-17D2-E43FECDE9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627" y="1440797"/>
            <a:ext cx="6582425" cy="472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2434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D9E22F17-2401-EC93-1BE3-97DB86677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8556" y="641022"/>
            <a:ext cx="5727704" cy="5040379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98AB2-7CEC-F9B8-7F6F-DAFC7F2E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9A0C03-2B5D-2A9E-E5EA-5374B57CAEDB}"/>
              </a:ext>
            </a:extLst>
          </p:cNvPr>
          <p:cNvSpPr/>
          <p:nvPr/>
        </p:nvSpPr>
        <p:spPr>
          <a:xfrm>
            <a:off x="291359" y="1561226"/>
            <a:ext cx="5730150" cy="650084"/>
          </a:xfrm>
          <a:prstGeom prst="rect">
            <a:avLst/>
          </a:prstGeom>
          <a:noFill/>
          <a:ln w="571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E2C685-5169-2107-33F9-230144808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971" y="641022"/>
            <a:ext cx="5650670" cy="496618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3AACE35-82FF-F773-92E3-7E9EADCABB21}"/>
              </a:ext>
            </a:extLst>
          </p:cNvPr>
          <p:cNvSpPr/>
          <p:nvPr/>
        </p:nvSpPr>
        <p:spPr>
          <a:xfrm>
            <a:off x="6170491" y="1561226"/>
            <a:ext cx="5730150" cy="650084"/>
          </a:xfrm>
          <a:prstGeom prst="rect">
            <a:avLst/>
          </a:prstGeom>
          <a:noFill/>
          <a:ln w="571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32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BD7250-555D-62A7-DFA7-FE871754C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Improve decision-making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4196E-0024-16F3-FD5F-24D8A67701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This is where YOU come in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C86E84-C07F-4303-606E-DAC33F31812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3FC08F82-D82A-EF5A-BE22-C84247BA27D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US" sz="4000" dirty="0">
                <a:latin typeface="Acumin Pro" panose="020B0604020202020204" charset="0"/>
              </a:rPr>
              <a:t>Despite </a:t>
            </a:r>
            <a:r>
              <a:rPr lang="en-US" altLang="en-US" sz="4000" b="1" dirty="0">
                <a:latin typeface="Acumin Pro" panose="020B0604020202020204" charset="0"/>
              </a:rPr>
              <a:t>$30–40 billion in enterprise investment</a:t>
            </a:r>
            <a:r>
              <a:rPr lang="en-US" altLang="en-US" sz="4000" dirty="0">
                <a:latin typeface="Acumin Pro" panose="020B0604020202020204" charset="0"/>
              </a:rPr>
              <a:t>, only 5% of organizations achieve measurable ROI, while </a:t>
            </a:r>
            <a:r>
              <a:rPr lang="en-US" altLang="en-US" sz="4000" b="1" dirty="0">
                <a:solidFill>
                  <a:srgbClr val="FF0000"/>
                </a:solidFill>
                <a:latin typeface="Acumin Pro" panose="020B0604020202020204" charset="0"/>
              </a:rPr>
              <a:t>95% remain stuck </a:t>
            </a:r>
            <a:r>
              <a:rPr lang="en-US" altLang="en-US" sz="4000" dirty="0">
                <a:latin typeface="Acumin Pro" panose="020B0604020202020204" charset="0"/>
              </a:rPr>
              <a:t>with stalled pilots and </a:t>
            </a:r>
            <a:r>
              <a:rPr lang="en-US" altLang="en-US" sz="4000" b="1" dirty="0">
                <a:latin typeface="Acumin Pro" panose="020B0604020202020204" charset="0"/>
              </a:rPr>
              <a:t>no P&amp;L impact</a:t>
            </a:r>
            <a:r>
              <a:rPr lang="en-US" altLang="en-US" sz="4000" dirty="0">
                <a:latin typeface="Acumin Pro" panose="020B0604020202020204" charset="0"/>
              </a:rPr>
              <a:t>. ​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7CDAF6-9570-3854-D46D-E34945337284}"/>
              </a:ext>
            </a:extLst>
          </p:cNvPr>
          <p:cNvSpPr txBox="1"/>
          <p:nvPr/>
        </p:nvSpPr>
        <p:spPr>
          <a:xfrm>
            <a:off x="6096000" y="4095102"/>
            <a:ext cx="48995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/>
              <a:t>MIT (Project NANDA) Report</a:t>
            </a:r>
          </a:p>
          <a:p>
            <a:r>
              <a:rPr lang="en-US" altLang="en-US" dirty="0"/>
              <a:t>The GenAI Divide: State of AI in Business 2025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631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4A914-6FA4-030D-2D55-AFE9F4C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6CA6-8BBE-7957-D6BE-17557129C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Descriptive Analytics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D8AEA-398B-95B8-7DDE-C51CD1DE84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 picture’s worth a thousand words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2CA6B6-9EF3-1C0A-B651-C40FEB7952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203F94-CD0C-8DBC-BB7E-9F42D374E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476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8AF627E-D6C8-CCEE-E574-5202333874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What is this picture telling us?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8CF2AE9-9574-2917-922B-FDD50B92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picture’s worth a thousand words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E6A81F-9B55-65B1-0F8B-C0B5C9267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6E98A6E-D33E-6C62-585F-1F47F4596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4709" y="1566867"/>
            <a:ext cx="6619875" cy="44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9349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187C31-7AFE-E165-930C-D86ABEFECB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Gemini’s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1F152-8137-A159-5362-91B7BB6274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+mj-lt"/>
              <a:buAutoNum type="arabicParenR"/>
            </a:pPr>
            <a:r>
              <a:rPr lang="en-US" sz="2200" b="1" dirty="0"/>
              <a:t>Inspect the data</a:t>
            </a:r>
            <a:r>
              <a:rPr lang="en-US" sz="2200" dirty="0"/>
              <a:t>: Display the first few rows, column names, data types, and summary statistics of the data.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b="1" dirty="0"/>
              <a:t>Check for missing values</a:t>
            </a:r>
            <a:r>
              <a:rPr lang="en-US" sz="2200" dirty="0"/>
              <a:t>: Identify and visualize missing values in the data.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b="1" dirty="0"/>
              <a:t>Analyze distributions</a:t>
            </a:r>
            <a:r>
              <a:rPr lang="en-US" sz="2200" dirty="0"/>
              <a:t>: Visualize the distributions of numerical and categorical features.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b="1" dirty="0"/>
              <a:t>Explore relationships</a:t>
            </a:r>
            <a:r>
              <a:rPr lang="en-US" sz="2200" dirty="0"/>
              <a:t>: Analyze the relationships between different features, particularly with the 'Survived' column.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b="1" dirty="0"/>
              <a:t>Identify outliers</a:t>
            </a:r>
            <a:r>
              <a:rPr lang="en-US" sz="2200" dirty="0"/>
              <a:t>: Detect and visualize outliers in numerical features.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b="1" dirty="0"/>
              <a:t>Summarize findings</a:t>
            </a:r>
            <a:r>
              <a:rPr lang="en-US" sz="2200" dirty="0"/>
              <a:t>: Provide a summary of the key findings from the EDA.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b="1" dirty="0"/>
              <a:t>Finish task</a:t>
            </a:r>
            <a:r>
              <a:rPr lang="en-US" sz="2200" dirty="0"/>
              <a:t>: End the analysis and present the findings.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859C8E-58B2-8D1B-5800-50546A96A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Exploratory Data Analysis – EDA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697231-A9C8-FA21-2472-D39D8BDE3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205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87358-FFC3-00F3-1991-26E1E6F80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3434CCB-6A80-8A84-FAAD-FB0C45996C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B0741DB-8FAB-9043-8FAD-F2A7CD59C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Code Demo –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48388F-EED3-648C-E832-6BB1CBFB0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9" name="Picture 2" descr="What is Google Colab?. Introduction to Google Colab. | by Hrishikesh Mane |  Medium">
            <a:extLst>
              <a:ext uri="{FF2B5EF4-FFF2-40B4-BE49-F238E27FC236}">
                <a16:creationId xmlns:a16="http://schemas.microsoft.com/office/drawing/2014/main" id="{193D48F0-9297-269E-F6CF-7C3E2F82A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531" y="1382815"/>
            <a:ext cx="6763699" cy="298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324EE9E-7417-AF5D-87AC-CC0688739F1A}"/>
              </a:ext>
            </a:extLst>
          </p:cNvPr>
          <p:cNvSpPr txBox="1"/>
          <p:nvPr/>
        </p:nvSpPr>
        <p:spPr>
          <a:xfrm>
            <a:off x="1186175" y="4128579"/>
            <a:ext cx="9804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https://colab.research.google.com/drive/1RGBZDpBvwLqhZZGahvAOxenRAVopQWht?usp=sharing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293009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E2EE6C3-5671-8147-F84B-4E655BAE36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This is where YOU come in…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DEBB39-6E1F-5329-1B9A-8C1636DC0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Human still makes the call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3ED379-954D-1BA3-88CA-A65247E0E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6146" name="Picture 2" descr="Get faster and better at decision making | Executive PA Media">
            <a:extLst>
              <a:ext uri="{FF2B5EF4-FFF2-40B4-BE49-F238E27FC236}">
                <a16:creationId xmlns:a16="http://schemas.microsoft.com/office/drawing/2014/main" id="{69F9852F-7F62-916B-B4C9-1102CD1D3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300" y="1693659"/>
            <a:ext cx="6629400" cy="421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75305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A6B5A-65D8-8088-9092-6438D1B28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72636-6B15-D2BC-1DB7-21D40FBEB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CC615-61D6-7494-B4EE-B39B688D59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Titanic – who will survive?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CC65F2-8EC2-3213-0CCB-279D98F1BC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EBB2DB-E4BA-F87A-E84D-EE1DD1492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7147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7B298-B558-1BF6-A635-6F0A8B239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C8FA16-5A85-001E-E753-81EB175FA7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Finding insights from the data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9638C0-B635-F529-6B6D-A36DA7B8E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Titanic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13EEE7-2EA5-D440-1E26-8FE016D94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7173E6-E907-99DB-2885-F777E692B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6" y="1697737"/>
            <a:ext cx="5500017" cy="37915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0E39EE-02E5-2123-243A-E3283E53C79A}"/>
              </a:ext>
            </a:extLst>
          </p:cNvPr>
          <p:cNvSpPr txBox="1"/>
          <p:nvPr/>
        </p:nvSpPr>
        <p:spPr>
          <a:xfrm>
            <a:off x="6095997" y="1118713"/>
            <a:ext cx="585100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Data Understanding &amp; Preparation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Assess the quality of the 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Create a plan to address (through data engineering)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Potentially incorrect data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Missing data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Collection of additional data that might be useful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2A222B-8EE6-4D8E-0EE1-1190624C4223}"/>
              </a:ext>
            </a:extLst>
          </p:cNvPr>
          <p:cNvSpPr txBox="1"/>
          <p:nvPr/>
        </p:nvSpPr>
        <p:spPr>
          <a:xfrm>
            <a:off x="6095997" y="3919480"/>
            <a:ext cx="585100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Decision-making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Given the data you have and the understanding of who is more likely to survive, what else could be done to improve the survival rate?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Obviously, other than “adding more lifeboats”</a:t>
            </a:r>
          </a:p>
        </p:txBody>
      </p:sp>
    </p:spTree>
    <p:extLst>
      <p:ext uri="{BB962C8B-B14F-4D97-AF65-F5344CB8AC3E}">
        <p14:creationId xmlns:p14="http://schemas.microsoft.com/office/powerpoint/2010/main" val="3119931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E009D9-7454-2468-5C73-35E96C8CA0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A23F76A-F195-02C3-69D9-CA0551AF2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Questions?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8B4EB-38C7-FE65-59C7-61862731E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359259-0A8F-0246-81FB-9BBB9AD21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422" y="213483"/>
            <a:ext cx="5000625" cy="607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2799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44459-E53E-2E60-3995-DE226D61F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36121-EDF5-BE97-1E85-89A805339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89164-41D6-FEA6-3836-3CD52A5926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Team set up and project brainstorming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963B4C-5183-9F03-0BE8-FFF7C0521F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820C9F-562D-2ADB-6462-19125B140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9431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5B16852-AFE5-3158-C2A3-441A3297B5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B7036-3D5C-F2D6-DC8D-00182A3D65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087" y="1201647"/>
            <a:ext cx="11266713" cy="4454706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3600" dirty="0"/>
              <a:t>First, create a group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600" dirty="0"/>
              <a:t>4-5 people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600" dirty="0"/>
              <a:t>Select a cool team name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600" dirty="0"/>
              <a:t>Enroll yourself in the group on Brightspace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600" dirty="0"/>
              <a:t>Brainstorm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600" dirty="0"/>
              <a:t>What problems are you trying to solve?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600" dirty="0"/>
              <a:t>What questions are you trying to answer?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600" dirty="0"/>
              <a:t>What kind of data will you need?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901547-41FB-3771-E955-9EB159D9D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4B6059-D399-D3E3-5D41-CC9E5227B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BEC364-6421-63F7-DC47-8233689CA218}"/>
              </a:ext>
            </a:extLst>
          </p:cNvPr>
          <p:cNvSpPr txBox="1"/>
          <p:nvPr/>
        </p:nvSpPr>
        <p:spPr>
          <a:xfrm>
            <a:off x="8257865" y="1608116"/>
            <a:ext cx="29268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</a:rPr>
              <a:t>Do this by </a:t>
            </a:r>
          </a:p>
          <a:p>
            <a:pPr algn="ctr"/>
            <a:r>
              <a:rPr lang="en-US" sz="3000" b="1" dirty="0">
                <a:solidFill>
                  <a:srgbClr val="FF0000"/>
                </a:solidFill>
              </a:rPr>
              <a:t>Sept. 7</a:t>
            </a:r>
            <a:r>
              <a:rPr lang="en-US" sz="3000" b="1" baseline="30000" dirty="0">
                <a:solidFill>
                  <a:srgbClr val="FF0000"/>
                </a:solidFill>
              </a:rPr>
              <a:t>th</a:t>
            </a:r>
            <a:endParaRPr lang="en-US" sz="3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4072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0258B-55A4-3689-6734-C1A2FCAD9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That’s a wrap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09704-0E4E-C383-CD7D-EFE8CB5EB5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4" name="Picture 3" descr="A person and dog sitting at a table&#10;&#10;Description automatically generated">
            <a:extLst>
              <a:ext uri="{FF2B5EF4-FFF2-40B4-BE49-F238E27FC236}">
                <a16:creationId xmlns:a16="http://schemas.microsoft.com/office/drawing/2014/main" id="{3BE0D9EC-9CA8-750F-0D41-2D09E426DA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417" y="2047264"/>
            <a:ext cx="3072653" cy="409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0612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094D54-9501-2FA2-42DF-4EDAC168AE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At a glance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4AA7F09-0AE1-743D-1A2E-5FA533365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Course Schedule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173431-F956-F0C2-7E54-9D9D0A9C6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29</a:t>
            </a:fld>
            <a:endParaRPr lang="en-US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C9D014B-7615-24AC-3697-086BB4676A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5371703"/>
              </p:ext>
            </p:extLst>
          </p:nvPr>
        </p:nvGraphicFramePr>
        <p:xfrm>
          <a:off x="1631299" y="1417538"/>
          <a:ext cx="9553432" cy="4588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56042" imgH="2860576" progId="Word.Document.12">
                  <p:embed/>
                </p:oleObj>
              </mc:Choice>
              <mc:Fallback>
                <p:oleObj name="Document" r:id="rId2" imgW="5956042" imgH="28605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31299" y="1417538"/>
                        <a:ext cx="9553432" cy="45882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4780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GMT_lecture" id="{747DC2A2-EEE5-334E-812D-36A71899033A}" vid="{4F570285-B5C5-1346-8072-0076D2FCB5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4" ma:contentTypeDescription="Create a new document." ma:contentTypeScope="" ma:versionID="525164dac9297210c095a5bd80287f9a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47e49e78aff16fc85174c3b1ac7b7e79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7F8518-0786-4241-9955-5A8DAADF5A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1DE0D6C-581B-4814-98E7-EF172D5D46A1}">
  <ds:schemaRefs>
    <ds:schemaRef ds:uri="http://purl.org/dc/dcmitype/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d6656b4d-3fa0-4709-acfb-d5e813445d1e"/>
    <ds:schemaRef ds:uri="37af3f4b-4b66-46f9-8456-831d9bc3e737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MGMT_lecture_RobE</Template>
  <TotalTime>1911</TotalTime>
  <Words>1110</Words>
  <Application>Microsoft Office PowerPoint</Application>
  <PresentationFormat>Widescreen</PresentationFormat>
  <Paragraphs>171</Paragraphs>
  <Slides>29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1" baseType="lpstr">
      <vt:lpstr>Acumin Pro</vt:lpstr>
      <vt:lpstr>Franklin Gothic Medium</vt:lpstr>
      <vt:lpstr>Franklin Gothic Book</vt:lpstr>
      <vt:lpstr>Arial</vt:lpstr>
      <vt:lpstr>Franklin Gothic Medium Cond</vt:lpstr>
      <vt:lpstr>Acumin Pro Medium</vt:lpstr>
      <vt:lpstr>Acumin Pro Condensed Semibold</vt:lpstr>
      <vt:lpstr>Calibri</vt:lpstr>
      <vt:lpstr>Wingdings</vt:lpstr>
      <vt:lpstr>Acumin Pro Semibold</vt:lpstr>
      <vt:lpstr>Office Theme</vt:lpstr>
      <vt:lpstr>Document</vt:lpstr>
      <vt:lpstr>MGMT590 - Visual Analytics</vt:lpstr>
      <vt:lpstr>Today’s agenda</vt:lpstr>
      <vt:lpstr>Special Announcement</vt:lpstr>
      <vt:lpstr>Here’s an example</vt:lpstr>
      <vt:lpstr>Introduction: Visual Analytics</vt:lpstr>
      <vt:lpstr>Stages of Analytics</vt:lpstr>
      <vt:lpstr>Descriptive Analytics</vt:lpstr>
      <vt:lpstr>Diagnostic Analytics</vt:lpstr>
      <vt:lpstr>Predictive Analytics</vt:lpstr>
      <vt:lpstr>Prescriptive Analytics</vt:lpstr>
      <vt:lpstr>Descriptive Analytics</vt:lpstr>
      <vt:lpstr>1. Identify trends and correlations</vt:lpstr>
      <vt:lpstr>Enhance data interpretation</vt:lpstr>
      <vt:lpstr>Increase engagement</vt:lpstr>
      <vt:lpstr>Communicate complex data effectively</vt:lpstr>
      <vt:lpstr>PowerPoint Presentation</vt:lpstr>
      <vt:lpstr>Improve decision-making</vt:lpstr>
      <vt:lpstr>Descriptive Analytics</vt:lpstr>
      <vt:lpstr>A picture’s worth a thousand words</vt:lpstr>
      <vt:lpstr>Exploratory Data Analysis – EDA</vt:lpstr>
      <vt:lpstr>Code Demo – </vt:lpstr>
      <vt:lpstr>Human still makes the call</vt:lpstr>
      <vt:lpstr>Assignment 1</vt:lpstr>
      <vt:lpstr>Titanic</vt:lpstr>
      <vt:lpstr>Questions? </vt:lpstr>
      <vt:lpstr>Team Project</vt:lpstr>
      <vt:lpstr>Team Project</vt:lpstr>
      <vt:lpstr>That’s a wrap</vt:lpstr>
      <vt:lpstr>Course Schedule</vt:lpstr>
    </vt:vector>
  </TitlesOfParts>
  <Company>Purdue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Cecilia Ying</dc:creator>
  <cp:lastModifiedBy>Cecilia Ying</cp:lastModifiedBy>
  <cp:revision>95</cp:revision>
  <dcterms:created xsi:type="dcterms:W3CDTF">2025-05-19T00:14:27Z</dcterms:created>
  <dcterms:modified xsi:type="dcterms:W3CDTF">2025-08-27T15:17:42Z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0x01010054E202481DC1CB46AA011D949D311478</vt:lpwstr>
  </property>
  <property fmtid="{D5CDD505-2E9C-101B-9397-08002B2CF9AE}" pid="3" name="MediaServiceImageTags">
    <vt:lpwstr/>
  </property>
  <property fmtid="{D5CDD505-2E9C-101B-9397-08002B2CF9AE}" pid="4" name="MSIP_Label_f7606f69-b0ae-4874-be30-7d43a3c7be10_Enabled">
    <vt:lpwstr>true</vt:lpwstr>
  </property>
  <property fmtid="{D5CDD505-2E9C-101B-9397-08002B2CF9AE}" pid="5" name="MSIP_Label_f7606f69-b0ae-4874-be30-7d43a3c7be10_SetDate">
    <vt:lpwstr>2025-05-19T00:14:54Z</vt:lpwstr>
  </property>
  <property fmtid="{D5CDD505-2E9C-101B-9397-08002B2CF9AE}" pid="6" name="MSIP_Label_f7606f69-b0ae-4874-be30-7d43a3c7be10_Method">
    <vt:lpwstr>Standard</vt:lpwstr>
  </property>
  <property fmtid="{D5CDD505-2E9C-101B-9397-08002B2CF9AE}" pid="7" name="MSIP_Label_f7606f69-b0ae-4874-be30-7d43a3c7be10_Name">
    <vt:lpwstr>defa4170-0d19-0005-0001-bc88714345d2</vt:lpwstr>
  </property>
  <property fmtid="{D5CDD505-2E9C-101B-9397-08002B2CF9AE}" pid="8" name="MSIP_Label_f7606f69-b0ae-4874-be30-7d43a3c7be10_SiteId">
    <vt:lpwstr>4130bd39-7c53-419c-b1e5-8758d6d63f21</vt:lpwstr>
  </property>
  <property fmtid="{D5CDD505-2E9C-101B-9397-08002B2CF9AE}" pid="9" name="MSIP_Label_f7606f69-b0ae-4874-be30-7d43a3c7be10_ActionId">
    <vt:lpwstr>999e95f5-5fe3-43c1-9d56-8c2627af7790</vt:lpwstr>
  </property>
  <property fmtid="{D5CDD505-2E9C-101B-9397-08002B2CF9AE}" pid="10" name="MSIP_Label_f7606f69-b0ae-4874-be30-7d43a3c7be10_ContentBits">
    <vt:lpwstr>0</vt:lpwstr>
  </property>
  <property fmtid="{D5CDD505-2E9C-101B-9397-08002B2CF9AE}" pid="11" name="MSIP_Label_f7606f69-b0ae-4874-be30-7d43a3c7be10_Tag">
    <vt:lpwstr>10, 3, 0, 1</vt:lpwstr>
  </property>
</Properties>
</file>