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648" r:id="rId4"/>
  </p:sldMasterIdLst>
  <p:notesMasterIdLst>
    <p:notesMasterId r:id="rId41"/>
  </p:notesMasterIdLst>
  <p:sldIdLst>
    <p:sldId id="267" r:id="rId5"/>
    <p:sldId id="452" r:id="rId6"/>
    <p:sldId id="453" r:id="rId7"/>
    <p:sldId id="458" r:id="rId8"/>
    <p:sldId id="460" r:id="rId9"/>
    <p:sldId id="300" r:id="rId10"/>
    <p:sldId id="454" r:id="rId11"/>
    <p:sldId id="318" r:id="rId12"/>
    <p:sldId id="462" r:id="rId13"/>
    <p:sldId id="463" r:id="rId14"/>
    <p:sldId id="464" r:id="rId15"/>
    <p:sldId id="465" r:id="rId16"/>
    <p:sldId id="466" r:id="rId17"/>
    <p:sldId id="467" r:id="rId18"/>
    <p:sldId id="482" r:id="rId19"/>
    <p:sldId id="304" r:id="rId20"/>
    <p:sldId id="456" r:id="rId21"/>
    <p:sldId id="468" r:id="rId22"/>
    <p:sldId id="457" r:id="rId23"/>
    <p:sldId id="470" r:id="rId24"/>
    <p:sldId id="476" r:id="rId25"/>
    <p:sldId id="472" r:id="rId26"/>
    <p:sldId id="480" r:id="rId27"/>
    <p:sldId id="481" r:id="rId28"/>
    <p:sldId id="477" r:id="rId29"/>
    <p:sldId id="471" r:id="rId30"/>
    <p:sldId id="461" r:id="rId31"/>
    <p:sldId id="459" r:id="rId32"/>
    <p:sldId id="455" r:id="rId33"/>
    <p:sldId id="329" r:id="rId34"/>
    <p:sldId id="269" r:id="rId35"/>
    <p:sldId id="285" r:id="rId36"/>
    <p:sldId id="405" r:id="rId37"/>
    <p:sldId id="406" r:id="rId38"/>
    <p:sldId id="299" r:id="rId39"/>
    <p:sldId id="274" r:id="rId40"/>
  </p:sldIdLst>
  <p:sldSz cx="12192000" cy="6858000"/>
  <p:notesSz cx="6858000" cy="9144000"/>
  <p:embeddedFontLst>
    <p:embeddedFont>
      <p:font typeface="Acumin Pro" panose="020B0604020202020204" charset="0"/>
      <p:regular r:id="rId42"/>
      <p:bold r:id="rId43"/>
      <p:italic r:id="rId44"/>
      <p:boldItalic r:id="rId45"/>
    </p:embeddedFont>
    <p:embeddedFont>
      <p:font typeface="Acumin Pro Condensed Semibold" panose="020B0604020202020204" charset="0"/>
      <p:regular r:id="rId46"/>
      <p:bold r:id="rId47"/>
      <p:italic r:id="rId48"/>
      <p:boldItalic r:id="rId49"/>
    </p:embeddedFont>
    <p:embeddedFont>
      <p:font typeface="Acumin Pro Medium" panose="020B0604020202020204" charset="0"/>
      <p:regular r:id="rId50"/>
      <p:italic r:id="rId51"/>
    </p:embeddedFont>
    <p:embeddedFont>
      <p:font typeface="Acumin Pro Semibold" panose="020B0604020202020204" charset="0"/>
      <p:regular r:id="rId52"/>
      <p:bold r:id="rId53"/>
      <p:italic r:id="rId54"/>
      <p:boldItalic r:id="rId55"/>
    </p:embeddedFont>
    <p:embeddedFont>
      <p:font typeface="Franklin Gothic Book" panose="020B0503020102020204" pitchFamily="34" charset="0"/>
      <p:regular r:id="rId56"/>
      <p:italic r:id="rId57"/>
    </p:embeddedFont>
    <p:embeddedFont>
      <p:font typeface="Franklin Gothic Medium" panose="020B0603020102020204" pitchFamily="34" charset="0"/>
      <p:regular r:id="rId58"/>
      <p:italic r:id="rId59"/>
    </p:embeddedFont>
    <p:embeddedFont>
      <p:font typeface="Franklin Gothic Medium Cond" panose="020B0606030402020204" pitchFamily="34" charset="0"/>
      <p:regular r:id="rId6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BF9D4ED-34DD-459C-B077-609AE9A63272}">
          <p14:sldIdLst>
            <p14:sldId id="267"/>
            <p14:sldId id="452"/>
            <p14:sldId id="453"/>
            <p14:sldId id="458"/>
            <p14:sldId id="460"/>
            <p14:sldId id="300"/>
            <p14:sldId id="454"/>
            <p14:sldId id="318"/>
            <p14:sldId id="462"/>
            <p14:sldId id="463"/>
            <p14:sldId id="464"/>
            <p14:sldId id="465"/>
            <p14:sldId id="466"/>
            <p14:sldId id="467"/>
            <p14:sldId id="482"/>
            <p14:sldId id="304"/>
            <p14:sldId id="456"/>
            <p14:sldId id="468"/>
            <p14:sldId id="457"/>
            <p14:sldId id="470"/>
            <p14:sldId id="476"/>
            <p14:sldId id="472"/>
            <p14:sldId id="480"/>
            <p14:sldId id="481"/>
            <p14:sldId id="477"/>
            <p14:sldId id="471"/>
            <p14:sldId id="461"/>
            <p14:sldId id="459"/>
            <p14:sldId id="455"/>
            <p14:sldId id="329"/>
            <p14:sldId id="269"/>
            <p14:sldId id="285"/>
          </p14:sldIdLst>
        </p14:section>
        <p14:section name="Assignment 1" id="{B085167A-3D40-4749-9A90-EA755DB5CF4C}">
          <p14:sldIdLst>
            <p14:sldId id="405"/>
            <p14:sldId id="406"/>
          </p14:sldIdLst>
        </p14:section>
        <p14:section name="Group Project" id="{0190CA0E-E2AA-4B9E-94AE-3250C830C7E3}">
          <p14:sldIdLst>
            <p14:sldId id="299"/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D99F"/>
    <a:srgbClr val="CFB991"/>
    <a:srgbClr val="DDB9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17" autoAdjust="0"/>
    <p:restoredTop sz="94694"/>
  </p:normalViewPr>
  <p:slideViewPr>
    <p:cSldViewPr snapToGrid="0">
      <p:cViewPr varScale="1">
        <p:scale>
          <a:sx n="92" d="100"/>
          <a:sy n="92" d="100"/>
        </p:scale>
        <p:origin x="108" y="720"/>
      </p:cViewPr>
      <p:guideLst>
        <p:guide orient="horz" pos="1080"/>
        <p:guide pos="3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font" Target="fonts/font9.fntdata"/><Relationship Id="rId55" Type="http://schemas.openxmlformats.org/officeDocument/2006/relationships/font" Target="fonts/font14.fntdata"/><Relationship Id="rId63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font" Target="fonts/font4.fntdata"/><Relationship Id="rId53" Type="http://schemas.openxmlformats.org/officeDocument/2006/relationships/font" Target="fonts/font12.fntdata"/><Relationship Id="rId58" Type="http://schemas.openxmlformats.org/officeDocument/2006/relationships/font" Target="fonts/font17.fntdata"/><Relationship Id="rId5" Type="http://schemas.openxmlformats.org/officeDocument/2006/relationships/slide" Target="slides/slide1.xml"/><Relationship Id="rId61" Type="http://schemas.openxmlformats.org/officeDocument/2006/relationships/presProps" Target="pres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56" Type="http://schemas.openxmlformats.org/officeDocument/2006/relationships/font" Target="fonts/font15.fntdata"/><Relationship Id="rId64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font" Target="fonts/font10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5.fntdata"/><Relationship Id="rId59" Type="http://schemas.openxmlformats.org/officeDocument/2006/relationships/font" Target="fonts/font18.fntdata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Relationship Id="rId54" Type="http://schemas.openxmlformats.org/officeDocument/2006/relationships/font" Target="fonts/font13.fntdata"/><Relationship Id="rId62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8.fntdata"/><Relationship Id="rId57" Type="http://schemas.openxmlformats.org/officeDocument/2006/relationships/font" Target="fonts/font16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font" Target="fonts/font3.fntdata"/><Relationship Id="rId52" Type="http://schemas.openxmlformats.org/officeDocument/2006/relationships/font" Target="fonts/font11.fntdata"/><Relationship Id="rId60" Type="http://schemas.openxmlformats.org/officeDocument/2006/relationships/font" Target="fonts/font19.fntdata"/><Relationship Id="rId65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6F7FC2-4E0C-4CB1-A782-07A7DA267F3C}" type="doc">
      <dgm:prSet loTypeId="urn:microsoft.com/office/officeart/2005/8/layout/cycle8" loCatId="cycle" qsTypeId="urn:microsoft.com/office/officeart/2005/8/quickstyle/3d1" qsCatId="3D" csTypeId="urn:microsoft.com/office/officeart/2005/8/colors/accent0_2" csCatId="mainScheme" phldr="1"/>
      <dgm:spPr/>
    </dgm:pt>
    <dgm:pt modelId="{ACA258D6-2E3F-4CAB-AF82-75181F4AA10B}">
      <dgm:prSet phldrT="[Text]"/>
      <dgm:spPr/>
      <dgm:t>
        <a:bodyPr/>
        <a:lstStyle/>
        <a:p>
          <a:r>
            <a:rPr lang="en-US" dirty="0"/>
            <a:t>1. Data, Users, or Clients First?</a:t>
          </a:r>
        </a:p>
      </dgm:t>
    </dgm:pt>
    <dgm:pt modelId="{BDC4C20B-CE57-439D-BE89-EF83237C9A3F}" type="parTrans" cxnId="{4101ABEE-B702-4D59-B3BB-5DA57453910E}">
      <dgm:prSet/>
      <dgm:spPr/>
      <dgm:t>
        <a:bodyPr/>
        <a:lstStyle/>
        <a:p>
          <a:endParaRPr lang="en-US"/>
        </a:p>
      </dgm:t>
    </dgm:pt>
    <dgm:pt modelId="{DDFEB64C-2AAB-45A3-AABA-3A419E465B16}" type="sibTrans" cxnId="{4101ABEE-B702-4D59-B3BB-5DA57453910E}">
      <dgm:prSet/>
      <dgm:spPr/>
      <dgm:t>
        <a:bodyPr/>
        <a:lstStyle/>
        <a:p>
          <a:endParaRPr lang="en-US"/>
        </a:p>
      </dgm:t>
    </dgm:pt>
    <dgm:pt modelId="{0C8145ED-A247-4F9B-BEF1-A187FCC71C51}">
      <dgm:prSet phldrT="[Text]"/>
      <dgm:spPr/>
      <dgm:t>
        <a:bodyPr/>
        <a:lstStyle/>
        <a:p>
          <a:r>
            <a:rPr lang="en-US" dirty="0"/>
            <a:t>2. Assessing Progress</a:t>
          </a:r>
        </a:p>
      </dgm:t>
    </dgm:pt>
    <dgm:pt modelId="{4AB7D8EB-4A99-48FC-89DB-31CE26BFF53E}" type="parTrans" cxnId="{1CAFAD16-C51F-4E16-BA4D-F05F7D6344DE}">
      <dgm:prSet/>
      <dgm:spPr/>
      <dgm:t>
        <a:bodyPr/>
        <a:lstStyle/>
        <a:p>
          <a:endParaRPr lang="en-US"/>
        </a:p>
      </dgm:t>
    </dgm:pt>
    <dgm:pt modelId="{AFB79B9E-AE89-4044-9A9D-043E58E4F213}" type="sibTrans" cxnId="{1CAFAD16-C51F-4E16-BA4D-F05F7D6344DE}">
      <dgm:prSet/>
      <dgm:spPr/>
      <dgm:t>
        <a:bodyPr/>
        <a:lstStyle/>
        <a:p>
          <a:endParaRPr lang="en-US"/>
        </a:p>
      </dgm:t>
    </dgm:pt>
    <dgm:pt modelId="{E7CEB0D0-BB65-4238-A964-4E4D15403D0A}">
      <dgm:prSet phldrT="[Text]"/>
      <dgm:spPr/>
      <dgm:t>
        <a:bodyPr/>
        <a:lstStyle/>
        <a:p>
          <a:r>
            <a:rPr lang="en-US" dirty="0"/>
            <a:t>3. Planning in Action</a:t>
          </a:r>
        </a:p>
      </dgm:t>
    </dgm:pt>
    <dgm:pt modelId="{72E05CB9-A882-42DD-BFA6-935630476A97}" type="parTrans" cxnId="{05598FC4-D610-4A9E-995A-33045438543C}">
      <dgm:prSet/>
      <dgm:spPr/>
      <dgm:t>
        <a:bodyPr/>
        <a:lstStyle/>
        <a:p>
          <a:endParaRPr lang="en-US"/>
        </a:p>
      </dgm:t>
    </dgm:pt>
    <dgm:pt modelId="{E3C82444-2ADA-447B-9CC2-C98259F1AF8D}" type="sibTrans" cxnId="{05598FC4-D610-4A9E-995A-33045438543C}">
      <dgm:prSet/>
      <dgm:spPr/>
      <dgm:t>
        <a:bodyPr/>
        <a:lstStyle/>
        <a:p>
          <a:endParaRPr lang="en-US"/>
        </a:p>
      </dgm:t>
    </dgm:pt>
    <dgm:pt modelId="{F640980A-F533-4D9D-9B7F-835E3B987881}" type="pres">
      <dgm:prSet presAssocID="{8C6F7FC2-4E0C-4CB1-A782-07A7DA267F3C}" presName="compositeShape" presStyleCnt="0">
        <dgm:presLayoutVars>
          <dgm:chMax val="7"/>
          <dgm:dir/>
          <dgm:resizeHandles val="exact"/>
        </dgm:presLayoutVars>
      </dgm:prSet>
      <dgm:spPr/>
    </dgm:pt>
    <dgm:pt modelId="{D95A1924-9B10-45ED-950E-416DBCC45EF5}" type="pres">
      <dgm:prSet presAssocID="{8C6F7FC2-4E0C-4CB1-A782-07A7DA267F3C}" presName="wedge1" presStyleLbl="node1" presStyleIdx="0" presStyleCnt="3"/>
      <dgm:spPr/>
    </dgm:pt>
    <dgm:pt modelId="{9DACA770-AB1D-479B-BCBD-933EAA548D9D}" type="pres">
      <dgm:prSet presAssocID="{8C6F7FC2-4E0C-4CB1-A782-07A7DA267F3C}" presName="dummy1a" presStyleCnt="0"/>
      <dgm:spPr/>
    </dgm:pt>
    <dgm:pt modelId="{74641253-F273-4977-86AF-98ADE688BC5C}" type="pres">
      <dgm:prSet presAssocID="{8C6F7FC2-4E0C-4CB1-A782-07A7DA267F3C}" presName="dummy1b" presStyleCnt="0"/>
      <dgm:spPr/>
    </dgm:pt>
    <dgm:pt modelId="{CA5046F4-D60B-40D9-9CD2-735AF15BEF49}" type="pres">
      <dgm:prSet presAssocID="{8C6F7FC2-4E0C-4CB1-A782-07A7DA267F3C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6F7B944E-5F61-4FB1-B62C-C9946C5D5D93}" type="pres">
      <dgm:prSet presAssocID="{8C6F7FC2-4E0C-4CB1-A782-07A7DA267F3C}" presName="wedge2" presStyleLbl="node1" presStyleIdx="1" presStyleCnt="3"/>
      <dgm:spPr/>
    </dgm:pt>
    <dgm:pt modelId="{D25DF366-5034-4952-AE85-84C51C93F199}" type="pres">
      <dgm:prSet presAssocID="{8C6F7FC2-4E0C-4CB1-A782-07A7DA267F3C}" presName="dummy2a" presStyleCnt="0"/>
      <dgm:spPr/>
    </dgm:pt>
    <dgm:pt modelId="{8AB760B0-E0D0-4057-8604-8FA104FF5A23}" type="pres">
      <dgm:prSet presAssocID="{8C6F7FC2-4E0C-4CB1-A782-07A7DA267F3C}" presName="dummy2b" presStyleCnt="0"/>
      <dgm:spPr/>
    </dgm:pt>
    <dgm:pt modelId="{844C383D-FB35-49FA-8FDA-F429E66EF3DA}" type="pres">
      <dgm:prSet presAssocID="{8C6F7FC2-4E0C-4CB1-A782-07A7DA267F3C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70EEA947-C825-4CC6-9723-427E3098E1EB}" type="pres">
      <dgm:prSet presAssocID="{8C6F7FC2-4E0C-4CB1-A782-07A7DA267F3C}" presName="wedge3" presStyleLbl="node1" presStyleIdx="2" presStyleCnt="3"/>
      <dgm:spPr/>
    </dgm:pt>
    <dgm:pt modelId="{0CC03F24-E168-4252-ACAB-41453CC73A1B}" type="pres">
      <dgm:prSet presAssocID="{8C6F7FC2-4E0C-4CB1-A782-07A7DA267F3C}" presName="dummy3a" presStyleCnt="0"/>
      <dgm:spPr/>
    </dgm:pt>
    <dgm:pt modelId="{8F256AF1-F2F1-43FD-8033-CB81B6C1DD27}" type="pres">
      <dgm:prSet presAssocID="{8C6F7FC2-4E0C-4CB1-A782-07A7DA267F3C}" presName="dummy3b" presStyleCnt="0"/>
      <dgm:spPr/>
    </dgm:pt>
    <dgm:pt modelId="{FA3798FF-BAE8-4653-BF73-22880D7FD772}" type="pres">
      <dgm:prSet presAssocID="{8C6F7FC2-4E0C-4CB1-A782-07A7DA267F3C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</dgm:pt>
    <dgm:pt modelId="{5EB444D4-0B16-43D6-8D47-E99B22CD08D0}" type="pres">
      <dgm:prSet presAssocID="{DDFEB64C-2AAB-45A3-AABA-3A419E465B16}" presName="arrowWedge1" presStyleLbl="fgSibTrans2D1" presStyleIdx="0" presStyleCnt="3"/>
      <dgm:spPr/>
    </dgm:pt>
    <dgm:pt modelId="{0A49F06B-D8F5-4747-8363-ABC14F187604}" type="pres">
      <dgm:prSet presAssocID="{AFB79B9E-AE89-4044-9A9D-043E58E4F213}" presName="arrowWedge2" presStyleLbl="fgSibTrans2D1" presStyleIdx="1" presStyleCnt="3"/>
      <dgm:spPr/>
    </dgm:pt>
    <dgm:pt modelId="{D0EA843A-3CE7-4DC7-A770-C3174DE336BF}" type="pres">
      <dgm:prSet presAssocID="{E3C82444-2ADA-447B-9CC2-C98259F1AF8D}" presName="arrowWedge3" presStyleLbl="fgSibTrans2D1" presStyleIdx="2" presStyleCnt="3"/>
      <dgm:spPr/>
    </dgm:pt>
  </dgm:ptLst>
  <dgm:cxnLst>
    <dgm:cxn modelId="{1CAFAD16-C51F-4E16-BA4D-F05F7D6344DE}" srcId="{8C6F7FC2-4E0C-4CB1-A782-07A7DA267F3C}" destId="{0C8145ED-A247-4F9B-BEF1-A187FCC71C51}" srcOrd="1" destOrd="0" parTransId="{4AB7D8EB-4A99-48FC-89DB-31CE26BFF53E}" sibTransId="{AFB79B9E-AE89-4044-9A9D-043E58E4F213}"/>
    <dgm:cxn modelId="{D83D5F71-7BEC-4DEB-96C5-586ED15ED7EE}" type="presOf" srcId="{ACA258D6-2E3F-4CAB-AF82-75181F4AA10B}" destId="{D95A1924-9B10-45ED-950E-416DBCC45EF5}" srcOrd="0" destOrd="0" presId="urn:microsoft.com/office/officeart/2005/8/layout/cycle8"/>
    <dgm:cxn modelId="{65EEAB71-1E06-4D5B-AAC1-2408362A650D}" type="presOf" srcId="{0C8145ED-A247-4F9B-BEF1-A187FCC71C51}" destId="{844C383D-FB35-49FA-8FDA-F429E66EF3DA}" srcOrd="1" destOrd="0" presId="urn:microsoft.com/office/officeart/2005/8/layout/cycle8"/>
    <dgm:cxn modelId="{2A43448F-082A-46CF-A981-1841393CD99E}" type="presOf" srcId="{0C8145ED-A247-4F9B-BEF1-A187FCC71C51}" destId="{6F7B944E-5F61-4FB1-B62C-C9946C5D5D93}" srcOrd="0" destOrd="0" presId="urn:microsoft.com/office/officeart/2005/8/layout/cycle8"/>
    <dgm:cxn modelId="{6C5DAD9D-7248-42A1-8AC4-6123C4079578}" type="presOf" srcId="{E7CEB0D0-BB65-4238-A964-4E4D15403D0A}" destId="{FA3798FF-BAE8-4653-BF73-22880D7FD772}" srcOrd="1" destOrd="0" presId="urn:microsoft.com/office/officeart/2005/8/layout/cycle8"/>
    <dgm:cxn modelId="{05598FC4-D610-4A9E-995A-33045438543C}" srcId="{8C6F7FC2-4E0C-4CB1-A782-07A7DA267F3C}" destId="{E7CEB0D0-BB65-4238-A964-4E4D15403D0A}" srcOrd="2" destOrd="0" parTransId="{72E05CB9-A882-42DD-BFA6-935630476A97}" sibTransId="{E3C82444-2ADA-447B-9CC2-C98259F1AF8D}"/>
    <dgm:cxn modelId="{666C80CA-6CF9-4931-A50F-083D4EA1ED48}" type="presOf" srcId="{E7CEB0D0-BB65-4238-A964-4E4D15403D0A}" destId="{70EEA947-C825-4CC6-9723-427E3098E1EB}" srcOrd="0" destOrd="0" presId="urn:microsoft.com/office/officeart/2005/8/layout/cycle8"/>
    <dgm:cxn modelId="{07B67BE8-6F1B-4424-B708-7A32D10346DE}" type="presOf" srcId="{8C6F7FC2-4E0C-4CB1-A782-07A7DA267F3C}" destId="{F640980A-F533-4D9D-9B7F-835E3B987881}" srcOrd="0" destOrd="0" presId="urn:microsoft.com/office/officeart/2005/8/layout/cycle8"/>
    <dgm:cxn modelId="{B4F82DEE-BCB5-4513-A9D5-8BC69E9DB6A8}" type="presOf" srcId="{ACA258D6-2E3F-4CAB-AF82-75181F4AA10B}" destId="{CA5046F4-D60B-40D9-9CD2-735AF15BEF49}" srcOrd="1" destOrd="0" presId="urn:microsoft.com/office/officeart/2005/8/layout/cycle8"/>
    <dgm:cxn modelId="{4101ABEE-B702-4D59-B3BB-5DA57453910E}" srcId="{8C6F7FC2-4E0C-4CB1-A782-07A7DA267F3C}" destId="{ACA258D6-2E3F-4CAB-AF82-75181F4AA10B}" srcOrd="0" destOrd="0" parTransId="{BDC4C20B-CE57-439D-BE89-EF83237C9A3F}" sibTransId="{DDFEB64C-2AAB-45A3-AABA-3A419E465B16}"/>
    <dgm:cxn modelId="{C2457E04-E998-4571-9B18-FAE28ECECF0F}" type="presParOf" srcId="{F640980A-F533-4D9D-9B7F-835E3B987881}" destId="{D95A1924-9B10-45ED-950E-416DBCC45EF5}" srcOrd="0" destOrd="0" presId="urn:microsoft.com/office/officeart/2005/8/layout/cycle8"/>
    <dgm:cxn modelId="{493C3EAD-B611-4964-84E3-A688CF252463}" type="presParOf" srcId="{F640980A-F533-4D9D-9B7F-835E3B987881}" destId="{9DACA770-AB1D-479B-BCBD-933EAA548D9D}" srcOrd="1" destOrd="0" presId="urn:microsoft.com/office/officeart/2005/8/layout/cycle8"/>
    <dgm:cxn modelId="{C50C12B4-F674-4646-90BB-982B7859E86E}" type="presParOf" srcId="{F640980A-F533-4D9D-9B7F-835E3B987881}" destId="{74641253-F273-4977-86AF-98ADE688BC5C}" srcOrd="2" destOrd="0" presId="urn:microsoft.com/office/officeart/2005/8/layout/cycle8"/>
    <dgm:cxn modelId="{B1827323-99AF-4EB0-B9C4-E90F352BE8B0}" type="presParOf" srcId="{F640980A-F533-4D9D-9B7F-835E3B987881}" destId="{CA5046F4-D60B-40D9-9CD2-735AF15BEF49}" srcOrd="3" destOrd="0" presId="urn:microsoft.com/office/officeart/2005/8/layout/cycle8"/>
    <dgm:cxn modelId="{FBBEAAD9-E6E0-4507-BB2E-014195145B43}" type="presParOf" srcId="{F640980A-F533-4D9D-9B7F-835E3B987881}" destId="{6F7B944E-5F61-4FB1-B62C-C9946C5D5D93}" srcOrd="4" destOrd="0" presId="urn:microsoft.com/office/officeart/2005/8/layout/cycle8"/>
    <dgm:cxn modelId="{1AEDD569-231F-44AA-B4B0-7AC57AB73A42}" type="presParOf" srcId="{F640980A-F533-4D9D-9B7F-835E3B987881}" destId="{D25DF366-5034-4952-AE85-84C51C93F199}" srcOrd="5" destOrd="0" presId="urn:microsoft.com/office/officeart/2005/8/layout/cycle8"/>
    <dgm:cxn modelId="{5740A7FF-F930-4C92-A39F-4299A9922069}" type="presParOf" srcId="{F640980A-F533-4D9D-9B7F-835E3B987881}" destId="{8AB760B0-E0D0-4057-8604-8FA104FF5A23}" srcOrd="6" destOrd="0" presId="urn:microsoft.com/office/officeart/2005/8/layout/cycle8"/>
    <dgm:cxn modelId="{D2181E34-E7DF-4D80-BA6B-A90F80DF309A}" type="presParOf" srcId="{F640980A-F533-4D9D-9B7F-835E3B987881}" destId="{844C383D-FB35-49FA-8FDA-F429E66EF3DA}" srcOrd="7" destOrd="0" presId="urn:microsoft.com/office/officeart/2005/8/layout/cycle8"/>
    <dgm:cxn modelId="{F778223F-355E-4D0E-BD25-A8536DB919C1}" type="presParOf" srcId="{F640980A-F533-4D9D-9B7F-835E3B987881}" destId="{70EEA947-C825-4CC6-9723-427E3098E1EB}" srcOrd="8" destOrd="0" presId="urn:microsoft.com/office/officeart/2005/8/layout/cycle8"/>
    <dgm:cxn modelId="{F598CE60-E76F-4366-9378-51CF1542530E}" type="presParOf" srcId="{F640980A-F533-4D9D-9B7F-835E3B987881}" destId="{0CC03F24-E168-4252-ACAB-41453CC73A1B}" srcOrd="9" destOrd="0" presId="urn:microsoft.com/office/officeart/2005/8/layout/cycle8"/>
    <dgm:cxn modelId="{F3C86F7F-A35E-4A57-885F-DF6DDF75F5C7}" type="presParOf" srcId="{F640980A-F533-4D9D-9B7F-835E3B987881}" destId="{8F256AF1-F2F1-43FD-8033-CB81B6C1DD27}" srcOrd="10" destOrd="0" presId="urn:microsoft.com/office/officeart/2005/8/layout/cycle8"/>
    <dgm:cxn modelId="{00755E27-0B1F-4A80-8CD4-08A98444479D}" type="presParOf" srcId="{F640980A-F533-4D9D-9B7F-835E3B987881}" destId="{FA3798FF-BAE8-4653-BF73-22880D7FD772}" srcOrd="11" destOrd="0" presId="urn:microsoft.com/office/officeart/2005/8/layout/cycle8"/>
    <dgm:cxn modelId="{B8150978-CD12-48AF-AED2-2FD58EDFD43F}" type="presParOf" srcId="{F640980A-F533-4D9D-9B7F-835E3B987881}" destId="{5EB444D4-0B16-43D6-8D47-E99B22CD08D0}" srcOrd="12" destOrd="0" presId="urn:microsoft.com/office/officeart/2005/8/layout/cycle8"/>
    <dgm:cxn modelId="{5F28420D-D079-4FE4-8033-B8F9B46AC8D2}" type="presParOf" srcId="{F640980A-F533-4D9D-9B7F-835E3B987881}" destId="{0A49F06B-D8F5-4747-8363-ABC14F187604}" srcOrd="13" destOrd="0" presId="urn:microsoft.com/office/officeart/2005/8/layout/cycle8"/>
    <dgm:cxn modelId="{A2E9512A-0087-441D-8EE0-9A68FCC01E44}" type="presParOf" srcId="{F640980A-F533-4D9D-9B7F-835E3B987881}" destId="{D0EA843A-3CE7-4DC7-A770-C3174DE336BF}" srcOrd="1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372663E-6900-4AED-B214-5E2B0B0CABDB}" type="doc">
      <dgm:prSet loTypeId="urn:microsoft.com/office/officeart/2005/8/layout/hProcess9" loCatId="process" qsTypeId="urn:microsoft.com/office/officeart/2005/8/quickstyle/simple1" qsCatId="simple" csTypeId="urn:microsoft.com/office/officeart/2005/8/colors/accent0_3" csCatId="mainScheme" phldr="1"/>
      <dgm:spPr/>
    </dgm:pt>
    <dgm:pt modelId="{5778E2DE-4558-4416-915F-C13D18C18FB2}">
      <dgm:prSet phldrT="[Text]"/>
      <dgm:spPr/>
      <dgm:t>
        <a:bodyPr/>
        <a:lstStyle/>
        <a:p>
          <a:r>
            <a:rPr lang="en-US" dirty="0"/>
            <a:t>Goal: Simplify and Clarify</a:t>
          </a:r>
        </a:p>
      </dgm:t>
    </dgm:pt>
    <dgm:pt modelId="{F5224F47-01FA-4AF2-B091-CE06EA00C8A6}" type="parTrans" cxnId="{100D6339-966B-4117-915F-E9519BB455EA}">
      <dgm:prSet/>
      <dgm:spPr/>
      <dgm:t>
        <a:bodyPr/>
        <a:lstStyle/>
        <a:p>
          <a:endParaRPr lang="en-US"/>
        </a:p>
      </dgm:t>
    </dgm:pt>
    <dgm:pt modelId="{2E5C4282-3B97-4A8E-84CD-685F9D6EBF5D}" type="sibTrans" cxnId="{100D6339-966B-4117-915F-E9519BB455EA}">
      <dgm:prSet/>
      <dgm:spPr/>
      <dgm:t>
        <a:bodyPr/>
        <a:lstStyle/>
        <a:p>
          <a:endParaRPr lang="en-US"/>
        </a:p>
      </dgm:t>
    </dgm:pt>
    <dgm:pt modelId="{89E2E404-417C-4D4D-B4E9-141CC334A1EE}">
      <dgm:prSet phldrT="[Text]"/>
      <dgm:spPr/>
      <dgm:t>
        <a:bodyPr/>
        <a:lstStyle/>
        <a:p>
          <a:r>
            <a:rPr lang="en-US" dirty="0"/>
            <a:t>Scientific Knowledge</a:t>
          </a:r>
        </a:p>
      </dgm:t>
    </dgm:pt>
    <dgm:pt modelId="{F97187A9-4634-44D0-88D3-4865CDE3194E}" type="parTrans" cxnId="{99AB7109-7C93-492F-9AE6-2DD574BE6F61}">
      <dgm:prSet/>
      <dgm:spPr/>
      <dgm:t>
        <a:bodyPr/>
        <a:lstStyle/>
        <a:p>
          <a:endParaRPr lang="en-US"/>
        </a:p>
      </dgm:t>
    </dgm:pt>
    <dgm:pt modelId="{1C26C4B6-FDEE-4B0F-A6D5-BBC619FB902B}" type="sibTrans" cxnId="{99AB7109-7C93-492F-9AE6-2DD574BE6F61}">
      <dgm:prSet/>
      <dgm:spPr/>
      <dgm:t>
        <a:bodyPr/>
        <a:lstStyle/>
        <a:p>
          <a:endParaRPr lang="en-US"/>
        </a:p>
      </dgm:t>
    </dgm:pt>
    <dgm:pt modelId="{BABA6B48-6B9B-481B-ADEE-052CB8FEA877}">
      <dgm:prSet phldrT="[Text]"/>
      <dgm:spPr/>
      <dgm:t>
        <a:bodyPr/>
        <a:lstStyle/>
        <a:p>
          <a:r>
            <a:rPr lang="en-US" dirty="0"/>
            <a:t>Choosing Chart Types</a:t>
          </a:r>
        </a:p>
      </dgm:t>
    </dgm:pt>
    <dgm:pt modelId="{448B4C24-3446-4B59-B8FC-737EF0B83220}" type="parTrans" cxnId="{0B3277F3-FD5F-401E-A2D9-B1B1BEBF9173}">
      <dgm:prSet/>
      <dgm:spPr/>
      <dgm:t>
        <a:bodyPr/>
        <a:lstStyle/>
        <a:p>
          <a:endParaRPr lang="en-US"/>
        </a:p>
      </dgm:t>
    </dgm:pt>
    <dgm:pt modelId="{F3B69D55-2507-4CE5-A726-A963DFD2CCF9}" type="sibTrans" cxnId="{0B3277F3-FD5F-401E-A2D9-B1B1BEBF9173}">
      <dgm:prSet/>
      <dgm:spPr/>
      <dgm:t>
        <a:bodyPr/>
        <a:lstStyle/>
        <a:p>
          <a:endParaRPr lang="en-US"/>
        </a:p>
      </dgm:t>
    </dgm:pt>
    <dgm:pt modelId="{56F54FE4-BB54-4405-AE2B-EA07F7F82596}" type="pres">
      <dgm:prSet presAssocID="{9372663E-6900-4AED-B214-5E2B0B0CABDB}" presName="CompostProcess" presStyleCnt="0">
        <dgm:presLayoutVars>
          <dgm:dir/>
          <dgm:resizeHandles val="exact"/>
        </dgm:presLayoutVars>
      </dgm:prSet>
      <dgm:spPr/>
    </dgm:pt>
    <dgm:pt modelId="{B2260BF4-F381-42B9-948F-6876CAF5E9B3}" type="pres">
      <dgm:prSet presAssocID="{9372663E-6900-4AED-B214-5E2B0B0CABDB}" presName="arrow" presStyleLbl="bgShp" presStyleIdx="0" presStyleCnt="1" custLinFactNeighborY="353"/>
      <dgm:spPr/>
    </dgm:pt>
    <dgm:pt modelId="{D61395F8-6034-4EA5-910B-1F777B5FF579}" type="pres">
      <dgm:prSet presAssocID="{9372663E-6900-4AED-B214-5E2B0B0CABDB}" presName="linearProcess" presStyleCnt="0"/>
      <dgm:spPr/>
    </dgm:pt>
    <dgm:pt modelId="{E10B53F8-7848-4CCC-8CB4-23B6E5341751}" type="pres">
      <dgm:prSet presAssocID="{5778E2DE-4558-4416-915F-C13D18C18FB2}" presName="textNode" presStyleLbl="node1" presStyleIdx="0" presStyleCnt="3">
        <dgm:presLayoutVars>
          <dgm:bulletEnabled val="1"/>
        </dgm:presLayoutVars>
      </dgm:prSet>
      <dgm:spPr/>
    </dgm:pt>
    <dgm:pt modelId="{D78F2E22-E303-4B76-9508-11AA27D82E7A}" type="pres">
      <dgm:prSet presAssocID="{2E5C4282-3B97-4A8E-84CD-685F9D6EBF5D}" presName="sibTrans" presStyleCnt="0"/>
      <dgm:spPr/>
    </dgm:pt>
    <dgm:pt modelId="{B47DF5DB-2C5E-4D5F-8A31-3D1D3BAC8162}" type="pres">
      <dgm:prSet presAssocID="{89E2E404-417C-4D4D-B4E9-141CC334A1EE}" presName="textNode" presStyleLbl="node1" presStyleIdx="1" presStyleCnt="3">
        <dgm:presLayoutVars>
          <dgm:bulletEnabled val="1"/>
        </dgm:presLayoutVars>
      </dgm:prSet>
      <dgm:spPr/>
    </dgm:pt>
    <dgm:pt modelId="{195A0181-4444-41A6-86EB-1016C6A8A860}" type="pres">
      <dgm:prSet presAssocID="{1C26C4B6-FDEE-4B0F-A6D5-BBC619FB902B}" presName="sibTrans" presStyleCnt="0"/>
      <dgm:spPr/>
    </dgm:pt>
    <dgm:pt modelId="{67AE239D-8BBB-4F39-8A1C-D0504502D9D6}" type="pres">
      <dgm:prSet presAssocID="{BABA6B48-6B9B-481B-ADEE-052CB8FEA877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99AB7109-7C93-492F-9AE6-2DD574BE6F61}" srcId="{9372663E-6900-4AED-B214-5E2B0B0CABDB}" destId="{89E2E404-417C-4D4D-B4E9-141CC334A1EE}" srcOrd="1" destOrd="0" parTransId="{F97187A9-4634-44D0-88D3-4865CDE3194E}" sibTransId="{1C26C4B6-FDEE-4B0F-A6D5-BBC619FB902B}"/>
    <dgm:cxn modelId="{8859DF0F-9307-4496-8AE6-DE8D1DC5887C}" type="presOf" srcId="{9372663E-6900-4AED-B214-5E2B0B0CABDB}" destId="{56F54FE4-BB54-4405-AE2B-EA07F7F82596}" srcOrd="0" destOrd="0" presId="urn:microsoft.com/office/officeart/2005/8/layout/hProcess9"/>
    <dgm:cxn modelId="{100D6339-966B-4117-915F-E9519BB455EA}" srcId="{9372663E-6900-4AED-B214-5E2B0B0CABDB}" destId="{5778E2DE-4558-4416-915F-C13D18C18FB2}" srcOrd="0" destOrd="0" parTransId="{F5224F47-01FA-4AF2-B091-CE06EA00C8A6}" sibTransId="{2E5C4282-3B97-4A8E-84CD-685F9D6EBF5D}"/>
    <dgm:cxn modelId="{51AA6961-ABFC-4D5B-AE56-A5F48468220A}" type="presOf" srcId="{BABA6B48-6B9B-481B-ADEE-052CB8FEA877}" destId="{67AE239D-8BBB-4F39-8A1C-D0504502D9D6}" srcOrd="0" destOrd="0" presId="urn:microsoft.com/office/officeart/2005/8/layout/hProcess9"/>
    <dgm:cxn modelId="{648892DC-8BD0-4163-823B-634391CBD5C2}" type="presOf" srcId="{89E2E404-417C-4D4D-B4E9-141CC334A1EE}" destId="{B47DF5DB-2C5E-4D5F-8A31-3D1D3BAC8162}" srcOrd="0" destOrd="0" presId="urn:microsoft.com/office/officeart/2005/8/layout/hProcess9"/>
    <dgm:cxn modelId="{9B6977DF-95E4-476C-BE42-1792C5C73FDB}" type="presOf" srcId="{5778E2DE-4558-4416-915F-C13D18C18FB2}" destId="{E10B53F8-7848-4CCC-8CB4-23B6E5341751}" srcOrd="0" destOrd="0" presId="urn:microsoft.com/office/officeart/2005/8/layout/hProcess9"/>
    <dgm:cxn modelId="{0B3277F3-FD5F-401E-A2D9-B1B1BEBF9173}" srcId="{9372663E-6900-4AED-B214-5E2B0B0CABDB}" destId="{BABA6B48-6B9B-481B-ADEE-052CB8FEA877}" srcOrd="2" destOrd="0" parTransId="{448B4C24-3446-4B59-B8FC-737EF0B83220}" sibTransId="{F3B69D55-2507-4CE5-A726-A963DFD2CCF9}"/>
    <dgm:cxn modelId="{D8209F0F-C4D9-4051-8E8D-8AD2A9639EA5}" type="presParOf" srcId="{56F54FE4-BB54-4405-AE2B-EA07F7F82596}" destId="{B2260BF4-F381-42B9-948F-6876CAF5E9B3}" srcOrd="0" destOrd="0" presId="urn:microsoft.com/office/officeart/2005/8/layout/hProcess9"/>
    <dgm:cxn modelId="{A0657646-D740-4F5E-8165-99CC6BD2D3CF}" type="presParOf" srcId="{56F54FE4-BB54-4405-AE2B-EA07F7F82596}" destId="{D61395F8-6034-4EA5-910B-1F777B5FF579}" srcOrd="1" destOrd="0" presId="urn:microsoft.com/office/officeart/2005/8/layout/hProcess9"/>
    <dgm:cxn modelId="{B264CD06-3452-4B74-951F-05C2227E42A2}" type="presParOf" srcId="{D61395F8-6034-4EA5-910B-1F777B5FF579}" destId="{E10B53F8-7848-4CCC-8CB4-23B6E5341751}" srcOrd="0" destOrd="0" presId="urn:microsoft.com/office/officeart/2005/8/layout/hProcess9"/>
    <dgm:cxn modelId="{5DE6E1AF-8B3E-44F2-B6E5-31D9AC867BD2}" type="presParOf" srcId="{D61395F8-6034-4EA5-910B-1F777B5FF579}" destId="{D78F2E22-E303-4B76-9508-11AA27D82E7A}" srcOrd="1" destOrd="0" presId="urn:microsoft.com/office/officeart/2005/8/layout/hProcess9"/>
    <dgm:cxn modelId="{40140819-22BD-4229-B845-CF204F6C6BCB}" type="presParOf" srcId="{D61395F8-6034-4EA5-910B-1F777B5FF579}" destId="{B47DF5DB-2C5E-4D5F-8A31-3D1D3BAC8162}" srcOrd="2" destOrd="0" presId="urn:microsoft.com/office/officeart/2005/8/layout/hProcess9"/>
    <dgm:cxn modelId="{4E507860-545F-43E7-9BEC-ACAA1D012417}" type="presParOf" srcId="{D61395F8-6034-4EA5-910B-1F777B5FF579}" destId="{195A0181-4444-41A6-86EB-1016C6A8A860}" srcOrd="3" destOrd="0" presId="urn:microsoft.com/office/officeart/2005/8/layout/hProcess9"/>
    <dgm:cxn modelId="{3A28C008-7FEC-4778-AF0A-4A830B6AD7F3}" type="presParOf" srcId="{D61395F8-6034-4EA5-910B-1F777B5FF579}" destId="{67AE239D-8BBB-4F39-8A1C-D0504502D9D6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5A1924-9B10-45ED-950E-416DBCC45EF5}">
      <dsp:nvSpPr>
        <dsp:cNvPr id="0" name=""/>
        <dsp:cNvSpPr/>
      </dsp:nvSpPr>
      <dsp:spPr>
        <a:xfrm>
          <a:off x="1881902" y="352213"/>
          <a:ext cx="4551680" cy="4551680"/>
        </a:xfrm>
        <a:prstGeom prst="pie">
          <a:avLst>
            <a:gd name="adj1" fmla="val 16200000"/>
            <a:gd name="adj2" fmla="val 180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1. Data, Users, or Clients First?</a:t>
          </a:r>
        </a:p>
      </dsp:txBody>
      <dsp:txXfrm>
        <a:off x="4280746" y="1316736"/>
        <a:ext cx="1625600" cy="1354666"/>
      </dsp:txXfrm>
    </dsp:sp>
    <dsp:sp modelId="{6F7B944E-5F61-4FB1-B62C-C9946C5D5D93}">
      <dsp:nvSpPr>
        <dsp:cNvPr id="0" name=""/>
        <dsp:cNvSpPr/>
      </dsp:nvSpPr>
      <dsp:spPr>
        <a:xfrm>
          <a:off x="1788159" y="514773"/>
          <a:ext cx="4551680" cy="4551680"/>
        </a:xfrm>
        <a:prstGeom prst="pie">
          <a:avLst>
            <a:gd name="adj1" fmla="val 1800000"/>
            <a:gd name="adj2" fmla="val 900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2. Assessing Progress</a:t>
          </a:r>
        </a:p>
      </dsp:txBody>
      <dsp:txXfrm>
        <a:off x="2871893" y="3467946"/>
        <a:ext cx="2438400" cy="1192106"/>
      </dsp:txXfrm>
    </dsp:sp>
    <dsp:sp modelId="{70EEA947-C825-4CC6-9723-427E3098E1EB}">
      <dsp:nvSpPr>
        <dsp:cNvPr id="0" name=""/>
        <dsp:cNvSpPr/>
      </dsp:nvSpPr>
      <dsp:spPr>
        <a:xfrm>
          <a:off x="1694416" y="352213"/>
          <a:ext cx="4551680" cy="4551680"/>
        </a:xfrm>
        <a:prstGeom prst="pie">
          <a:avLst>
            <a:gd name="adj1" fmla="val 9000000"/>
            <a:gd name="adj2" fmla="val 1620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3. Planning in Action</a:t>
          </a:r>
        </a:p>
      </dsp:txBody>
      <dsp:txXfrm>
        <a:off x="2221653" y="1316736"/>
        <a:ext cx="1625600" cy="1354666"/>
      </dsp:txXfrm>
    </dsp:sp>
    <dsp:sp modelId="{5EB444D4-0B16-43D6-8D47-E99B22CD08D0}">
      <dsp:nvSpPr>
        <dsp:cNvPr id="0" name=""/>
        <dsp:cNvSpPr/>
      </dsp:nvSpPr>
      <dsp:spPr>
        <a:xfrm>
          <a:off x="1600507" y="70442"/>
          <a:ext cx="5115221" cy="5115221"/>
        </a:xfrm>
        <a:prstGeom prst="circularArrow">
          <a:avLst>
            <a:gd name="adj1" fmla="val 5085"/>
            <a:gd name="adj2" fmla="val 327528"/>
            <a:gd name="adj3" fmla="val 1472472"/>
            <a:gd name="adj4" fmla="val 16199432"/>
            <a:gd name="adj5" fmla="val 5932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A49F06B-D8F5-4747-8363-ABC14F187604}">
      <dsp:nvSpPr>
        <dsp:cNvPr id="0" name=""/>
        <dsp:cNvSpPr/>
      </dsp:nvSpPr>
      <dsp:spPr>
        <a:xfrm>
          <a:off x="1506389" y="232714"/>
          <a:ext cx="5115221" cy="5115221"/>
        </a:xfrm>
        <a:prstGeom prst="circularArrow">
          <a:avLst>
            <a:gd name="adj1" fmla="val 5085"/>
            <a:gd name="adj2" fmla="val 327528"/>
            <a:gd name="adj3" fmla="val 8671970"/>
            <a:gd name="adj4" fmla="val 1800502"/>
            <a:gd name="adj5" fmla="val 5932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0EA843A-3CE7-4DC7-A770-C3174DE336BF}">
      <dsp:nvSpPr>
        <dsp:cNvPr id="0" name=""/>
        <dsp:cNvSpPr/>
      </dsp:nvSpPr>
      <dsp:spPr>
        <a:xfrm>
          <a:off x="1412270" y="70442"/>
          <a:ext cx="5115221" cy="5115221"/>
        </a:xfrm>
        <a:prstGeom prst="circularArrow">
          <a:avLst>
            <a:gd name="adj1" fmla="val 5085"/>
            <a:gd name="adj2" fmla="val 327528"/>
            <a:gd name="adj3" fmla="val 15873039"/>
            <a:gd name="adj4" fmla="val 9000000"/>
            <a:gd name="adj5" fmla="val 5932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260BF4-F381-42B9-948F-6876CAF5E9B3}">
      <dsp:nvSpPr>
        <dsp:cNvPr id="0" name=""/>
        <dsp:cNvSpPr/>
      </dsp:nvSpPr>
      <dsp:spPr>
        <a:xfrm>
          <a:off x="639340" y="0"/>
          <a:ext cx="7245862" cy="4029754"/>
        </a:xfrm>
        <a:prstGeom prst="rightArrow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0B53F8-7848-4CCC-8CB4-23B6E5341751}">
      <dsp:nvSpPr>
        <dsp:cNvPr id="0" name=""/>
        <dsp:cNvSpPr/>
      </dsp:nvSpPr>
      <dsp:spPr>
        <a:xfrm>
          <a:off x="9157" y="1208926"/>
          <a:ext cx="2743837" cy="1611901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Goal: Simplify and Clarify</a:t>
          </a:r>
        </a:p>
      </dsp:txBody>
      <dsp:txXfrm>
        <a:off x="87844" y="1287613"/>
        <a:ext cx="2586463" cy="1454527"/>
      </dsp:txXfrm>
    </dsp:sp>
    <dsp:sp modelId="{B47DF5DB-2C5E-4D5F-8A31-3D1D3BAC8162}">
      <dsp:nvSpPr>
        <dsp:cNvPr id="0" name=""/>
        <dsp:cNvSpPr/>
      </dsp:nvSpPr>
      <dsp:spPr>
        <a:xfrm>
          <a:off x="2890353" y="1208926"/>
          <a:ext cx="2743837" cy="1611901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Scientific Knowledge</a:t>
          </a:r>
        </a:p>
      </dsp:txBody>
      <dsp:txXfrm>
        <a:off x="2969040" y="1287613"/>
        <a:ext cx="2586463" cy="1454527"/>
      </dsp:txXfrm>
    </dsp:sp>
    <dsp:sp modelId="{67AE239D-8BBB-4F39-8A1C-D0504502D9D6}">
      <dsp:nvSpPr>
        <dsp:cNvPr id="0" name=""/>
        <dsp:cNvSpPr/>
      </dsp:nvSpPr>
      <dsp:spPr>
        <a:xfrm>
          <a:off x="5771549" y="1208926"/>
          <a:ext cx="2743837" cy="1611901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Choosing Chart Types</a:t>
          </a:r>
        </a:p>
      </dsp:txBody>
      <dsp:txXfrm>
        <a:off x="5850236" y="1287613"/>
        <a:ext cx="2586463" cy="14545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0T01:50:01.868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1 76 24575,'0'0'0,"3"0"0,20 0 0,12 0 0,14 0 0,20 0 0,0 0 0,-3 0 0,-5 0 0,-4 0 0,-6 0 0,-4 0 0,-4 0 0,0 0 0,0-8 0,-2 0 0,3 1 0,-1 1 0,-1 1 0,-1 2 0,3 2 0,-1 0 0,0 1 0,-2 0 0,3 0 0,-1 1 0,0-1 0,2 0 0,-1 0 0,-1 0 0,-1 0 0,2 0 0,-1 0 0,-1 0 0,3 0 0,-1 0 0,-1-7 0,-1-1 0,10 0 0,-2 1 0,4 2 0,-2 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0T02:22:42.192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1 0 24575,'0'0'0,"0"4"0,4 1 0,22 8 0,10 0 0,13-1 0,4-2 0,1-4 0,-1-2 0,3-2 0,-3-1 0,-1-2 0,-3 1 0,3-1 0,-2 1 0,-1 0 0,3-1 0,8 1 0,17 0 0,25-9 0,2 0 0,2-1 0,-6 3 0,-13 1 0,-23 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0T02:22:45.441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2023.76379"/>
      <inkml:brushProperty name="anchorY" value="-657.65204"/>
      <inkml:brushProperty name="scaleFactor" value="0.5"/>
    </inkml:brush>
  </inkml:definitions>
  <inkml:trace contextRef="#ctx0" brushRef="#br0">6875 710 24575,'0'0'0,"0"8"0,0 11 0,0 7 0,0 13 0,0 5 0,0 4 0,0 1 0,-9 4 0,5-43 0,0 1 0,0-1 0,-6 11 0,6-14 0,-1 1 0,-1-1 0,-11 14 0,12-16 0,-1 0 0,0 1 0,0-2 0,-10 7 0,-31 19 0,-4-9 0,0-7 0,-13 8 0,1-4 0,-2-3 0,-10 5 0,3-4 0,5 10 0,7-3 0,0-4 0,6-5 0,3-4 0,-2-5 0,2-3 0,2-1 0,1 7 0,-11 0 0,-4-1 0,0 0 0,3-2 0,4-2 0,0-2 0,3-4 0,49 0 0,-2 1 0,0 1 0,1-1 0,0 0 0,-11-6 0,13 6 0,-1-1 0,1 1 0,-1-1 0,1 0 0,0 0 0,0 0 0,-4-5 0,4 4 0,0 0 0,0-1 0,1 1 0,-1-1 0,-2-9 0,2 6 0,0-1 0,1 1 0,-1-12 0,-1-29 0,3-2 0,2 14 0,2 19 0,-2 18 0,0 6 0,1 18 0,-1 12 0,0 12 0,-1 4 0,1 2 0,-4-45 0,2 1 0,-4 15 0,-5 17 0,8-38 0,-1 1 0,1 0 0,-1-1 0,-5 8 0,5-9 0,0 0 0,0-1 0,0 1 0,0-1 0,0 0 0,0 0 0,-6 3 0,-3-2 0,3 0 0,-1 0 0,-17 1 0,-69 3 0,-17-5 0,-11-2 0,-21-2 0,-12 1 0,3-1 0,-11 0 0,-8 15-1147,-5 0 1058,11 0 44,9-6-14,14-3 59,11-3-621,10-2 798,7 0-265,-13-1 88,15-12 0,2-1 0,2-8 0,11 2 0,1 3 0,12-8 0,12 4 0,10 5 0,-4 4 1146,6-5-1100,-9 4 676,-15-10-859,-26-10 232,-10-7-95,9 4 0,-13-5 0,15-1 0,3-6 0,10 0 0,2 8 0,72 23 0,-36-21 0,-30-18 0,9-4 0,-4 1 0,8 4 0,4-2 0,7 4 0,17 3 0,6 2 0,3-3 0,-2 2 0,8 1 0,-1-3 0,-1 1 0,8 1 0,-2 2 0,6-4 0,7 20 0,5 18 0,12 14 0,0 0 0,-1 0 0,1 0 0,0 0 0,0 0 0,0 0 0,-1 0 0,1 0 0,0 0 0,0 0 0,-1 0 0,1 0 0,0 0 0,0 0 0,0 0 0,-1 0 0,1 0 0,0 1 0,0-1 0,0 0 0,-1 0 0,1 0 0,0 0 0,0 0 0,0 1 0,0-1 0,0 0 0,-1 0 0,1 0 0,0 0 0,0 1 0,0-1 0,0 0 0,0 0 0,0 0 0,0 1 0,0-1 0,0 0 0,0 0 0,0 1 0,0-1 0,0 0 0,0 0 0,0 0 0,0 1 0,-3 21 0,2 16 0,2 9 0,0 3 0,0 6 0,0-1 0,0-1 0,0-3 0,-1 3 0,0-3 0,0-1 0,0-1 0,0 2 0,0-19 0,0-18 0,0-21 0,0-15 0,4-16 0,1-8 0,8-5 0,-7 36 0,10-21 0,4-19 0,-12 46 0,-2-2 0,12-14 0,18-18 0,-28 35 0,1 1 0,15-10 0,-16 11 0,1 1 0,17-7 0,11-11 0,3 7 0,2 4 0,0-9 0,15-5 0,5 2 0,14-10 0,-2 6 0,-4-4 0,-7 6 0,-2-2 0,-5 6 0,-12 9 0,-42 14 0,1-2 0,0 1 0,-1 0 0,1 0 0,0 0 0,0 0 0,-1 1 0,1-1 0,3 2 0,-4-1 0,0 0 0,-1 0 0,0 0 0,1-1 0,-1 1 0,0 0 0,0 1 0,0-1 0,0 0 0,0 0 0,0 0 0,0 1 0,0-1 0,0 1 0,1 1 0,0 0 0,0 1 0,-1 0 0,0 0 0,0 0 0,0 0 0,1 6 0,2 22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0T15:23:53.745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784 0 24575,'0'0'0,"-5"0"0,-8 0 0,-4 6 0,-12 0 0,-8 11 0,-4 0 0,-16-2 0,1-4 0,2-2 0,-5-5 0,5-1 0,6-2 0,5-1 0,6-1 0,10 6 0,2 7 0,-3 5 0,-2-1 0,0-2 0,6 9 0,0-4 0,5 2 0,7 3 0,3 1 0,5 1 0,2 2 0,2 1 0,1 5 0,0 1 0,0 1 0,0-2 0,-1-2 0,6-1 0,1 0 0,-2 4 0,6-6 0,-2 0 0,11-2 0,4-5 0,-3-1 0,3-5 0,1 1 0,1 2 0,1 3 0,0-4 0,7-3 0,1 6 0,6 3 0,-1 3 0,-2 1 0,10 1 0,9-5 0,-2 0 0,3 6 0,5-5 0,1 0 0,17 7 0,11-6 0,22 1 0,14-6 0,4-5 0,12-6 0,9-5 0,8-2 0,7-3 0,-8-1 0,2 0 0,-28 0 0,-27 0 0,-27 1 0,-17-1 0,-15 1 0,-11 0 0,-6 0 0,2 0 0,-2 0 0,12 0 0,0 0 0,-1 0 0,9-6 0,-3 0 0,-3-6 0,-4 1 0,-4-10 0,-4-4 0,4 2 0,-2-1 0,-7-1 0,0 5 0,-3-1 0,1 0 0,-6-3 0,1 4 0,0-6 0,3-2 0,6-2 0,3 0 0,1 0 0,-7 0 0,-6 0 0,-1-5 0,0-1 0,1 2 0,2 0 0,-3 1 0,7 2 0,-5 1 0,-4-5 0,-5 0 0,1 1 0,-4 0 0,-3 2 0,-2 1 0,-2 1 0,-8-11 0,-6 6 0,-7 6 0,-5 8 0,-3 8 0,-8 6 0,-8 4 0,-6 3 0,-10 1 0,-4 0 0,-7 1 0,5-1 0,-10 0 0,1 0 0,-3-1 0,-8 0 0,-10 0 0,4 0 0,-1 0 0,2-6 0,13 0 0,1 1 0,11-6 0,11 2 0,9 1 0,1 2 0,0 2 0,2 2 0,2 1 0,4 0 0,2 1 0,2 1 0,2-1 0,-11 1 0,-1-1 0,1 0 0,2 0 0,3 0 0,-4 0 0,2 0 0,1 0 0,2 0 0,2 0 0,2 0 0,0 0 0,-4 0 0,-1 6 0,1 0 0,0 5 0,2 0 0,1 4 0,1-3 0,1-1 0,-6-4 0,-5 4 0,6-2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0T02:34:21.153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2490.8186"/>
      <inkml:brushProperty name="anchorY" value="-559.88831"/>
      <inkml:brushProperty name="scaleFactor" value="0.5"/>
    </inkml:brush>
  </inkml:definitions>
  <inkml:trace contextRef="#ctx0" brushRef="#br0">1 12 24575,'0'0'0,"3"0"0,20-4 0,9 0 0,18 0 0,19 5 0,25 1 0,10 0 0,-3 0 0,-11 0 0,-13 0 0,-15-1 0,-55 1 0,0-1 0,0 0 0,0 1 0,10 4 0,23-2 0,-4 8 0,9-2 0,13-2 0,13-2 0,10-2 0,23-1 0,-6-2 0,-8-1 0,-10 0 0,-13 7 0,-11 0 0,-8 1 0,-2-2 0,8-2 0,11-1 0,9-1 0,10-2 0,17 0 0,10 0 0,-10 0 0,-20 7 0,-24 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0T02:34:23.186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5524.63867"/>
      <inkml:brushProperty name="anchorY" value="-1307.18042"/>
      <inkml:brushProperty name="scaleFactor" value="0.5"/>
    </inkml:brush>
  </inkml:definitions>
  <inkml:trace contextRef="#ctx0" brushRef="#br0">0 39 24575,'0'0'0,"7"0"0,17 0 0,11 0 0,18 0 0,-3-8 0,-1 0 0,-2 0 0,-3 1 0,1 3 0,-2 1 0,-7 5 0,-3 1 0,-1 1 0,5-1 0,1 0 0,1-1 0,13 10 0,3 1 0,8-1 0,14-2 0,7-3 0,8-3 0,3-2 0,3-1 0,-11-1 0,-8 0 0,-12-1 0,-10 1 0,2-1 0,-4 1 0,7-8 0,1 0 0,-4 1 0,-4 0 0,-14 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2005070"/>
            <a:ext cx="7763458" cy="592834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29338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07129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C3163-7E89-C90A-4497-846BA4987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F1C9772-21E9-60AF-EA4D-990518FB845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258" y="5796005"/>
            <a:ext cx="4318000" cy="461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1812045"/>
            <a:ext cx="7763458" cy="719757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17146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48847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3/31/23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C8F108-1702-5F20-3D95-B2102374C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4CFA9E7-7538-3E2F-C153-0158206399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143" y="5829397"/>
            <a:ext cx="4318000" cy="46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2" y="4671391"/>
            <a:ext cx="11266714" cy="1401419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8972" y="6085510"/>
            <a:ext cx="11266714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12192000" cy="6867525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FC2CE8-E7A7-5DA8-903C-7C61B21A6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ECEF9E-3A6E-C6FF-42DA-EDF0D1D98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4CAD524F-ADFB-FF46-A001-5030604377D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 numCol="2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85743F-DCAE-A9EE-5293-03DFB306B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99B4CAC-1043-AFE7-E5AB-E64101AF155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19984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8086" y="1543324"/>
            <a:ext cx="11266714" cy="445470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54E73-61A3-FF0B-7F4C-17B1D97376A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705AEC-1F4B-D402-6142-24D61C516A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086" y="1543324"/>
            <a:ext cx="5413169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09157" y="1543324"/>
            <a:ext cx="5425643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9EA93-442C-59A0-2250-A5181989CDD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2AE1B83-EE6D-EA0B-DD6A-AF15AFD6A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087" y="1543324"/>
            <a:ext cx="3507565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342217" y="1543323"/>
            <a:ext cx="3507565" cy="43903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243137" y="1543322"/>
            <a:ext cx="3507565" cy="43903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77EB8B-3A4C-F880-133B-94D59A7B36B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A8E3C9-6B0B-C4C1-8036-586EE706297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313" y="3652272"/>
            <a:ext cx="5469743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1" y="1543323"/>
            <a:ext cx="546974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275945" y="1543323"/>
            <a:ext cx="5458727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64929" y="3652271"/>
            <a:ext cx="5469743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A7288C-38D9-0159-D0E4-B042D466D17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C9FCD37-EAE5-5E1F-F19B-0843EF6AF1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314" y="3652272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2" y="1543323"/>
            <a:ext cx="3534479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336974" y="1543324"/>
            <a:ext cx="3527360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25959" y="3652272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8205605" y="1532307"/>
            <a:ext cx="3527360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94590" y="3641255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47B2B3-AD22-934B-7901-EF00010BA35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8043993-A23E-2800-6166-87A2E901B88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2" y="457200"/>
            <a:ext cx="4314823" cy="96409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2" y="1570383"/>
            <a:ext cx="4314823" cy="42986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871" y="457200"/>
            <a:ext cx="6662927" cy="54117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6DC60-EE89-734D-242E-5043417AC8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5D3C33-27D3-B844-8764-066A5767D11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hoto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99A83-2C12-9A72-A547-B9374C107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4" y="470037"/>
            <a:ext cx="4325711" cy="1034775"/>
          </a:xfrm>
        </p:spPr>
        <p:txBody>
          <a:bodyPr anchor="b"/>
          <a:lstStyle>
            <a:lvl1pPr fontAlgn="t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70037"/>
            <a:ext cx="6562498" cy="5391013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6314" y="1759226"/>
            <a:ext cx="4325711" cy="4086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DC806-6E08-B58A-6B09-ECD209B759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2FD94D-1CE6-402A-C500-6DCE6F9A3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15540"/>
            <a:ext cx="3350434" cy="35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354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3" y="1543323"/>
            <a:ext cx="5458727" cy="4317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6286962" y="1543323"/>
            <a:ext cx="5458727" cy="4317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80C45-204B-0517-4FC2-236945E741B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E8E9D75D-EF46-B669-7F0B-847008B9553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8086" y="1543323"/>
            <a:ext cx="5862679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15759" y="1543322"/>
            <a:ext cx="5129927" cy="430757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3486577" y="3795304"/>
            <a:ext cx="2844188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68086" y="3795304"/>
            <a:ext cx="2844188" cy="20555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3C43D-3312-15BB-B055-F99C088EB6F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C77598CD-72E0-76B5-3E7C-CE820E7B586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5428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57200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325104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8181729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4303332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8181729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413656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435428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4303332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8193008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4281560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8193008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924D92CB-DB6C-EEE8-BDA7-E3D7B06436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A2560-8530-94AA-9E7F-F5A56AB4E3D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7AF31650-E388-54F8-9AE5-64910C9556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4" y="1542762"/>
            <a:ext cx="261101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34406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23655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912904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843620" y="3651150"/>
            <a:ext cx="261101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4741369" y="3651150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7633859" y="3651150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B72767-6954-6B12-1677-BE947CE88EB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C297EAB-60AE-2CA6-7FC1-B2BF3AB1084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21986" y="1643073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521986" y="3884037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6315" y="1643073"/>
            <a:ext cx="5745165" cy="4307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1726" y="3395949"/>
            <a:ext cx="5212943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6521856" y="5636913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21726" y="5636913"/>
            <a:ext cx="5212813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45827-5CB3-E873-7680-6D8C2AAB95D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C87E9216-1A8F-085F-5596-89DFB20E79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21986" y="1643073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9287219" y="3884037"/>
            <a:ext cx="2447580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521986" y="3879120"/>
            <a:ext cx="2528916" cy="20555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6315" y="1643073"/>
            <a:ext cx="5745165" cy="4307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71823" y="3395949"/>
            <a:ext cx="5162846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6512818" y="5631997"/>
            <a:ext cx="251233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62654" y="5631997"/>
            <a:ext cx="2488248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9287218" y="5641703"/>
            <a:ext cx="2431941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9337055" y="5641703"/>
            <a:ext cx="2408630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1CBD603-B977-E0E5-7C2E-C0061CD0B72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7F1900C-EBAA-D81A-8063-47664791EA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7938475" y="1315894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4420956" y="1315895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903437" y="1315896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506" y="143646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1943" y="4045824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1284" y="143646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9721" y="4045824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8803" y="143391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7240" y="4043274"/>
            <a:ext cx="2951163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40B5B1B-89D1-9945-6AB1-0D9B2E27009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87907" y="2065260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CAB75A6-8C36-AD93-09A1-D377BF55C686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4605427" y="2065259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BFCE088-E342-EDAD-213D-39C8B8D85057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8122945" y="2065259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52A11A-CEFD-01B7-2324-466BE85E97B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F1D30E38-DCA5-D7B3-D3F6-C20A366C60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7938216" y="1315892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4420697" y="1315893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903178" y="1315894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247" y="143646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1025" y="143646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8544" y="143391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101684" y="2040670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4604880" y="2065258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1684" y="4045822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9462" y="4045822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6981" y="4043272"/>
            <a:ext cx="2951163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8129414" y="2071424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556C0F-0FF4-1816-A9DC-60D03FBFCE5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ED305B7-F98B-EB39-4331-AD7D293F0E8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1008584" y="1660596"/>
            <a:ext cx="1918020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1011339" y="2160555"/>
            <a:ext cx="1915265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3045437" y="1660596"/>
            <a:ext cx="1918020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3048192" y="2160555"/>
            <a:ext cx="1915265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5082290" y="1660596"/>
            <a:ext cx="1918020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5085045" y="2160555"/>
            <a:ext cx="1915265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7119143" y="1660596"/>
            <a:ext cx="1918020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7121898" y="2160555"/>
            <a:ext cx="1915265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9155998" y="1660596"/>
            <a:ext cx="1918020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9158753" y="2160555"/>
            <a:ext cx="1915265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8584" y="1783909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045438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82291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19145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156000" y="1770870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7982" y="2312717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3175312" y="2299864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5212165" y="2298292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7249018" y="2298292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9285873" y="2312717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728143-5B5E-2F91-1A50-ECF61312F188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3566E4A-BC5E-1BD6-D669-AED4803AE4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0386" y="-9524"/>
            <a:ext cx="6581614" cy="6882938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0" y="-9440"/>
            <a:ext cx="7284203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005" y="8911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005" y="249135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3836B8-46F8-6347-6A27-7BDA1D77E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0386" y="-9525"/>
            <a:ext cx="6581614" cy="6882938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0" y="0"/>
            <a:ext cx="7284203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2005" y="8911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005" y="249135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23C719-BBA8-8B6C-9920-142BDE7BB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 Medium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ED8702-10BE-D052-6922-2244FAA25D1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258" y="5796005"/>
            <a:ext cx="4318000" cy="461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E3761E7-C1FB-3C92-9D08-465FECF5765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143" y="5829397"/>
            <a:ext cx="4318000" cy="46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86" y="1192696"/>
            <a:ext cx="11266714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DCC5ACE-5747-34C7-00B2-2E4EABE6A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34663" y="6290433"/>
            <a:ext cx="1100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657" r:id="rId13"/>
    <p:sldLayoutId id="2147483706" r:id="rId14"/>
    <p:sldLayoutId id="2147483705" r:id="rId15"/>
    <p:sldLayoutId id="2147483707" r:id="rId16"/>
    <p:sldLayoutId id="2147483713" r:id="rId17"/>
    <p:sldLayoutId id="2147483709" r:id="rId18"/>
    <p:sldLayoutId id="2147483710" r:id="rId19"/>
    <p:sldLayoutId id="2147483653" r:id="rId20"/>
    <p:sldLayoutId id="2147483690" r:id="rId21"/>
    <p:sldLayoutId id="2147483704" r:id="rId22"/>
    <p:sldLayoutId id="2147483692" r:id="rId23"/>
    <p:sldLayoutId id="2147483693" r:id="rId24"/>
    <p:sldLayoutId id="2147483691" r:id="rId25"/>
    <p:sldLayoutId id="2147483703" r:id="rId26"/>
  </p:sldLayoutIdLst>
  <p:hf hdr="0" ftr="0" dt="0"/>
  <p:txStyles>
    <p:titleStyle>
      <a:lvl1pPr algn="l" defTabSz="914400" rtl="0" eaLnBrk="1" fontAlgn="b" latinLnBrk="0" hangingPunct="1">
        <a:lnSpc>
          <a:spcPct val="90000"/>
        </a:lnSpc>
        <a:spcBef>
          <a:spcPct val="0"/>
        </a:spcBef>
        <a:buNone/>
        <a:defRPr lang="en-US" sz="48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defRPr sz="20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5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4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hyperlink" Target="https://www.edwardtufte.com/books/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customXml" Target="../ink/ink2.xml"/><Relationship Id="rId7" Type="http://schemas.openxmlformats.org/officeDocument/2006/relationships/hyperlink" Target="https://en.wikipedia.org/wiki/Fitts%27s_law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customXml" Target="../ink/ink3.xml"/><Relationship Id="rId10" Type="http://schemas.openxmlformats.org/officeDocument/2006/relationships/image" Target="../media/image12.png"/><Relationship Id="rId4" Type="http://schemas.openxmlformats.org/officeDocument/2006/relationships/image" Target="../media/image10.png"/><Relationship Id="rId9" Type="http://schemas.openxmlformats.org/officeDocument/2006/relationships/customXml" Target="../ink/ink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9.jpe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customXml" Target="../ink/ink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www.hbs.edu/faculty/Pages/profile.aspx?facId=320524" TargetMode="Externa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wSXleyrB530?si=rHi5RKf-PmEOAdwP" TargetMode="Externa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" TargetMode="External"/><Relationship Id="rId2" Type="http://schemas.openxmlformats.org/officeDocument/2006/relationships/hyperlink" Target="https://huggingface.co/docs/datasets/en/index" TargetMode="Externa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paperswithcode.com/datasets" TargetMode="External"/><Relationship Id="rId4" Type="http://schemas.openxmlformats.org/officeDocument/2006/relationships/hyperlink" Target="https://archive.ics.uci.edu/datasets" TargetMode="Externa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package" Target="../embeddings/Microsoft_Word_Document.docx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MGMT590 - Visual Analytics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Session 4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23257" y="3107129"/>
            <a:ext cx="7763458" cy="980239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Dr. Cecilia Ying</a:t>
            </a:r>
          </a:p>
          <a:p>
            <a:r>
              <a:rPr lang="en-US" dirty="0"/>
              <a:t>Updated: 09/09/2025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6434A09-8791-FE41-F957-F1E2789D5D6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Session 4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BA6625-0E26-7511-D16C-B4B7E3D93E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3000" dirty="0"/>
              <a:t>Special graphs “show and tell”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000" dirty="0"/>
              <a:t>Recap from last week’s Titanic exercise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000" dirty="0"/>
              <a:t>Design Principles for Visual Analytics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000" dirty="0"/>
              <a:t>Project 1 walk-through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000" dirty="0"/>
              <a:t>Assignment 1 working session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22E897E-C59B-0F32-00DF-A1D3FF773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Today’s Agenda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9AC38-EA84-9E15-A237-F1D91BB33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900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colorful letters&#10;&#10;AI-generated content may be incorrect.">
            <a:extLst>
              <a:ext uri="{FF2B5EF4-FFF2-40B4-BE49-F238E27FC236}">
                <a16:creationId xmlns:a16="http://schemas.microsoft.com/office/drawing/2014/main" id="{862E7F5D-94F0-DC5A-B880-3615130EA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556" y="1543324"/>
            <a:ext cx="6987774" cy="4454706"/>
          </a:xfrm>
          <a:prstGeom prst="rect">
            <a:avLst/>
          </a:prstGeom>
          <a:noFill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E1965D1-4A8A-E6EF-D5DC-216CFF593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</p:spPr>
        <p:txBody>
          <a:bodyPr anchor="ctr">
            <a:normAutofit/>
          </a:bodyPr>
          <a:lstStyle/>
          <a:p>
            <a:r>
              <a:rPr lang="en-US" sz="3400"/>
              <a:t>Special Graph “Show and tell”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984C327-201C-7129-AB78-ADFD35129B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954291"/>
            <a:ext cx="11277600" cy="365760"/>
          </a:xfrm>
        </p:spPr>
        <p:txBody>
          <a:bodyPr>
            <a:normAutofit/>
          </a:bodyPr>
          <a:lstStyle/>
          <a:p>
            <a:r>
              <a:rPr lang="en-US" sz="200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B81377-2517-0457-2882-576520A02D8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0634663" y="6290433"/>
            <a:ext cx="110013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994776A-187E-9540-9EA4-8D5781AB769D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995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7C056-2D1D-F05C-43CA-8268BB182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96801-6B2C-6039-D96C-D8AD40C0B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257" y="1812045"/>
            <a:ext cx="9611406" cy="719757"/>
          </a:xfrm>
        </p:spPr>
        <p:txBody>
          <a:bodyPr/>
          <a:lstStyle/>
          <a:p>
            <a:r>
              <a:rPr lang="en-US" dirty="0"/>
              <a:t>Week 2 Recap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20E826-624F-19B9-72F3-B473B19CD3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0" dirty="0">
                <a:solidFill>
                  <a:srgbClr val="222222"/>
                </a:solidFill>
                <a:latin typeface="Arial" panose="020B0604020202020204" pitchFamily="34" charset="0"/>
              </a:rPr>
              <a:t>Hands-on Exercise on Titanic Dataset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2B3786-C570-7D01-7F4B-75F5214FCB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EC770C-DB3D-7517-0A83-7460A2A7E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67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B291AF1-168E-599D-AEAB-F6FCD807D4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In class hands-on exercise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18DF6-8C02-1860-9198-4CB5FD2B27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320051"/>
            <a:ext cx="11266713" cy="4677979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3000" dirty="0"/>
              <a:t>Data (especially in real life) is </a:t>
            </a:r>
            <a:r>
              <a:rPr lang="en-US" sz="3000" b="1" dirty="0"/>
              <a:t>never perfect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3000" dirty="0"/>
              <a:t>Contains missing/ incorrect data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3000" dirty="0"/>
              <a:t>Never gives us exactly what we need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000" dirty="0"/>
              <a:t>How to group a “family” unit depends on the assumptions and logic we used 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3000" dirty="0"/>
              <a:t>Everyone can get a different answer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000" dirty="0"/>
              <a:t>There are a lot of Andersons on the Titanic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000" dirty="0"/>
              <a:t>Generating graphs and working with data in </a:t>
            </a:r>
            <a:r>
              <a:rPr lang="en-US" sz="3000" dirty="0" err="1"/>
              <a:t>Colab</a:t>
            </a:r>
            <a:r>
              <a:rPr lang="en-US" sz="3000" dirty="0"/>
              <a:t> is not that hard</a:t>
            </a:r>
          </a:p>
          <a:p>
            <a:pPr marL="342900" indent="-342900">
              <a:buFont typeface="+mj-lt"/>
              <a:buAutoNum type="arabicPeriod"/>
            </a:pPr>
            <a:endParaRPr lang="en-US" sz="30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2D3C423-5297-4913-B34D-3D497F390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did we “learn”?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D67C8E-7870-AC28-8DFC-A170DFAA7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23DE13-7F21-B4CF-2C0B-152F7429B8BE}"/>
              </a:ext>
            </a:extLst>
          </p:cNvPr>
          <p:cNvSpPr txBox="1"/>
          <p:nvPr/>
        </p:nvSpPr>
        <p:spPr>
          <a:xfrm>
            <a:off x="2333767" y="2243127"/>
            <a:ext cx="7185547" cy="317009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5000" dirty="0"/>
              <a:t>Our super human brains are still the most </a:t>
            </a:r>
            <a:r>
              <a:rPr lang="en-US" sz="5000" b="1" dirty="0">
                <a:solidFill>
                  <a:srgbClr val="FFFF00"/>
                </a:solidFill>
              </a:rPr>
              <a:t>important</a:t>
            </a:r>
            <a:r>
              <a:rPr lang="en-US" sz="5000" dirty="0">
                <a:solidFill>
                  <a:srgbClr val="FFFF00"/>
                </a:solidFill>
              </a:rPr>
              <a:t>!</a:t>
            </a:r>
          </a:p>
          <a:p>
            <a:pPr algn="ctr"/>
            <a:r>
              <a:rPr lang="en-US" sz="5000" dirty="0"/>
              <a:t>(we make the decisions)</a:t>
            </a:r>
          </a:p>
        </p:txBody>
      </p:sp>
    </p:spTree>
    <p:extLst>
      <p:ext uri="{BB962C8B-B14F-4D97-AF65-F5344CB8AC3E}">
        <p14:creationId xmlns:p14="http://schemas.microsoft.com/office/powerpoint/2010/main" val="1729060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5E678-759D-016F-F931-5296AD949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0A0B1-52DA-A640-AD89-183CA8E0C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257" y="1812045"/>
            <a:ext cx="9611406" cy="719757"/>
          </a:xfrm>
        </p:spPr>
        <p:txBody>
          <a:bodyPr/>
          <a:lstStyle/>
          <a:p>
            <a:r>
              <a:rPr lang="en-US" dirty="0"/>
              <a:t>Design Principles for Visual Analytics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B81FB2-08BF-B528-29E8-0F8906DC6B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0" dirty="0">
                <a:solidFill>
                  <a:srgbClr val="222222"/>
                </a:solidFill>
                <a:latin typeface="Arial" panose="020B0604020202020204" pitchFamily="34" charset="0"/>
              </a:rPr>
              <a:t>Parsons, P. (2022). </a:t>
            </a:r>
          </a:p>
          <a:p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Understanding data visualization design practice</a:t>
            </a:r>
            <a:r>
              <a:rPr lang="en-US" b="0" dirty="0">
                <a:solidFill>
                  <a:srgbClr val="222222"/>
                </a:solidFill>
                <a:latin typeface="Arial" panose="020B0604020202020204" pitchFamily="34" charset="0"/>
              </a:rPr>
              <a:t>. </a:t>
            </a:r>
          </a:p>
          <a:p>
            <a:r>
              <a:rPr lang="en-US" b="0" i="1" dirty="0">
                <a:solidFill>
                  <a:srgbClr val="222222"/>
                </a:solidFill>
                <a:latin typeface="Arial" panose="020B0604020202020204" pitchFamily="34" charset="0"/>
              </a:rPr>
              <a:t>IEEE Transactions on Visualization and Computer Graphics</a:t>
            </a:r>
            <a:r>
              <a:rPr lang="en-US" b="0" dirty="0">
                <a:solidFill>
                  <a:srgbClr val="222222"/>
                </a:solidFill>
                <a:latin typeface="Arial" panose="020B0604020202020204" pitchFamily="34" charset="0"/>
              </a:rPr>
              <a:t>, </a:t>
            </a:r>
            <a:r>
              <a:rPr lang="en-US" b="0" i="1" dirty="0">
                <a:solidFill>
                  <a:srgbClr val="222222"/>
                </a:solidFill>
                <a:latin typeface="Arial" panose="020B0604020202020204" pitchFamily="34" charset="0"/>
              </a:rPr>
              <a:t>28</a:t>
            </a:r>
            <a:r>
              <a:rPr lang="en-US" b="0" dirty="0">
                <a:solidFill>
                  <a:srgbClr val="222222"/>
                </a:solidFill>
                <a:latin typeface="Arial" panose="020B0604020202020204" pitchFamily="34" charset="0"/>
              </a:rPr>
              <a:t>(1), 665-675.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BA44A4-02B1-803D-F3E8-D8BCF75104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78D37F-1BD2-0F57-4B4D-046809A2D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097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EB417F4-885D-92DD-A3B0-5CDB5B80833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Edward R. Tufte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60E801-05F6-4880-1EE7-088EB7E6CB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5500" dirty="0"/>
              <a:t>Design is a choice. </a:t>
            </a:r>
          </a:p>
          <a:p>
            <a:pPr algn="just"/>
            <a:r>
              <a:rPr lang="en-US" sz="2500" dirty="0"/>
              <a:t>The theory of the </a:t>
            </a:r>
            <a:r>
              <a:rPr lang="en-US" sz="2500" b="1" dirty="0">
                <a:solidFill>
                  <a:srgbClr val="0070C0"/>
                </a:solidFill>
              </a:rPr>
              <a:t>visual display of quantitative information </a:t>
            </a:r>
            <a:r>
              <a:rPr lang="en-US" sz="2500" dirty="0"/>
              <a:t>consists of principles that generate design options and that guide choices among options… </a:t>
            </a:r>
            <a:r>
              <a:rPr lang="en-US" sz="2500" b="1" dirty="0">
                <a:solidFill>
                  <a:srgbClr val="0070C0"/>
                </a:solidFill>
              </a:rPr>
              <a:t>Most principles of design should be greeted with some skepticism</a:t>
            </a:r>
            <a:r>
              <a:rPr lang="en-US" sz="2500" dirty="0"/>
              <a:t>, for word authority can dominate our vision, and we may come to see only through the lenses of word authority rather than with our own eyes.</a:t>
            </a:r>
          </a:p>
          <a:p>
            <a:pPr algn="just"/>
            <a:r>
              <a:rPr lang="en-US" sz="2500" dirty="0"/>
              <a:t>What is to be sought in designs for the display of information is </a:t>
            </a:r>
            <a:r>
              <a:rPr lang="en-US" sz="2500" b="1" dirty="0">
                <a:solidFill>
                  <a:srgbClr val="0070C0"/>
                </a:solidFill>
              </a:rPr>
              <a:t>the clear portrayal of complexity</a:t>
            </a:r>
            <a:r>
              <a:rPr lang="en-US" sz="2500" dirty="0"/>
              <a:t>. Not the complication of the simple; rather, the task of the designer is to give visual access to the subtle and the difficult – that is,</a:t>
            </a:r>
          </a:p>
          <a:p>
            <a:pPr algn="ctr"/>
            <a:r>
              <a:rPr lang="en-US" sz="2500" dirty="0"/>
              <a:t>The revelation of the complex.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27AA3CC-B323-605E-37BB-CB52F58C0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Designs for the Display of Information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1E5317-ED66-0859-9286-1A2017332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684490-F619-764B-B135-5849DD636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0504" y="1137171"/>
            <a:ext cx="5657891" cy="109538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00527E5-981A-B527-C780-BEB55BFA4BC3}"/>
                  </a:ext>
                </a:extLst>
              </p14:cNvPr>
              <p14:cNvContentPartPr/>
              <p14:nvPr/>
            </p14:nvContentPartPr>
            <p14:xfrm>
              <a:off x="7608342" y="2218874"/>
              <a:ext cx="668520" cy="27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00527E5-981A-B527-C780-BEB55BFA4BC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72702" y="2182874"/>
                <a:ext cx="740160" cy="9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76688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D9A8BDB-CF7E-3934-1D4D-AF63932F1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Dr. Edward Tufte – Yale University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5E3690-4F6A-5009-1FE4-A671DE02C0A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https://www.edwardtufte.com/books/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652A4A-D62E-F350-F08C-6C0EDB72B97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146" name="Picture 2" descr="Edward Tufte Media Photographs">
            <a:extLst>
              <a:ext uri="{FF2B5EF4-FFF2-40B4-BE49-F238E27FC236}">
                <a16:creationId xmlns:a16="http://schemas.microsoft.com/office/drawing/2014/main" id="{77240D99-691E-CB60-8C6A-DD5DD301E3F7}"/>
              </a:ext>
            </a:extLst>
          </p:cNvPr>
          <p:cNvPicPr>
            <a:picLocks noGrp="1" noChangeAspect="1" noChangeArrowheads="1"/>
          </p:cNvPicPr>
          <p:nvPr>
            <p:ph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2217667"/>
            <a:ext cx="923925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2F66ABDA-1BAD-6988-688B-1297D179A2D6}"/>
              </a:ext>
            </a:extLst>
          </p:cNvPr>
          <p:cNvSpPr/>
          <p:nvPr/>
        </p:nvSpPr>
        <p:spPr>
          <a:xfrm>
            <a:off x="5120641" y="1178294"/>
            <a:ext cx="6124374" cy="1248414"/>
          </a:xfrm>
          <a:prstGeom prst="wedgeRoundRectCallout">
            <a:avLst>
              <a:gd name="adj1" fmla="val -50918"/>
              <a:gd name="adj2" fmla="val 101239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500" dirty="0"/>
              <a:t>“If you see a pie chart projected 12 feet high in front of you, you know you’re in the hands of an idiot.”</a:t>
            </a:r>
          </a:p>
        </p:txBody>
      </p:sp>
    </p:spTree>
    <p:extLst>
      <p:ext uri="{BB962C8B-B14F-4D97-AF65-F5344CB8AC3E}">
        <p14:creationId xmlns:p14="http://schemas.microsoft.com/office/powerpoint/2010/main" val="1655841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FBDA086-0AA7-DB9D-AB77-2674B9311C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Paul Parsons (2021)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F7D47-8C9C-0C3B-1E0C-ED1F2DE52B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3000" b="1" dirty="0"/>
              <a:t>Context</a:t>
            </a:r>
          </a:p>
          <a:p>
            <a:r>
              <a:rPr lang="en-US" sz="3000" dirty="0"/>
              <a:t>There is a </a:t>
            </a:r>
            <a:r>
              <a:rPr lang="en-US" sz="3000" b="1" dirty="0">
                <a:solidFill>
                  <a:srgbClr val="0070C0"/>
                </a:solidFill>
              </a:rPr>
              <a:t>knowledge gap </a:t>
            </a:r>
            <a:r>
              <a:rPr lang="en-US" sz="3000" dirty="0"/>
              <a:t>around how data visualization design is generated through </a:t>
            </a:r>
            <a:r>
              <a:rPr lang="en-US" sz="3000" b="1" dirty="0">
                <a:solidFill>
                  <a:srgbClr val="0070C0"/>
                </a:solidFill>
              </a:rPr>
              <a:t>academic research </a:t>
            </a:r>
            <a:r>
              <a:rPr lang="en-US" sz="3000" dirty="0"/>
              <a:t>and how this can be </a:t>
            </a:r>
            <a:r>
              <a:rPr lang="en-US" sz="3000" b="1" dirty="0">
                <a:solidFill>
                  <a:srgbClr val="0070C0"/>
                </a:solidFill>
              </a:rPr>
              <a:t>applied in practice</a:t>
            </a:r>
            <a:r>
              <a:rPr lang="en-US" sz="3000" dirty="0"/>
              <a:t>.</a:t>
            </a:r>
          </a:p>
          <a:p>
            <a:r>
              <a:rPr lang="en-US" sz="3000" dirty="0"/>
              <a:t>In this paper,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500" dirty="0"/>
              <a:t>Surveyed </a:t>
            </a:r>
            <a:r>
              <a:rPr lang="en-US" sz="2500" b="1" dirty="0"/>
              <a:t>87 data visualization practitioners </a:t>
            </a:r>
            <a:r>
              <a:rPr lang="en-US" sz="2500" dirty="0"/>
              <a:t>for their understanding of popular design methods and frequency of use in practice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500" dirty="0"/>
              <a:t>Interviewed </a:t>
            </a:r>
            <a:r>
              <a:rPr lang="en-US" sz="2500" b="1" dirty="0"/>
              <a:t>20 data visualization practitioners </a:t>
            </a:r>
            <a:r>
              <a:rPr lang="en-US" sz="2500" dirty="0"/>
              <a:t>for their design process, strategies, and use of methods and concepts that guide their practice.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7E60D4-5D1B-778A-0628-6C5CBD2DD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Understanding Data Visualization Design Practice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B9BBC3-D8B6-8B9D-4443-0A2159862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357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0B01384-9714-1025-996E-10469A3C01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Of Popular Design Methods and Principles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4B38ACC-7B49-1444-C197-B5BA62DE8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Familiarity and Frequency of Use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998829-5017-C214-E060-1ADE14D8F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B7703B-6FEC-FB18-FF65-8E793AC68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392" y="133350"/>
            <a:ext cx="6027522" cy="659550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DA3D1CB-CFFB-F09E-5FD5-1E2535436A5B}"/>
                  </a:ext>
                </a:extLst>
              </p14:cNvPr>
              <p14:cNvContentPartPr/>
              <p14:nvPr/>
            </p14:nvContentPartPr>
            <p14:xfrm>
              <a:off x="8459953" y="5667542"/>
              <a:ext cx="500400" cy="252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DA3D1CB-CFFB-F09E-5FD5-1E2535436A5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24313" y="5631542"/>
                <a:ext cx="57204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41D1FF1-66E7-FECA-75BD-3E29B2AC77D5}"/>
                  </a:ext>
                </a:extLst>
              </p14:cNvPr>
              <p14:cNvContentPartPr/>
              <p14:nvPr/>
            </p14:nvContentPartPr>
            <p14:xfrm>
              <a:off x="5984953" y="5712401"/>
              <a:ext cx="2475000" cy="5605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41D1FF1-66E7-FECA-75BD-3E29B2AC77D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48953" y="5676761"/>
                <a:ext cx="2546640" cy="63216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7EEC9F41-34D2-402D-4842-7CB2F18D235A}"/>
              </a:ext>
            </a:extLst>
          </p:cNvPr>
          <p:cNvSpPr txBox="1"/>
          <p:nvPr/>
        </p:nvSpPr>
        <p:spPr>
          <a:xfrm>
            <a:off x="357231" y="3887773"/>
            <a:ext cx="4920464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hlinkClick r:id="rId7"/>
              </a:rPr>
              <a:t>Fitt’s Law</a:t>
            </a:r>
            <a:r>
              <a:rPr lang="en-US" sz="2500" dirty="0"/>
              <a:t>:</a:t>
            </a:r>
          </a:p>
          <a:p>
            <a:pPr>
              <a:lnSpc>
                <a:spcPts val="3000"/>
              </a:lnSpc>
            </a:pPr>
            <a:r>
              <a:rPr lang="en-US" sz="2500" dirty="0"/>
              <a:t>the larger and closer a target is, the faster and easier it is to select, while smaller and farther targets require more time and effort </a:t>
            </a:r>
          </a:p>
        </p:txBody>
      </p:sp>
      <p:pic>
        <p:nvPicPr>
          <p:cNvPr id="3074" name="Picture 2" descr="duh – thelifeididntchoose">
            <a:extLst>
              <a:ext uri="{FF2B5EF4-FFF2-40B4-BE49-F238E27FC236}">
                <a16:creationId xmlns:a16="http://schemas.microsoft.com/office/drawing/2014/main" id="{1773843B-3F0F-D831-925A-F2826C8AB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7463" y="1543323"/>
            <a:ext cx="2585486" cy="2617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261F681-BF45-42F4-C793-FD2D5DE9AD92}"/>
              </a:ext>
            </a:extLst>
          </p:cNvPr>
          <p:cNvSpPr txBox="1"/>
          <p:nvPr/>
        </p:nvSpPr>
        <p:spPr>
          <a:xfrm>
            <a:off x="357231" y="1519233"/>
            <a:ext cx="2111341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/>
              <a:t>The disconnect (between theory and practice) is </a:t>
            </a:r>
            <a:r>
              <a:rPr lang="en-US" sz="2500" b="1" dirty="0">
                <a:solidFill>
                  <a:srgbClr val="FF0000"/>
                </a:solidFill>
              </a:rPr>
              <a:t>REAL</a:t>
            </a:r>
            <a:r>
              <a:rPr lang="en-US" sz="2500" b="1" dirty="0"/>
              <a:t>!</a:t>
            </a:r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9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CA5522F-D8BD-FB59-5494-B7458EDA3445}"/>
                  </a:ext>
                </a:extLst>
              </p14:cNvPr>
              <p14:cNvContentPartPr/>
              <p14:nvPr/>
            </p14:nvContentPartPr>
            <p14:xfrm>
              <a:off x="10150364" y="3626411"/>
              <a:ext cx="1383840" cy="449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CA5522F-D8BD-FB59-5494-B7458EDA344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114364" y="3590411"/>
                <a:ext cx="1455480" cy="52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68009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C43840D-7CC3-7EB1-131A-0CF5D0D78B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Most familiar and frequently used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5FC5D0-8C76-F71B-248D-A020C1BEE2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000" b="1" dirty="0"/>
              <a:t>Methods: </a:t>
            </a:r>
            <a:r>
              <a:rPr lang="en-US" sz="3000" dirty="0"/>
              <a:t>Sketching and wireframing/mockups were significantly more familiar and used than other methods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000" b="1" dirty="0"/>
              <a:t>Principle: </a:t>
            </a:r>
            <a:r>
              <a:rPr lang="en-US" sz="3000" dirty="0"/>
              <a:t>On average, the most familiar principle was chart junk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7D13FBE-579F-0935-A4D5-6AEFED5B4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Part 1: Key findings from the survey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750CE6-A687-AF77-55DF-62D5F8563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11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EEAAF5C-F417-0A6C-5DE7-3BEFA571864C}"/>
                  </a:ext>
                </a:extLst>
              </p14:cNvPr>
              <p14:cNvContentPartPr/>
              <p14:nvPr/>
            </p14:nvContentPartPr>
            <p14:xfrm>
              <a:off x="10044425" y="3009011"/>
              <a:ext cx="864000" cy="450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EEAAF5C-F417-0A6C-5DE7-3BEFA571864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08785" y="2973011"/>
                <a:ext cx="93564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FA936C3-20CC-24DF-CD66-1B42C67F44B0}"/>
                  </a:ext>
                </a:extLst>
              </p14:cNvPr>
              <p14:cNvContentPartPr/>
              <p14:nvPr/>
            </p14:nvContentPartPr>
            <p14:xfrm>
              <a:off x="1094465" y="3470531"/>
              <a:ext cx="688680" cy="288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FA936C3-20CC-24DF-CD66-1B42C67F44B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58465" y="3434891"/>
                <a:ext cx="760320" cy="10044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A6E29C91-5A15-C896-D30D-049E9FBD8D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3999" y="3183261"/>
            <a:ext cx="8214037" cy="3472297"/>
          </a:xfrm>
          <a:prstGeom prst="rect">
            <a:avLst/>
          </a:prstGeom>
        </p:spPr>
      </p:pic>
      <p:pic>
        <p:nvPicPr>
          <p:cNvPr id="10" name="Picture 2" descr="duh – thelifeididntchoose">
            <a:extLst>
              <a:ext uri="{FF2B5EF4-FFF2-40B4-BE49-F238E27FC236}">
                <a16:creationId xmlns:a16="http://schemas.microsoft.com/office/drawing/2014/main" id="{B6936873-869B-1303-93F9-DB19F0B079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465" y="3672513"/>
            <a:ext cx="2203553" cy="2231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2802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88F8751-819A-9351-2171-759363A079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Questions including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33E21E-223D-2C1A-4DAF-45FE197B8A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2500" dirty="0"/>
              <a:t>How do </a:t>
            </a:r>
            <a:r>
              <a:rPr lang="en-US" sz="2500" b="1" dirty="0"/>
              <a:t>practitioners engage in their design processes</a:t>
            </a:r>
            <a:r>
              <a:rPr lang="en-US" sz="2500" dirty="0"/>
              <a:t>, and what </a:t>
            </a:r>
            <a:r>
              <a:rPr lang="en-US" sz="2500" b="1" dirty="0"/>
              <a:t>strategies</a:t>
            </a:r>
            <a:r>
              <a:rPr lang="en-US" sz="2500" dirty="0"/>
              <a:t> do they use?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How do practitioners start their design process?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When working through a design process, how do practitioners assess their progress, including how to determine if they are on the right track and what steps to take next?’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What is the structure of the process, e.g., is it systematic, logical, step-wise, iterative, or linear?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How do practitioners make decisions regarding which chart types and visual encodings to use within their process?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500" dirty="0"/>
              <a:t>How are various </a:t>
            </a:r>
            <a:r>
              <a:rPr lang="en-US" sz="2500" b="1" dirty="0"/>
              <a:t>forms of design knowledge </a:t>
            </a:r>
            <a:r>
              <a:rPr lang="en-US" sz="2500" dirty="0"/>
              <a:t>used in practitioners’ design practice?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Do they rely on any high-level theory to guide their design work?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How are methods and principles used in their design work?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Are there methods and principles that are more useful than others?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Are they aware of the history and development of popular visualization design concepts?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B2F0D6D-7F16-5A01-CE3D-23E0A5D4C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Part 2: Interviews with practitioners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DD74BD-1A2E-4193-EA4D-59339AC79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182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CFAE8FD-03F0-B9B5-6745-92A486758A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Data, Users, or Clients First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56A8FAD-963F-4A30-3DFE-6D87E7191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2.1 Key Findings: Design process and strategies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A1CAA7-036A-B358-724E-7F4788F7B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13</a:t>
            </a:fld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427A9672-F0ED-2829-7D81-C04FCA5ECB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18700377"/>
              </p:ext>
            </p:extLst>
          </p:nvPr>
        </p:nvGraphicFramePr>
        <p:xfrm>
          <a:off x="1015243" y="1236891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60DD9C2-3033-8590-698B-57CE88469528}"/>
              </a:ext>
            </a:extLst>
          </p:cNvPr>
          <p:cNvSpPr txBox="1"/>
          <p:nvPr/>
        </p:nvSpPr>
        <p:spPr>
          <a:xfrm>
            <a:off x="7826992" y="1336741"/>
            <a:ext cx="40738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Start the process by trying to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Understand the data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Understand the users’ needs/ clients’ goals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Visually represent the data for problem framing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5E8C18-6EE4-D421-ED56-263652F7B7A2}"/>
              </a:ext>
            </a:extLst>
          </p:cNvPr>
          <p:cNvSpPr txBox="1"/>
          <p:nvPr/>
        </p:nvSpPr>
        <p:spPr>
          <a:xfrm>
            <a:off x="7348560" y="4790112"/>
            <a:ext cx="43862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Tacit knowledge from experience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“intuition” or “gut feeling”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52A35E-CD97-1130-FA40-FF08087AB609}"/>
              </a:ext>
            </a:extLst>
          </p:cNvPr>
          <p:cNvSpPr txBox="1"/>
          <p:nvPr/>
        </p:nvSpPr>
        <p:spPr>
          <a:xfrm>
            <a:off x="7431205" y="5603123"/>
            <a:ext cx="41557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Involving others in evaluation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Test with users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AE7998-841B-5F1E-FC9E-F97133EF1B11}"/>
              </a:ext>
            </a:extLst>
          </p:cNvPr>
          <p:cNvSpPr txBox="1"/>
          <p:nvPr/>
        </p:nvSpPr>
        <p:spPr>
          <a:xfrm>
            <a:off x="382137" y="2108902"/>
            <a:ext cx="234741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Experimentation &amp; in the moment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Just to get a “feel” for things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69780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BC7F388-49CF-5D55-626A-EBC64FAF4D4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Simplify and clarify using visualization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4448B6-7157-3222-897A-315765B10C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087" y="1543323"/>
            <a:ext cx="11266713" cy="4454706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776C5A-6BE3-8780-8099-6DD719096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2.2 Key Findings: Design knowledge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D1630C-A444-B659-DA3A-9AC5B7C96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14</a:t>
            </a:fld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7F2DCB7-483B-F1A2-8D96-D00F12BABF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91881563"/>
              </p:ext>
            </p:extLst>
          </p:nvPr>
        </p:nvGraphicFramePr>
        <p:xfrm>
          <a:off x="2496023" y="2191549"/>
          <a:ext cx="8524544" cy="40297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7B7D371-A045-AD48-4AEB-872C6774C5CE}"/>
              </a:ext>
            </a:extLst>
          </p:cNvPr>
          <p:cNvSpPr txBox="1"/>
          <p:nvPr/>
        </p:nvSpPr>
        <p:spPr>
          <a:xfrm>
            <a:off x="399846" y="1478172"/>
            <a:ext cx="5571049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dirty="0"/>
              <a:t>Design theories/ principles, methods, and guidelines: </a:t>
            </a:r>
            <a:r>
              <a:rPr lang="en-US" dirty="0"/>
              <a:t>i.e., Design Activity Framework, Nested Model, Design Study Methodology, affordance, data-ink ratio, cognitive load, data types, Gestalt principles, </a:t>
            </a:r>
            <a:r>
              <a:rPr lang="en-US" dirty="0" err="1"/>
              <a:t>chartjunk</a:t>
            </a:r>
            <a:r>
              <a:rPr lang="en-US" dirty="0"/>
              <a:t>, visual variables, and mental models etc.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FFF4A1-B4D9-6DB7-D65B-F7F1D0B96822}"/>
              </a:ext>
            </a:extLst>
          </p:cNvPr>
          <p:cNvSpPr txBox="1"/>
          <p:nvPr/>
        </p:nvSpPr>
        <p:spPr>
          <a:xfrm>
            <a:off x="4492794" y="5226500"/>
            <a:ext cx="5571049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dirty="0"/>
              <a:t>For example: Perceptual rankings</a:t>
            </a:r>
          </a:p>
          <a:p>
            <a:r>
              <a:rPr lang="en-US" sz="2500" dirty="0"/>
              <a:t>People are better at comparing lines than they are at angles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0C75EA-2803-31F1-6BB4-B42C9326B8BB}"/>
              </a:ext>
            </a:extLst>
          </p:cNvPr>
          <p:cNvSpPr txBox="1"/>
          <p:nvPr/>
        </p:nvSpPr>
        <p:spPr>
          <a:xfrm>
            <a:off x="8127243" y="2096207"/>
            <a:ext cx="354159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dirty="0"/>
              <a:t>Readability vs. Usability:</a:t>
            </a:r>
          </a:p>
          <a:p>
            <a:r>
              <a:rPr lang="en-US" sz="2500" dirty="0"/>
              <a:t>Keep the client engaged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514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P spid="8" grpId="0"/>
      <p:bldP spid="9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3C96A1-8922-449D-7BCA-6736B2129DE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All roads lead to Rome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611673A-FD65-A4F6-B0E7-6C2257F69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Methods and Principles in Practice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098706-567E-DD69-9B38-4D3D276B7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52E3DE-DD1A-4AC6-5D8F-BEC4F1419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157" y="1150719"/>
            <a:ext cx="6129338" cy="47529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435CCFF-AC0B-3F7E-88D3-CFBF95C11468}"/>
              </a:ext>
            </a:extLst>
          </p:cNvPr>
          <p:cNvSpPr txBox="1"/>
          <p:nvPr/>
        </p:nvSpPr>
        <p:spPr>
          <a:xfrm>
            <a:off x="627795" y="2053987"/>
            <a:ext cx="7902055" cy="101566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All roads lead to Rome.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9520AE-7490-6B5E-A601-0A8EB9513A1E}"/>
              </a:ext>
            </a:extLst>
          </p:cNvPr>
          <p:cNvSpPr txBox="1"/>
          <p:nvPr/>
        </p:nvSpPr>
        <p:spPr>
          <a:xfrm>
            <a:off x="1469408" y="3789528"/>
            <a:ext cx="9476096" cy="163121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5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Experience is more important than knowledge of theories/ principles</a:t>
            </a:r>
          </a:p>
        </p:txBody>
      </p:sp>
    </p:spTree>
    <p:extLst>
      <p:ext uri="{BB962C8B-B14F-4D97-AF65-F5344CB8AC3E}">
        <p14:creationId xmlns:p14="http://schemas.microsoft.com/office/powerpoint/2010/main" val="1810190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4A914-6FA4-030D-2D55-AFE9F4CB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66CA6-8BBE-7957-D6BE-17557129C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Project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ED8AEA-398B-95B8-7DDE-C51CD1DE84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2CA6B6-9EF3-1C0A-B651-C40FEB7952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203F94-CD0C-8DBC-BB7E-9F42D374E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4767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1A871-D59E-64D1-78BB-84394FC13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BE8231A-34E2-D92E-413A-E728FF5EA6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D21516-8C88-BCA8-B091-98135D7CBC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ctr"/>
            <a:r>
              <a:rPr lang="en-US" sz="5000" u="sng" dirty="0"/>
              <a:t>Context</a:t>
            </a:r>
          </a:p>
          <a:p>
            <a:pPr algn="ctr"/>
            <a:r>
              <a:rPr lang="en-US" sz="5000" dirty="0"/>
              <a:t>You are pitching a business case to a group of senior technology executives at your company, but a call came in, and the </a:t>
            </a:r>
            <a:r>
              <a:rPr lang="en-US" sz="5000" b="1" dirty="0"/>
              <a:t>CTO will have to leave the meeting in 5 minutes</a:t>
            </a:r>
            <a:r>
              <a:rPr lang="en-US" sz="5000" dirty="0"/>
              <a:t>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E906EA7-423B-076A-6930-484C9C3CA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 Description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E53ED1-485C-32EB-3D7E-C1598D73F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8065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79815-FFAB-D1D3-4199-E2943D936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B62A4F5-AFDF-B597-5C97-DDC14B818D7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8CF5E-61D6-4DA4-E7A8-B3403817A1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ctr"/>
            <a:r>
              <a:rPr lang="en-US" sz="5000" u="sng" dirty="0"/>
              <a:t>Challenge</a:t>
            </a:r>
          </a:p>
          <a:p>
            <a:pPr algn="ctr"/>
            <a:r>
              <a:rPr lang="en-US" sz="5000" dirty="0"/>
              <a:t>You have</a:t>
            </a:r>
            <a:r>
              <a:rPr lang="en-US" sz="5000" b="1" dirty="0"/>
              <a:t> 5 minutes </a:t>
            </a:r>
            <a:r>
              <a:rPr lang="en-US" sz="5000" dirty="0"/>
              <a:t>to summarize your key findings, assumptions, and/or projections to convince your CTO that </a:t>
            </a:r>
            <a:r>
              <a:rPr lang="en-US" sz="5000" b="1" dirty="0"/>
              <a:t>YOUR project </a:t>
            </a:r>
            <a:r>
              <a:rPr lang="en-US" sz="5000" dirty="0"/>
              <a:t>is worth funding. </a:t>
            </a:r>
            <a:endParaRPr lang="en-US" sz="5000" b="1" dirty="0"/>
          </a:p>
          <a:p>
            <a:pPr algn="ctr"/>
            <a:endParaRPr lang="en-US" sz="50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39C78A0-5624-0A97-E046-E7D86026E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 Description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8DE243-3DD0-AD9E-C937-F84431F62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1075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5BF64E3-FE41-84B9-A36B-3F9970E929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Professor from Harvard Business School </a:t>
            </a:r>
            <a:r>
              <a:rPr lang="en-US" dirty="0">
                <a:hlinkClick r:id="rId2"/>
              </a:rPr>
              <a:t>https://www.hbs.edu/faculty/Pages/profile.aspx?facId=320524</a:t>
            </a:r>
            <a:r>
              <a:rPr lang="en-US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2D9A1E-DBC0-CB95-21B1-8AEC1A6E5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64" y="1630017"/>
            <a:ext cx="5980172" cy="398757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FA0AC98-A518-C652-56F0-F019876A0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Ryan Buell’s famous “Killer Figure”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CBEB3E-413F-7B38-4F56-C17C78D4A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D6C27A-58E1-322F-C2F0-4A62C3DDDA91}"/>
              </a:ext>
            </a:extLst>
          </p:cNvPr>
          <p:cNvSpPr txBox="1"/>
          <p:nvPr/>
        </p:nvSpPr>
        <p:spPr>
          <a:xfrm>
            <a:off x="6844352" y="2175215"/>
            <a:ext cx="42376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“You should be able to summarize your entire presentation using </a:t>
            </a:r>
            <a:r>
              <a:rPr lang="en-US" sz="3000" b="1" dirty="0"/>
              <a:t>ONE KILLER FIGURE</a:t>
            </a:r>
            <a:r>
              <a:rPr lang="en-US" sz="3000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1489834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86D45-40C4-304A-E336-3196DEF12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16BA787-41D6-167F-8003-F9B94E7A67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A66C13-264E-C9DB-8E89-4BF6C726AE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ctr"/>
            <a:r>
              <a:rPr lang="en-US" sz="5000" u="sng" dirty="0"/>
              <a:t>Your Tasks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3000" dirty="0"/>
              <a:t>Identify a domain that is interesting to your team.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3000" dirty="0"/>
              <a:t>Find a dataset in that domain (common places to look: </a:t>
            </a:r>
            <a:r>
              <a:rPr lang="en-US" sz="3000" dirty="0" err="1"/>
              <a:t>HuggingFace</a:t>
            </a:r>
            <a:r>
              <a:rPr lang="en-US" sz="3000" dirty="0"/>
              <a:t>, Kaggle, UCI, Papers with Code)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3000" dirty="0"/>
              <a:t>Craft a project idea based on the data you are using (more on the next slide)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3000" dirty="0"/>
              <a:t>Create one killer figure that clearly tells your story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3000" dirty="0"/>
              <a:t>5-minute in-class presentation using the killer figure</a:t>
            </a:r>
          </a:p>
          <a:p>
            <a:pPr marL="914400" indent="-914400">
              <a:buFont typeface="+mj-lt"/>
              <a:buAutoNum type="arabicPeriod"/>
            </a:pPr>
            <a:endParaRPr lang="en-US" sz="50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0C86E8-BFD6-46EE-452B-09D61AC02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 Description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24D19-130E-6BE1-ED85-43D3F03F5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121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65BCF-C4ED-8D26-CE8E-068E1277B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C64A04F-EDA4-97D5-A153-8238B629A3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94A690-4018-95BC-081A-8755CD03CA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ctr"/>
            <a:r>
              <a:rPr lang="en-US" sz="5000" u="sng" dirty="0"/>
              <a:t>Project Objectives</a:t>
            </a:r>
          </a:p>
          <a:p>
            <a:pPr lvl="1"/>
            <a:endParaRPr lang="en-US" sz="3600" dirty="0"/>
          </a:p>
          <a:p>
            <a:pPr marL="1200150" lvl="1" indent="-742950">
              <a:buFont typeface="+mj-lt"/>
              <a:buAutoNum type="arabicPeriod"/>
            </a:pPr>
            <a:r>
              <a:rPr lang="en-US" sz="3600" dirty="0"/>
              <a:t>Crafting a compelling story with data</a:t>
            </a:r>
          </a:p>
          <a:p>
            <a:pPr marL="1200150" lvl="1" indent="-742950">
              <a:buFont typeface="+mj-lt"/>
              <a:buAutoNum type="arabicPeriod"/>
            </a:pPr>
            <a:r>
              <a:rPr lang="en-US" sz="3600" dirty="0"/>
              <a:t>Clearly articulate that story with </a:t>
            </a:r>
            <a:r>
              <a:rPr lang="en-US" sz="3600" b="1" dirty="0"/>
              <a:t>one</a:t>
            </a:r>
            <a:r>
              <a:rPr lang="en-US" sz="3600" dirty="0"/>
              <a:t> killer figure</a:t>
            </a:r>
          </a:p>
          <a:p>
            <a:pPr marL="1200150" lvl="1" indent="-742950">
              <a:buFont typeface="+mj-lt"/>
              <a:buAutoNum type="arabicPeriod"/>
            </a:pPr>
            <a:r>
              <a:rPr lang="en-US" sz="3600" dirty="0"/>
              <a:t>Be creative and have fun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499413F-3A99-F385-4DBB-43C37F8B5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 Description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5AFFC5-006B-8CFD-2001-60ABE93CA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957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648A2-354F-F9C9-03BE-308AE063E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FAE0DB9-0F85-C3AA-6E87-963560DBCA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C20667-CE66-1E15-57E2-B98A4920B5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ctr"/>
            <a:r>
              <a:rPr lang="en-US" sz="5000" u="sng" dirty="0"/>
              <a:t>Crafting Your Idea</a:t>
            </a:r>
          </a:p>
          <a:p>
            <a:pPr marL="1200150" lvl="1" indent="-742950">
              <a:buFont typeface="+mj-lt"/>
              <a:buAutoNum type="arabicPeriod"/>
            </a:pPr>
            <a:endParaRPr lang="en-US" sz="3600" dirty="0"/>
          </a:p>
          <a:p>
            <a:pPr marL="1200150" lvl="1" indent="-742950">
              <a:buFont typeface="+mj-lt"/>
              <a:buAutoNum type="arabicPeriod"/>
            </a:pPr>
            <a:r>
              <a:rPr lang="en-US" sz="3600" dirty="0"/>
              <a:t>What problems are you trying to solve?</a:t>
            </a:r>
          </a:p>
          <a:p>
            <a:pPr marL="1200150" lvl="1" indent="-742950">
              <a:buFont typeface="+mj-lt"/>
              <a:buAutoNum type="arabicPeriod"/>
            </a:pPr>
            <a:r>
              <a:rPr lang="en-US" sz="3600" dirty="0"/>
              <a:t>What questions are you trying to answer?</a:t>
            </a:r>
          </a:p>
          <a:p>
            <a:pPr marL="1200150" lvl="1" indent="-742950">
              <a:buFont typeface="+mj-lt"/>
              <a:buAutoNum type="arabicPeriod"/>
            </a:pPr>
            <a:r>
              <a:rPr lang="en-US" sz="3600" dirty="0"/>
              <a:t>What kind of data will you need?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6397857-4DF1-6BBD-AFCC-1F6DBF9FE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 Description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E6DE15-B5A6-CCF7-A9B4-A3A35C2DD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8190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8B837-1E08-24E2-67DC-E77751FF1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48663C-6ACA-F01B-5013-D2E61E815A3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325F465-644D-C612-E5E8-DEF1EA77B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 Description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219868-6EDC-64F3-4882-74B7611D3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8E6F64-EE0F-7249-D3F5-EBA688777172}"/>
              </a:ext>
            </a:extLst>
          </p:cNvPr>
          <p:cNvSpPr txBox="1"/>
          <p:nvPr/>
        </p:nvSpPr>
        <p:spPr>
          <a:xfrm>
            <a:off x="457200" y="1446018"/>
            <a:ext cx="351429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Punchline:</a:t>
            </a:r>
          </a:p>
          <a:p>
            <a:r>
              <a:rPr lang="en-US" sz="3000" dirty="0"/>
              <a:t>The first-class children have only a slightly higher survival percentage (50%) than the third-class children (46.7%)!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3ABE56-5875-3E7E-9520-C240897A4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2700" y="954291"/>
            <a:ext cx="7934325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7603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6A0AB-8515-E66C-F429-A8F3EEF62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5AF823D-B752-D648-9B49-9784524F0C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BE57EB2-DAB4-1C29-D2A6-0FAF95799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 Description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0290E3-D515-A709-9485-C75BFA4E7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BB27BF-309A-EDB4-4220-25FC372EE487}"/>
              </a:ext>
            </a:extLst>
          </p:cNvPr>
          <p:cNvSpPr txBox="1"/>
          <p:nvPr/>
        </p:nvSpPr>
        <p:spPr>
          <a:xfrm>
            <a:off x="457200" y="1446018"/>
            <a:ext cx="1027676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The first-class children pay, on average $151, which is 6 times higher than third-class children, who pay, on average $23. And yet, the company failed to ensure their safety.</a:t>
            </a:r>
          </a:p>
          <a:p>
            <a:endParaRPr lang="en-US" sz="3000" dirty="0"/>
          </a:p>
          <a:p>
            <a:r>
              <a:rPr lang="en-US" sz="3000" dirty="0"/>
              <a:t>Business proposal to  </a:t>
            </a:r>
          </a:p>
          <a:p>
            <a:pPr marL="514350" indent="-514350">
              <a:buAutoNum type="arabicPeriod"/>
            </a:pPr>
            <a:r>
              <a:rPr lang="en-US" sz="3000" dirty="0"/>
              <a:t>Improve the overall survival percentage for all children.</a:t>
            </a:r>
          </a:p>
        </p:txBody>
      </p:sp>
    </p:spTree>
    <p:extLst>
      <p:ext uri="{BB962C8B-B14F-4D97-AF65-F5344CB8AC3E}">
        <p14:creationId xmlns:p14="http://schemas.microsoft.com/office/powerpoint/2010/main" val="38261560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5B1B2-E83F-13BD-4073-1EF81365A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99A492B-2AE6-9394-3807-CEFF1908B7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912E7F-C49A-D7A4-7AA7-8B1D30640E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3429000"/>
            <a:ext cx="11266713" cy="2569029"/>
          </a:xfrm>
        </p:spPr>
        <p:txBody>
          <a:bodyPr/>
          <a:lstStyle/>
          <a:p>
            <a:pPr algn="ctr"/>
            <a:r>
              <a:rPr lang="en-US" sz="5000" dirty="0">
                <a:hlinkClick r:id="rId2"/>
              </a:rPr>
              <a:t>How Consulting Firms Make Complex Topics Simple</a:t>
            </a:r>
            <a:r>
              <a:rPr lang="en-US" sz="5000" dirty="0"/>
              <a:t> </a:t>
            </a:r>
          </a:p>
          <a:p>
            <a:pPr algn="ctr"/>
            <a:r>
              <a:rPr lang="en-US" sz="5000" dirty="0"/>
              <a:t>Analyst Academy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6771D09-FC4B-6977-8000-FEB8AD71A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 Description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781D3D-FBF7-3684-7259-3AEA715E3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25985B-B20A-2B45-A802-1619D78E1BCA}"/>
              </a:ext>
            </a:extLst>
          </p:cNvPr>
          <p:cNvSpPr txBox="1"/>
          <p:nvPr/>
        </p:nvSpPr>
        <p:spPr>
          <a:xfrm>
            <a:off x="1581435" y="1589250"/>
            <a:ext cx="835413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500" dirty="0"/>
              <a:t>Watch this video for inspiration (as needed)</a:t>
            </a:r>
          </a:p>
        </p:txBody>
      </p:sp>
    </p:spTree>
    <p:extLst>
      <p:ext uri="{BB962C8B-B14F-4D97-AF65-F5344CB8AC3E}">
        <p14:creationId xmlns:p14="http://schemas.microsoft.com/office/powerpoint/2010/main" val="15707200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5879B8-7AC4-B8AA-C45A-82528683D70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Some recommendations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A224E8-01C9-791A-8FC0-73E23A88B5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b="1" dirty="0" err="1"/>
              <a:t>Huggingface</a:t>
            </a:r>
            <a:r>
              <a:rPr lang="en-US" sz="2500" dirty="0"/>
              <a:t>: </a:t>
            </a:r>
            <a:r>
              <a:rPr lang="en-US" sz="2500" dirty="0">
                <a:hlinkClick r:id="rId2"/>
              </a:rPr>
              <a:t>https://huggingface.co/docs/datasets/en/index</a:t>
            </a:r>
            <a:endParaRPr lang="en-US" sz="25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b="1" dirty="0"/>
              <a:t>Kaggle</a:t>
            </a:r>
            <a:r>
              <a:rPr lang="en-US" sz="2500" dirty="0"/>
              <a:t>: </a:t>
            </a:r>
            <a:r>
              <a:rPr lang="en-US" sz="2500" dirty="0">
                <a:hlinkClick r:id="rId3"/>
              </a:rPr>
              <a:t>https://www.kaggle.com/datasets</a:t>
            </a:r>
            <a:r>
              <a:rPr lang="en-US" sz="2500" dirty="0"/>
              <a:t> (Here you will also easily find code/notebooks from others, but be careful when using someone else's code - it might take more time to debug than write your own) 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b="1" dirty="0"/>
              <a:t>UCI</a:t>
            </a:r>
            <a:r>
              <a:rPr lang="en-US" sz="2500" dirty="0"/>
              <a:t>: </a:t>
            </a:r>
            <a:r>
              <a:rPr lang="en-US" sz="2500" dirty="0">
                <a:hlinkClick r:id="rId4"/>
              </a:rPr>
              <a:t>https://archive.ics.uci.edu/datasets</a:t>
            </a:r>
            <a:endParaRPr lang="en-US" sz="25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b="1" dirty="0"/>
              <a:t>Papers with code</a:t>
            </a:r>
            <a:r>
              <a:rPr lang="en-US" sz="2500" dirty="0"/>
              <a:t>: </a:t>
            </a:r>
            <a:r>
              <a:rPr lang="en-US" sz="2500" dirty="0">
                <a:hlinkClick r:id="rId5"/>
              </a:rPr>
              <a:t>https://paperswithcode.com/datasets</a:t>
            </a:r>
            <a:r>
              <a:rPr lang="en-US" sz="2500" dirty="0"/>
              <a:t> (this one is great if you want to read the research that's been done on the particular dataset)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28811BC-5BA2-81C6-1EEB-C630129FE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Common Data Sources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BB28C8-C8B1-749A-DBE8-739C4ABB2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6722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366E29-B22E-1EBF-5E0B-EF56174AC16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Course objectives &amp; preferred tools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59276A-62E1-1EF8-F1F8-ED3AB523A0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1522852"/>
            <a:ext cx="10863619" cy="4454706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000" dirty="0"/>
              <a:t>Course objectives: Who, What, When, Where…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3000" dirty="0"/>
              <a:t>Exercising your </a:t>
            </a:r>
            <a:r>
              <a:rPr lang="en-US" sz="3000" b="1" dirty="0"/>
              <a:t>managerial muscles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3000" dirty="0"/>
              <a:t>Focus on the </a:t>
            </a:r>
            <a:r>
              <a:rPr lang="en-US" sz="3000" b="1" dirty="0"/>
              <a:t>story behind the data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000" dirty="0"/>
              <a:t>You are free to use whatever graphical tools you are most familiar with (this course is </a:t>
            </a:r>
            <a:r>
              <a:rPr lang="en-US" sz="3000" b="1" dirty="0"/>
              <a:t>not about the HOW</a:t>
            </a:r>
            <a:r>
              <a:rPr lang="en-US" sz="3000" dirty="0"/>
              <a:t>)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4500" dirty="0"/>
              <a:t>Special </a:t>
            </a:r>
            <a:r>
              <a:rPr lang="en-US" sz="4500" b="1" dirty="0"/>
              <a:t>Workshops</a:t>
            </a:r>
            <a:r>
              <a:rPr lang="en-US" sz="4500" dirty="0"/>
              <a:t> during TA office hours on Tuesdays.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0C1B422-2364-1405-7B93-291313965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to use Power BI, Tableau, Excel/ VBA, Python, R…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00C2FE-4EC9-E896-2E4D-812A18609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286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05C87-61BA-F90B-5419-6DA1FB343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ood human figure">
            <a:extLst>
              <a:ext uri="{FF2B5EF4-FFF2-40B4-BE49-F238E27FC236}">
                <a16:creationId xmlns:a16="http://schemas.microsoft.com/office/drawing/2014/main" id="{9E5C0A58-9486-DB4A-2C81-A2AAD36F00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CCB4B7E-CBB1-C8FC-161A-A6A6D7E8D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5051" y="822723"/>
            <a:ext cx="7712773" cy="1401419"/>
          </a:xfrm>
        </p:spPr>
        <p:txBody>
          <a:bodyPr anchor="ctr">
            <a:normAutofit/>
          </a:bodyPr>
          <a:lstStyle/>
          <a:p>
            <a:r>
              <a:rPr lang="en-US" dirty="0"/>
              <a:t>Questions?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1159085-98DE-4758-CF7F-4AE3651729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8972" y="6085510"/>
            <a:ext cx="11266714" cy="449263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CF0895E6-1D03-C96C-7398-7C40FB8E474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634663" y="6290433"/>
            <a:ext cx="110013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F994776A-187E-9540-9EA4-8D5781AB769D}" type="slidenum">
              <a:rPr lang="en-US" smtClean="0"/>
              <a:pPr>
                <a:spcAft>
                  <a:spcPts val="600"/>
                </a:spcAft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4625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98088-EFDA-5AAD-AC31-F423F3EE8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207BD3-49F5-D16E-2435-1FB6FE7186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Working Session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2A6E5C-2FCE-F184-DD66-E03C31126B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2AA654-07B3-81B7-9920-F3E935F24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2055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4E009D9-7454-2468-5C73-35E96C8CA0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A23F76A-F195-02C3-69D9-CA0551AF2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Questions?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8B4EB-38C7-FE65-59C7-61862731E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359259-0A8F-0246-81FB-9BBB9AD21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8422" y="213483"/>
            <a:ext cx="5000625" cy="607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2799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0258B-55A4-3689-6734-C1A2FCAD9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That’s a wrap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909704-0E4E-C383-CD7D-EFE8CB5EB5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4" name="Picture 3" descr="A person and dog sitting at a table&#10;&#10;Description automatically generated">
            <a:extLst>
              <a:ext uri="{FF2B5EF4-FFF2-40B4-BE49-F238E27FC236}">
                <a16:creationId xmlns:a16="http://schemas.microsoft.com/office/drawing/2014/main" id="{3BE0D9EC-9CA8-750F-0D41-2D09E426DA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4417" y="2047264"/>
            <a:ext cx="3072653" cy="4096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0612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B094D54-9501-2FA2-42DF-4EDAC168AE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At a glance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4AA7F09-0AE1-743D-1A2E-5FA533365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Course Schedule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173431-F956-F0C2-7E54-9D9D0A9C6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32</a:t>
            </a:fld>
            <a:endParaRPr lang="en-US" dirty="0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AC9D014B-7615-24AC-3697-086BB4676A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5371703"/>
              </p:ext>
            </p:extLst>
          </p:nvPr>
        </p:nvGraphicFramePr>
        <p:xfrm>
          <a:off x="1631299" y="1417538"/>
          <a:ext cx="9553432" cy="4588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56042" imgH="2860576" progId="Word.Document.12">
                  <p:embed/>
                </p:oleObj>
              </mc:Choice>
              <mc:Fallback>
                <p:oleObj name="Document" r:id="rId2" imgW="5956042" imgH="286057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31299" y="1417538"/>
                        <a:ext cx="9553432" cy="45882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047800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A6B5A-65D8-8088-9092-6438D1B28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72636-6B15-D2BC-1DB7-21D40FBEB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CC615-61D6-7494-B4EE-B39B688D59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Titanic – who will survive?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CC65F2-8EC2-3213-0CCB-279D98F1BC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EBB2DB-E4BA-F87A-E84D-EE1DD1492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7147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7B298-B558-1BF6-A635-6F0A8B239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C8FA16-5A85-001E-E753-81EB175FA7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Finding insights from the data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D9638C0-B635-F529-6B6D-A36DA7B8E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Titanic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13EEE7-2EA5-D440-1E26-8FE016D94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7173E6-E907-99DB-2885-F777E692B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86" y="1697737"/>
            <a:ext cx="5500017" cy="37915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0E39EE-02E5-2123-243A-E3283E53C79A}"/>
              </a:ext>
            </a:extLst>
          </p:cNvPr>
          <p:cNvSpPr txBox="1"/>
          <p:nvPr/>
        </p:nvSpPr>
        <p:spPr>
          <a:xfrm>
            <a:off x="6095997" y="1118713"/>
            <a:ext cx="585100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Data Understanding &amp; Preparation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Assess the quality of the data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Create a plan to address (through data engineering)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200" dirty="0"/>
              <a:t>Potentially incorrect data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200" dirty="0"/>
              <a:t>Missing data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200" dirty="0"/>
              <a:t>Collection of additional data that might be useful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2A222B-8EE6-4D8E-0EE1-1190624C4223}"/>
              </a:ext>
            </a:extLst>
          </p:cNvPr>
          <p:cNvSpPr txBox="1"/>
          <p:nvPr/>
        </p:nvSpPr>
        <p:spPr>
          <a:xfrm>
            <a:off x="6095997" y="3919480"/>
            <a:ext cx="585100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Decision-making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Given the data you have and the understanding of who is more likely to survive, what else could be done to improve the survival rate?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200" dirty="0"/>
              <a:t>Obviously, other than “adding more lifeboats”</a:t>
            </a:r>
          </a:p>
        </p:txBody>
      </p:sp>
    </p:spTree>
    <p:extLst>
      <p:ext uri="{BB962C8B-B14F-4D97-AF65-F5344CB8AC3E}">
        <p14:creationId xmlns:p14="http://schemas.microsoft.com/office/powerpoint/2010/main" val="3119931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44459-E53E-2E60-3995-DE226D61F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36121-EDF5-BE97-1E85-89A805339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Project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589164-41D6-FEA6-3836-3CD52A5926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Team set up and project brainstorming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963B4C-5183-9F03-0BE8-FFF7C0521F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820C9F-562D-2ADB-6462-19125B140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9431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5B16852-AFE5-3158-C2A3-441A3297B5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2B7036-3D5C-F2D6-DC8D-00182A3D65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087" y="1201647"/>
            <a:ext cx="11266713" cy="4454706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3600" dirty="0"/>
              <a:t>First, create a group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3600" dirty="0"/>
              <a:t>4-5 people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3600" dirty="0"/>
              <a:t>Select a cool team name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3600" dirty="0"/>
              <a:t>Enroll yourself in the group on Brightspace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600" dirty="0"/>
              <a:t>Brainstorm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3600" dirty="0"/>
              <a:t>What problems are you trying to solve?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3600" dirty="0"/>
              <a:t>What questions are you trying to answer?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3600" dirty="0"/>
              <a:t>What kind of data will you need?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5901547-41FB-3771-E955-9EB159D9D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4B6059-D399-D3E3-5D41-CC9E5227B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BEC364-6421-63F7-DC47-8233689CA218}"/>
              </a:ext>
            </a:extLst>
          </p:cNvPr>
          <p:cNvSpPr txBox="1"/>
          <p:nvPr/>
        </p:nvSpPr>
        <p:spPr>
          <a:xfrm>
            <a:off x="8257865" y="1608116"/>
            <a:ext cx="29268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FF0000"/>
                </a:solidFill>
              </a:rPr>
              <a:t>Do this by </a:t>
            </a:r>
          </a:p>
          <a:p>
            <a:pPr algn="ctr"/>
            <a:r>
              <a:rPr lang="en-US" sz="3000" b="1" dirty="0">
                <a:solidFill>
                  <a:srgbClr val="FF0000"/>
                </a:solidFill>
              </a:rPr>
              <a:t>Sept. 7</a:t>
            </a:r>
            <a:r>
              <a:rPr lang="en-US" sz="3000" b="1" baseline="30000" dirty="0">
                <a:solidFill>
                  <a:srgbClr val="FF0000"/>
                </a:solidFill>
              </a:rPr>
              <a:t>th</a:t>
            </a:r>
            <a:endParaRPr lang="en-US" sz="3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6407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GMT_lecture" id="{747DC2A2-EEE5-334E-812D-36A71899033A}" vid="{4F570285-B5C5-1346-8072-0076D2FCB5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4" ma:contentTypeDescription="Create a new document." ma:contentTypeScope="" ma:versionID="525164dac9297210c095a5bd80287f9a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47e49e78aff16fc85174c3b1ac7b7e79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1DE0D6C-581B-4814-98E7-EF172D5D46A1}">
  <ds:schemaRefs>
    <ds:schemaRef ds:uri="http://purl.org/dc/dcmitype/"/>
    <ds:schemaRef ds:uri="http://purl.org/dc/elements/1.1/"/>
    <ds:schemaRef ds:uri="http://purl.org/dc/terms/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d6656b4d-3fa0-4709-acfb-d5e813445d1e"/>
    <ds:schemaRef ds:uri="37af3f4b-4b66-46f9-8456-831d9bc3e737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27F8518-0786-4241-9955-5A8DAADF5AF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af3f4b-4b66-46f9-8456-831d9bc3e737"/>
    <ds:schemaRef ds:uri="d6656b4d-3fa0-4709-acfb-d5e813445d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MGMT_lecture_RobE</Template>
  <TotalTime>3396</TotalTime>
  <Words>1697</Words>
  <Application>Microsoft Office PowerPoint</Application>
  <PresentationFormat>Widescreen</PresentationFormat>
  <Paragraphs>239</Paragraphs>
  <Slides>36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8" baseType="lpstr">
      <vt:lpstr>Acumin Pro Condensed Semibold</vt:lpstr>
      <vt:lpstr>Wingdings</vt:lpstr>
      <vt:lpstr>Acumin Pro Medium</vt:lpstr>
      <vt:lpstr>Franklin Gothic Book</vt:lpstr>
      <vt:lpstr>Franklin Gothic Medium</vt:lpstr>
      <vt:lpstr>Arial</vt:lpstr>
      <vt:lpstr>Acumin Pro</vt:lpstr>
      <vt:lpstr>Franklin Gothic Medium Cond</vt:lpstr>
      <vt:lpstr>Acumin Pro Semibold</vt:lpstr>
      <vt:lpstr>Calibri</vt:lpstr>
      <vt:lpstr>Office Theme</vt:lpstr>
      <vt:lpstr>Document</vt:lpstr>
      <vt:lpstr>MGMT590 - Visual Analytics</vt:lpstr>
      <vt:lpstr>Today’s Agenda</vt:lpstr>
      <vt:lpstr>Special Graph “Show and tell”</vt:lpstr>
      <vt:lpstr>Week 2 Recap</vt:lpstr>
      <vt:lpstr>What did we “learn”?</vt:lpstr>
      <vt:lpstr>Design Principles for Visual Analytics</vt:lpstr>
      <vt:lpstr>Designs for the Display of Information</vt:lpstr>
      <vt:lpstr>Dr. Edward Tufte – Yale University</vt:lpstr>
      <vt:lpstr>Understanding Data Visualization Design Practice</vt:lpstr>
      <vt:lpstr>Familiarity and Frequency of Use</vt:lpstr>
      <vt:lpstr>Part 1: Key findings from the survey</vt:lpstr>
      <vt:lpstr>Part 2: Interviews with practitioners</vt:lpstr>
      <vt:lpstr>2.1 Key Findings: Design process and strategies</vt:lpstr>
      <vt:lpstr>2.2 Key Findings: Design knowledge</vt:lpstr>
      <vt:lpstr>Methods and Principles in Practice</vt:lpstr>
      <vt:lpstr>Team Project</vt:lpstr>
      <vt:lpstr>Team Project Description</vt:lpstr>
      <vt:lpstr>Team Project Description</vt:lpstr>
      <vt:lpstr>Ryan Buell’s famous “Killer Figure”</vt:lpstr>
      <vt:lpstr>Team Project Description</vt:lpstr>
      <vt:lpstr>Team Project Description</vt:lpstr>
      <vt:lpstr>Team Project Description</vt:lpstr>
      <vt:lpstr>Team Project Description</vt:lpstr>
      <vt:lpstr>Team Project Description</vt:lpstr>
      <vt:lpstr>Team Project Description</vt:lpstr>
      <vt:lpstr>Common Data Sources</vt:lpstr>
      <vt:lpstr>How to use Power BI, Tableau, Excel/ VBA, Python, R…</vt:lpstr>
      <vt:lpstr>Questions?</vt:lpstr>
      <vt:lpstr>Assignment 1</vt:lpstr>
      <vt:lpstr>Questions? </vt:lpstr>
      <vt:lpstr>That’s a wrap</vt:lpstr>
      <vt:lpstr>Course Schedule</vt:lpstr>
      <vt:lpstr>Assignment 1</vt:lpstr>
      <vt:lpstr>Titanic</vt:lpstr>
      <vt:lpstr>Team Project</vt:lpstr>
      <vt:lpstr>Team Project</vt:lpstr>
    </vt:vector>
  </TitlesOfParts>
  <Company>Purdue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Cecilia Ying</dc:creator>
  <cp:lastModifiedBy>Cecilia Ying</cp:lastModifiedBy>
  <cp:revision>149</cp:revision>
  <dcterms:created xsi:type="dcterms:W3CDTF">2025-05-19T00:14:27Z</dcterms:created>
  <dcterms:modified xsi:type="dcterms:W3CDTF">2025-09-10T15:26:06Z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0x01010054E202481DC1CB46AA011D949D311478</vt:lpwstr>
  </property>
  <property fmtid="{D5CDD505-2E9C-101B-9397-08002B2CF9AE}" pid="3" name="MediaServiceImageTags">
    <vt:lpwstr/>
  </property>
  <property fmtid="{D5CDD505-2E9C-101B-9397-08002B2CF9AE}" pid="4" name="MSIP_Label_f7606f69-b0ae-4874-be30-7d43a3c7be10_Enabled">
    <vt:lpwstr>true</vt:lpwstr>
  </property>
  <property fmtid="{D5CDD505-2E9C-101B-9397-08002B2CF9AE}" pid="5" name="MSIP_Label_f7606f69-b0ae-4874-be30-7d43a3c7be10_SetDate">
    <vt:lpwstr>2025-05-19T00:14:54Z</vt:lpwstr>
  </property>
  <property fmtid="{D5CDD505-2E9C-101B-9397-08002B2CF9AE}" pid="6" name="MSIP_Label_f7606f69-b0ae-4874-be30-7d43a3c7be10_Method">
    <vt:lpwstr>Standard</vt:lpwstr>
  </property>
  <property fmtid="{D5CDD505-2E9C-101B-9397-08002B2CF9AE}" pid="7" name="MSIP_Label_f7606f69-b0ae-4874-be30-7d43a3c7be10_Name">
    <vt:lpwstr>defa4170-0d19-0005-0001-bc88714345d2</vt:lpwstr>
  </property>
  <property fmtid="{D5CDD505-2E9C-101B-9397-08002B2CF9AE}" pid="8" name="MSIP_Label_f7606f69-b0ae-4874-be30-7d43a3c7be10_SiteId">
    <vt:lpwstr>4130bd39-7c53-419c-b1e5-8758d6d63f21</vt:lpwstr>
  </property>
  <property fmtid="{D5CDD505-2E9C-101B-9397-08002B2CF9AE}" pid="9" name="MSIP_Label_f7606f69-b0ae-4874-be30-7d43a3c7be10_ActionId">
    <vt:lpwstr>999e95f5-5fe3-43c1-9d56-8c2627af7790</vt:lpwstr>
  </property>
  <property fmtid="{D5CDD505-2E9C-101B-9397-08002B2CF9AE}" pid="10" name="MSIP_Label_f7606f69-b0ae-4874-be30-7d43a3c7be10_ContentBits">
    <vt:lpwstr>0</vt:lpwstr>
  </property>
  <property fmtid="{D5CDD505-2E9C-101B-9397-08002B2CF9AE}" pid="11" name="MSIP_Label_f7606f69-b0ae-4874-be30-7d43a3c7be10_Tag">
    <vt:lpwstr>10, 3, 0, 1</vt:lpwstr>
  </property>
</Properties>
</file>