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53"/>
  </p:notesMasterIdLst>
  <p:sldIdLst>
    <p:sldId id="267" r:id="rId5"/>
    <p:sldId id="452" r:id="rId6"/>
    <p:sldId id="406" r:id="rId7"/>
    <p:sldId id="453" r:id="rId8"/>
    <p:sldId id="487" r:id="rId9"/>
    <p:sldId id="490" r:id="rId10"/>
    <p:sldId id="300" r:id="rId11"/>
    <p:sldId id="500" r:id="rId12"/>
    <p:sldId id="505" r:id="rId13"/>
    <p:sldId id="506" r:id="rId14"/>
    <p:sldId id="507" r:id="rId15"/>
    <p:sldId id="508" r:id="rId16"/>
    <p:sldId id="482" r:id="rId17"/>
    <p:sldId id="485" r:id="rId18"/>
    <p:sldId id="501" r:id="rId19"/>
    <p:sldId id="443" r:id="rId20"/>
    <p:sldId id="519" r:id="rId21"/>
    <p:sldId id="504" r:id="rId22"/>
    <p:sldId id="502" r:id="rId23"/>
    <p:sldId id="503" r:id="rId24"/>
    <p:sldId id="521" r:id="rId25"/>
    <p:sldId id="285" r:id="rId26"/>
    <p:sldId id="520" r:id="rId27"/>
    <p:sldId id="461" r:id="rId28"/>
    <p:sldId id="280" r:id="rId29"/>
    <p:sldId id="509" r:id="rId30"/>
    <p:sldId id="510" r:id="rId31"/>
    <p:sldId id="511" r:id="rId32"/>
    <p:sldId id="512" r:id="rId33"/>
    <p:sldId id="513" r:id="rId34"/>
    <p:sldId id="515" r:id="rId35"/>
    <p:sldId id="516" r:id="rId36"/>
    <p:sldId id="517" r:id="rId37"/>
    <p:sldId id="514" r:id="rId38"/>
    <p:sldId id="329" r:id="rId39"/>
    <p:sldId id="269" r:id="rId40"/>
    <p:sldId id="304" r:id="rId41"/>
    <p:sldId id="456" r:id="rId42"/>
    <p:sldId id="468" r:id="rId43"/>
    <p:sldId id="457" r:id="rId44"/>
    <p:sldId id="470" r:id="rId45"/>
    <p:sldId id="476" r:id="rId46"/>
    <p:sldId id="472" r:id="rId47"/>
    <p:sldId id="480" r:id="rId48"/>
    <p:sldId id="481" r:id="rId49"/>
    <p:sldId id="477" r:id="rId50"/>
    <p:sldId id="471" r:id="rId51"/>
    <p:sldId id="459" r:id="rId52"/>
  </p:sldIdLst>
  <p:sldSz cx="12192000" cy="6858000"/>
  <p:notesSz cx="6858000" cy="9144000"/>
  <p:embeddedFontLst>
    <p:embeddedFont>
      <p:font typeface="Acumin Pro" panose="020B0604020202020204" charset="0"/>
      <p:regular r:id="rId54"/>
      <p:bold r:id="rId55"/>
      <p:italic r:id="rId56"/>
      <p:boldItalic r:id="rId57"/>
    </p:embeddedFont>
    <p:embeddedFont>
      <p:font typeface="Acumin Pro Condensed Semibold" panose="020B0604020202020204" charset="0"/>
      <p:regular r:id="rId58"/>
      <p:bold r:id="rId59"/>
      <p:italic r:id="rId60"/>
      <p:boldItalic r:id="rId61"/>
    </p:embeddedFont>
    <p:embeddedFont>
      <p:font typeface="Acumin Pro Medium" panose="020B0604020202020204" charset="0"/>
      <p:regular r:id="rId62"/>
      <p:italic r:id="rId63"/>
    </p:embeddedFont>
    <p:embeddedFont>
      <p:font typeface="Acumin Pro Semibold" panose="020B0604020202020204" charset="0"/>
      <p:regular r:id="rId64"/>
      <p:bold r:id="rId65"/>
      <p:italic r:id="rId66"/>
      <p:boldItalic r:id="rId67"/>
    </p:embeddedFont>
    <p:embeddedFont>
      <p:font typeface="Franklin Gothic Book" panose="020B0503020102020204" pitchFamily="34" charset="0"/>
      <p:regular r:id="rId68"/>
      <p:italic r:id="rId69"/>
    </p:embeddedFont>
    <p:embeddedFont>
      <p:font typeface="Franklin Gothic Medium" panose="020B0603020102020204" pitchFamily="34" charset="0"/>
      <p:regular r:id="rId70"/>
      <p:italic r:id="rId71"/>
    </p:embeddedFont>
    <p:embeddedFont>
      <p:font typeface="Franklin Gothic Medium Cond" panose="020B0606030402020204" pitchFamily="34" charset="0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06"/>
            <p14:sldId id="453"/>
            <p14:sldId id="487"/>
            <p14:sldId id="490"/>
            <p14:sldId id="300"/>
            <p14:sldId id="500"/>
            <p14:sldId id="505"/>
            <p14:sldId id="506"/>
            <p14:sldId id="507"/>
            <p14:sldId id="508"/>
            <p14:sldId id="482"/>
            <p14:sldId id="485"/>
            <p14:sldId id="501"/>
            <p14:sldId id="443"/>
            <p14:sldId id="519"/>
            <p14:sldId id="504"/>
            <p14:sldId id="502"/>
            <p14:sldId id="503"/>
            <p14:sldId id="521"/>
            <p14:sldId id="285"/>
            <p14:sldId id="520"/>
            <p14:sldId id="461"/>
            <p14:sldId id="280"/>
            <p14:sldId id="509"/>
            <p14:sldId id="510"/>
            <p14:sldId id="511"/>
            <p14:sldId id="512"/>
            <p14:sldId id="513"/>
            <p14:sldId id="515"/>
            <p14:sldId id="516"/>
            <p14:sldId id="517"/>
            <p14:sldId id="514"/>
            <p14:sldId id="329"/>
            <p14:sldId id="269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80808" autoAdjust="0"/>
  </p:normalViewPr>
  <p:slideViewPr>
    <p:cSldViewPr snapToGrid="0">
      <p:cViewPr varScale="1">
        <p:scale>
          <a:sx n="107" d="100"/>
          <a:sy n="107" d="100"/>
        </p:scale>
        <p:origin x="1290" y="108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77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18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E74818-7B86-40C3-918B-39FA0427F0ED}" type="doc">
      <dgm:prSet loTypeId="urn:microsoft.com/office/officeart/2005/8/layout/v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80BE74D-9337-46D9-961D-81DF22E475EB}">
      <dgm:prSet phldrT="[Text]"/>
      <dgm:spPr/>
      <dgm:t>
        <a:bodyPr/>
        <a:lstStyle/>
        <a:p>
          <a:r>
            <a:rPr lang="en-US" dirty="0"/>
            <a:t>Crafting the story</a:t>
          </a:r>
        </a:p>
      </dgm:t>
    </dgm:pt>
    <dgm:pt modelId="{09C29055-BD9D-42D1-9242-804C1BB53D3D}" type="parTrans" cxnId="{2B87E6FB-7581-46B8-8C38-62481040DCAC}">
      <dgm:prSet/>
      <dgm:spPr/>
      <dgm:t>
        <a:bodyPr/>
        <a:lstStyle/>
        <a:p>
          <a:endParaRPr lang="en-US"/>
        </a:p>
      </dgm:t>
    </dgm:pt>
    <dgm:pt modelId="{933B495A-702C-40BA-AF49-986AEE75076B}" type="sibTrans" cxnId="{2B87E6FB-7581-46B8-8C38-62481040DCAC}">
      <dgm:prSet/>
      <dgm:spPr/>
      <dgm:t>
        <a:bodyPr/>
        <a:lstStyle/>
        <a:p>
          <a:endParaRPr lang="en-US"/>
        </a:p>
      </dgm:t>
    </dgm:pt>
    <dgm:pt modelId="{47CB30B5-8981-422D-B928-23F90C7715A8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architecture</a:t>
          </a:r>
          <a:r>
            <a:rPr lang="en-US" dirty="0"/>
            <a:t> and </a:t>
          </a:r>
          <a:r>
            <a:rPr lang="en-US" b="1" dirty="0"/>
            <a:t>blueprint</a:t>
          </a:r>
        </a:p>
      </dgm:t>
    </dgm:pt>
    <dgm:pt modelId="{D4C36D94-FEE0-4E63-AB07-D25F415EAB9A}" type="parTrans" cxnId="{7EA46E1D-3B6A-464C-B4BE-66FACA2FA271}">
      <dgm:prSet/>
      <dgm:spPr/>
      <dgm:t>
        <a:bodyPr/>
        <a:lstStyle/>
        <a:p>
          <a:endParaRPr lang="en-US"/>
        </a:p>
      </dgm:t>
    </dgm:pt>
    <dgm:pt modelId="{A95DE522-7E0C-4E2E-881B-9927D1CEC5F1}" type="sibTrans" cxnId="{7EA46E1D-3B6A-464C-B4BE-66FACA2FA271}">
      <dgm:prSet/>
      <dgm:spPr/>
      <dgm:t>
        <a:bodyPr/>
        <a:lstStyle/>
        <a:p>
          <a:endParaRPr lang="en-US"/>
        </a:p>
      </dgm:t>
    </dgm:pt>
    <dgm:pt modelId="{644093D7-6EF8-4F4E-991A-24F66337C027}">
      <dgm:prSet phldrT="[Text]"/>
      <dgm:spPr/>
      <dgm:t>
        <a:bodyPr anchor="ctr"/>
        <a:lstStyle/>
        <a:p>
          <a:r>
            <a:rPr lang="en-US"/>
            <a:t>Creating a </a:t>
          </a:r>
          <a:r>
            <a:rPr lang="en-US" b="1"/>
            <a:t>functional structure </a:t>
          </a:r>
          <a:r>
            <a:rPr lang="en-US"/>
            <a:t>that meets the audience's needs.</a:t>
          </a:r>
          <a:endParaRPr lang="en-US" dirty="0"/>
        </a:p>
      </dgm:t>
    </dgm:pt>
    <dgm:pt modelId="{D8328183-C0DB-441E-A1B4-44CAE7297D5A}" type="parTrans" cxnId="{9BAADEE5-EE84-42FB-B63D-3CE7B704DAAF}">
      <dgm:prSet/>
      <dgm:spPr/>
      <dgm:t>
        <a:bodyPr/>
        <a:lstStyle/>
        <a:p>
          <a:endParaRPr lang="en-US"/>
        </a:p>
      </dgm:t>
    </dgm:pt>
    <dgm:pt modelId="{83FAAECF-8ADF-4104-86F5-8AE2374C8863}" type="sibTrans" cxnId="{9BAADEE5-EE84-42FB-B63D-3CE7B704DAAF}">
      <dgm:prSet/>
      <dgm:spPr/>
      <dgm:t>
        <a:bodyPr/>
        <a:lstStyle/>
        <a:p>
          <a:endParaRPr lang="en-US"/>
        </a:p>
      </dgm:t>
    </dgm:pt>
    <dgm:pt modelId="{BC2FF1AC-11C4-49BD-B619-980DC2E8FC5C}">
      <dgm:prSet phldrT="[Text]"/>
      <dgm:spPr/>
      <dgm:t>
        <a:bodyPr/>
        <a:lstStyle/>
        <a:p>
          <a:r>
            <a:rPr lang="en-US" dirty="0"/>
            <a:t>Articulating the story</a:t>
          </a:r>
        </a:p>
      </dgm:t>
    </dgm:pt>
    <dgm:pt modelId="{C1D2125E-7C48-4313-9C70-499449905A4D}" type="parTrans" cxnId="{AC039D6A-3D55-4C06-8D7B-241A7F9624D2}">
      <dgm:prSet/>
      <dgm:spPr/>
      <dgm:t>
        <a:bodyPr/>
        <a:lstStyle/>
        <a:p>
          <a:endParaRPr lang="en-US"/>
        </a:p>
      </dgm:t>
    </dgm:pt>
    <dgm:pt modelId="{A18087B2-2D69-47DC-AF93-7CB2BCE47C87}" type="sibTrans" cxnId="{AC039D6A-3D55-4C06-8D7B-241A7F9624D2}">
      <dgm:prSet/>
      <dgm:spPr/>
      <dgm:t>
        <a:bodyPr/>
        <a:lstStyle/>
        <a:p>
          <a:endParaRPr lang="en-US"/>
        </a:p>
      </dgm:t>
    </dgm:pt>
    <dgm:pt modelId="{6DD41799-CF36-4DAB-82C6-950FE327F25A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construction</a:t>
          </a:r>
          <a:r>
            <a:rPr lang="en-US" dirty="0"/>
            <a:t> and </a:t>
          </a:r>
          <a:r>
            <a:rPr lang="en-US" b="1" dirty="0"/>
            <a:t>interior design</a:t>
          </a:r>
        </a:p>
      </dgm:t>
    </dgm:pt>
    <dgm:pt modelId="{B112072C-8EB4-4516-A20E-606963975DA3}" type="parTrans" cxnId="{6423C70C-71CB-43B0-9865-4B5F465F1A6A}">
      <dgm:prSet/>
      <dgm:spPr/>
      <dgm:t>
        <a:bodyPr/>
        <a:lstStyle/>
        <a:p>
          <a:endParaRPr lang="en-US"/>
        </a:p>
      </dgm:t>
    </dgm:pt>
    <dgm:pt modelId="{E84BBDF3-D67F-4159-A6F6-EDB1D74D3009}" type="sibTrans" cxnId="{6423C70C-71CB-43B0-9865-4B5F465F1A6A}">
      <dgm:prSet/>
      <dgm:spPr/>
      <dgm:t>
        <a:bodyPr/>
        <a:lstStyle/>
        <a:p>
          <a:endParaRPr lang="en-US"/>
        </a:p>
      </dgm:t>
    </dgm:pt>
    <dgm:pt modelId="{5DF80EBD-FC42-40D3-82C0-23316F9F622F}">
      <dgm:prSet phldrT="[Text]"/>
      <dgm:spPr/>
      <dgm:t>
        <a:bodyPr anchor="ctr"/>
        <a:lstStyle/>
        <a:p>
          <a:r>
            <a:rPr lang="en-US"/>
            <a:t>Using the </a:t>
          </a:r>
          <a:r>
            <a:rPr lang="en-US" b="1"/>
            <a:t>right materials (visuals), a tidy look (decluttering), and clear signs (language) </a:t>
          </a:r>
          <a:r>
            <a:rPr lang="en-US"/>
            <a:t>will make the house comfortable and easy to navigate.</a:t>
          </a:r>
          <a:endParaRPr lang="en-US" dirty="0"/>
        </a:p>
      </dgm:t>
    </dgm:pt>
    <dgm:pt modelId="{2EFB2174-CC94-4A08-87E7-24E525CD06E3}" type="parTrans" cxnId="{FBD1DB65-0D63-4219-9458-4C9284B338C6}">
      <dgm:prSet/>
      <dgm:spPr/>
      <dgm:t>
        <a:bodyPr/>
        <a:lstStyle/>
        <a:p>
          <a:endParaRPr lang="en-US"/>
        </a:p>
      </dgm:t>
    </dgm:pt>
    <dgm:pt modelId="{5C07ECD5-5FA7-4E1E-A45C-70EB6DED9ACD}" type="sibTrans" cxnId="{FBD1DB65-0D63-4219-9458-4C9284B338C6}">
      <dgm:prSet/>
      <dgm:spPr/>
      <dgm:t>
        <a:bodyPr/>
        <a:lstStyle/>
        <a:p>
          <a:endParaRPr lang="en-US"/>
        </a:p>
      </dgm:t>
    </dgm:pt>
    <dgm:pt modelId="{D3735B41-3903-4CD1-8BEB-2EE9FF156E91}" type="pres">
      <dgm:prSet presAssocID="{58E74818-7B86-40C3-918B-39FA0427F0ED}" presName="Name0" presStyleCnt="0">
        <dgm:presLayoutVars>
          <dgm:dir/>
          <dgm:animLvl val="lvl"/>
          <dgm:resizeHandles/>
        </dgm:presLayoutVars>
      </dgm:prSet>
      <dgm:spPr/>
    </dgm:pt>
    <dgm:pt modelId="{21D9F0FA-BB7F-42B9-866F-0A8A5076ACF9}" type="pres">
      <dgm:prSet presAssocID="{580BE74D-9337-46D9-961D-81DF22E475EB}" presName="linNode" presStyleCnt="0"/>
      <dgm:spPr/>
    </dgm:pt>
    <dgm:pt modelId="{3F0A9160-A7DB-41B6-A71F-C516E4234F82}" type="pres">
      <dgm:prSet presAssocID="{580BE74D-9337-46D9-961D-81DF22E475EB}" presName="parentShp" presStyleLbl="node1" presStyleIdx="0" presStyleCnt="2" custScaleX="107084">
        <dgm:presLayoutVars>
          <dgm:bulletEnabled val="1"/>
        </dgm:presLayoutVars>
      </dgm:prSet>
      <dgm:spPr/>
    </dgm:pt>
    <dgm:pt modelId="{7954BFB6-15D9-4E68-A381-30FE437DD4BA}" type="pres">
      <dgm:prSet presAssocID="{580BE74D-9337-46D9-961D-81DF22E475EB}" presName="childShp" presStyleLbl="bgAccFollowNode1" presStyleIdx="0" presStyleCnt="2" custScaleX="234995">
        <dgm:presLayoutVars>
          <dgm:bulletEnabled val="1"/>
        </dgm:presLayoutVars>
      </dgm:prSet>
      <dgm:spPr/>
    </dgm:pt>
    <dgm:pt modelId="{2CF65132-D7C5-43B7-B7CF-3D79615D839C}" type="pres">
      <dgm:prSet presAssocID="{933B495A-702C-40BA-AF49-986AEE75076B}" presName="spacing" presStyleCnt="0"/>
      <dgm:spPr/>
    </dgm:pt>
    <dgm:pt modelId="{942202CF-5616-49E0-8009-0FF311BF26E2}" type="pres">
      <dgm:prSet presAssocID="{BC2FF1AC-11C4-49BD-B619-980DC2E8FC5C}" presName="linNode" presStyleCnt="0"/>
      <dgm:spPr/>
    </dgm:pt>
    <dgm:pt modelId="{971EC7AE-54F5-4EBF-A88E-71160CD38BDA}" type="pres">
      <dgm:prSet presAssocID="{BC2FF1AC-11C4-49BD-B619-980DC2E8FC5C}" presName="parentShp" presStyleLbl="node1" presStyleIdx="1" presStyleCnt="2" custScaleX="107084">
        <dgm:presLayoutVars>
          <dgm:bulletEnabled val="1"/>
        </dgm:presLayoutVars>
      </dgm:prSet>
      <dgm:spPr/>
    </dgm:pt>
    <dgm:pt modelId="{74927018-039A-4E59-BE7F-E5E233691328}" type="pres">
      <dgm:prSet presAssocID="{BC2FF1AC-11C4-49BD-B619-980DC2E8FC5C}" presName="childShp" presStyleLbl="bgAccFollowNode1" presStyleIdx="1" presStyleCnt="2" custScaleX="234995">
        <dgm:presLayoutVars>
          <dgm:bulletEnabled val="1"/>
        </dgm:presLayoutVars>
      </dgm:prSet>
      <dgm:spPr/>
    </dgm:pt>
  </dgm:ptLst>
  <dgm:cxnLst>
    <dgm:cxn modelId="{6423C70C-71CB-43B0-9865-4B5F465F1A6A}" srcId="{BC2FF1AC-11C4-49BD-B619-980DC2E8FC5C}" destId="{6DD41799-CF36-4DAB-82C6-950FE327F25A}" srcOrd="0" destOrd="0" parTransId="{B112072C-8EB4-4516-A20E-606963975DA3}" sibTransId="{E84BBDF3-D67F-4159-A6F6-EDB1D74D3009}"/>
    <dgm:cxn modelId="{C1077519-B6F4-4968-A75F-E2C24DF410B5}" type="presOf" srcId="{580BE74D-9337-46D9-961D-81DF22E475EB}" destId="{3F0A9160-A7DB-41B6-A71F-C516E4234F82}" srcOrd="0" destOrd="0" presId="urn:microsoft.com/office/officeart/2005/8/layout/vList6"/>
    <dgm:cxn modelId="{7EA46E1D-3B6A-464C-B4BE-66FACA2FA271}" srcId="{580BE74D-9337-46D9-961D-81DF22E475EB}" destId="{47CB30B5-8981-422D-B928-23F90C7715A8}" srcOrd="0" destOrd="0" parTransId="{D4C36D94-FEE0-4E63-AB07-D25F415EAB9A}" sibTransId="{A95DE522-7E0C-4E2E-881B-9927D1CEC5F1}"/>
    <dgm:cxn modelId="{D483AD3E-D93E-46F9-825F-638B1F757EFB}" type="presOf" srcId="{47CB30B5-8981-422D-B928-23F90C7715A8}" destId="{7954BFB6-15D9-4E68-A381-30FE437DD4BA}" srcOrd="0" destOrd="0" presId="urn:microsoft.com/office/officeart/2005/8/layout/vList6"/>
    <dgm:cxn modelId="{FBD1DB65-0D63-4219-9458-4C9284B338C6}" srcId="{BC2FF1AC-11C4-49BD-B619-980DC2E8FC5C}" destId="{5DF80EBD-FC42-40D3-82C0-23316F9F622F}" srcOrd="1" destOrd="0" parTransId="{2EFB2174-CC94-4A08-87E7-24E525CD06E3}" sibTransId="{5C07ECD5-5FA7-4E1E-A45C-70EB6DED9ACD}"/>
    <dgm:cxn modelId="{7E6E0866-9A61-4E82-B362-D4CC02EB56C1}" type="presOf" srcId="{644093D7-6EF8-4F4E-991A-24F66337C027}" destId="{7954BFB6-15D9-4E68-A381-30FE437DD4BA}" srcOrd="0" destOrd="1" presId="urn:microsoft.com/office/officeart/2005/8/layout/vList6"/>
    <dgm:cxn modelId="{CFA59047-9F48-4541-B651-732B40108AC0}" type="presOf" srcId="{6DD41799-CF36-4DAB-82C6-950FE327F25A}" destId="{74927018-039A-4E59-BE7F-E5E233691328}" srcOrd="0" destOrd="0" presId="urn:microsoft.com/office/officeart/2005/8/layout/vList6"/>
    <dgm:cxn modelId="{AC039D6A-3D55-4C06-8D7B-241A7F9624D2}" srcId="{58E74818-7B86-40C3-918B-39FA0427F0ED}" destId="{BC2FF1AC-11C4-49BD-B619-980DC2E8FC5C}" srcOrd="1" destOrd="0" parTransId="{C1D2125E-7C48-4313-9C70-499449905A4D}" sibTransId="{A18087B2-2D69-47DC-AF93-7CB2BCE47C87}"/>
    <dgm:cxn modelId="{9DFA7380-C01C-416A-A101-18E24C9DF68D}" type="presOf" srcId="{58E74818-7B86-40C3-918B-39FA0427F0ED}" destId="{D3735B41-3903-4CD1-8BEB-2EE9FF156E91}" srcOrd="0" destOrd="0" presId="urn:microsoft.com/office/officeart/2005/8/layout/vList6"/>
    <dgm:cxn modelId="{9BAADEE5-EE84-42FB-B63D-3CE7B704DAAF}" srcId="{580BE74D-9337-46D9-961D-81DF22E475EB}" destId="{644093D7-6EF8-4F4E-991A-24F66337C027}" srcOrd="1" destOrd="0" parTransId="{D8328183-C0DB-441E-A1B4-44CAE7297D5A}" sibTransId="{83FAAECF-8ADF-4104-86F5-8AE2374C8863}"/>
    <dgm:cxn modelId="{51D9C7E6-2FB2-4F19-9761-4B1575F98878}" type="presOf" srcId="{BC2FF1AC-11C4-49BD-B619-980DC2E8FC5C}" destId="{971EC7AE-54F5-4EBF-A88E-71160CD38BDA}" srcOrd="0" destOrd="0" presId="urn:microsoft.com/office/officeart/2005/8/layout/vList6"/>
    <dgm:cxn modelId="{8B5352F5-DDF3-4C74-BEAE-B8B019C4D5D9}" type="presOf" srcId="{5DF80EBD-FC42-40D3-82C0-23316F9F622F}" destId="{74927018-039A-4E59-BE7F-E5E233691328}" srcOrd="0" destOrd="1" presId="urn:microsoft.com/office/officeart/2005/8/layout/vList6"/>
    <dgm:cxn modelId="{2B87E6FB-7581-46B8-8C38-62481040DCAC}" srcId="{58E74818-7B86-40C3-918B-39FA0427F0ED}" destId="{580BE74D-9337-46D9-961D-81DF22E475EB}" srcOrd="0" destOrd="0" parTransId="{09C29055-BD9D-42D1-9242-804C1BB53D3D}" sibTransId="{933B495A-702C-40BA-AF49-986AEE75076B}"/>
    <dgm:cxn modelId="{C4D4FB14-838B-40D9-9366-B429884EC31A}" type="presParOf" srcId="{D3735B41-3903-4CD1-8BEB-2EE9FF156E91}" destId="{21D9F0FA-BB7F-42B9-866F-0A8A5076ACF9}" srcOrd="0" destOrd="0" presId="urn:microsoft.com/office/officeart/2005/8/layout/vList6"/>
    <dgm:cxn modelId="{F3128F28-1CA4-4CE4-BA65-6A3688AC3C67}" type="presParOf" srcId="{21D9F0FA-BB7F-42B9-866F-0A8A5076ACF9}" destId="{3F0A9160-A7DB-41B6-A71F-C516E4234F82}" srcOrd="0" destOrd="0" presId="urn:microsoft.com/office/officeart/2005/8/layout/vList6"/>
    <dgm:cxn modelId="{0DFDEBBE-5F88-4D5C-9A87-416F0A5B8D23}" type="presParOf" srcId="{21D9F0FA-BB7F-42B9-866F-0A8A5076ACF9}" destId="{7954BFB6-15D9-4E68-A381-30FE437DD4BA}" srcOrd="1" destOrd="0" presId="urn:microsoft.com/office/officeart/2005/8/layout/vList6"/>
    <dgm:cxn modelId="{F73E28CC-CB33-46E2-8113-72322EFEF5EB}" type="presParOf" srcId="{D3735B41-3903-4CD1-8BEB-2EE9FF156E91}" destId="{2CF65132-D7C5-43B7-B7CF-3D79615D839C}" srcOrd="1" destOrd="0" presId="urn:microsoft.com/office/officeart/2005/8/layout/vList6"/>
    <dgm:cxn modelId="{1D76A1EA-7131-46C7-A2EC-B60E23CD13A6}" type="presParOf" srcId="{D3735B41-3903-4CD1-8BEB-2EE9FF156E91}" destId="{942202CF-5616-49E0-8009-0FF311BF26E2}" srcOrd="2" destOrd="0" presId="urn:microsoft.com/office/officeart/2005/8/layout/vList6"/>
    <dgm:cxn modelId="{ECD61B8A-4C2A-40FF-A826-93BE2D5B3062}" type="presParOf" srcId="{942202CF-5616-49E0-8009-0FF311BF26E2}" destId="{971EC7AE-54F5-4EBF-A88E-71160CD38BDA}" srcOrd="0" destOrd="0" presId="urn:microsoft.com/office/officeart/2005/8/layout/vList6"/>
    <dgm:cxn modelId="{D20A9AD7-D224-4496-BD78-48B0F7A0154B}" type="presParOf" srcId="{942202CF-5616-49E0-8009-0FF311BF26E2}" destId="{74927018-039A-4E59-BE7F-E5E23369132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Audience &amp; Context (The Foundation)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The “Big Idea” (The Core Message)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The Narrative Arc (The Structure)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Conflict &amp; Stakes (The Hook)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180E6-4861-4CC2-BCE7-28231EB0E5C0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9CCA09A6-BEC4-434B-A0B1-9EF3F8490CBD}">
      <dgm:prSet phldrT="[Text]"/>
      <dgm:spPr/>
      <dgm:t>
        <a:bodyPr/>
        <a:lstStyle/>
        <a:p>
          <a:r>
            <a:rPr lang="en-US" dirty="0"/>
            <a:t>The Hook</a:t>
          </a:r>
        </a:p>
      </dgm:t>
    </dgm:pt>
    <dgm:pt modelId="{A62A5EAB-C9A8-432F-86AC-C9329819008C}" type="parTrans" cxnId="{9DAF9595-846B-488A-ADA0-89156ED10011}">
      <dgm:prSet/>
      <dgm:spPr/>
      <dgm:t>
        <a:bodyPr/>
        <a:lstStyle/>
        <a:p>
          <a:endParaRPr lang="en-US"/>
        </a:p>
      </dgm:t>
    </dgm:pt>
    <dgm:pt modelId="{3D50A366-7C0C-4E27-91E3-EB2F6873CC9B}" type="sibTrans" cxnId="{9DAF9595-846B-488A-ADA0-89156ED10011}">
      <dgm:prSet/>
      <dgm:spPr/>
      <dgm:t>
        <a:bodyPr/>
        <a:lstStyle/>
        <a:p>
          <a:endParaRPr lang="en-US"/>
        </a:p>
      </dgm:t>
    </dgm:pt>
    <dgm:pt modelId="{79234D55-087D-4592-BCB2-28972CB6D178}">
      <dgm:prSet phldrT="[Text]"/>
      <dgm:spPr/>
      <dgm:t>
        <a:bodyPr/>
        <a:lstStyle/>
        <a:p>
          <a:r>
            <a:rPr lang="en-US" dirty="0"/>
            <a:t>The Conflict</a:t>
          </a:r>
        </a:p>
      </dgm:t>
    </dgm:pt>
    <dgm:pt modelId="{85E5A876-00EF-439C-9A18-E1B50BB7F201}" type="parTrans" cxnId="{903780ED-EF2B-4233-966B-0203C302D312}">
      <dgm:prSet/>
      <dgm:spPr/>
      <dgm:t>
        <a:bodyPr/>
        <a:lstStyle/>
        <a:p>
          <a:endParaRPr lang="en-US"/>
        </a:p>
      </dgm:t>
    </dgm:pt>
    <dgm:pt modelId="{83A40EA6-BEC6-4A96-A9FD-003594CE5CF3}" type="sibTrans" cxnId="{903780ED-EF2B-4233-966B-0203C302D312}">
      <dgm:prSet/>
      <dgm:spPr/>
      <dgm:t>
        <a:bodyPr/>
        <a:lstStyle/>
        <a:p>
          <a:endParaRPr lang="en-US"/>
        </a:p>
      </dgm:t>
    </dgm:pt>
    <dgm:pt modelId="{206D5D98-957B-4DAC-AC5E-0092D5710531}">
      <dgm:prSet phldrT="[Text]"/>
      <dgm:spPr/>
      <dgm:t>
        <a:bodyPr/>
        <a:lstStyle/>
        <a:p>
          <a:r>
            <a:rPr lang="en-US"/>
            <a:t>The Resolution</a:t>
          </a:r>
          <a:endParaRPr lang="en-US" dirty="0"/>
        </a:p>
      </dgm:t>
    </dgm:pt>
    <dgm:pt modelId="{18495B6B-CE51-4CD4-A05E-871D9C648535}" type="parTrans" cxnId="{5FE223FC-F6E2-4886-A8DD-6C153FBECFDC}">
      <dgm:prSet/>
      <dgm:spPr/>
      <dgm:t>
        <a:bodyPr/>
        <a:lstStyle/>
        <a:p>
          <a:endParaRPr lang="en-US"/>
        </a:p>
      </dgm:t>
    </dgm:pt>
    <dgm:pt modelId="{6AEC3300-62DF-4058-B818-8B457B35C64D}" type="sibTrans" cxnId="{5FE223FC-F6E2-4886-A8DD-6C153FBECFDC}">
      <dgm:prSet/>
      <dgm:spPr/>
      <dgm:t>
        <a:bodyPr/>
        <a:lstStyle/>
        <a:p>
          <a:endParaRPr lang="en-US"/>
        </a:p>
      </dgm:t>
    </dgm:pt>
    <dgm:pt modelId="{1E0F4D56-9A37-487A-9D26-F1983FD8C82B}" type="pres">
      <dgm:prSet presAssocID="{01A180E6-4861-4CC2-BCE7-28231EB0E5C0}" presName="arrowDiagram" presStyleCnt="0">
        <dgm:presLayoutVars>
          <dgm:chMax val="5"/>
          <dgm:dir/>
          <dgm:resizeHandles val="exact"/>
        </dgm:presLayoutVars>
      </dgm:prSet>
      <dgm:spPr/>
    </dgm:pt>
    <dgm:pt modelId="{49289D79-93E8-4E0B-A990-5D6F789EDBA3}" type="pres">
      <dgm:prSet presAssocID="{01A180E6-4861-4CC2-BCE7-28231EB0E5C0}" presName="arrow" presStyleLbl="bgShp" presStyleIdx="0" presStyleCnt="1"/>
      <dgm:spPr/>
    </dgm:pt>
    <dgm:pt modelId="{5CCF1292-0DDA-420B-911D-566C73916F0C}" type="pres">
      <dgm:prSet presAssocID="{01A180E6-4861-4CC2-BCE7-28231EB0E5C0}" presName="arrowDiagram3" presStyleCnt="0"/>
      <dgm:spPr/>
    </dgm:pt>
    <dgm:pt modelId="{9EE6B5B2-D746-4A75-85B0-101FEC28412A}" type="pres">
      <dgm:prSet presAssocID="{9CCA09A6-BEC4-434B-A0B1-9EF3F8490CBD}" presName="bullet3a" presStyleLbl="node1" presStyleIdx="0" presStyleCnt="3"/>
      <dgm:spPr/>
    </dgm:pt>
    <dgm:pt modelId="{220022E8-B1CE-4CD7-AC61-DC5E0B78B88A}" type="pres">
      <dgm:prSet presAssocID="{9CCA09A6-BEC4-434B-A0B1-9EF3F8490CBD}" presName="textBox3a" presStyleLbl="revTx" presStyleIdx="0" presStyleCnt="3">
        <dgm:presLayoutVars>
          <dgm:bulletEnabled val="1"/>
        </dgm:presLayoutVars>
      </dgm:prSet>
      <dgm:spPr/>
    </dgm:pt>
    <dgm:pt modelId="{F01767D6-FF32-4531-ADB4-25B5701759EE}" type="pres">
      <dgm:prSet presAssocID="{79234D55-087D-4592-BCB2-28972CB6D178}" presName="bullet3b" presStyleLbl="node1" presStyleIdx="1" presStyleCnt="3"/>
      <dgm:spPr/>
    </dgm:pt>
    <dgm:pt modelId="{7692B36B-4542-4868-8407-C03327613781}" type="pres">
      <dgm:prSet presAssocID="{79234D55-087D-4592-BCB2-28972CB6D178}" presName="textBox3b" presStyleLbl="revTx" presStyleIdx="1" presStyleCnt="3">
        <dgm:presLayoutVars>
          <dgm:bulletEnabled val="1"/>
        </dgm:presLayoutVars>
      </dgm:prSet>
      <dgm:spPr/>
    </dgm:pt>
    <dgm:pt modelId="{F8DCC823-649C-4F61-9338-6C0F68782BAB}" type="pres">
      <dgm:prSet presAssocID="{206D5D98-957B-4DAC-AC5E-0092D5710531}" presName="bullet3c" presStyleLbl="node1" presStyleIdx="2" presStyleCnt="3"/>
      <dgm:spPr/>
    </dgm:pt>
    <dgm:pt modelId="{44B0DA15-0411-449F-9470-631FC7E8BD13}" type="pres">
      <dgm:prSet presAssocID="{206D5D98-957B-4DAC-AC5E-0092D5710531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942B6444-5876-4234-8FA3-A4DB53ED86A3}" type="presOf" srcId="{79234D55-087D-4592-BCB2-28972CB6D178}" destId="{7692B36B-4542-4868-8407-C03327613781}" srcOrd="0" destOrd="0" presId="urn:microsoft.com/office/officeart/2005/8/layout/arrow2"/>
    <dgm:cxn modelId="{0684CF50-AF67-4120-B51C-93B07515CA69}" type="presOf" srcId="{9CCA09A6-BEC4-434B-A0B1-9EF3F8490CBD}" destId="{220022E8-B1CE-4CD7-AC61-DC5E0B78B88A}" srcOrd="0" destOrd="0" presId="urn:microsoft.com/office/officeart/2005/8/layout/arrow2"/>
    <dgm:cxn modelId="{9DAF9595-846B-488A-ADA0-89156ED10011}" srcId="{01A180E6-4861-4CC2-BCE7-28231EB0E5C0}" destId="{9CCA09A6-BEC4-434B-A0B1-9EF3F8490CBD}" srcOrd="0" destOrd="0" parTransId="{A62A5EAB-C9A8-432F-86AC-C9329819008C}" sibTransId="{3D50A366-7C0C-4E27-91E3-EB2F6873CC9B}"/>
    <dgm:cxn modelId="{DF4EA1AC-0624-4055-8317-5B4E4A26CF56}" type="presOf" srcId="{206D5D98-957B-4DAC-AC5E-0092D5710531}" destId="{44B0DA15-0411-449F-9470-631FC7E8BD13}" srcOrd="0" destOrd="0" presId="urn:microsoft.com/office/officeart/2005/8/layout/arrow2"/>
    <dgm:cxn modelId="{903780ED-EF2B-4233-966B-0203C302D312}" srcId="{01A180E6-4861-4CC2-BCE7-28231EB0E5C0}" destId="{79234D55-087D-4592-BCB2-28972CB6D178}" srcOrd="1" destOrd="0" parTransId="{85E5A876-00EF-439C-9A18-E1B50BB7F201}" sibTransId="{83A40EA6-BEC6-4A96-A9FD-003594CE5CF3}"/>
    <dgm:cxn modelId="{5FE223FC-F6E2-4886-A8DD-6C153FBECFDC}" srcId="{01A180E6-4861-4CC2-BCE7-28231EB0E5C0}" destId="{206D5D98-957B-4DAC-AC5E-0092D5710531}" srcOrd="2" destOrd="0" parTransId="{18495B6B-CE51-4CD4-A05E-871D9C648535}" sibTransId="{6AEC3300-62DF-4058-B818-8B457B35C64D}"/>
    <dgm:cxn modelId="{332825FD-F269-4A32-8148-2380771D787D}" type="presOf" srcId="{01A180E6-4861-4CC2-BCE7-28231EB0E5C0}" destId="{1E0F4D56-9A37-487A-9D26-F1983FD8C82B}" srcOrd="0" destOrd="0" presId="urn:microsoft.com/office/officeart/2005/8/layout/arrow2"/>
    <dgm:cxn modelId="{44F71F5F-2DFA-4835-A763-3536EA339B7D}" type="presParOf" srcId="{1E0F4D56-9A37-487A-9D26-F1983FD8C82B}" destId="{49289D79-93E8-4E0B-A990-5D6F789EDBA3}" srcOrd="0" destOrd="0" presId="urn:microsoft.com/office/officeart/2005/8/layout/arrow2"/>
    <dgm:cxn modelId="{0CAC5C83-C907-4205-B0DA-C6A616DE1417}" type="presParOf" srcId="{1E0F4D56-9A37-487A-9D26-F1983FD8C82B}" destId="{5CCF1292-0DDA-420B-911D-566C73916F0C}" srcOrd="1" destOrd="0" presId="urn:microsoft.com/office/officeart/2005/8/layout/arrow2"/>
    <dgm:cxn modelId="{404FCAA1-9DA9-4ECA-A886-2E94EECF277D}" type="presParOf" srcId="{5CCF1292-0DDA-420B-911D-566C73916F0C}" destId="{9EE6B5B2-D746-4A75-85B0-101FEC28412A}" srcOrd="0" destOrd="0" presId="urn:microsoft.com/office/officeart/2005/8/layout/arrow2"/>
    <dgm:cxn modelId="{5A47DD94-1238-46EB-8C75-CC0B24F93A3B}" type="presParOf" srcId="{5CCF1292-0DDA-420B-911D-566C73916F0C}" destId="{220022E8-B1CE-4CD7-AC61-DC5E0B78B88A}" srcOrd="1" destOrd="0" presId="urn:microsoft.com/office/officeart/2005/8/layout/arrow2"/>
    <dgm:cxn modelId="{E2BEFBE1-7A97-430D-9D2D-C7BCB237D1D2}" type="presParOf" srcId="{5CCF1292-0DDA-420B-911D-566C73916F0C}" destId="{F01767D6-FF32-4531-ADB4-25B5701759EE}" srcOrd="2" destOrd="0" presId="urn:microsoft.com/office/officeart/2005/8/layout/arrow2"/>
    <dgm:cxn modelId="{625E398A-B3F3-410C-B02C-3A8CE4D8D731}" type="presParOf" srcId="{5CCF1292-0DDA-420B-911D-566C73916F0C}" destId="{7692B36B-4542-4868-8407-C03327613781}" srcOrd="3" destOrd="0" presId="urn:microsoft.com/office/officeart/2005/8/layout/arrow2"/>
    <dgm:cxn modelId="{F31E70D7-F1A5-48D1-AFD0-372020B94FFC}" type="presParOf" srcId="{5CCF1292-0DDA-420B-911D-566C73916F0C}" destId="{F8DCC823-649C-4F61-9338-6C0F68782BAB}" srcOrd="4" destOrd="0" presId="urn:microsoft.com/office/officeart/2005/8/layout/arrow2"/>
    <dgm:cxn modelId="{CDD8273E-F073-4992-B54E-A6BC7F4296F8}" type="presParOf" srcId="{5CCF1292-0DDA-420B-911D-566C73916F0C}" destId="{44B0DA15-0411-449F-9470-631FC7E8BD1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Choosing the Right Visuals (The Vehicle)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Focusing Attention (The Spotlight)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Clear and Concise (The Script)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The Narrative Flow (The Guideposts)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25C6EA-0CDD-46D9-9AF7-1B8194236E6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C134E70-9ADE-40AE-AEC6-77EFD7DBF017}">
      <dgm:prSet phldrT="[Text]"/>
      <dgm:spPr/>
      <dgm:t>
        <a:bodyPr/>
        <a:lstStyle/>
        <a:p>
          <a:r>
            <a:rPr lang="en-US" dirty="0"/>
            <a:t>Relational</a:t>
          </a:r>
        </a:p>
      </dgm:t>
    </dgm:pt>
    <dgm:pt modelId="{2E490F50-71D6-4F10-849F-2527A05B7EBB}" type="parTrans" cxnId="{F6B9FFA7-052E-45DA-8BDC-6CD305C3801D}">
      <dgm:prSet/>
      <dgm:spPr/>
      <dgm:t>
        <a:bodyPr/>
        <a:lstStyle/>
        <a:p>
          <a:endParaRPr lang="en-US"/>
        </a:p>
      </dgm:t>
    </dgm:pt>
    <dgm:pt modelId="{F7363698-68DB-49B4-B51B-A52870DAAD82}" type="sibTrans" cxnId="{F6B9FFA7-052E-45DA-8BDC-6CD305C3801D}">
      <dgm:prSet/>
      <dgm:spPr/>
      <dgm:t>
        <a:bodyPr/>
        <a:lstStyle/>
        <a:p>
          <a:endParaRPr lang="en-US"/>
        </a:p>
      </dgm:t>
    </dgm:pt>
    <dgm:pt modelId="{C31A3C93-1F5C-48A2-88EC-C50E5958DF17}">
      <dgm:prSet phldrT="[Text]"/>
      <dgm:spPr/>
      <dgm:t>
        <a:bodyPr/>
        <a:lstStyle/>
        <a:p>
          <a:r>
            <a:rPr lang="en-US" dirty="0"/>
            <a:t>Scatter plots, heatmaps, network diagrams</a:t>
          </a:r>
        </a:p>
      </dgm:t>
    </dgm:pt>
    <dgm:pt modelId="{98D0A8D8-CD2B-4886-96AD-4BD9A471EB53}" type="parTrans" cxnId="{A8BE913E-D3FB-40BE-9D48-B12A9B50D072}">
      <dgm:prSet/>
      <dgm:spPr/>
      <dgm:t>
        <a:bodyPr/>
        <a:lstStyle/>
        <a:p>
          <a:endParaRPr lang="en-US"/>
        </a:p>
      </dgm:t>
    </dgm:pt>
    <dgm:pt modelId="{C1BFFA87-B328-4475-AB03-1A1EA706BCD9}" type="sibTrans" cxnId="{A8BE913E-D3FB-40BE-9D48-B12A9B50D072}">
      <dgm:prSet/>
      <dgm:spPr/>
      <dgm:t>
        <a:bodyPr/>
        <a:lstStyle/>
        <a:p>
          <a:endParaRPr lang="en-US"/>
        </a:p>
      </dgm:t>
    </dgm:pt>
    <dgm:pt modelId="{C919FE83-F2CD-4CF3-86A3-0E37BA53D5D6}">
      <dgm:prSet phldrT="[Text]"/>
      <dgm:spPr/>
      <dgm:t>
        <a:bodyPr/>
        <a:lstStyle/>
        <a:p>
          <a:r>
            <a:rPr lang="en-US" dirty="0"/>
            <a:t>Distribution</a:t>
          </a:r>
        </a:p>
      </dgm:t>
    </dgm:pt>
    <dgm:pt modelId="{0980532D-50D0-4610-8F2B-77A5C1910439}" type="parTrans" cxnId="{2DEA645D-85D8-4D63-A915-26C35CF594AF}">
      <dgm:prSet/>
      <dgm:spPr/>
      <dgm:t>
        <a:bodyPr/>
        <a:lstStyle/>
        <a:p>
          <a:endParaRPr lang="en-US"/>
        </a:p>
      </dgm:t>
    </dgm:pt>
    <dgm:pt modelId="{1CD4B03B-2EEB-415A-979A-705EB87E74BC}" type="sibTrans" cxnId="{2DEA645D-85D8-4D63-A915-26C35CF594AF}">
      <dgm:prSet/>
      <dgm:spPr/>
      <dgm:t>
        <a:bodyPr/>
        <a:lstStyle/>
        <a:p>
          <a:endParaRPr lang="en-US"/>
        </a:p>
      </dgm:t>
    </dgm:pt>
    <dgm:pt modelId="{E41AF7B1-535F-4CCF-9240-C468A793AA7F}">
      <dgm:prSet phldrT="[Text]"/>
      <dgm:spPr/>
      <dgm:t>
        <a:bodyPr/>
        <a:lstStyle/>
        <a:p>
          <a:r>
            <a:rPr lang="en-US" dirty="0"/>
            <a:t>Data shape, central tendency, outliers</a:t>
          </a:r>
        </a:p>
      </dgm:t>
    </dgm:pt>
    <dgm:pt modelId="{7308F178-AE81-468F-8778-10B3D0AFDE05}" type="parTrans" cxnId="{2F2EAAF3-D237-4707-937E-9629A825C611}">
      <dgm:prSet/>
      <dgm:spPr/>
      <dgm:t>
        <a:bodyPr/>
        <a:lstStyle/>
        <a:p>
          <a:endParaRPr lang="en-US"/>
        </a:p>
      </dgm:t>
    </dgm:pt>
    <dgm:pt modelId="{A2CE6F8F-5BC8-47A2-BD6D-4847B60472E5}" type="sibTrans" cxnId="{2F2EAAF3-D237-4707-937E-9629A825C611}">
      <dgm:prSet/>
      <dgm:spPr/>
      <dgm:t>
        <a:bodyPr/>
        <a:lstStyle/>
        <a:p>
          <a:endParaRPr lang="en-US"/>
        </a:p>
      </dgm:t>
    </dgm:pt>
    <dgm:pt modelId="{848472C6-3CDF-4224-8BD6-20EC7C5356D4}">
      <dgm:prSet phldrT="[Text]"/>
      <dgm:spPr/>
      <dgm:t>
        <a:bodyPr/>
        <a:lstStyle/>
        <a:p>
          <a:r>
            <a:rPr lang="en-US" dirty="0"/>
            <a:t>Categorical</a:t>
          </a:r>
        </a:p>
      </dgm:t>
    </dgm:pt>
    <dgm:pt modelId="{EA02A1CD-0D98-413F-B026-1CF34C373444}" type="parTrans" cxnId="{26F60FF1-B158-497D-A1DF-AE82609B4817}">
      <dgm:prSet/>
      <dgm:spPr/>
      <dgm:t>
        <a:bodyPr/>
        <a:lstStyle/>
        <a:p>
          <a:endParaRPr lang="en-US"/>
        </a:p>
      </dgm:t>
    </dgm:pt>
    <dgm:pt modelId="{538F009C-7415-4195-828F-6C4620261354}" type="sibTrans" cxnId="{26F60FF1-B158-497D-A1DF-AE82609B4817}">
      <dgm:prSet/>
      <dgm:spPr/>
      <dgm:t>
        <a:bodyPr/>
        <a:lstStyle/>
        <a:p>
          <a:endParaRPr lang="en-US"/>
        </a:p>
      </dgm:t>
    </dgm:pt>
    <dgm:pt modelId="{4A16E761-012E-4F3B-ADBA-3F30AFA9B936}">
      <dgm:prSet phldrT="[Text]"/>
      <dgm:spPr/>
      <dgm:t>
        <a:bodyPr/>
        <a:lstStyle/>
        <a:p>
          <a:r>
            <a:rPr lang="en-US" dirty="0"/>
            <a:t>Comparing categories, proportions</a:t>
          </a:r>
        </a:p>
      </dgm:t>
    </dgm:pt>
    <dgm:pt modelId="{5B419632-8A09-4572-A5C0-6EC516EC0520}" type="parTrans" cxnId="{471625EE-9B6E-4AF6-B451-D7595DCC4F8B}">
      <dgm:prSet/>
      <dgm:spPr/>
      <dgm:t>
        <a:bodyPr/>
        <a:lstStyle/>
        <a:p>
          <a:endParaRPr lang="en-US"/>
        </a:p>
      </dgm:t>
    </dgm:pt>
    <dgm:pt modelId="{5F1132DB-02B8-4B30-8EFD-EF31A477664C}" type="sibTrans" cxnId="{471625EE-9B6E-4AF6-B451-D7595DCC4F8B}">
      <dgm:prSet/>
      <dgm:spPr/>
      <dgm:t>
        <a:bodyPr/>
        <a:lstStyle/>
        <a:p>
          <a:endParaRPr lang="en-US"/>
        </a:p>
      </dgm:t>
    </dgm:pt>
    <dgm:pt modelId="{FE97F15D-7B23-4509-8658-D6070FB0C1D9}">
      <dgm:prSet phldrT="[Text]"/>
      <dgm:spPr/>
      <dgm:t>
        <a:bodyPr/>
        <a:lstStyle/>
        <a:p>
          <a:r>
            <a:rPr lang="en-US" dirty="0"/>
            <a:t>Categorical or nominal data</a:t>
          </a:r>
        </a:p>
      </dgm:t>
    </dgm:pt>
    <dgm:pt modelId="{A4DAF2E0-44E6-4812-AD85-D6F3841F3CCE}" type="parTrans" cxnId="{EA635AA9-DBB2-4954-A20C-9A268B391C90}">
      <dgm:prSet/>
      <dgm:spPr/>
      <dgm:t>
        <a:bodyPr/>
        <a:lstStyle/>
        <a:p>
          <a:endParaRPr lang="en-US"/>
        </a:p>
      </dgm:t>
    </dgm:pt>
    <dgm:pt modelId="{B86DA078-D165-4C11-A54D-8F7C3C08C7EB}" type="sibTrans" cxnId="{EA635AA9-DBB2-4954-A20C-9A268B391C90}">
      <dgm:prSet/>
      <dgm:spPr/>
      <dgm:t>
        <a:bodyPr/>
        <a:lstStyle/>
        <a:p>
          <a:endParaRPr lang="en-US"/>
        </a:p>
      </dgm:t>
    </dgm:pt>
    <dgm:pt modelId="{0E20E0EB-8561-48F0-83B4-E5FC5398F5A0}">
      <dgm:prSet phldrT="[Text]"/>
      <dgm:spPr/>
      <dgm:t>
        <a:bodyPr/>
        <a:lstStyle/>
        <a:p>
          <a:r>
            <a:rPr lang="en-US" dirty="0"/>
            <a:t>Correlations, relationships between variables</a:t>
          </a:r>
        </a:p>
      </dgm:t>
    </dgm:pt>
    <dgm:pt modelId="{33205208-850C-44B7-898F-2B8F7D38B429}" type="parTrans" cxnId="{FAFD7B6A-811D-4263-A0DA-12410ADDCC88}">
      <dgm:prSet/>
      <dgm:spPr/>
      <dgm:t>
        <a:bodyPr/>
        <a:lstStyle/>
        <a:p>
          <a:endParaRPr lang="en-US"/>
        </a:p>
      </dgm:t>
    </dgm:pt>
    <dgm:pt modelId="{08BCE4B2-7F76-47AB-BA3E-A2A499D6290C}" type="sibTrans" cxnId="{FAFD7B6A-811D-4263-A0DA-12410ADDCC88}">
      <dgm:prSet/>
      <dgm:spPr/>
      <dgm:t>
        <a:bodyPr/>
        <a:lstStyle/>
        <a:p>
          <a:endParaRPr lang="en-US"/>
        </a:p>
      </dgm:t>
    </dgm:pt>
    <dgm:pt modelId="{0FAE2505-1D34-4434-9E10-759464351251}">
      <dgm:prSet phldrT="[Text]"/>
      <dgm:spPr/>
      <dgm:t>
        <a:bodyPr/>
        <a:lstStyle/>
        <a:p>
          <a:r>
            <a:rPr lang="en-US" dirty="0"/>
            <a:t>Histograms, box plots, density plots</a:t>
          </a:r>
        </a:p>
      </dgm:t>
    </dgm:pt>
    <dgm:pt modelId="{5B7553C7-D411-4F40-9A7E-531C68E487B1}" type="parTrans" cxnId="{5FD6B242-D87D-485E-947E-AE8C674AA6FE}">
      <dgm:prSet/>
      <dgm:spPr/>
      <dgm:t>
        <a:bodyPr/>
        <a:lstStyle/>
        <a:p>
          <a:endParaRPr lang="en-US"/>
        </a:p>
      </dgm:t>
    </dgm:pt>
    <dgm:pt modelId="{128648E4-8A28-4432-A315-1F780A5D3B1E}" type="sibTrans" cxnId="{5FD6B242-D87D-485E-947E-AE8C674AA6FE}">
      <dgm:prSet/>
      <dgm:spPr/>
      <dgm:t>
        <a:bodyPr/>
        <a:lstStyle/>
        <a:p>
          <a:endParaRPr lang="en-US"/>
        </a:p>
      </dgm:t>
    </dgm:pt>
    <dgm:pt modelId="{8257AD5F-35F6-43C1-8F4A-D2C78EB27999}">
      <dgm:prSet phldrT="[Text]"/>
      <dgm:spPr/>
      <dgm:t>
        <a:bodyPr/>
        <a:lstStyle/>
        <a:p>
          <a:r>
            <a:rPr lang="en-US" dirty="0"/>
            <a:t>Continuous or numerical data</a:t>
          </a:r>
        </a:p>
      </dgm:t>
    </dgm:pt>
    <dgm:pt modelId="{4D2ED5C1-941A-4DFF-BDDB-31E916276A67}" type="parTrans" cxnId="{D2F29C67-7CDA-47F4-B709-C1B82995FC6D}">
      <dgm:prSet/>
      <dgm:spPr/>
      <dgm:t>
        <a:bodyPr/>
        <a:lstStyle/>
        <a:p>
          <a:endParaRPr lang="en-US"/>
        </a:p>
      </dgm:t>
    </dgm:pt>
    <dgm:pt modelId="{6CE66E81-F6AD-4E33-BF95-83DCE331F8CF}" type="sibTrans" cxnId="{D2F29C67-7CDA-47F4-B709-C1B82995FC6D}">
      <dgm:prSet/>
      <dgm:spPr/>
      <dgm:t>
        <a:bodyPr/>
        <a:lstStyle/>
        <a:p>
          <a:endParaRPr lang="en-US"/>
        </a:p>
      </dgm:t>
    </dgm:pt>
    <dgm:pt modelId="{6F655885-C8C8-43EC-BDDD-AA01A04B8726}">
      <dgm:prSet phldrT="[Text]"/>
      <dgm:spPr/>
      <dgm:t>
        <a:bodyPr/>
        <a:lstStyle/>
        <a:p>
          <a:r>
            <a:rPr lang="en-US" dirty="0"/>
            <a:t>Continuous or discrete data</a:t>
          </a:r>
        </a:p>
      </dgm:t>
    </dgm:pt>
    <dgm:pt modelId="{2B9A949F-9BDA-4721-B1E6-1EF917B91BFA}" type="parTrans" cxnId="{3C697D9D-DB34-4AFC-89F8-0190E9F42179}">
      <dgm:prSet/>
      <dgm:spPr/>
      <dgm:t>
        <a:bodyPr/>
        <a:lstStyle/>
        <a:p>
          <a:endParaRPr lang="en-US"/>
        </a:p>
      </dgm:t>
    </dgm:pt>
    <dgm:pt modelId="{B1CDA61C-C705-4A06-9281-EA61F52616E2}" type="sibTrans" cxnId="{3C697D9D-DB34-4AFC-89F8-0190E9F42179}">
      <dgm:prSet/>
      <dgm:spPr/>
      <dgm:t>
        <a:bodyPr/>
        <a:lstStyle/>
        <a:p>
          <a:endParaRPr lang="en-US"/>
        </a:p>
      </dgm:t>
    </dgm:pt>
    <dgm:pt modelId="{83E25A54-3A15-4334-94ED-70BB4A75ADC2}">
      <dgm:prSet phldrT="[Text]"/>
      <dgm:spPr/>
      <dgm:t>
        <a:bodyPr/>
        <a:lstStyle/>
        <a:p>
          <a:r>
            <a:rPr lang="en-US" dirty="0"/>
            <a:t>Bar charts, pie charts, violin plots, stacked bar charts</a:t>
          </a:r>
        </a:p>
      </dgm:t>
    </dgm:pt>
    <dgm:pt modelId="{F4F10101-F213-4FF2-A152-EB5A6E0303D0}" type="parTrans" cxnId="{729335C3-B195-4DC7-A53B-02BB35B2B59C}">
      <dgm:prSet/>
      <dgm:spPr/>
      <dgm:t>
        <a:bodyPr/>
        <a:lstStyle/>
        <a:p>
          <a:endParaRPr lang="en-US"/>
        </a:p>
      </dgm:t>
    </dgm:pt>
    <dgm:pt modelId="{E2369F8E-6493-4DA8-9813-440D372EF345}" type="sibTrans" cxnId="{729335C3-B195-4DC7-A53B-02BB35B2B59C}">
      <dgm:prSet/>
      <dgm:spPr/>
      <dgm:t>
        <a:bodyPr/>
        <a:lstStyle/>
        <a:p>
          <a:endParaRPr lang="en-US"/>
        </a:p>
      </dgm:t>
    </dgm:pt>
    <dgm:pt modelId="{E1F62CBE-9BA2-42D9-9AD6-4703A5B43835}" type="pres">
      <dgm:prSet presAssocID="{2625C6EA-0CDD-46D9-9AF7-1B8194236E67}" presName="Name0" presStyleCnt="0">
        <dgm:presLayoutVars>
          <dgm:dir/>
          <dgm:animLvl val="lvl"/>
          <dgm:resizeHandles val="exact"/>
        </dgm:presLayoutVars>
      </dgm:prSet>
      <dgm:spPr/>
    </dgm:pt>
    <dgm:pt modelId="{850C8338-0389-408C-B487-D0561B42733D}" type="pres">
      <dgm:prSet presAssocID="{6C134E70-9ADE-40AE-AEC6-77EFD7DBF017}" presName="composite" presStyleCnt="0"/>
      <dgm:spPr/>
    </dgm:pt>
    <dgm:pt modelId="{926F99F4-C810-42E7-B80C-CF5D1A2EEC9A}" type="pres">
      <dgm:prSet presAssocID="{6C134E70-9ADE-40AE-AEC6-77EFD7DBF0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EBFFED-CE96-412E-B303-AB2830C00FE7}" type="pres">
      <dgm:prSet presAssocID="{6C134E70-9ADE-40AE-AEC6-77EFD7DBF017}" presName="desTx" presStyleLbl="alignAccFollowNode1" presStyleIdx="0" presStyleCnt="3">
        <dgm:presLayoutVars>
          <dgm:bulletEnabled val="1"/>
        </dgm:presLayoutVars>
      </dgm:prSet>
      <dgm:spPr/>
    </dgm:pt>
    <dgm:pt modelId="{FC6CC70C-90A8-4495-AB26-C0661CFEA171}" type="pres">
      <dgm:prSet presAssocID="{F7363698-68DB-49B4-B51B-A52870DAAD82}" presName="space" presStyleCnt="0"/>
      <dgm:spPr/>
    </dgm:pt>
    <dgm:pt modelId="{8B3FE873-5F4B-43E6-985D-11F9C35531F8}" type="pres">
      <dgm:prSet presAssocID="{C919FE83-F2CD-4CF3-86A3-0E37BA53D5D6}" presName="composite" presStyleCnt="0"/>
      <dgm:spPr/>
    </dgm:pt>
    <dgm:pt modelId="{B8A33D22-39BE-4DBF-956C-6D8F64EC2776}" type="pres">
      <dgm:prSet presAssocID="{C919FE83-F2CD-4CF3-86A3-0E37BA53D5D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D1E8F82-48DE-4590-B72D-455CF46D666B}" type="pres">
      <dgm:prSet presAssocID="{C919FE83-F2CD-4CF3-86A3-0E37BA53D5D6}" presName="desTx" presStyleLbl="alignAccFollowNode1" presStyleIdx="1" presStyleCnt="3">
        <dgm:presLayoutVars>
          <dgm:bulletEnabled val="1"/>
        </dgm:presLayoutVars>
      </dgm:prSet>
      <dgm:spPr/>
    </dgm:pt>
    <dgm:pt modelId="{0728B577-6FE2-4906-A344-72461BCE9EC3}" type="pres">
      <dgm:prSet presAssocID="{1CD4B03B-2EEB-415A-979A-705EB87E74BC}" presName="space" presStyleCnt="0"/>
      <dgm:spPr/>
    </dgm:pt>
    <dgm:pt modelId="{80AC8E14-8B6D-4683-BB21-3D751672B4F4}" type="pres">
      <dgm:prSet presAssocID="{848472C6-3CDF-4224-8BD6-20EC7C5356D4}" presName="composite" presStyleCnt="0"/>
      <dgm:spPr/>
    </dgm:pt>
    <dgm:pt modelId="{6F2A4FAE-E141-4688-83DC-4FE61D648BF7}" type="pres">
      <dgm:prSet presAssocID="{848472C6-3CDF-4224-8BD6-20EC7C5356D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FABA87F-4E9B-45AF-A9FA-D2582C470F4D}" type="pres">
      <dgm:prSet presAssocID="{848472C6-3CDF-4224-8BD6-20EC7C5356D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5BA7D29-375B-48E3-9DC6-42D24E5C5914}" type="presOf" srcId="{848472C6-3CDF-4224-8BD6-20EC7C5356D4}" destId="{6F2A4FAE-E141-4688-83DC-4FE61D648BF7}" srcOrd="0" destOrd="0" presId="urn:microsoft.com/office/officeart/2005/8/layout/hList1"/>
    <dgm:cxn modelId="{A8BE913E-D3FB-40BE-9D48-B12A9B50D072}" srcId="{6C134E70-9ADE-40AE-AEC6-77EFD7DBF017}" destId="{C31A3C93-1F5C-48A2-88EC-C50E5958DF17}" srcOrd="2" destOrd="0" parTransId="{98D0A8D8-CD2B-4886-96AD-4BD9A471EB53}" sibTransId="{C1BFFA87-B328-4475-AB03-1A1EA706BCD9}"/>
    <dgm:cxn modelId="{2DEA645D-85D8-4D63-A915-26C35CF594AF}" srcId="{2625C6EA-0CDD-46D9-9AF7-1B8194236E67}" destId="{C919FE83-F2CD-4CF3-86A3-0E37BA53D5D6}" srcOrd="1" destOrd="0" parTransId="{0980532D-50D0-4610-8F2B-77A5C1910439}" sibTransId="{1CD4B03B-2EEB-415A-979A-705EB87E74BC}"/>
    <dgm:cxn modelId="{C0450761-119A-4460-98BF-326B2BDD682C}" type="presOf" srcId="{6F655885-C8C8-43EC-BDDD-AA01A04B8726}" destId="{4D1E8F82-48DE-4590-B72D-455CF46D666B}" srcOrd="0" destOrd="1" presId="urn:microsoft.com/office/officeart/2005/8/layout/hList1"/>
    <dgm:cxn modelId="{5FD6B242-D87D-485E-947E-AE8C674AA6FE}" srcId="{C919FE83-F2CD-4CF3-86A3-0E37BA53D5D6}" destId="{0FAE2505-1D34-4434-9E10-759464351251}" srcOrd="2" destOrd="0" parTransId="{5B7553C7-D411-4F40-9A7E-531C68E487B1}" sibTransId="{128648E4-8A28-4432-A315-1F780A5D3B1E}"/>
    <dgm:cxn modelId="{D2F29C67-7CDA-47F4-B709-C1B82995FC6D}" srcId="{6C134E70-9ADE-40AE-AEC6-77EFD7DBF017}" destId="{8257AD5F-35F6-43C1-8F4A-D2C78EB27999}" srcOrd="1" destOrd="0" parTransId="{4D2ED5C1-941A-4DFF-BDDB-31E916276A67}" sibTransId="{6CE66E81-F6AD-4E33-BF95-83DCE331F8CF}"/>
    <dgm:cxn modelId="{FAFD7B6A-811D-4263-A0DA-12410ADDCC88}" srcId="{6C134E70-9ADE-40AE-AEC6-77EFD7DBF017}" destId="{0E20E0EB-8561-48F0-83B4-E5FC5398F5A0}" srcOrd="0" destOrd="0" parTransId="{33205208-850C-44B7-898F-2B8F7D38B429}" sibTransId="{08BCE4B2-7F76-47AB-BA3E-A2A499D6290C}"/>
    <dgm:cxn modelId="{B1B8B953-1499-4571-9E61-B58F700C63FD}" type="presOf" srcId="{83E25A54-3A15-4334-94ED-70BB4A75ADC2}" destId="{AFABA87F-4E9B-45AF-A9FA-D2582C470F4D}" srcOrd="0" destOrd="2" presId="urn:microsoft.com/office/officeart/2005/8/layout/hList1"/>
    <dgm:cxn modelId="{DA9D987B-376D-4546-82BD-571F2DC29F45}" type="presOf" srcId="{E41AF7B1-535F-4CCF-9240-C468A793AA7F}" destId="{4D1E8F82-48DE-4590-B72D-455CF46D666B}" srcOrd="0" destOrd="0" presId="urn:microsoft.com/office/officeart/2005/8/layout/hList1"/>
    <dgm:cxn modelId="{43919C81-09BF-4349-AD64-A3409F948506}" type="presOf" srcId="{0E20E0EB-8561-48F0-83B4-E5FC5398F5A0}" destId="{13EBFFED-CE96-412E-B303-AB2830C00FE7}" srcOrd="0" destOrd="0" presId="urn:microsoft.com/office/officeart/2005/8/layout/hList1"/>
    <dgm:cxn modelId="{9FAB4788-D0A0-4FCB-BF06-E3BD0FA9243F}" type="presOf" srcId="{C919FE83-F2CD-4CF3-86A3-0E37BA53D5D6}" destId="{B8A33D22-39BE-4DBF-956C-6D8F64EC2776}" srcOrd="0" destOrd="0" presId="urn:microsoft.com/office/officeart/2005/8/layout/hList1"/>
    <dgm:cxn modelId="{F713CE8C-6DE6-48AF-B9EF-178620656818}" type="presOf" srcId="{0FAE2505-1D34-4434-9E10-759464351251}" destId="{4D1E8F82-48DE-4590-B72D-455CF46D666B}" srcOrd="0" destOrd="2" presId="urn:microsoft.com/office/officeart/2005/8/layout/hList1"/>
    <dgm:cxn modelId="{58475192-63C2-401C-ABE5-87A7F1DBF04F}" type="presOf" srcId="{8257AD5F-35F6-43C1-8F4A-D2C78EB27999}" destId="{13EBFFED-CE96-412E-B303-AB2830C00FE7}" srcOrd="0" destOrd="1" presId="urn:microsoft.com/office/officeart/2005/8/layout/hList1"/>
    <dgm:cxn modelId="{3C697D9D-DB34-4AFC-89F8-0190E9F42179}" srcId="{C919FE83-F2CD-4CF3-86A3-0E37BA53D5D6}" destId="{6F655885-C8C8-43EC-BDDD-AA01A04B8726}" srcOrd="1" destOrd="0" parTransId="{2B9A949F-9BDA-4721-B1E6-1EF917B91BFA}" sibTransId="{B1CDA61C-C705-4A06-9281-EA61F52616E2}"/>
    <dgm:cxn modelId="{6CDFC69F-8BCE-4D31-8090-612900340D40}" type="presOf" srcId="{C31A3C93-1F5C-48A2-88EC-C50E5958DF17}" destId="{13EBFFED-CE96-412E-B303-AB2830C00FE7}" srcOrd="0" destOrd="2" presId="urn:microsoft.com/office/officeart/2005/8/layout/hList1"/>
    <dgm:cxn modelId="{F6B9FFA7-052E-45DA-8BDC-6CD305C3801D}" srcId="{2625C6EA-0CDD-46D9-9AF7-1B8194236E67}" destId="{6C134E70-9ADE-40AE-AEC6-77EFD7DBF017}" srcOrd="0" destOrd="0" parTransId="{2E490F50-71D6-4F10-849F-2527A05B7EBB}" sibTransId="{F7363698-68DB-49B4-B51B-A52870DAAD82}"/>
    <dgm:cxn modelId="{EA635AA9-DBB2-4954-A20C-9A268B391C90}" srcId="{848472C6-3CDF-4224-8BD6-20EC7C5356D4}" destId="{FE97F15D-7B23-4509-8658-D6070FB0C1D9}" srcOrd="1" destOrd="0" parTransId="{A4DAF2E0-44E6-4812-AD85-D6F3841F3CCE}" sibTransId="{B86DA078-D165-4C11-A54D-8F7C3C08C7EB}"/>
    <dgm:cxn modelId="{729335C3-B195-4DC7-A53B-02BB35B2B59C}" srcId="{848472C6-3CDF-4224-8BD6-20EC7C5356D4}" destId="{83E25A54-3A15-4334-94ED-70BB4A75ADC2}" srcOrd="2" destOrd="0" parTransId="{F4F10101-F213-4FF2-A152-EB5A6E0303D0}" sibTransId="{E2369F8E-6493-4DA8-9813-440D372EF345}"/>
    <dgm:cxn modelId="{612042C3-E75E-439D-87EA-73F41FBC5503}" type="presOf" srcId="{4A16E761-012E-4F3B-ADBA-3F30AFA9B936}" destId="{AFABA87F-4E9B-45AF-A9FA-D2582C470F4D}" srcOrd="0" destOrd="0" presId="urn:microsoft.com/office/officeart/2005/8/layout/hList1"/>
    <dgm:cxn modelId="{314DC2C3-386E-47B3-A809-03E530BC8BEB}" type="presOf" srcId="{2625C6EA-0CDD-46D9-9AF7-1B8194236E67}" destId="{E1F62CBE-9BA2-42D9-9AD6-4703A5B43835}" srcOrd="0" destOrd="0" presId="urn:microsoft.com/office/officeart/2005/8/layout/hList1"/>
    <dgm:cxn modelId="{B031DDCA-65C5-4ED9-A198-4475C966F5CF}" type="presOf" srcId="{FE97F15D-7B23-4509-8658-D6070FB0C1D9}" destId="{AFABA87F-4E9B-45AF-A9FA-D2582C470F4D}" srcOrd="0" destOrd="1" presId="urn:microsoft.com/office/officeart/2005/8/layout/hList1"/>
    <dgm:cxn modelId="{471625EE-9B6E-4AF6-B451-D7595DCC4F8B}" srcId="{848472C6-3CDF-4224-8BD6-20EC7C5356D4}" destId="{4A16E761-012E-4F3B-ADBA-3F30AFA9B936}" srcOrd="0" destOrd="0" parTransId="{5B419632-8A09-4572-A5C0-6EC516EC0520}" sibTransId="{5F1132DB-02B8-4B30-8EFD-EF31A477664C}"/>
    <dgm:cxn modelId="{26F60FF1-B158-497D-A1DF-AE82609B4817}" srcId="{2625C6EA-0CDD-46D9-9AF7-1B8194236E67}" destId="{848472C6-3CDF-4224-8BD6-20EC7C5356D4}" srcOrd="2" destOrd="0" parTransId="{EA02A1CD-0D98-413F-B026-1CF34C373444}" sibTransId="{538F009C-7415-4195-828F-6C4620261354}"/>
    <dgm:cxn modelId="{080914F1-FC46-48BB-ACEF-6863B74F3162}" type="presOf" srcId="{6C134E70-9ADE-40AE-AEC6-77EFD7DBF017}" destId="{926F99F4-C810-42E7-B80C-CF5D1A2EEC9A}" srcOrd="0" destOrd="0" presId="urn:microsoft.com/office/officeart/2005/8/layout/hList1"/>
    <dgm:cxn modelId="{2F2EAAF3-D237-4707-937E-9629A825C611}" srcId="{C919FE83-F2CD-4CF3-86A3-0E37BA53D5D6}" destId="{E41AF7B1-535F-4CCF-9240-C468A793AA7F}" srcOrd="0" destOrd="0" parTransId="{7308F178-AE81-468F-8778-10B3D0AFDE05}" sibTransId="{A2CE6F8F-5BC8-47A2-BD6D-4847B60472E5}"/>
    <dgm:cxn modelId="{520683F3-86A7-4FFF-B5F4-C1556BDBD7C4}" type="presParOf" srcId="{E1F62CBE-9BA2-42D9-9AD6-4703A5B43835}" destId="{850C8338-0389-408C-B487-D0561B42733D}" srcOrd="0" destOrd="0" presId="urn:microsoft.com/office/officeart/2005/8/layout/hList1"/>
    <dgm:cxn modelId="{93697208-11EA-4D08-BD53-985466492E38}" type="presParOf" srcId="{850C8338-0389-408C-B487-D0561B42733D}" destId="{926F99F4-C810-42E7-B80C-CF5D1A2EEC9A}" srcOrd="0" destOrd="0" presId="urn:microsoft.com/office/officeart/2005/8/layout/hList1"/>
    <dgm:cxn modelId="{3A2FABAA-D4CB-458C-9AA9-04EF222A48B7}" type="presParOf" srcId="{850C8338-0389-408C-B487-D0561B42733D}" destId="{13EBFFED-CE96-412E-B303-AB2830C00FE7}" srcOrd="1" destOrd="0" presId="urn:microsoft.com/office/officeart/2005/8/layout/hList1"/>
    <dgm:cxn modelId="{1A872C6E-0A0C-4113-940E-C25A634B4241}" type="presParOf" srcId="{E1F62CBE-9BA2-42D9-9AD6-4703A5B43835}" destId="{FC6CC70C-90A8-4495-AB26-C0661CFEA171}" srcOrd="1" destOrd="0" presId="urn:microsoft.com/office/officeart/2005/8/layout/hList1"/>
    <dgm:cxn modelId="{B4A43B57-3A73-4604-B79D-5E21E6E46583}" type="presParOf" srcId="{E1F62CBE-9BA2-42D9-9AD6-4703A5B43835}" destId="{8B3FE873-5F4B-43E6-985D-11F9C35531F8}" srcOrd="2" destOrd="0" presId="urn:microsoft.com/office/officeart/2005/8/layout/hList1"/>
    <dgm:cxn modelId="{F67505A9-9561-4FB2-94E0-CC0F97FC572D}" type="presParOf" srcId="{8B3FE873-5F4B-43E6-985D-11F9C35531F8}" destId="{B8A33D22-39BE-4DBF-956C-6D8F64EC2776}" srcOrd="0" destOrd="0" presId="urn:microsoft.com/office/officeart/2005/8/layout/hList1"/>
    <dgm:cxn modelId="{B3F324A0-7C31-48AE-80C6-6758B3D67D63}" type="presParOf" srcId="{8B3FE873-5F4B-43E6-985D-11F9C35531F8}" destId="{4D1E8F82-48DE-4590-B72D-455CF46D666B}" srcOrd="1" destOrd="0" presId="urn:microsoft.com/office/officeart/2005/8/layout/hList1"/>
    <dgm:cxn modelId="{461447E2-4B79-4BF2-9E63-015F03B04267}" type="presParOf" srcId="{E1F62CBE-9BA2-42D9-9AD6-4703A5B43835}" destId="{0728B577-6FE2-4906-A344-72461BCE9EC3}" srcOrd="3" destOrd="0" presId="urn:microsoft.com/office/officeart/2005/8/layout/hList1"/>
    <dgm:cxn modelId="{55EA8CDF-8E41-46ED-B386-5DECBE894BE5}" type="presParOf" srcId="{E1F62CBE-9BA2-42D9-9AD6-4703A5B43835}" destId="{80AC8E14-8B6D-4683-BB21-3D751672B4F4}" srcOrd="4" destOrd="0" presId="urn:microsoft.com/office/officeart/2005/8/layout/hList1"/>
    <dgm:cxn modelId="{0CFA24B7-00E5-432A-B962-8418D20AF434}" type="presParOf" srcId="{80AC8E14-8B6D-4683-BB21-3D751672B4F4}" destId="{6F2A4FAE-E141-4688-83DC-4FE61D648BF7}" srcOrd="0" destOrd="0" presId="urn:microsoft.com/office/officeart/2005/8/layout/hList1"/>
    <dgm:cxn modelId="{AB0A119D-541B-4E5A-96FA-E3A2FCF19B6D}" type="presParOf" srcId="{80AC8E14-8B6D-4683-BB21-3D751672B4F4}" destId="{AFABA87F-4E9B-45AF-A9FA-D2582C470F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BEEE8C-F460-4EC6-948B-42F76DFC0B69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E55FC4C-5634-411A-BA44-E1881393EDEF}">
      <dgm:prSet phldrT="[Text]"/>
      <dgm:spPr/>
      <dgm:t>
        <a:bodyPr/>
        <a:lstStyle/>
        <a:p>
          <a:r>
            <a:rPr lang="en-US" dirty="0"/>
            <a:t>Crafting the Compelling Story (50%)</a:t>
          </a:r>
        </a:p>
      </dgm:t>
    </dgm:pt>
    <dgm:pt modelId="{DBC89A29-5B07-42B8-B7E0-F748040ECCCF}" type="parTrans" cxnId="{FB688E3F-48DE-4E92-9113-9F910A1C6E36}">
      <dgm:prSet/>
      <dgm:spPr/>
      <dgm:t>
        <a:bodyPr/>
        <a:lstStyle/>
        <a:p>
          <a:endParaRPr lang="en-US"/>
        </a:p>
      </dgm:t>
    </dgm:pt>
    <dgm:pt modelId="{DB3BD554-8DE8-456E-857E-00974F4E86A8}" type="sibTrans" cxnId="{FB688E3F-48DE-4E92-9113-9F910A1C6E36}">
      <dgm:prSet/>
      <dgm:spPr/>
      <dgm:t>
        <a:bodyPr/>
        <a:lstStyle/>
        <a:p>
          <a:endParaRPr lang="en-US"/>
        </a:p>
      </dgm:t>
    </dgm:pt>
    <dgm:pt modelId="{AA72A656-C32B-4BC0-85ED-03603935A70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Depth and relevance of insights drawn from the data analysis</a:t>
          </a:r>
        </a:p>
      </dgm:t>
    </dgm:pt>
    <dgm:pt modelId="{39D79BB8-5D9E-43E1-BF6E-026867E09AAF}" type="parTrans" cxnId="{D2ACA50B-2B61-4893-937D-6DE42C60B3B8}">
      <dgm:prSet/>
      <dgm:spPr/>
      <dgm:t>
        <a:bodyPr/>
        <a:lstStyle/>
        <a:p>
          <a:endParaRPr lang="en-US"/>
        </a:p>
      </dgm:t>
    </dgm:pt>
    <dgm:pt modelId="{F72B3D69-5A02-4BF3-9745-7A9985DC855D}" type="sibTrans" cxnId="{D2ACA50B-2B61-4893-937D-6DE42C60B3B8}">
      <dgm:prSet/>
      <dgm:spPr/>
      <dgm:t>
        <a:bodyPr/>
        <a:lstStyle/>
        <a:p>
          <a:endParaRPr lang="en-US"/>
        </a:p>
      </dgm:t>
    </dgm:pt>
    <dgm:pt modelId="{485137B7-57A5-4A2D-BE93-B11D8422C2B3}">
      <dgm:prSet phldrT="[Text]"/>
      <dgm:spPr/>
      <dgm:t>
        <a:bodyPr/>
        <a:lstStyle/>
        <a:p>
          <a:r>
            <a:rPr lang="en-US" dirty="0"/>
            <a:t>Articulating the Compelling Story (50%)</a:t>
          </a:r>
        </a:p>
      </dgm:t>
    </dgm:pt>
    <dgm:pt modelId="{CC27110B-6BBC-4107-B2E4-B050AEBBF183}" type="parTrans" cxnId="{9BDF7E95-370C-409F-8BFF-85F4C6A81C63}">
      <dgm:prSet/>
      <dgm:spPr/>
      <dgm:t>
        <a:bodyPr/>
        <a:lstStyle/>
        <a:p>
          <a:endParaRPr lang="en-US"/>
        </a:p>
      </dgm:t>
    </dgm:pt>
    <dgm:pt modelId="{F86A5FD2-FA68-4E0D-B3DA-BAB273DD7995}" type="sibTrans" cxnId="{9BDF7E95-370C-409F-8BFF-85F4C6A81C63}">
      <dgm:prSet/>
      <dgm:spPr/>
      <dgm:t>
        <a:bodyPr/>
        <a:lstStyle/>
        <a:p>
          <a:endParaRPr lang="en-US"/>
        </a:p>
      </dgm:t>
    </dgm:pt>
    <dgm:pt modelId="{E140779B-5534-4D1F-A4BC-48C5A337E786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Clarity, coherence, and organization of the executive summary</a:t>
          </a:r>
        </a:p>
      </dgm:t>
    </dgm:pt>
    <dgm:pt modelId="{EABD9B38-D890-413F-90EF-39248C8A0F29}" type="parTrans" cxnId="{B40C7F0E-3F68-460C-9A59-A67FBBAE85D4}">
      <dgm:prSet/>
      <dgm:spPr/>
      <dgm:t>
        <a:bodyPr/>
        <a:lstStyle/>
        <a:p>
          <a:endParaRPr lang="en-US"/>
        </a:p>
      </dgm:t>
    </dgm:pt>
    <dgm:pt modelId="{7EA8082F-7993-4AD6-A692-D92E9D0980F3}" type="sibTrans" cxnId="{B40C7F0E-3F68-460C-9A59-A67FBBAE85D4}">
      <dgm:prSet/>
      <dgm:spPr/>
      <dgm:t>
        <a:bodyPr/>
        <a:lstStyle/>
        <a:p>
          <a:endParaRPr lang="en-US"/>
        </a:p>
      </dgm:t>
    </dgm:pt>
    <dgm:pt modelId="{86847064-EA1A-45BB-AFD7-56E23E2783E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Effectiveness of recommendations for countering GenAI threats</a:t>
          </a:r>
        </a:p>
      </dgm:t>
    </dgm:pt>
    <dgm:pt modelId="{C4EAF8C5-1F6B-4210-A1FE-6239CBAB6CCF}" type="parTrans" cxnId="{95318B59-180E-48B4-B80F-0E5909415A6B}">
      <dgm:prSet/>
      <dgm:spPr/>
      <dgm:t>
        <a:bodyPr/>
        <a:lstStyle/>
        <a:p>
          <a:endParaRPr lang="en-US"/>
        </a:p>
      </dgm:t>
    </dgm:pt>
    <dgm:pt modelId="{70EE8977-FE33-4BA9-BB48-57A6961A4248}" type="sibTrans" cxnId="{95318B59-180E-48B4-B80F-0E5909415A6B}">
      <dgm:prSet/>
      <dgm:spPr/>
      <dgm:t>
        <a:bodyPr/>
        <a:lstStyle/>
        <a:p>
          <a:endParaRPr lang="en-US"/>
        </a:p>
      </dgm:t>
    </dgm:pt>
    <dgm:pt modelId="{2DBF707B-247D-4D1B-9CE5-8EDF19E60B2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Originality and creativity of the approach</a:t>
          </a:r>
        </a:p>
      </dgm:t>
    </dgm:pt>
    <dgm:pt modelId="{AB6B28EA-DB23-4CC1-9C8B-B9E0477967B0}" type="parTrans" cxnId="{1515A8E1-3345-45E9-A473-54FC5D290A94}">
      <dgm:prSet/>
      <dgm:spPr/>
      <dgm:t>
        <a:bodyPr/>
        <a:lstStyle/>
        <a:p>
          <a:endParaRPr lang="en-US"/>
        </a:p>
      </dgm:t>
    </dgm:pt>
    <dgm:pt modelId="{47042F0B-3FF3-4729-A1EB-26843C4A5279}" type="sibTrans" cxnId="{1515A8E1-3345-45E9-A473-54FC5D290A94}">
      <dgm:prSet/>
      <dgm:spPr/>
      <dgm:t>
        <a:bodyPr/>
        <a:lstStyle/>
        <a:p>
          <a:endParaRPr lang="en-US"/>
        </a:p>
      </dgm:t>
    </dgm:pt>
    <dgm:pt modelId="{E299730D-3461-4A7D-8571-575EA259D66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identify and leverage key relationships, trends and patterns in the data</a:t>
          </a:r>
        </a:p>
      </dgm:t>
    </dgm:pt>
    <dgm:pt modelId="{D7806ACF-2E09-4425-8C56-1AD747EF3EAB}" type="parTrans" cxnId="{BA1B2FF8-5134-4CB1-A47C-7D998AB49A96}">
      <dgm:prSet/>
      <dgm:spPr/>
      <dgm:t>
        <a:bodyPr/>
        <a:lstStyle/>
        <a:p>
          <a:endParaRPr lang="en-US"/>
        </a:p>
      </dgm:t>
    </dgm:pt>
    <dgm:pt modelId="{6834A353-C398-4B21-9192-3433D9218AFE}" type="sibTrans" cxnId="{BA1B2FF8-5134-4CB1-A47C-7D998AB49A96}">
      <dgm:prSet/>
      <dgm:spPr/>
      <dgm:t>
        <a:bodyPr/>
        <a:lstStyle/>
        <a:p>
          <a:endParaRPr lang="en-US"/>
        </a:p>
      </dgm:t>
    </dgm:pt>
    <dgm:pt modelId="{CEF2AF6E-5101-4181-BE77-2296F66B83F1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Use of effective visualizations to support findings and recommendations</a:t>
          </a:r>
        </a:p>
      </dgm:t>
    </dgm:pt>
    <dgm:pt modelId="{A8790C5A-7235-40A6-BCEF-E34748985B08}" type="parTrans" cxnId="{8BFAD232-61B0-47C3-BBB1-058B56B77A03}">
      <dgm:prSet/>
      <dgm:spPr/>
      <dgm:t>
        <a:bodyPr/>
        <a:lstStyle/>
        <a:p>
          <a:endParaRPr lang="en-US"/>
        </a:p>
      </dgm:t>
    </dgm:pt>
    <dgm:pt modelId="{93C38D59-F21E-4FDB-AD52-6B69ACFD6AFB}" type="sibTrans" cxnId="{8BFAD232-61B0-47C3-BBB1-058B56B77A03}">
      <dgm:prSet/>
      <dgm:spPr/>
      <dgm:t>
        <a:bodyPr/>
        <a:lstStyle/>
        <a:p>
          <a:endParaRPr lang="en-US"/>
        </a:p>
      </dgm:t>
    </dgm:pt>
    <dgm:pt modelId="{F55DAAD3-0C0E-45AD-AF7D-8EF24ABE8407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communicate complex ideas and insights in a clear and concise manner</a:t>
          </a:r>
        </a:p>
      </dgm:t>
    </dgm:pt>
    <dgm:pt modelId="{5D88466D-4B78-4CFC-945B-53A9AA65D2DB}" type="parTrans" cxnId="{D6B1FF86-0296-4BA3-AFB8-C836C95FE3C5}">
      <dgm:prSet/>
      <dgm:spPr/>
      <dgm:t>
        <a:bodyPr/>
        <a:lstStyle/>
        <a:p>
          <a:endParaRPr lang="en-US"/>
        </a:p>
      </dgm:t>
    </dgm:pt>
    <dgm:pt modelId="{A27DFC4B-A2AD-4B19-AFC1-C6707E90CD51}" type="sibTrans" cxnId="{D6B1FF86-0296-4BA3-AFB8-C836C95FE3C5}">
      <dgm:prSet/>
      <dgm:spPr/>
      <dgm:t>
        <a:bodyPr/>
        <a:lstStyle/>
        <a:p>
          <a:endParaRPr lang="en-US"/>
        </a:p>
      </dgm:t>
    </dgm:pt>
    <dgm:pt modelId="{680EC471-FA92-4B00-93AA-1E1C9C4A82E6}" type="pres">
      <dgm:prSet presAssocID="{6DBEEE8C-F460-4EC6-948B-42F76DFC0B69}" presName="Name0" presStyleCnt="0">
        <dgm:presLayoutVars>
          <dgm:dir/>
          <dgm:animLvl val="lvl"/>
          <dgm:resizeHandles val="exact"/>
        </dgm:presLayoutVars>
      </dgm:prSet>
      <dgm:spPr/>
    </dgm:pt>
    <dgm:pt modelId="{941E8AB1-2C94-43E0-9C22-FDA17C0574C8}" type="pres">
      <dgm:prSet presAssocID="{8E55FC4C-5634-411A-BA44-E1881393EDEF}" presName="linNode" presStyleCnt="0"/>
      <dgm:spPr/>
    </dgm:pt>
    <dgm:pt modelId="{FBF6E5E8-E81E-4B60-805B-2FCCD741304C}" type="pres">
      <dgm:prSet presAssocID="{8E55FC4C-5634-411A-BA44-E1881393EDEF}" presName="parTx" presStyleLbl="revTx" presStyleIdx="0" presStyleCnt="2">
        <dgm:presLayoutVars>
          <dgm:chMax val="1"/>
          <dgm:bulletEnabled val="1"/>
        </dgm:presLayoutVars>
      </dgm:prSet>
      <dgm:spPr/>
    </dgm:pt>
    <dgm:pt modelId="{7ED151F3-7AE3-4BCE-A19C-9F0A5F9D9773}" type="pres">
      <dgm:prSet presAssocID="{8E55FC4C-5634-411A-BA44-E1881393EDEF}" presName="bracket" presStyleLbl="parChTrans1D1" presStyleIdx="0" presStyleCnt="2"/>
      <dgm:spPr/>
    </dgm:pt>
    <dgm:pt modelId="{E758D229-0FFF-444D-B80F-1916A491AA07}" type="pres">
      <dgm:prSet presAssocID="{8E55FC4C-5634-411A-BA44-E1881393EDEF}" presName="spH" presStyleCnt="0"/>
      <dgm:spPr/>
    </dgm:pt>
    <dgm:pt modelId="{C8CAE565-8C0C-4C27-ADFA-8AE07D3FAC4E}" type="pres">
      <dgm:prSet presAssocID="{8E55FC4C-5634-411A-BA44-E1881393EDEF}" presName="desTx" presStyleLbl="node1" presStyleIdx="0" presStyleCnt="2" custScaleX="131290">
        <dgm:presLayoutVars>
          <dgm:bulletEnabled val="1"/>
        </dgm:presLayoutVars>
      </dgm:prSet>
      <dgm:spPr/>
    </dgm:pt>
    <dgm:pt modelId="{35EB3566-33A7-4C92-9EC2-3C8364A7D1D3}" type="pres">
      <dgm:prSet presAssocID="{DB3BD554-8DE8-456E-857E-00974F4E86A8}" presName="spV" presStyleCnt="0"/>
      <dgm:spPr/>
    </dgm:pt>
    <dgm:pt modelId="{BE3BE316-EDDD-4F4B-8020-F4D96881509A}" type="pres">
      <dgm:prSet presAssocID="{485137B7-57A5-4A2D-BE93-B11D8422C2B3}" presName="linNode" presStyleCnt="0"/>
      <dgm:spPr/>
    </dgm:pt>
    <dgm:pt modelId="{05F093D8-3863-4634-8DAE-B74F8899AC2F}" type="pres">
      <dgm:prSet presAssocID="{485137B7-57A5-4A2D-BE93-B11D8422C2B3}" presName="parTx" presStyleLbl="revTx" presStyleIdx="1" presStyleCnt="2">
        <dgm:presLayoutVars>
          <dgm:chMax val="1"/>
          <dgm:bulletEnabled val="1"/>
        </dgm:presLayoutVars>
      </dgm:prSet>
      <dgm:spPr/>
    </dgm:pt>
    <dgm:pt modelId="{7BEF4F51-DD8D-470E-8568-A9E145D04396}" type="pres">
      <dgm:prSet presAssocID="{485137B7-57A5-4A2D-BE93-B11D8422C2B3}" presName="bracket" presStyleLbl="parChTrans1D1" presStyleIdx="1" presStyleCnt="2"/>
      <dgm:spPr/>
    </dgm:pt>
    <dgm:pt modelId="{C06FE857-84B1-480D-A779-77AE8E619587}" type="pres">
      <dgm:prSet presAssocID="{485137B7-57A5-4A2D-BE93-B11D8422C2B3}" presName="spH" presStyleCnt="0"/>
      <dgm:spPr/>
    </dgm:pt>
    <dgm:pt modelId="{F2A15066-A464-4434-BEE1-EE98D4AA2F69}" type="pres">
      <dgm:prSet presAssocID="{485137B7-57A5-4A2D-BE93-B11D8422C2B3}" presName="desTx" presStyleLbl="node1" presStyleIdx="1" presStyleCnt="2" custScaleX="131290">
        <dgm:presLayoutVars>
          <dgm:bulletEnabled val="1"/>
        </dgm:presLayoutVars>
      </dgm:prSet>
      <dgm:spPr/>
    </dgm:pt>
  </dgm:ptLst>
  <dgm:cxnLst>
    <dgm:cxn modelId="{08C87402-410E-4B41-B80C-8181D435C53D}" type="presOf" srcId="{8E55FC4C-5634-411A-BA44-E1881393EDEF}" destId="{FBF6E5E8-E81E-4B60-805B-2FCCD741304C}" srcOrd="0" destOrd="0" presId="urn:diagrams.loki3.com/BracketList"/>
    <dgm:cxn modelId="{D2ACA50B-2B61-4893-937D-6DE42C60B3B8}" srcId="{8E55FC4C-5634-411A-BA44-E1881393EDEF}" destId="{AA72A656-C32B-4BC0-85ED-03603935A70D}" srcOrd="0" destOrd="0" parTransId="{39D79BB8-5D9E-43E1-BF6E-026867E09AAF}" sibTransId="{F72B3D69-5A02-4BF3-9745-7A9985DC855D}"/>
    <dgm:cxn modelId="{B40C7F0E-3F68-460C-9A59-A67FBBAE85D4}" srcId="{485137B7-57A5-4A2D-BE93-B11D8422C2B3}" destId="{E140779B-5534-4D1F-A4BC-48C5A337E786}" srcOrd="0" destOrd="0" parTransId="{EABD9B38-D890-413F-90EF-39248C8A0F29}" sibTransId="{7EA8082F-7993-4AD6-A692-D92E9D0980F3}"/>
    <dgm:cxn modelId="{BDED1913-E754-4674-859A-1595E939B68C}" type="presOf" srcId="{6DBEEE8C-F460-4EC6-948B-42F76DFC0B69}" destId="{680EC471-FA92-4B00-93AA-1E1C9C4A82E6}" srcOrd="0" destOrd="0" presId="urn:diagrams.loki3.com/BracketList"/>
    <dgm:cxn modelId="{BF2F8414-DC28-4132-BEA5-1C80BC95E3A5}" type="presOf" srcId="{E140779B-5534-4D1F-A4BC-48C5A337E786}" destId="{F2A15066-A464-4434-BEE1-EE98D4AA2F69}" srcOrd="0" destOrd="0" presId="urn:diagrams.loki3.com/BracketList"/>
    <dgm:cxn modelId="{0AE5431B-9ACF-4E18-A1AF-E3DB1551EEDD}" type="presOf" srcId="{F55DAAD3-0C0E-45AD-AF7D-8EF24ABE8407}" destId="{F2A15066-A464-4434-BEE1-EE98D4AA2F69}" srcOrd="0" destOrd="2" presId="urn:diagrams.loki3.com/BracketList"/>
    <dgm:cxn modelId="{8BFAD232-61B0-47C3-BBB1-058B56B77A03}" srcId="{485137B7-57A5-4A2D-BE93-B11D8422C2B3}" destId="{CEF2AF6E-5101-4181-BE77-2296F66B83F1}" srcOrd="1" destOrd="0" parTransId="{A8790C5A-7235-40A6-BCEF-E34748985B08}" sibTransId="{93C38D59-F21E-4FDB-AD52-6B69ACFD6AFB}"/>
    <dgm:cxn modelId="{C46D653A-1855-4A8F-AE6A-F1BABC7A8F2B}" type="presOf" srcId="{485137B7-57A5-4A2D-BE93-B11D8422C2B3}" destId="{05F093D8-3863-4634-8DAE-B74F8899AC2F}" srcOrd="0" destOrd="0" presId="urn:diagrams.loki3.com/BracketList"/>
    <dgm:cxn modelId="{FB688E3F-48DE-4E92-9113-9F910A1C6E36}" srcId="{6DBEEE8C-F460-4EC6-948B-42F76DFC0B69}" destId="{8E55FC4C-5634-411A-BA44-E1881393EDEF}" srcOrd="0" destOrd="0" parTransId="{DBC89A29-5B07-42B8-B7E0-F748040ECCCF}" sibTransId="{DB3BD554-8DE8-456E-857E-00974F4E86A8}"/>
    <dgm:cxn modelId="{983FE741-21EA-43BC-9E0D-7AE961A0E09B}" type="presOf" srcId="{86847064-EA1A-45BB-AFD7-56E23E2783E3}" destId="{C8CAE565-8C0C-4C27-ADFA-8AE07D3FAC4E}" srcOrd="0" destOrd="1" presId="urn:diagrams.loki3.com/BracketList"/>
    <dgm:cxn modelId="{50130643-F0CA-4F9B-BA93-EC94FD95718B}" type="presOf" srcId="{AA72A656-C32B-4BC0-85ED-03603935A70D}" destId="{C8CAE565-8C0C-4C27-ADFA-8AE07D3FAC4E}" srcOrd="0" destOrd="0" presId="urn:diagrams.loki3.com/BracketList"/>
    <dgm:cxn modelId="{6623B36A-0FBA-4662-BD98-57148777FBBE}" type="presOf" srcId="{CEF2AF6E-5101-4181-BE77-2296F66B83F1}" destId="{F2A15066-A464-4434-BEE1-EE98D4AA2F69}" srcOrd="0" destOrd="1" presId="urn:diagrams.loki3.com/BracketList"/>
    <dgm:cxn modelId="{9CAE7B73-B455-4A21-9898-9745DACEFB92}" type="presOf" srcId="{E299730D-3461-4A7D-8571-575EA259D66C}" destId="{C8CAE565-8C0C-4C27-ADFA-8AE07D3FAC4E}" srcOrd="0" destOrd="3" presId="urn:diagrams.loki3.com/BracketList"/>
    <dgm:cxn modelId="{95318B59-180E-48B4-B80F-0E5909415A6B}" srcId="{8E55FC4C-5634-411A-BA44-E1881393EDEF}" destId="{86847064-EA1A-45BB-AFD7-56E23E2783E3}" srcOrd="1" destOrd="0" parTransId="{C4EAF8C5-1F6B-4210-A1FE-6239CBAB6CCF}" sibTransId="{70EE8977-FE33-4BA9-BB48-57A6961A4248}"/>
    <dgm:cxn modelId="{D6B1FF86-0296-4BA3-AFB8-C836C95FE3C5}" srcId="{485137B7-57A5-4A2D-BE93-B11D8422C2B3}" destId="{F55DAAD3-0C0E-45AD-AF7D-8EF24ABE8407}" srcOrd="2" destOrd="0" parTransId="{5D88466D-4B78-4CFC-945B-53A9AA65D2DB}" sibTransId="{A27DFC4B-A2AD-4B19-AFC1-C6707E90CD51}"/>
    <dgm:cxn modelId="{9BDF7E95-370C-409F-8BFF-85F4C6A81C63}" srcId="{6DBEEE8C-F460-4EC6-948B-42F76DFC0B69}" destId="{485137B7-57A5-4A2D-BE93-B11D8422C2B3}" srcOrd="1" destOrd="0" parTransId="{CC27110B-6BBC-4107-B2E4-B050AEBBF183}" sibTransId="{F86A5FD2-FA68-4E0D-B3DA-BAB273DD7995}"/>
    <dgm:cxn modelId="{5B1578DF-D1AD-428B-AF6A-61AC0A35479F}" type="presOf" srcId="{2DBF707B-247D-4D1B-9CE5-8EDF19E60B2D}" destId="{C8CAE565-8C0C-4C27-ADFA-8AE07D3FAC4E}" srcOrd="0" destOrd="2" presId="urn:diagrams.loki3.com/BracketList"/>
    <dgm:cxn modelId="{1515A8E1-3345-45E9-A473-54FC5D290A94}" srcId="{8E55FC4C-5634-411A-BA44-E1881393EDEF}" destId="{2DBF707B-247D-4D1B-9CE5-8EDF19E60B2D}" srcOrd="2" destOrd="0" parTransId="{AB6B28EA-DB23-4CC1-9C8B-B9E0477967B0}" sibTransId="{47042F0B-3FF3-4729-A1EB-26843C4A5279}"/>
    <dgm:cxn modelId="{BA1B2FF8-5134-4CB1-A47C-7D998AB49A96}" srcId="{8E55FC4C-5634-411A-BA44-E1881393EDEF}" destId="{E299730D-3461-4A7D-8571-575EA259D66C}" srcOrd="3" destOrd="0" parTransId="{D7806ACF-2E09-4425-8C56-1AD747EF3EAB}" sibTransId="{6834A353-C398-4B21-9192-3433D9218AFE}"/>
    <dgm:cxn modelId="{5FE74D68-B54C-49E8-89D1-6F6028D81729}" type="presParOf" srcId="{680EC471-FA92-4B00-93AA-1E1C9C4A82E6}" destId="{941E8AB1-2C94-43E0-9C22-FDA17C0574C8}" srcOrd="0" destOrd="0" presId="urn:diagrams.loki3.com/BracketList"/>
    <dgm:cxn modelId="{39ADB287-5A80-40FF-A049-E83A0FD2E07F}" type="presParOf" srcId="{941E8AB1-2C94-43E0-9C22-FDA17C0574C8}" destId="{FBF6E5E8-E81E-4B60-805B-2FCCD741304C}" srcOrd="0" destOrd="0" presId="urn:diagrams.loki3.com/BracketList"/>
    <dgm:cxn modelId="{E81EAA69-5732-4719-9B2C-72D74EF2D794}" type="presParOf" srcId="{941E8AB1-2C94-43E0-9C22-FDA17C0574C8}" destId="{7ED151F3-7AE3-4BCE-A19C-9F0A5F9D9773}" srcOrd="1" destOrd="0" presId="urn:diagrams.loki3.com/BracketList"/>
    <dgm:cxn modelId="{A2299E1A-DA76-4AC2-A70E-CAA7AF2D604A}" type="presParOf" srcId="{941E8AB1-2C94-43E0-9C22-FDA17C0574C8}" destId="{E758D229-0FFF-444D-B80F-1916A491AA07}" srcOrd="2" destOrd="0" presId="urn:diagrams.loki3.com/BracketList"/>
    <dgm:cxn modelId="{215E7D41-2B8B-461F-8B76-E2AC077E24D4}" type="presParOf" srcId="{941E8AB1-2C94-43E0-9C22-FDA17C0574C8}" destId="{C8CAE565-8C0C-4C27-ADFA-8AE07D3FAC4E}" srcOrd="3" destOrd="0" presId="urn:diagrams.loki3.com/BracketList"/>
    <dgm:cxn modelId="{3E984741-A58D-46AE-A744-FFF45B897DF9}" type="presParOf" srcId="{680EC471-FA92-4B00-93AA-1E1C9C4A82E6}" destId="{35EB3566-33A7-4C92-9EC2-3C8364A7D1D3}" srcOrd="1" destOrd="0" presId="urn:diagrams.loki3.com/BracketList"/>
    <dgm:cxn modelId="{A95C62DD-C4ED-4B8A-A5BE-E7EFFFE323E8}" type="presParOf" srcId="{680EC471-FA92-4B00-93AA-1E1C9C4A82E6}" destId="{BE3BE316-EDDD-4F4B-8020-F4D96881509A}" srcOrd="2" destOrd="0" presId="urn:diagrams.loki3.com/BracketList"/>
    <dgm:cxn modelId="{23E651E4-30FC-4395-A01F-7111B19E6D0D}" type="presParOf" srcId="{BE3BE316-EDDD-4F4B-8020-F4D96881509A}" destId="{05F093D8-3863-4634-8DAE-B74F8899AC2F}" srcOrd="0" destOrd="0" presId="urn:diagrams.loki3.com/BracketList"/>
    <dgm:cxn modelId="{3B8B8DC3-5E9A-4EDA-B721-502270B0045C}" type="presParOf" srcId="{BE3BE316-EDDD-4F4B-8020-F4D96881509A}" destId="{7BEF4F51-DD8D-470E-8568-A9E145D04396}" srcOrd="1" destOrd="0" presId="urn:diagrams.loki3.com/BracketList"/>
    <dgm:cxn modelId="{D2B487B1-D461-4129-B469-2CD2F6B2AA0E}" type="presParOf" srcId="{BE3BE316-EDDD-4F4B-8020-F4D96881509A}" destId="{C06FE857-84B1-480D-A779-77AE8E619587}" srcOrd="2" destOrd="0" presId="urn:diagrams.loki3.com/BracketList"/>
    <dgm:cxn modelId="{5867D710-BAE3-4881-BF03-5B01D9EA613D}" type="presParOf" srcId="{BE3BE316-EDDD-4F4B-8020-F4D96881509A}" destId="{F2A15066-A464-4434-BEE1-EE98D4AA2F6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4BFB6-15D9-4E68-A381-30FE437DD4BA}">
      <dsp:nvSpPr>
        <dsp:cNvPr id="0" name=""/>
        <dsp:cNvSpPr/>
      </dsp:nvSpPr>
      <dsp:spPr>
        <a:xfrm>
          <a:off x="1689723" y="560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architecture</a:t>
          </a:r>
          <a:r>
            <a:rPr lang="en-US" sz="2200" kern="1200" dirty="0"/>
            <a:t> and </a:t>
          </a:r>
          <a:r>
            <a:rPr lang="en-US" sz="2200" b="1" kern="1200" dirty="0"/>
            <a:t>blueprint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Creating a </a:t>
          </a:r>
          <a:r>
            <a:rPr lang="en-US" sz="2200" b="1" kern="1200"/>
            <a:t>functional structure </a:t>
          </a:r>
          <a:r>
            <a:rPr lang="en-US" sz="2200" kern="1200"/>
            <a:t>that meets the audience's needs.</a:t>
          </a:r>
          <a:endParaRPr lang="en-US" sz="2200" kern="1200" dirty="0"/>
        </a:p>
      </dsp:txBody>
      <dsp:txXfrm>
        <a:off x="1689723" y="274006"/>
        <a:ext cx="4741051" cy="1640673"/>
      </dsp:txXfrm>
    </dsp:sp>
    <dsp:sp modelId="{3F0A9160-A7DB-41B6-A71F-C516E4234F82}">
      <dsp:nvSpPr>
        <dsp:cNvPr id="0" name=""/>
        <dsp:cNvSpPr/>
      </dsp:nvSpPr>
      <dsp:spPr>
        <a:xfrm>
          <a:off x="225" y="560"/>
          <a:ext cx="1689498" cy="2187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Crafting the story</a:t>
          </a:r>
        </a:p>
      </dsp:txBody>
      <dsp:txXfrm>
        <a:off x="82699" y="83034"/>
        <a:ext cx="1524550" cy="2022617"/>
      </dsp:txXfrm>
    </dsp:sp>
    <dsp:sp modelId="{74927018-039A-4E59-BE7F-E5E233691328}">
      <dsp:nvSpPr>
        <dsp:cNvPr id="0" name=""/>
        <dsp:cNvSpPr/>
      </dsp:nvSpPr>
      <dsp:spPr>
        <a:xfrm>
          <a:off x="1689723" y="2406883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11274298"/>
            <a:satOff val="13066"/>
            <a:lumOff val="11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274298"/>
              <a:satOff val="13066"/>
              <a:lumOff val="11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construction</a:t>
          </a:r>
          <a:r>
            <a:rPr lang="en-US" sz="2200" kern="1200" dirty="0"/>
            <a:t> and </a:t>
          </a:r>
          <a:r>
            <a:rPr lang="en-US" sz="2200" b="1" kern="1200" dirty="0"/>
            <a:t>interior design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Using the </a:t>
          </a:r>
          <a:r>
            <a:rPr lang="en-US" sz="2200" b="1" kern="1200"/>
            <a:t>right materials (visuals), a tidy look (decluttering), and clear signs (language) </a:t>
          </a:r>
          <a:r>
            <a:rPr lang="en-US" sz="2200" kern="1200"/>
            <a:t>will make the house comfortable and easy to navigate.</a:t>
          </a:r>
          <a:endParaRPr lang="en-US" sz="2200" kern="1200" dirty="0"/>
        </a:p>
      </dsp:txBody>
      <dsp:txXfrm>
        <a:off x="1689723" y="2680329"/>
        <a:ext cx="4741051" cy="1640673"/>
      </dsp:txXfrm>
    </dsp:sp>
    <dsp:sp modelId="{971EC7AE-54F5-4EBF-A88E-71160CD38BDA}">
      <dsp:nvSpPr>
        <dsp:cNvPr id="0" name=""/>
        <dsp:cNvSpPr/>
      </dsp:nvSpPr>
      <dsp:spPr>
        <a:xfrm>
          <a:off x="225" y="2406883"/>
          <a:ext cx="1689498" cy="2187565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Articulating the story</a:t>
          </a:r>
        </a:p>
      </dsp:txBody>
      <dsp:txXfrm>
        <a:off x="82699" y="2489357"/>
        <a:ext cx="1524550" cy="2022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Audience &amp; Context (The Foundation)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The “Big Idea” (The Core Message)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The Narrative Arc (The Structure)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Conflict &amp; Stakes (The Hook)</a:t>
          </a:r>
        </a:p>
      </dsp:txBody>
      <dsp:txXfrm>
        <a:off x="6262851" y="1581703"/>
        <a:ext cx="1765567" cy="1790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89D79-93E8-4E0B-A990-5D6F789EDBA3}">
      <dsp:nvSpPr>
        <dsp:cNvPr id="0" name=""/>
        <dsp:cNvSpPr/>
      </dsp:nvSpPr>
      <dsp:spPr>
        <a:xfrm>
          <a:off x="2019614" y="0"/>
          <a:ext cx="6184633" cy="386539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6B5B2-D746-4A75-85B0-101FEC28412A}">
      <dsp:nvSpPr>
        <dsp:cNvPr id="0" name=""/>
        <dsp:cNvSpPr/>
      </dsp:nvSpPr>
      <dsp:spPr>
        <a:xfrm>
          <a:off x="2805062" y="2667896"/>
          <a:ext cx="160800" cy="1608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022E8-B1CE-4CD7-AC61-DC5E0B78B88A}">
      <dsp:nvSpPr>
        <dsp:cNvPr id="0" name=""/>
        <dsp:cNvSpPr/>
      </dsp:nvSpPr>
      <dsp:spPr>
        <a:xfrm>
          <a:off x="2885462" y="2748296"/>
          <a:ext cx="1441019" cy="111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05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Hook</a:t>
          </a:r>
        </a:p>
      </dsp:txBody>
      <dsp:txXfrm>
        <a:off x="2885462" y="2748296"/>
        <a:ext cx="1441019" cy="1117099"/>
      </dsp:txXfrm>
    </dsp:sp>
    <dsp:sp modelId="{F01767D6-FF32-4531-ADB4-25B5701759EE}">
      <dsp:nvSpPr>
        <dsp:cNvPr id="0" name=""/>
        <dsp:cNvSpPr/>
      </dsp:nvSpPr>
      <dsp:spPr>
        <a:xfrm>
          <a:off x="4224436" y="1617281"/>
          <a:ext cx="290677" cy="290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2B36B-4542-4868-8407-C03327613781}">
      <dsp:nvSpPr>
        <dsp:cNvPr id="0" name=""/>
        <dsp:cNvSpPr/>
      </dsp:nvSpPr>
      <dsp:spPr>
        <a:xfrm>
          <a:off x="4369774" y="1762620"/>
          <a:ext cx="1484312" cy="21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24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Conflict</a:t>
          </a:r>
        </a:p>
      </dsp:txBody>
      <dsp:txXfrm>
        <a:off x="4369774" y="1762620"/>
        <a:ext cx="1484312" cy="2102775"/>
      </dsp:txXfrm>
    </dsp:sp>
    <dsp:sp modelId="{F8DCC823-649C-4F61-9338-6C0F68782BAB}">
      <dsp:nvSpPr>
        <dsp:cNvPr id="0" name=""/>
        <dsp:cNvSpPr/>
      </dsp:nvSpPr>
      <dsp:spPr>
        <a:xfrm>
          <a:off x="5931394" y="977945"/>
          <a:ext cx="402001" cy="4020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0DA15-0411-449F-9470-631FC7E8BD13}">
      <dsp:nvSpPr>
        <dsp:cNvPr id="0" name=""/>
        <dsp:cNvSpPr/>
      </dsp:nvSpPr>
      <dsp:spPr>
        <a:xfrm>
          <a:off x="6132395" y="1178945"/>
          <a:ext cx="1484312" cy="268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012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Resolution</a:t>
          </a:r>
          <a:endParaRPr lang="en-US" sz="2200" kern="1200" dirty="0"/>
        </a:p>
      </dsp:txBody>
      <dsp:txXfrm>
        <a:off x="6132395" y="1178945"/>
        <a:ext cx="1484312" cy="26864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Choosing the Right Visuals (The Vehicle)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Focusing Attention (The Spotlight)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Clear and Concise (The Script)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The Narrative Flow (The Guideposts)</a:t>
          </a:r>
        </a:p>
      </dsp:txBody>
      <dsp:txXfrm>
        <a:off x="6262851" y="1581703"/>
        <a:ext cx="1765567" cy="1790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F99F4-C810-42E7-B80C-CF5D1A2EEC9A}">
      <dsp:nvSpPr>
        <dsp:cNvPr id="0" name=""/>
        <dsp:cNvSpPr/>
      </dsp:nvSpPr>
      <dsp:spPr>
        <a:xfrm>
          <a:off x="3068" y="43492"/>
          <a:ext cx="2992040" cy="74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Relational</a:t>
          </a:r>
        </a:p>
      </dsp:txBody>
      <dsp:txXfrm>
        <a:off x="3068" y="43492"/>
        <a:ext cx="2992040" cy="748800"/>
      </dsp:txXfrm>
    </dsp:sp>
    <dsp:sp modelId="{13EBFFED-CE96-412E-B303-AB2830C00FE7}">
      <dsp:nvSpPr>
        <dsp:cNvPr id="0" name=""/>
        <dsp:cNvSpPr/>
      </dsp:nvSpPr>
      <dsp:spPr>
        <a:xfrm>
          <a:off x="3068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Correlations, relationships between variables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numerical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Scatter plots, heatmaps, network diagrams</a:t>
          </a:r>
        </a:p>
      </dsp:txBody>
      <dsp:txXfrm>
        <a:off x="3068" y="792292"/>
        <a:ext cx="2992040" cy="3853980"/>
      </dsp:txXfrm>
    </dsp:sp>
    <dsp:sp modelId="{B8A33D22-39BE-4DBF-956C-6D8F64EC2776}">
      <dsp:nvSpPr>
        <dsp:cNvPr id="0" name=""/>
        <dsp:cNvSpPr/>
      </dsp:nvSpPr>
      <dsp:spPr>
        <a:xfrm>
          <a:off x="3413995" y="43492"/>
          <a:ext cx="2992040" cy="748800"/>
        </a:xfrm>
        <a:prstGeom prst="rect">
          <a:avLst/>
        </a:prstGeom>
        <a:solidFill>
          <a:schemeClr val="accent5">
            <a:hueOff val="-1003581"/>
            <a:satOff val="-47805"/>
            <a:lumOff val="8529"/>
            <a:alphaOff val="0"/>
          </a:schemeClr>
        </a:solidFill>
        <a:ln w="12700" cap="flat" cmpd="sng" algn="ctr">
          <a:solidFill>
            <a:schemeClr val="accent5">
              <a:hueOff val="-1003581"/>
              <a:satOff val="-47805"/>
              <a:lumOff val="8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</a:t>
          </a:r>
        </a:p>
      </dsp:txBody>
      <dsp:txXfrm>
        <a:off x="3413995" y="43492"/>
        <a:ext cx="2992040" cy="748800"/>
      </dsp:txXfrm>
    </dsp:sp>
    <dsp:sp modelId="{4D1E8F82-48DE-4590-B72D-455CF46D666B}">
      <dsp:nvSpPr>
        <dsp:cNvPr id="0" name=""/>
        <dsp:cNvSpPr/>
      </dsp:nvSpPr>
      <dsp:spPr>
        <a:xfrm>
          <a:off x="3413995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689767"/>
            <a:satOff val="-27117"/>
            <a:lumOff val="-15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89767"/>
              <a:satOff val="-27117"/>
              <a:lumOff val="-1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Data shape, central tendency, outliers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discrete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Histograms, box plots, density plots</a:t>
          </a:r>
        </a:p>
      </dsp:txBody>
      <dsp:txXfrm>
        <a:off x="3413995" y="792292"/>
        <a:ext cx="2992040" cy="3853980"/>
      </dsp:txXfrm>
    </dsp:sp>
    <dsp:sp modelId="{6F2A4FAE-E141-4688-83DC-4FE61D648BF7}">
      <dsp:nvSpPr>
        <dsp:cNvPr id="0" name=""/>
        <dsp:cNvSpPr/>
      </dsp:nvSpPr>
      <dsp:spPr>
        <a:xfrm>
          <a:off x="6824921" y="43492"/>
          <a:ext cx="2992040" cy="748800"/>
        </a:xfrm>
        <a:prstGeom prst="rect">
          <a:avLst/>
        </a:prstGeom>
        <a:solidFill>
          <a:schemeClr val="accent5">
            <a:hueOff val="-2007162"/>
            <a:satOff val="-95610"/>
            <a:lumOff val="17059"/>
            <a:alphaOff val="0"/>
          </a:schemeClr>
        </a:solidFill>
        <a:ln w="12700" cap="flat" cmpd="sng" algn="ctr">
          <a:solidFill>
            <a:schemeClr val="accent5">
              <a:hueOff val="-2007162"/>
              <a:satOff val="-95610"/>
              <a:lumOff val="1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Categorical</a:t>
          </a:r>
        </a:p>
      </dsp:txBody>
      <dsp:txXfrm>
        <a:off x="6824921" y="43492"/>
        <a:ext cx="2992040" cy="748800"/>
      </dsp:txXfrm>
    </dsp:sp>
    <dsp:sp modelId="{AFABA87F-4E9B-45AF-A9FA-D2582C470F4D}">
      <dsp:nvSpPr>
        <dsp:cNvPr id="0" name=""/>
        <dsp:cNvSpPr/>
      </dsp:nvSpPr>
      <dsp:spPr>
        <a:xfrm>
          <a:off x="6824921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1379535"/>
            <a:satOff val="-54235"/>
            <a:lumOff val="-30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79535"/>
              <a:satOff val="-54235"/>
              <a:lumOff val="-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Comparing categories, proportions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Categorical or nominal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Bar charts, pie charts, violin plots, stacked bar charts</a:t>
          </a:r>
        </a:p>
      </dsp:txBody>
      <dsp:txXfrm>
        <a:off x="6824921" y="792292"/>
        <a:ext cx="2992040" cy="38539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E5E8-E81E-4B60-805B-2FCCD741304C}">
      <dsp:nvSpPr>
        <dsp:cNvPr id="0" name=""/>
        <dsp:cNvSpPr/>
      </dsp:nvSpPr>
      <dsp:spPr>
        <a:xfrm>
          <a:off x="2248" y="923261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Crafting the Compelling Story (50%)</a:t>
          </a:r>
        </a:p>
      </dsp:txBody>
      <dsp:txXfrm>
        <a:off x="2248" y="923261"/>
        <a:ext cx="2256510" cy="1024650"/>
      </dsp:txXfrm>
    </dsp:sp>
    <dsp:sp modelId="{7ED151F3-7AE3-4BCE-A19C-9F0A5F9D9773}">
      <dsp:nvSpPr>
        <dsp:cNvPr id="0" name=""/>
        <dsp:cNvSpPr/>
      </dsp:nvSpPr>
      <dsp:spPr>
        <a:xfrm>
          <a:off x="2258758" y="378915"/>
          <a:ext cx="451302" cy="211334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E565-8C0C-4C27-ADFA-8AE07D3FAC4E}">
      <dsp:nvSpPr>
        <dsp:cNvPr id="0" name=""/>
        <dsp:cNvSpPr/>
      </dsp:nvSpPr>
      <dsp:spPr>
        <a:xfrm>
          <a:off x="2890581" y="378915"/>
          <a:ext cx="8058198" cy="21133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Depth and relevance of insights drawn from the data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Effectiveness of recommendations for countering GenAI threats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Originality and creativity of the approach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identify and leverage key relationships, trends and patterns in the data</a:t>
          </a:r>
        </a:p>
      </dsp:txBody>
      <dsp:txXfrm>
        <a:off x="2890581" y="378915"/>
        <a:ext cx="8058198" cy="2113340"/>
      </dsp:txXfrm>
    </dsp:sp>
    <dsp:sp modelId="{05F093D8-3863-4634-8DAE-B74F8899AC2F}">
      <dsp:nvSpPr>
        <dsp:cNvPr id="0" name=""/>
        <dsp:cNvSpPr/>
      </dsp:nvSpPr>
      <dsp:spPr>
        <a:xfrm>
          <a:off x="2248" y="2959300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Articulating the Compelling Story (50%)</a:t>
          </a:r>
        </a:p>
      </dsp:txBody>
      <dsp:txXfrm>
        <a:off x="2248" y="2959300"/>
        <a:ext cx="2256510" cy="1024650"/>
      </dsp:txXfrm>
    </dsp:sp>
    <dsp:sp modelId="{7BEF4F51-DD8D-470E-8568-A9E145D04396}">
      <dsp:nvSpPr>
        <dsp:cNvPr id="0" name=""/>
        <dsp:cNvSpPr/>
      </dsp:nvSpPr>
      <dsp:spPr>
        <a:xfrm>
          <a:off x="2258758" y="2575056"/>
          <a:ext cx="451302" cy="17931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15066-A464-4434-BEE1-EE98D4AA2F69}">
      <dsp:nvSpPr>
        <dsp:cNvPr id="0" name=""/>
        <dsp:cNvSpPr/>
      </dsp:nvSpPr>
      <dsp:spPr>
        <a:xfrm>
          <a:off x="2890581" y="2575056"/>
          <a:ext cx="8058198" cy="1793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Clarity, coherence, and organization of the executive summary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Use of effective visualizations to support findings and recommendations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communicate complex ideas and insights in a clear and concise manner</a:t>
          </a:r>
        </a:p>
      </dsp:txBody>
      <dsp:txXfrm>
        <a:off x="2890581" y="2575056"/>
        <a:ext cx="8058198" cy="1793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4948-F7B0-3F47-B861-EDEBAACE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63E05-CF9F-6A39-AD78-4AC42ECAB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F20E7-ED05-EC49-16D9-8780E61B8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90D6-4DFF-3DDC-5A56-8164A6F76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2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504B-7B90-ADAC-DA2D-82DB815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64C68-8592-F45D-FE47-55A9DBE44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883C-A625-0DA4-5960-E891C2A80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B35E-914B-1FC6-0562-892412165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2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" TargetMode="External"/><Relationship Id="rId2" Type="http://schemas.openxmlformats.org/officeDocument/2006/relationships/hyperlink" Target="https://www.kaggle.com/datasets/shivamb/netflix-show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09/14/2025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Assignment 1 Debrief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Storytelling with Data – Part 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Part 1: Crafting a Compelling Story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Part 2: Articulating the Story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Kahoot!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Assignment 2 walkthrough (due Oct 3</a:t>
            </a:r>
            <a:r>
              <a:rPr lang="en-US" sz="3000" baseline="30000" dirty="0"/>
              <a:t>rd</a:t>
            </a:r>
            <a:r>
              <a:rPr lang="en-US" sz="3000" dirty="0"/>
              <a:t>, 11:59 pm)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298-B558-1BF6-A635-6F0A8B2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8FA16-5A85-001E-E753-81EB175F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insights from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9638C0-B635-F529-6B6D-A36DA7B8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1 – Titanic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EEE7-2EA5-D440-1E26-8FE016D9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173E6-E907-99DB-2885-F777E692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697737"/>
            <a:ext cx="5500017" cy="3791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E39EE-02E5-2123-243A-E3283E53C79A}"/>
              </a:ext>
            </a:extLst>
          </p:cNvPr>
          <p:cNvSpPr txBox="1"/>
          <p:nvPr/>
        </p:nvSpPr>
        <p:spPr>
          <a:xfrm>
            <a:off x="6095997" y="1118713"/>
            <a:ext cx="58510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Understanding &amp;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Assess the quality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plan to address (through data engineering)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Potentially incorrect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Missing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Collection of additional data that might be useful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222B-8EE6-4D8E-0EE1-1190624C4223}"/>
              </a:ext>
            </a:extLst>
          </p:cNvPr>
          <p:cNvSpPr txBox="1"/>
          <p:nvPr/>
        </p:nvSpPr>
        <p:spPr>
          <a:xfrm>
            <a:off x="6095997" y="3919480"/>
            <a:ext cx="58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Given the data you have and the understanding of who is more likely to survive, what else could be done to improve the survival rate?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Obviously, other than “adding more lifeboats”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ADE86-2A96-595F-9A31-9A7F9FEED5C2}"/>
              </a:ext>
            </a:extLst>
          </p:cNvPr>
          <p:cNvSpPr txBox="1"/>
          <p:nvPr/>
        </p:nvSpPr>
        <p:spPr>
          <a:xfrm>
            <a:off x="244994" y="2025258"/>
            <a:ext cx="5851003" cy="240065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Did we sink? Or did we swim?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000" dirty="0"/>
              <a:t>Was it too difficult? Too easy?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3000" dirty="0"/>
              <a:t>What was the toughest part?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000" dirty="0"/>
              <a:t>Did it take longer than you thought to complete?</a:t>
            </a:r>
          </a:p>
        </p:txBody>
      </p:sp>
    </p:spTree>
    <p:extLst>
      <p:ext uri="{BB962C8B-B14F-4D97-AF65-F5344CB8AC3E}">
        <p14:creationId xmlns:p14="http://schemas.microsoft.com/office/powerpoint/2010/main" val="31199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806B-2D30-05FA-9FED-3F67532C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272E-C51B-1A01-1ADB-9EACE02D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Module 4: 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61B22-C5A0-757D-B25B-68E193A5B2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[Recap]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96D57-AB00-F027-311D-AA4C315F3A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09992-01B8-65DD-AB9B-443A070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09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49AE8B-6F7A-80AF-2E4B-F679361E7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It’s just like building a house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38A757-9848-B0E7-D789-432AD2ABE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Storytelling with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26B59-1D25-96E3-6D4E-FEBAF82C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65989-2DEC-34CE-64AA-AAB46BC5F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43" y="1320051"/>
            <a:ext cx="3424817" cy="5107259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EF6259C-7B09-486C-79C8-67FA2B92821B}"/>
              </a:ext>
            </a:extLst>
          </p:cNvPr>
          <p:cNvGraphicFramePr/>
          <p:nvPr/>
        </p:nvGraphicFramePr>
        <p:xfrm>
          <a:off x="577668" y="1421403"/>
          <a:ext cx="7251337" cy="4595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555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0A9160-A7DB-41B6-A71F-C516E4234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71EC7AE-54F5-4EBF-A88E-71160CD38B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954BFB6-15D9-4E68-A381-30FE437DD4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4927018-039A-4E59-BE7F-E5E2336913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678-759D-016F-F931-5296AD9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0B1-52DA-A640-AD89-183CA8E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1FB2-08BF-B528-29E8-0F8906DC6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[Recap] Part 1 – Crafting a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44A4-02B1-803D-F3E8-D8BCF7510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D37F-1BD2-0F57-4B4D-046809A2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369B-6211-AA62-BD6B-0A6F8D1B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666D6-C14D-600D-0080-2F29674BE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97C702-B8F1-E9E7-1277-9F643E3D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F409-FA9C-AB18-06BE-3AE8357F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8C88478-9859-D4DE-F08D-863D57C78B94}"/>
              </a:ext>
            </a:extLst>
          </p:cNvPr>
          <p:cNvGraphicFramePr/>
          <p:nvPr/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24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7F5672-8C85-4AB9-AB55-9712D9FC4F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5539C3-412D-4DF6-8F57-7ADEF23E9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3AE47F-CCA7-4F98-A165-FA856DE8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25C352-0C1B-4301-AA5E-903C17D20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8EB550-E125-450B-9D39-4D96157D5C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47B9-C9A8-DAF0-4E0D-3A0E3088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5993BB-2572-2B65-5209-E69B9B742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1AAA-34F9-1B72-293A-BFE87240F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1. Audience &amp; Context – The Foundation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08AFDD-6F8B-6AC3-13A3-72BD2830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7A1FE-415C-0D32-2372-ED49AA83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6EAEC-B096-2FCC-86B2-0892D938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1" y="2682293"/>
            <a:ext cx="5657850" cy="2780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6C0EC-57F9-C1C5-ED86-5E26818963C8}"/>
              </a:ext>
            </a:extLst>
          </p:cNvPr>
          <p:cNvSpPr txBox="1"/>
          <p:nvPr/>
        </p:nvSpPr>
        <p:spPr>
          <a:xfrm>
            <a:off x="339634" y="5634516"/>
            <a:ext cx="59502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Zhao, G., Li, Y., &amp; Xu, Q. (2022). From emotion AI to cognitive AI. </a:t>
            </a:r>
          </a:p>
          <a:p>
            <a:r>
              <a:rPr lang="en-US" sz="13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Network Dynamics and Intelligence</a:t>
            </a:r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65-72.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666F6-E985-EEFF-E689-70D932C9B2DB}"/>
              </a:ext>
            </a:extLst>
          </p:cNvPr>
          <p:cNvSpPr txBox="1"/>
          <p:nvPr/>
        </p:nvSpPr>
        <p:spPr>
          <a:xfrm>
            <a:off x="6522720" y="2162020"/>
            <a:ext cx="52011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There is an interconnected relationship between human </a:t>
            </a:r>
            <a:r>
              <a:rPr lang="en-US" sz="2200" b="1" dirty="0"/>
              <a:t>emotion</a:t>
            </a:r>
            <a:r>
              <a:rPr lang="en-US" sz="2200" dirty="0"/>
              <a:t> and human </a:t>
            </a:r>
            <a:r>
              <a:rPr lang="en-US" sz="2200" b="1" dirty="0"/>
              <a:t>cognition</a:t>
            </a:r>
            <a:r>
              <a:rPr lang="en-US" sz="2200" dirty="0"/>
              <a:t>, which drives </a:t>
            </a:r>
            <a:r>
              <a:rPr lang="en-US" sz="2200" b="1" dirty="0"/>
              <a:t>decision-making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Know your audience:</a:t>
            </a:r>
            <a:r>
              <a:rPr lang="en-US" sz="2200" b="1" dirty="0"/>
              <a:t> Connect! Make them care!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Who are you talking to? What do they care about?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their level of expertise?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decisions do they need to make? Or what decisions can they make?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 background context to help them connect -&gt; to care</a:t>
            </a:r>
          </a:p>
        </p:txBody>
      </p:sp>
    </p:spTree>
    <p:extLst>
      <p:ext uri="{BB962C8B-B14F-4D97-AF65-F5344CB8AC3E}">
        <p14:creationId xmlns:p14="http://schemas.microsoft.com/office/powerpoint/2010/main" val="428991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5EE1-6B0D-AFDC-3174-12C85937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8397E0-E66C-BA76-7343-E71BE1FC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A1408-C55B-46AB-0B4C-45BAADF07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2. The “Big Idea” – The Core Message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1CEAE4-8E61-B8DA-58FE-F691F696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3860A-1D56-AFDD-D928-2BF077E3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412B9-CE2E-40CB-A771-183B4720566F}"/>
              </a:ext>
            </a:extLst>
          </p:cNvPr>
          <p:cNvSpPr txBox="1"/>
          <p:nvPr/>
        </p:nvSpPr>
        <p:spPr>
          <a:xfrm>
            <a:off x="468086" y="2513909"/>
            <a:ext cx="49573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This is the big “headline” of your story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Don’t just show the data, make a point!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piece of data, every chart, every talking point you include must directly support this one central message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6019B-45F2-285C-89BC-46B0F45E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38" y="2663973"/>
            <a:ext cx="6580361" cy="29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5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E764-7598-F1A9-182C-4DA3D7BC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9F6EF-2114-2E2B-89B7-C4B28C09E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84F93-970A-2674-1E3E-03E2C263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3. The Narrative Arc – The Structure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C60A9-7B13-CAF9-59B0-75B966AF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7DF8C-79F7-C05C-5D27-F989BF3B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3F64E73-B549-1A6C-927D-4781D4EB14B3}"/>
              </a:ext>
            </a:extLst>
          </p:cNvPr>
          <p:cNvGraphicFramePr/>
          <p:nvPr/>
        </p:nvGraphicFramePr>
        <p:xfrm>
          <a:off x="-113210" y="2132634"/>
          <a:ext cx="10223862" cy="3865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AE7C78-240E-4569-2021-17147CC55339}"/>
              </a:ext>
            </a:extLst>
          </p:cNvPr>
          <p:cNvSpPr txBox="1"/>
          <p:nvPr/>
        </p:nvSpPr>
        <p:spPr>
          <a:xfrm>
            <a:off x="468086" y="2513909"/>
            <a:ext cx="33027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story needs </a:t>
            </a:r>
            <a:r>
              <a:rPr lang="en-US" sz="2200" b="1" dirty="0"/>
              <a:t>a beginning, middle, and an end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 good story focuses on a central conflict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5B174-3B44-E80A-5621-BCD9288BF7E0}"/>
              </a:ext>
            </a:extLst>
          </p:cNvPr>
          <p:cNvSpPr txBox="1"/>
          <p:nvPr/>
        </p:nvSpPr>
        <p:spPr>
          <a:xfrm>
            <a:off x="3396342" y="5216322"/>
            <a:ext cx="4957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Start with the context: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Present a problem, a question, or a surprising insight to grab the audience’s attention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FCC5F-206F-DE50-8B58-4DEE6918BB92}"/>
              </a:ext>
            </a:extLst>
          </p:cNvPr>
          <p:cNvSpPr txBox="1"/>
          <p:nvPr/>
        </p:nvSpPr>
        <p:spPr>
          <a:xfrm>
            <a:off x="5564776" y="4114347"/>
            <a:ext cx="55560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Present the supporting data and evidence: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“Aha!” moments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Exploratory path that led you to your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92219-2E06-C0D2-ACDF-EB22778F4DCC}"/>
              </a:ext>
            </a:extLst>
          </p:cNvPr>
          <p:cNvSpPr txBox="1"/>
          <p:nvPr/>
        </p:nvSpPr>
        <p:spPr>
          <a:xfrm>
            <a:off x="7397930" y="2828835"/>
            <a:ext cx="45850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Deliver your key finding or “Big Idea”: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Clear conclusion, a recommendation, or a call to action.</a:t>
            </a:r>
          </a:p>
        </p:txBody>
      </p:sp>
    </p:spTree>
    <p:extLst>
      <p:ext uri="{BB962C8B-B14F-4D97-AF65-F5344CB8AC3E}">
        <p14:creationId xmlns:p14="http://schemas.microsoft.com/office/powerpoint/2010/main" val="2634447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DE06-C05C-5FBD-8CD5-01D5139C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CCCDF-CA47-2FEF-A954-8F9056B3F6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4F7E5-BC8D-5112-B438-2137EA566D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4. Conflict and Stakes – The Hook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3F9794-114E-2103-DB78-A6098146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23178-0DED-140E-A3F7-6AEE0908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9F098-0183-A939-B3CF-1B1738D396F3}"/>
              </a:ext>
            </a:extLst>
          </p:cNvPr>
          <p:cNvSpPr txBox="1"/>
          <p:nvPr/>
        </p:nvSpPr>
        <p:spPr>
          <a:xfrm>
            <a:off x="468086" y="2513909"/>
            <a:ext cx="626364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“A story without conflict is just a report.”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The gap between “</a:t>
            </a:r>
            <a:r>
              <a:rPr lang="en-US" sz="2500" b="1" dirty="0"/>
              <a:t>what is</a:t>
            </a:r>
            <a:r>
              <a:rPr lang="en-US" sz="2500" dirty="0"/>
              <a:t>” and  “</a:t>
            </a:r>
            <a:r>
              <a:rPr lang="en-US" sz="2500" b="1" dirty="0"/>
              <a:t>what could be</a:t>
            </a:r>
            <a:r>
              <a:rPr lang="en-US" sz="2500" dirty="0"/>
              <a:t>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problem you’re trying to solve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opportunity you identified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Tension between two competing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F8491-B646-27E8-CDFA-FA8881AB7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26" y="2330208"/>
            <a:ext cx="2835729" cy="37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7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F8DA-5C01-3B17-31AC-527657A8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084A-E5F1-05A7-FCC6-AB6B2043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B9875-676D-CF4A-3EBA-8401698E0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 2 –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A12C1-A697-72ED-24A1-439096752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14206-44FD-1E70-849A-21D7024C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36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510891-91BA-2C28-51FC-502754A19A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1BCB3-7E86-62EB-1052-CEB7216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119D5-AAF3-65C3-A0B1-43EE1BF7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F44E862-B10A-3997-37AD-3F544FA0F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5467385"/>
              </p:ext>
            </p:extLst>
          </p:nvPr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02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7F5672-8C85-4AB9-AB55-9712D9FC4F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5539C3-412D-4DF6-8F57-7ADEF23E9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3AE47F-CCA7-4F98-A165-FA856DE8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25C352-0C1B-4301-AA5E-903C17D20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8EB550-E125-450B-9D39-4D96157D5C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E170-19D4-69FF-DFE4-0CFCA1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934429-D8E7-D15D-5EDD-E7F89CFFC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5B4C1-4D0B-C1F8-EB79-7E962E38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711E2-ACBE-8DEB-C188-ACB56F20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5EA80-8343-081F-A2C2-7500D2BC3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1. Choosing the Right Visuals – The Vehicle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F4C60-F39D-1931-54A6-E9B443B7FB06}"/>
              </a:ext>
            </a:extLst>
          </p:cNvPr>
          <p:cNvSpPr txBox="1"/>
          <p:nvPr/>
        </p:nvSpPr>
        <p:spPr>
          <a:xfrm>
            <a:off x="2993571" y="2921168"/>
            <a:ext cx="5040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/>
              <a:t>Don’t be fancy.</a:t>
            </a:r>
          </a:p>
          <a:p>
            <a:pPr algn="ctr"/>
            <a:r>
              <a:rPr lang="en-US" sz="5000" dirty="0"/>
              <a:t>Be clear instead</a:t>
            </a:r>
          </a:p>
        </p:txBody>
      </p:sp>
    </p:spTree>
    <p:extLst>
      <p:ext uri="{BB962C8B-B14F-4D97-AF65-F5344CB8AC3E}">
        <p14:creationId xmlns:p14="http://schemas.microsoft.com/office/powerpoint/2010/main" val="26296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E8E0F-51CD-3510-B953-A73CD4076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three main types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ABA02F-82AF-FF97-7F9F-0B4234BB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Relational, Distributions, Categorical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EE80-ED89-55DE-4389-2E7ABCB6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CB50902-54F4-1228-7CBC-C0CCD921486D}"/>
              </a:ext>
            </a:extLst>
          </p:cNvPr>
          <p:cNvGraphicFramePr/>
          <p:nvPr/>
        </p:nvGraphicFramePr>
        <p:xfrm>
          <a:off x="1185984" y="1320051"/>
          <a:ext cx="9820031" cy="468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1D506D-BB33-E2EA-BA68-E56CC3355662}"/>
              </a:ext>
            </a:extLst>
          </p:cNvPr>
          <p:cNvSpPr txBox="1"/>
          <p:nvPr/>
        </p:nvSpPr>
        <p:spPr>
          <a:xfrm>
            <a:off x="4310743" y="6051906"/>
            <a:ext cx="47461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Remember this from Week 2?</a:t>
            </a:r>
          </a:p>
        </p:txBody>
      </p:sp>
    </p:spTree>
    <p:extLst>
      <p:ext uri="{BB962C8B-B14F-4D97-AF65-F5344CB8AC3E}">
        <p14:creationId xmlns:p14="http://schemas.microsoft.com/office/powerpoint/2010/main" val="352800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F2D3-5295-9D0E-7F3A-DA655E93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09ECE6-663B-AFEC-248E-0A578F46C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4DA0C3-0FD3-2120-D38C-F6A1AC6F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F3F63-76F6-EBEA-B54E-F4833FFC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7BF64-E14E-E99E-100E-98D0BB977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1. Choosing the Right Visuals – The Vehicle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65B7A-8296-AF49-B2AA-DF7DB3EFA906}"/>
              </a:ext>
            </a:extLst>
          </p:cNvPr>
          <p:cNvSpPr txBox="1"/>
          <p:nvPr/>
        </p:nvSpPr>
        <p:spPr>
          <a:xfrm>
            <a:off x="3178628" y="2380452"/>
            <a:ext cx="40277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Don’t be fancy.</a:t>
            </a:r>
          </a:p>
          <a:p>
            <a:pPr algn="ctr"/>
            <a:r>
              <a:rPr lang="en-US" sz="3000" dirty="0"/>
              <a:t>Be clear instead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89560-BFE7-8193-65EA-9591B387A044}"/>
              </a:ext>
            </a:extLst>
          </p:cNvPr>
          <p:cNvSpPr txBox="1"/>
          <p:nvPr/>
        </p:nvSpPr>
        <p:spPr>
          <a:xfrm>
            <a:off x="1208314" y="3490103"/>
            <a:ext cx="30806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 visual is the primary interface between the audience and your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C2187-014D-98E6-CFCC-6A87EBB14537}"/>
              </a:ext>
            </a:extLst>
          </p:cNvPr>
          <p:cNvSpPr txBox="1"/>
          <p:nvPr/>
        </p:nvSpPr>
        <p:spPr>
          <a:xfrm>
            <a:off x="6471216" y="3477884"/>
            <a:ext cx="4773727" cy="11237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Obscure or even misrepresent your message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49E94-6EAD-CA02-D0EE-0F2528C3B0E8}"/>
              </a:ext>
            </a:extLst>
          </p:cNvPr>
          <p:cNvSpPr txBox="1"/>
          <p:nvPr/>
        </p:nvSpPr>
        <p:spPr>
          <a:xfrm>
            <a:off x="6488267" y="4789571"/>
            <a:ext cx="4773727" cy="11237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Make the insight obvious without a single word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7083FF4-C414-BD9E-FD43-454C8EBB40D2}"/>
              </a:ext>
            </a:extLst>
          </p:cNvPr>
          <p:cNvSpPr/>
          <p:nvPr/>
        </p:nvSpPr>
        <p:spPr>
          <a:xfrm>
            <a:off x="4578549" y="3636888"/>
            <a:ext cx="1447800" cy="69597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A8E7549-21A8-D1AB-206B-D24BA852A6A3}"/>
              </a:ext>
            </a:extLst>
          </p:cNvPr>
          <p:cNvSpPr/>
          <p:nvPr/>
        </p:nvSpPr>
        <p:spPr>
          <a:xfrm>
            <a:off x="4578549" y="4811446"/>
            <a:ext cx="1447800" cy="695976"/>
          </a:xfrm>
          <a:prstGeom prst="rightArrow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5416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BDB5-24AA-49BF-8838-5AF13977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9697F9-6802-F962-B186-EAB06DF556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2D936-65CD-080F-AD44-55E976E9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6DA67-6938-4B3A-18DB-768756CE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A7134-6E69-B479-F53A-F01F0124F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2. Focusing Attention – The Spotlight</a:t>
            </a:r>
          </a:p>
        </p:txBody>
      </p:sp>
      <p:pic>
        <p:nvPicPr>
          <p:cNvPr id="3074" name="Picture 2" descr="Trash Panda' Raccoon Meme on Reddit ...">
            <a:extLst>
              <a:ext uri="{FF2B5EF4-FFF2-40B4-BE49-F238E27FC236}">
                <a16:creationId xmlns:a16="http://schemas.microsoft.com/office/drawing/2014/main" id="{D051D114-830B-7170-DA87-F7E34BDCD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42" y="3267606"/>
            <a:ext cx="273392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9C4E9-5C0D-735D-D822-B2D39D68326D}"/>
              </a:ext>
            </a:extLst>
          </p:cNvPr>
          <p:cNvSpPr txBox="1"/>
          <p:nvPr/>
        </p:nvSpPr>
        <p:spPr>
          <a:xfrm>
            <a:off x="468086" y="5136256"/>
            <a:ext cx="51149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Leave the junk with the trash panda and out of your graphs!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EB781-197A-8976-83BF-35673F5D2C4B}"/>
              </a:ext>
            </a:extLst>
          </p:cNvPr>
          <p:cNvSpPr txBox="1"/>
          <p:nvPr/>
        </p:nvSpPr>
        <p:spPr>
          <a:xfrm>
            <a:off x="3576210" y="2373562"/>
            <a:ext cx="5114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Watch out for </a:t>
            </a:r>
            <a:r>
              <a:rPr lang="en-US" sz="3000" b="1" dirty="0"/>
              <a:t>junk charts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29F89-BA50-A22D-C582-271D5433F371}"/>
              </a:ext>
            </a:extLst>
          </p:cNvPr>
          <p:cNvSpPr txBox="1"/>
          <p:nvPr/>
        </p:nvSpPr>
        <p:spPr>
          <a:xfrm>
            <a:off x="4658657" y="2994745"/>
            <a:ext cx="653074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Remove anything that isn’t adding informational value (unnecessary gridlines, borders, redundant labels, distracting colors)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Reduce cognitive load: our human brain has limited processing power.</a:t>
            </a:r>
          </a:p>
        </p:txBody>
      </p:sp>
    </p:spTree>
    <p:extLst>
      <p:ext uri="{BB962C8B-B14F-4D97-AF65-F5344CB8AC3E}">
        <p14:creationId xmlns:p14="http://schemas.microsoft.com/office/powerpoint/2010/main" val="73136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CDB7-58DA-1B53-4126-C3B584186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347A78-8B38-0E36-E134-DECE4AC29C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31F3E5-E2B4-1286-B4EE-FDBC44BC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0527C-F4C7-A268-41BA-6A2EC4D0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82A4A-9400-0262-42F8-BFF06340FF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3. Clear &amp; Concise Language – The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FB969-F996-0F62-02C6-09FF65398937}"/>
              </a:ext>
            </a:extLst>
          </p:cNvPr>
          <p:cNvSpPr txBox="1"/>
          <p:nvPr/>
        </p:nvSpPr>
        <p:spPr>
          <a:xfrm>
            <a:off x="4267201" y="2462611"/>
            <a:ext cx="3363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Words and visuals work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C411B-4B29-5223-7728-C9D2D569AAB1}"/>
              </a:ext>
            </a:extLst>
          </p:cNvPr>
          <p:cNvSpPr txBox="1"/>
          <p:nvPr/>
        </p:nvSpPr>
        <p:spPr>
          <a:xfrm>
            <a:off x="1915203" y="3515151"/>
            <a:ext cx="87194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Use simple, direct language in your titles and labels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Instead of “Q1 sales by region,” highlight your big idea.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For example, “Region C drove 80% of Q1 growth”</a:t>
            </a:r>
          </a:p>
        </p:txBody>
      </p:sp>
    </p:spTree>
    <p:extLst>
      <p:ext uri="{BB962C8B-B14F-4D97-AF65-F5344CB8AC3E}">
        <p14:creationId xmlns:p14="http://schemas.microsoft.com/office/powerpoint/2010/main" val="222966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94D5-4233-342C-04E9-38A66804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E5F34E-C6BC-1A98-733F-5FEB57DCDF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65643E-8BB0-D216-AEEC-13B52F83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F559D-F771-3EED-70BC-96C9FE1C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93B4-E546-F7FD-E828-1B936D089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4. Narrative Flow – The Guideposts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C86A8A-8E3A-D182-81A5-0B29AF2E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0612" y="2553676"/>
            <a:ext cx="8593928" cy="3247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D6E261-8757-952A-3B8D-364E1B22FCD9}"/>
              </a:ext>
            </a:extLst>
          </p:cNvPr>
          <p:cNvSpPr txBox="1"/>
          <p:nvPr/>
        </p:nvSpPr>
        <p:spPr>
          <a:xfrm>
            <a:off x="6860380" y="2613392"/>
            <a:ext cx="3774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Each slide or visual should build on the last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/>
              <a:t>Each piece of evidence supports the Big Idea</a:t>
            </a:r>
          </a:p>
        </p:txBody>
      </p:sp>
      <p:pic>
        <p:nvPicPr>
          <p:cNvPr id="4098" name="Picture 2" descr="653+ Thousand Beautiful River Flowing Rocks Royalty-Free Images, Stock  Photos &amp; Pictures | Shutterstock">
            <a:extLst>
              <a:ext uri="{FF2B5EF4-FFF2-40B4-BE49-F238E27FC236}">
                <a16:creationId xmlns:a16="http://schemas.microsoft.com/office/drawing/2014/main" id="{44D17D73-7C50-553B-3024-E83073BAF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90" y="2365093"/>
            <a:ext cx="5753847" cy="353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84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A929-8690-6554-7D8B-8876463E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04D1-156E-14FD-F7E1-57D2CE45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43775-F51A-8093-3B9F-AE7F140E5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 flies when you’re having fun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DC2E6-AB82-7C14-C655-1FFEBECE0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A7F2E-46D4-B8C2-DAA8-F463EA00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954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94D54-9501-2FA2-42DF-4EDAC168AE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A7F09-0AE1-743D-1A2E-5FA53336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3431-F956-F0C2-7E54-9D9D0A9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C9D014B-7615-24AC-3697-086BB4676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299" y="1417538"/>
          <a:ext cx="9553432" cy="458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56042" imgH="2860576" progId="Word.Document.12">
                  <p:embed/>
                </p:oleObj>
              </mc:Choice>
              <mc:Fallback>
                <p:oleObj name="Document" r:id="rId2" imgW="5956042" imgH="2860576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C9D014B-7615-24AC-3697-086BB4676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299" y="1417538"/>
                        <a:ext cx="9553432" cy="4588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0742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4F7E1-2484-4327-DD2B-32D14A0BB0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Case study – Analyzing and visualizing Bike-sharing Demand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CB905-D4E3-7B28-65AD-312F2CC1E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Basole</a:t>
            </a:r>
            <a:r>
              <a:rPr lang="en-US" sz="2000" dirty="0"/>
              <a:t>, R., </a:t>
            </a:r>
            <a:r>
              <a:rPr lang="en-US" sz="2000" dirty="0" err="1"/>
              <a:t>Bendoly</a:t>
            </a:r>
            <a:r>
              <a:rPr lang="en-US" sz="2000" dirty="0"/>
              <a:t>, E., Chandrasekaran, A., &amp; Linderman, K. (2022). Visualization in operations management research. </a:t>
            </a:r>
            <a:r>
              <a:rPr lang="en-US" sz="2000" i="1" dirty="0"/>
              <a:t>INFORMS Journal on Data Science</a:t>
            </a:r>
            <a:r>
              <a:rPr lang="en-US" sz="2000" dirty="0"/>
              <a:t>, </a:t>
            </a:r>
            <a:r>
              <a:rPr lang="en-US" sz="2000" i="1" dirty="0"/>
              <a:t>1</a:t>
            </a:r>
            <a:r>
              <a:rPr lang="en-US" sz="2000" dirty="0"/>
              <a:t>(2), 172-187.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Rennie, N., Cleophas, C., </a:t>
            </a:r>
            <a:r>
              <a:rPr lang="en-US" sz="2000" dirty="0" err="1"/>
              <a:t>Sykulski</a:t>
            </a:r>
            <a:r>
              <a:rPr lang="en-US" sz="2000" dirty="0"/>
              <a:t>, A. M., &amp; Dost, F. (2023). </a:t>
            </a:r>
            <a:r>
              <a:rPr lang="en-US" sz="2000" dirty="0" err="1"/>
              <a:t>Analysing</a:t>
            </a:r>
            <a:r>
              <a:rPr lang="en-US" sz="2000" dirty="0"/>
              <a:t> and </a:t>
            </a:r>
            <a:r>
              <a:rPr lang="en-US" sz="2000" dirty="0" err="1"/>
              <a:t>visualising</a:t>
            </a:r>
            <a:r>
              <a:rPr lang="en-US" sz="2000" dirty="0"/>
              <a:t> bike-sharing demand with outliers. </a:t>
            </a:r>
            <a:r>
              <a:rPr lang="en-US" sz="2000" i="1" dirty="0"/>
              <a:t>Discover Data</a:t>
            </a:r>
            <a:r>
              <a:rPr lang="en-US" sz="2000" dirty="0"/>
              <a:t>, </a:t>
            </a:r>
            <a:r>
              <a:rPr lang="en-US" sz="2000" i="1" dirty="0"/>
              <a:t>1</a:t>
            </a:r>
            <a:r>
              <a:rPr lang="en-US" sz="2000" dirty="0"/>
              <a:t>(1), 1.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A668E9-F29F-56C9-FA77-A08CFA6B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Readings for next week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FE661-9C29-6642-EFD7-7242EE91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763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66E29-B22E-1EBF-5E0B-EF56174AC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Course objectives &amp; preferred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276A-62E1-1EF8-F1F8-ED3AB523A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22852"/>
            <a:ext cx="10863619" cy="445470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Course objectives: Who, What, When, Where…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Exercising your </a:t>
            </a:r>
            <a:r>
              <a:rPr lang="en-US" sz="3000" b="1" dirty="0"/>
              <a:t>managerial muscles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Focus on the </a:t>
            </a:r>
            <a:r>
              <a:rPr lang="en-US" sz="3000" b="1" dirty="0"/>
              <a:t>story behind the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You are free to use whatever graphical tools you are most familiar with (this course is </a:t>
            </a:r>
            <a:r>
              <a:rPr lang="en-US" sz="3000" b="1" dirty="0"/>
              <a:t>not about the HOW</a:t>
            </a:r>
            <a:r>
              <a:rPr lang="en-US" sz="30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500" b="1" dirty="0"/>
              <a:t>Power BI Workshop</a:t>
            </a:r>
            <a:r>
              <a:rPr lang="en-US" sz="4500" dirty="0"/>
              <a:t> next Tuesday during TA office hours.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C1B422-2364-1405-7B93-2913139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use Power BI, Tableau, Excel/ VBA, Python, R…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0C2FE-4EC9-E896-2E4D-812A1860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7C3462-72CF-1989-9C42-D34D0CC1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454099-DF82-7DD5-269B-5A61AF65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 on…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39742-6D25-BE28-9B60-B800527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FC16C-F108-0BD0-9F4B-2BFEABEE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7" y="1433705"/>
            <a:ext cx="2385063" cy="761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672EFE-27DB-8042-E2E6-5202B9C7F066}"/>
              </a:ext>
            </a:extLst>
          </p:cNvPr>
          <p:cNvSpPr txBox="1"/>
          <p:nvPr/>
        </p:nvSpPr>
        <p:spPr>
          <a:xfrm>
            <a:off x="925065" y="2441448"/>
            <a:ext cx="7697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Go to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https://kahoot.it/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 open the Kahoot mobile app and tap </a:t>
            </a:r>
            <a:r>
              <a:rPr lang="en-US" b="1" dirty="0"/>
              <a:t>Join</a:t>
            </a:r>
          </a:p>
          <a:p>
            <a:pPr marL="342900" indent="-342900">
              <a:buAutoNum type="arabicPeriod"/>
            </a:pPr>
            <a:r>
              <a:rPr lang="en-US" b="1" dirty="0"/>
              <a:t>Enter </a:t>
            </a:r>
            <a:r>
              <a:rPr lang="en-US" dirty="0"/>
              <a:t>the game </a:t>
            </a:r>
            <a:r>
              <a:rPr lang="en-US" b="1" dirty="0"/>
              <a:t>PIN</a:t>
            </a:r>
          </a:p>
          <a:p>
            <a:pPr marL="342900" indent="-342900">
              <a:buAutoNum type="arabicPeriod"/>
            </a:pPr>
            <a:r>
              <a:rPr lang="en-US" b="1" dirty="0"/>
              <a:t>Enter your name and join</a:t>
            </a:r>
          </a:p>
          <a:p>
            <a:pPr marL="342900" indent="-342900">
              <a:buAutoNum type="arabicPeriod"/>
            </a:pP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34710E-D457-8B2C-B167-C339A3E3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06" y="2976745"/>
            <a:ext cx="7009654" cy="337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21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0C77-8405-91B9-4563-2FD38A4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EFB5-F4CB-6B04-AECE-4B51F0E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6227-CE90-7C6B-219F-C5426CF65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Crafting and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CC5FD-9E45-2579-8A46-22D2F1576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451C-4AA2-D144-D176-B7318880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BC46A3-7AE7-964C-828D-DF9765961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https://www.kaggle.com/datasets/shivamb/netflix-shows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1A514-E927-1A44-2F94-83CB0F7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BF6F-B24C-6A46-7AE7-E3B867D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A20A-1010-ABA3-A469-42DD9FAA2B65}"/>
              </a:ext>
            </a:extLst>
          </p:cNvPr>
          <p:cNvSpPr txBox="1"/>
          <p:nvPr/>
        </p:nvSpPr>
        <p:spPr>
          <a:xfrm>
            <a:off x="655655" y="1692369"/>
            <a:ext cx="62978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0" dirty="0">
                <a:effectLst/>
              </a:rPr>
              <a:t>About this Dataset:</a:t>
            </a:r>
            <a:r>
              <a:rPr lang="en-US" sz="2500" b="0" dirty="0">
                <a:effectLst/>
              </a:rPr>
              <a:t> </a:t>
            </a:r>
            <a:r>
              <a:rPr lang="en-US" sz="2500" b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US" sz="2500" b="0" dirty="0">
                <a:effectLst/>
              </a:rPr>
              <a:t> is one of the most popular media and video streaming platforms. They have over 8000 movies or </a:t>
            </a:r>
            <a:r>
              <a:rPr lang="en-US" sz="2500" dirty="0"/>
              <a:t>TV shows available on their platform. As of mid-2021, they have over 200 million subscribers</a:t>
            </a:r>
            <a:r>
              <a:rPr lang="en-US" sz="2500" b="0" dirty="0">
                <a:effectLst/>
              </a:rPr>
              <a:t> globally. </a:t>
            </a:r>
          </a:p>
          <a:p>
            <a:r>
              <a:rPr lang="en-US" sz="2500" b="0" dirty="0">
                <a:effectLst/>
              </a:rPr>
              <a:t>This tabular dataset consists of listings of all the </a:t>
            </a:r>
            <a:r>
              <a:rPr lang="en-US" sz="2500" b="1" dirty="0">
                <a:effectLst/>
              </a:rPr>
              <a:t>movies and </a:t>
            </a:r>
            <a:r>
              <a:rPr lang="en-US" sz="2500" b="1" dirty="0"/>
              <a:t>TV shows </a:t>
            </a:r>
            <a:r>
              <a:rPr lang="en-US" sz="2500" dirty="0"/>
              <a:t>available on Netflix, along with details such as </a:t>
            </a:r>
            <a:r>
              <a:rPr lang="en-US" sz="2500" b="1" dirty="0">
                <a:effectLst/>
              </a:rPr>
              <a:t>cast, directors, ratings, release year, duration</a:t>
            </a:r>
            <a:r>
              <a:rPr lang="en-US" sz="2500" b="0" dirty="0">
                <a:effectLst/>
              </a:rPr>
              <a:t>, etc.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C436-E558-E532-3EFE-9F929CD9E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27" y="1342808"/>
            <a:ext cx="4629757" cy="463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2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44EF-C358-2125-FBB5-D1E446819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Counter the threat of GenAI-generated movies: a study of Rajiv Chilaka vs. Martin Scorsese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5190-606F-C381-ACD1-BFE53960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200" dirty="0"/>
              <a:t>You have been hired by a cool animation startup in LA to draw insights from the works of </a:t>
            </a:r>
            <a:r>
              <a:rPr lang="en-US" sz="3200" b="1" dirty="0"/>
              <a:t>Rajiv Chilaka and Martin Scorsese </a:t>
            </a:r>
            <a:r>
              <a:rPr lang="en-US" sz="3200" dirty="0"/>
              <a:t>based on the data available in this dataset.</a:t>
            </a:r>
          </a:p>
          <a:p>
            <a:pPr algn="ctr"/>
            <a:r>
              <a:rPr lang="en-US" sz="3200" dirty="0"/>
              <a:t>You will then use these insights to recommend strategies for them to </a:t>
            </a:r>
            <a:r>
              <a:rPr lang="en-US" sz="3200" b="1" dirty="0"/>
              <a:t>counter the threat of GenAI-generated movies</a:t>
            </a:r>
            <a:r>
              <a:rPr lang="en-US" sz="32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EB7AF0-7A34-2E16-F4C3-4F4F3900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9CFDC-4830-521E-D755-29F6022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3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A502F-E6CF-273F-4914-F46B876450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Highest number of directed movies in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10E8-42AB-ACA2-160A-89CDD8280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Rajiv Chilaka is an Indian animation filmmaker known for his work on shows like “Chhota Bheem” and “</a:t>
            </a:r>
            <a:r>
              <a:rPr lang="en-US" sz="3000" dirty="0" err="1"/>
              <a:t>KikoRiki</a:t>
            </a:r>
            <a:r>
              <a:rPr lang="en-US" sz="3000" dirty="0"/>
              <a:t>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4D3039-0AAB-2112-B73E-53C3DB85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Rajiv Chilaka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F66-6499-C5AC-2AC1-1D46C4A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450CF-C700-1A38-7175-76979C8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4304886" cy="43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4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96-F2F5-103A-4F1A-119AC98A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894A7-B12B-4B6D-EAE0-CB3E71CE9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know… the guy who directed Goodfellas, The Departed, The Irishman,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82D-21E2-23DD-8827-98509EB9C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Martin Scorsese is an American film director known for his gritty, intense films like “Goodfellas”, “The Departed”, and “The Irishman”.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CB2D3B-8A47-B96A-4183-CE6F9F3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Martin Scorsese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951A6-030D-BFAB-FE83-ED0789A3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026" name="Picture 2" descr="Best Martin Scorsese Films &amp; Movies, Ranked">
            <a:extLst>
              <a:ext uri="{FF2B5EF4-FFF2-40B4-BE49-F238E27FC236}">
                <a16:creationId xmlns:a16="http://schemas.microsoft.com/office/drawing/2014/main" id="{120BA329-BC01-79C6-8A26-A0A6441B4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" r="60057"/>
          <a:stretch>
            <a:fillRect/>
          </a:stretch>
        </p:blipFill>
        <p:spPr bwMode="auto">
          <a:xfrm>
            <a:off x="996043" y="1655581"/>
            <a:ext cx="2988129" cy="42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06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424E4-12C3-BC89-BEF2-F4DE2722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Summary &amp; Supporting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71404-F768-D2DF-787E-D01D3671B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43" y="1687285"/>
            <a:ext cx="9579427" cy="3995059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 one-page executive summary detailing the analysis, insights, and recommendations.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One killer figure.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Additional supporting analysis can be included as an appendix.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FE1F2-6E1D-7C25-A9A5-8507899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9897-155D-DC2D-29F9-5BAB27C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5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0412-05C8-8CF0-3EEE-C5AF6E9FF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well can you craft and articulate the story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D8BAA-4487-E637-6ACC-8499BE3D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Grading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B6402-D2B1-9AE5-7C2D-33EC82F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B4CFF6-6ED3-3597-3472-AABDF6E5C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87080"/>
              </p:ext>
            </p:extLst>
          </p:nvPr>
        </p:nvGraphicFramePr>
        <p:xfrm>
          <a:off x="468086" y="1431687"/>
          <a:ext cx="10951028" cy="474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24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2B28148-5096-D851-4BB9-4B444DB0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A532C-6249-6D45-8D97-8F30D868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3" t="4876" r="9653"/>
          <a:stretch>
            <a:fillRect/>
          </a:stretch>
        </p:blipFill>
        <p:spPr>
          <a:xfrm>
            <a:off x="468086" y="1757362"/>
            <a:ext cx="5413169" cy="41763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57DC4-D0FA-66DB-252E-74701D39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5" t="7881" r="10325" b="3"/>
          <a:stretch>
            <a:fillRect/>
          </a:stretch>
        </p:blipFill>
        <p:spPr>
          <a:xfrm>
            <a:off x="6309157" y="1757362"/>
            <a:ext cx="5425643" cy="4044323"/>
          </a:xfrm>
          <a:prstGeom prst="rect">
            <a:avLst/>
          </a:prstGeom>
          <a:noFill/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0C4E2F0-0EDE-B905-12DA-6C188C9F9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Who are these guys working with?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7CC38-7A74-8771-BA8F-8C3FE41A29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99939-7B57-4082-2099-17BBA0F79963}"/>
              </a:ext>
            </a:extLst>
          </p:cNvPr>
          <p:cNvSpPr txBox="1"/>
          <p:nvPr/>
        </p:nvSpPr>
        <p:spPr>
          <a:xfrm>
            <a:off x="6057900" y="973717"/>
            <a:ext cx="4844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More on this next week</a:t>
            </a:r>
          </a:p>
        </p:txBody>
      </p:sp>
    </p:spTree>
    <p:extLst>
      <p:ext uri="{BB962C8B-B14F-4D97-AF65-F5344CB8AC3E}">
        <p14:creationId xmlns:p14="http://schemas.microsoft.com/office/powerpoint/2010/main" val="1558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Learning Curve cartoon - Marketoonist | Tom Fishburne">
            <a:extLst>
              <a:ext uri="{FF2B5EF4-FFF2-40B4-BE49-F238E27FC236}">
                <a16:creationId xmlns:a16="http://schemas.microsoft.com/office/drawing/2014/main" id="{E5CA02CE-1C9F-ABF8-E3E8-B74ABAAC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306880"/>
            <a:ext cx="11950700" cy="62442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B9B2E8D-E474-F4F3-705C-FA0B25A26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3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3754</TotalTime>
  <Words>2251</Words>
  <Application>Microsoft Office PowerPoint</Application>
  <PresentationFormat>Widescreen</PresentationFormat>
  <Paragraphs>319</Paragraphs>
  <Slides>48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Arial</vt:lpstr>
      <vt:lpstr>Wingdings</vt:lpstr>
      <vt:lpstr>Franklin Gothic Book</vt:lpstr>
      <vt:lpstr>Franklin Gothic Medium</vt:lpstr>
      <vt:lpstr>Acumin Pro Semibold</vt:lpstr>
      <vt:lpstr>Acumin Pro</vt:lpstr>
      <vt:lpstr>Acumin Pro Medium</vt:lpstr>
      <vt:lpstr>Franklin Gothic Medium Cond</vt:lpstr>
      <vt:lpstr>Acumin Pro Condensed Semibold</vt:lpstr>
      <vt:lpstr>Calibri</vt:lpstr>
      <vt:lpstr>Office Theme</vt:lpstr>
      <vt:lpstr>Document</vt:lpstr>
      <vt:lpstr>MGMT590 - Visual Analytics</vt:lpstr>
      <vt:lpstr>Today’s Agenda</vt:lpstr>
      <vt:lpstr>Assignment 1 – Titanic</vt:lpstr>
      <vt:lpstr>Special Graph “Show and tell”</vt:lpstr>
      <vt:lpstr>Module 4: Storytelling with Data</vt:lpstr>
      <vt:lpstr>Storytelling with data</vt:lpstr>
      <vt:lpstr>Storytelling with Data</vt:lpstr>
      <vt:lpstr>WHAT is the story you are trying to tell?</vt:lpstr>
      <vt:lpstr>WHAT is the story you are trying to tell?</vt:lpstr>
      <vt:lpstr>WHAT is the story you are trying to tell?</vt:lpstr>
      <vt:lpstr>WHAT is the story you are trying to tell?</vt:lpstr>
      <vt:lpstr>WHAT is the story you are trying to tell?</vt:lpstr>
      <vt:lpstr>Storytelling with Data</vt:lpstr>
      <vt:lpstr>Articulating the Story: The “HOW”</vt:lpstr>
      <vt:lpstr>Articulating the Story: The “HOW”</vt:lpstr>
      <vt:lpstr>Visualizing Relational, Distributions, Categorical Data</vt:lpstr>
      <vt:lpstr>Articulating the Story: The “HOW”</vt:lpstr>
      <vt:lpstr>Articulating the Story: The “HOW”</vt:lpstr>
      <vt:lpstr>Articulating the Story: The “HOW”</vt:lpstr>
      <vt:lpstr>Articulating the Story: The “HOW”</vt:lpstr>
      <vt:lpstr>What’s next?</vt:lpstr>
      <vt:lpstr>Course Schedule</vt:lpstr>
      <vt:lpstr>Readings for next week</vt:lpstr>
      <vt:lpstr>How to use Power BI, Tableau, Excel/ VBA, Python, R…</vt:lpstr>
      <vt:lpstr>Game on…</vt:lpstr>
      <vt:lpstr>Assignment 2</vt:lpstr>
      <vt:lpstr>Dataset</vt:lpstr>
      <vt:lpstr>Context</vt:lpstr>
      <vt:lpstr>Rajiv Chilaka</vt:lpstr>
      <vt:lpstr>Martin Scorsese</vt:lpstr>
      <vt:lpstr>Deliverables</vt:lpstr>
      <vt:lpstr>Grading Criteria</vt:lpstr>
      <vt:lpstr>Network analysis</vt:lpstr>
      <vt:lpstr>PowerPoint Presentation</vt:lpstr>
      <vt:lpstr>Questions? </vt:lpstr>
      <vt:lpstr>That’s a wrap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Questions?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198</cp:revision>
  <dcterms:created xsi:type="dcterms:W3CDTF">2025-05-19T00:14:27Z</dcterms:created>
  <dcterms:modified xsi:type="dcterms:W3CDTF">2025-09-17T15:13:55Z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