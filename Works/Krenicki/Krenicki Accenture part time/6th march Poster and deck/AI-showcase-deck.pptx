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he Seasons Bold" charset="1" panose="00000000000000000000"/>
      <p:regular r:id="rId14"/>
    </p:embeddedFont>
    <p:embeddedFont>
      <p:font typeface="Poppins Bold Italics" charset="1" panose="00000800000000000000"/>
      <p:regular r:id="rId15"/>
    </p:embeddedFont>
    <p:embeddedFont>
      <p:font typeface="Poppins Italics" charset="1" panose="000005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025160" y="-1288313"/>
            <a:ext cx="5553174" cy="6612391"/>
          </a:xfrm>
          <a:custGeom>
            <a:avLst/>
            <a:gdLst/>
            <a:ahLst/>
            <a:cxnLst/>
            <a:rect r="r" b="b" t="t" l="l"/>
            <a:pathLst>
              <a:path h="6612391" w="5553174">
                <a:moveTo>
                  <a:pt x="0" y="0"/>
                </a:moveTo>
                <a:lnTo>
                  <a:pt x="5553175" y="0"/>
                </a:lnTo>
                <a:lnTo>
                  <a:pt x="5553175" y="6612391"/>
                </a:lnTo>
                <a:lnTo>
                  <a:pt x="0" y="6612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84573" y="6222318"/>
            <a:ext cx="2281698" cy="4642622"/>
          </a:xfrm>
          <a:custGeom>
            <a:avLst/>
            <a:gdLst/>
            <a:ahLst/>
            <a:cxnLst/>
            <a:rect r="r" b="b" t="t" l="l"/>
            <a:pathLst>
              <a:path h="4642622" w="2281698">
                <a:moveTo>
                  <a:pt x="2281698" y="4642621"/>
                </a:moveTo>
                <a:lnTo>
                  <a:pt x="0" y="4642621"/>
                </a:lnTo>
                <a:lnTo>
                  <a:pt x="0" y="0"/>
                </a:lnTo>
                <a:lnTo>
                  <a:pt x="2281698" y="0"/>
                </a:lnTo>
                <a:lnTo>
                  <a:pt x="2281698" y="46426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66578" y="7587266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1028700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1649" y="921871"/>
            <a:ext cx="1699972" cy="1699972"/>
          </a:xfrm>
          <a:custGeom>
            <a:avLst/>
            <a:gdLst/>
            <a:ahLst/>
            <a:cxnLst/>
            <a:rect r="r" b="b" t="t" l="l"/>
            <a:pathLst>
              <a:path h="1699972" w="1699972">
                <a:moveTo>
                  <a:pt x="0" y="0"/>
                </a:moveTo>
                <a:lnTo>
                  <a:pt x="1699972" y="0"/>
                </a:lnTo>
                <a:lnTo>
                  <a:pt x="1699972" y="1699972"/>
                </a:lnTo>
                <a:lnTo>
                  <a:pt x="0" y="1699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54376" y="888726"/>
            <a:ext cx="883130" cy="883130"/>
          </a:xfrm>
          <a:custGeom>
            <a:avLst/>
            <a:gdLst/>
            <a:ahLst/>
            <a:cxnLst/>
            <a:rect r="r" b="b" t="t" l="l"/>
            <a:pathLst>
              <a:path h="883130" w="883130">
                <a:moveTo>
                  <a:pt x="0" y="0"/>
                </a:moveTo>
                <a:lnTo>
                  <a:pt x="883130" y="0"/>
                </a:lnTo>
                <a:lnTo>
                  <a:pt x="883130" y="883131"/>
                </a:lnTo>
                <a:lnTo>
                  <a:pt x="0" y="883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57027" y="7520975"/>
            <a:ext cx="3310089" cy="1679422"/>
          </a:xfrm>
          <a:custGeom>
            <a:avLst/>
            <a:gdLst/>
            <a:ahLst/>
            <a:cxnLst/>
            <a:rect r="r" b="b" t="t" l="l"/>
            <a:pathLst>
              <a:path h="1679422" w="3310089">
                <a:moveTo>
                  <a:pt x="0" y="0"/>
                </a:moveTo>
                <a:lnTo>
                  <a:pt x="3310089" y="0"/>
                </a:lnTo>
                <a:lnTo>
                  <a:pt x="3310089" y="1679422"/>
                </a:lnTo>
                <a:lnTo>
                  <a:pt x="0" y="1679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5578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79361" y="7516775"/>
            <a:ext cx="3844225" cy="2402641"/>
          </a:xfrm>
          <a:custGeom>
            <a:avLst/>
            <a:gdLst/>
            <a:ahLst/>
            <a:cxnLst/>
            <a:rect r="r" b="b" t="t" l="l"/>
            <a:pathLst>
              <a:path h="2402641" w="3844225">
                <a:moveTo>
                  <a:pt x="0" y="0"/>
                </a:moveTo>
                <a:lnTo>
                  <a:pt x="3844225" y="0"/>
                </a:lnTo>
                <a:lnTo>
                  <a:pt x="3844225" y="2402640"/>
                </a:lnTo>
                <a:lnTo>
                  <a:pt x="0" y="2402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99118" y="3532557"/>
            <a:ext cx="12689764" cy="308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99"/>
              </a:lnSpc>
            </a:pPr>
            <a:r>
              <a:rPr lang="en-US" sz="9499" b="true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Boiler Strategy Group ​</a:t>
            </a:r>
          </a:p>
          <a:p>
            <a:pPr algn="l">
              <a:lnSpc>
                <a:spcPts val="6080"/>
              </a:lnSpc>
            </a:pPr>
          </a:p>
          <a:p>
            <a:pPr algn="l">
              <a:lnSpc>
                <a:spcPts val="75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821649" y="5099606"/>
            <a:ext cx="1124845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true" sz="2200" i="true" spc="125">
                <a:solidFill>
                  <a:srgbClr val="60544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Goal</a:t>
            </a:r>
            <a:r>
              <a:rPr lang="en-US" sz="2200" i="true" spc="125">
                <a:solidFill>
                  <a:srgbClr val="60544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: Financial Process Transformation​ for a Global Lifestyle Brand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953439" y="8510710"/>
            <a:ext cx="3310089" cy="823790"/>
          </a:xfrm>
          <a:custGeom>
            <a:avLst/>
            <a:gdLst/>
            <a:ahLst/>
            <a:cxnLst/>
            <a:rect r="r" b="b" t="t" l="l"/>
            <a:pathLst>
              <a:path h="823790" w="3310089">
                <a:moveTo>
                  <a:pt x="0" y="0"/>
                </a:moveTo>
                <a:lnTo>
                  <a:pt x="3310089" y="0"/>
                </a:lnTo>
                <a:lnTo>
                  <a:pt x="3310089" y="823790"/>
                </a:lnTo>
                <a:lnTo>
                  <a:pt x="0" y="823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1760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21649" y="5703566"/>
            <a:ext cx="11248457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125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By Tanvi Vijay, Parth Kapila, Ramana Prabhu Sana, Saandiya KPS Mohan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92713" y="847993"/>
            <a:ext cx="15379652" cy="1823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Project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47015" y="3861468"/>
            <a:ext cx="13502574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142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Focus Areas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Risk &amp; revenue management processes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Credit accuracy monitoring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KPI reporting automation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Revenue assurance workflows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142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Target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Improve efficiency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Reduce manual work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Enable data-driven decision making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505837" y="3107817"/>
            <a:ext cx="13276326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142">
                <a:solidFill>
                  <a:srgbClr val="262223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 Transform receivables management processes from human-driven → AI-driven workflows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93605" y="1105370"/>
            <a:ext cx="15379652" cy="175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b="true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Business Problem &amp; Need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92713" y="3151189"/>
            <a:ext cx="13502574" cy="745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Manual AR matching, dispute handling, and risk review delay cash collection and increase operational cost in large enterprises, specifically:</a:t>
            </a:r>
          </a:p>
          <a:p>
            <a:pPr algn="l">
              <a:lnSpc>
                <a:spcPts val="3499"/>
              </a:lnSpc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High-volume payments require manual remittance investigation and invoice matching.​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Disputes are handled reactively, increasing cycle time and operational overhead.​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Risk seg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entation for bad-debt reserves remains judgment-heavy and inconsistent.​</a:t>
            </a:r>
          </a:p>
          <a:p>
            <a:pPr algn="l">
              <a:lnSpc>
                <a:spcPts val="3499"/>
              </a:lnSpc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</a:p>
          <a:p>
            <a:pPr algn="l">
              <a:lnSpc>
                <a:spcPts val="3499"/>
              </a:lnSpc>
            </a:pPr>
            <a:r>
              <a:rPr lang="en-US" sz="2499" spc="142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Client Challenges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:​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Repetitive Manual Matching ​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Reactive Dispute Management​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Subje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ctive Risk Segmentation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57102" y="1114895"/>
            <a:ext cx="19760983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0"/>
              </a:lnSpc>
            </a:pPr>
            <a:r>
              <a:rPr lang="en-US" sz="8700" b="true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Approach 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874881" y="3514217"/>
            <a:ext cx="6269119" cy="553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42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Phase 1 — Process Analysis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Reviewed existing workflow process flows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Identified pain points and inefficiencies (Root Cause Analysis)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Mapped current workflow steps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spc="142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Phase 2 — AI Solution Design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Behavioral insights agent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Incorrect c</a:t>
            </a: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redit detection agent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KPI reporting automation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Revenue assurance monitoring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481191" y="3695804"/>
            <a:ext cx="6269119" cy="398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42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Phase 3 —  Process Redesign &amp; Evaluation</a:t>
            </a:r>
          </a:p>
          <a:p>
            <a:pPr algn="l">
              <a:lnSpc>
                <a:spcPts val="3499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Shifted steps from manual → AI-driven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Defined impact on human roles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Designed future workflow model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Prototype testing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Performance measurement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Feedback collection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6458" y="847993"/>
            <a:ext cx="16580176" cy="345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Solution Design </a:t>
            </a:r>
          </a:p>
          <a:p>
            <a:pPr algn="l">
              <a:lnSpc>
                <a:spcPts val="128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054085" y="3028279"/>
            <a:ext cx="11651905" cy="645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42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AI Overlay Framework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spc="119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Defined variables for each process</a:t>
            </a: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What task the AI agent performs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Where it fits in workflow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How process logic changes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Impact on human roles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Level of automation (manual → AI-driven)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spc="119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Resulting Improvements</a:t>
            </a: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Automated credit validation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Predictive risk monitoring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Real-time KPI tracking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119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Reduced manual intervention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06458" y="3028279"/>
            <a:ext cx="12562881" cy="803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 spc="142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 Accounts Receivable Agent</a:t>
            </a:r>
          </a:p>
          <a:p>
            <a:pPr algn="l">
              <a:lnSpc>
                <a:spcPts val="2940"/>
              </a:lnSpc>
            </a:pPr>
            <a:r>
              <a:rPr lang="en-US" sz="2100" i="true" spc="119">
                <a:solidFill>
                  <a:srgbClr val="60544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goal of the agent is to match and clear incoming payments, reducing manual investigation effort up to 90%​.</a:t>
            </a:r>
          </a:p>
          <a:p>
            <a:pPr algn="l">
              <a:lnSpc>
                <a:spcPts val="3639"/>
              </a:lnSpc>
            </a:pP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 spc="142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Dispute Resolution Agent</a:t>
            </a:r>
          </a:p>
          <a:p>
            <a:pPr algn="l">
              <a:lnSpc>
                <a:spcPts val="2940"/>
              </a:lnSpc>
            </a:pPr>
            <a:r>
              <a:rPr lang="en-US" sz="2100" i="true" spc="119">
                <a:solidFill>
                  <a:srgbClr val="60544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goal of the agent is to scan invoices for errors automatically along with detecting incorrect charges and suggesting fixes.</a:t>
            </a:r>
            <a:r>
              <a:rPr lang="en-US" sz="2100" spc="119" b="true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​</a:t>
            </a:r>
          </a:p>
          <a:p>
            <a:pPr algn="l">
              <a:lnSpc>
                <a:spcPts val="3639"/>
              </a:lnSpc>
            </a:pP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b="true" sz="2499" spc="142">
                <a:solidFill>
                  <a:srgbClr val="605440"/>
                </a:solidFill>
                <a:latin typeface="Poppins Bold"/>
                <a:ea typeface="Poppins Bold"/>
                <a:cs typeface="Poppins Bold"/>
                <a:sym typeface="Poppins Bold"/>
              </a:rPr>
              <a:t>Behavioral Insights Agent</a:t>
            </a:r>
          </a:p>
          <a:p>
            <a:pPr algn="l">
              <a:lnSpc>
                <a:spcPts val="2940"/>
              </a:lnSpc>
            </a:pPr>
            <a:r>
              <a:rPr lang="en-US" sz="2100" i="true" spc="119">
                <a:solidFill>
                  <a:srgbClr val="60544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goal of the agent is to analyze historical financial behavior, disputes and exposure patterns to predict late payments and default risk​.</a:t>
            </a:r>
          </a:p>
          <a:p>
            <a:pPr algn="l">
              <a:lnSpc>
                <a:spcPts val="3499"/>
              </a:lnSpc>
            </a:pPr>
            <a:r>
              <a:rPr lang="en-US" b="true" sz="2499" i="true" spc="142">
                <a:solidFill>
                  <a:srgbClr val="60544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​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89626" y="1028700"/>
            <a:ext cx="1471294" cy="1471294"/>
          </a:xfrm>
          <a:custGeom>
            <a:avLst/>
            <a:gdLst/>
            <a:ahLst/>
            <a:cxnLst/>
            <a:rect r="r" b="b" t="t" l="l"/>
            <a:pathLst>
              <a:path h="1471294" w="1471294">
                <a:moveTo>
                  <a:pt x="0" y="0"/>
                </a:moveTo>
                <a:lnTo>
                  <a:pt x="1471294" y="0"/>
                </a:lnTo>
                <a:lnTo>
                  <a:pt x="1471294" y="1471294"/>
                </a:lnTo>
                <a:lnTo>
                  <a:pt x="0" y="14712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06458" y="847993"/>
            <a:ext cx="16580176" cy="1823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AI Agents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705990" y="-684353"/>
            <a:ext cx="3582010" cy="4265245"/>
          </a:xfrm>
          <a:custGeom>
            <a:avLst/>
            <a:gdLst/>
            <a:ahLst/>
            <a:cxnLst/>
            <a:rect r="r" b="b" t="t" l="l"/>
            <a:pathLst>
              <a:path h="4265245" w="3582010">
                <a:moveTo>
                  <a:pt x="0" y="0"/>
                </a:moveTo>
                <a:lnTo>
                  <a:pt x="3582010" y="0"/>
                </a:lnTo>
                <a:lnTo>
                  <a:pt x="3582010" y="4265245"/>
                </a:lnTo>
                <a:lnTo>
                  <a:pt x="0" y="4265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6666" y="6691314"/>
            <a:ext cx="2053877" cy="4179069"/>
          </a:xfrm>
          <a:custGeom>
            <a:avLst/>
            <a:gdLst/>
            <a:ahLst/>
            <a:cxnLst/>
            <a:rect r="r" b="b" t="t" l="l"/>
            <a:pathLst>
              <a:path h="4179069" w="2053877">
                <a:moveTo>
                  <a:pt x="2053877" y="4179069"/>
                </a:moveTo>
                <a:lnTo>
                  <a:pt x="0" y="4179069"/>
                </a:lnTo>
                <a:lnTo>
                  <a:pt x="0" y="0"/>
                </a:lnTo>
                <a:lnTo>
                  <a:pt x="2053877" y="0"/>
                </a:lnTo>
                <a:lnTo>
                  <a:pt x="2053877" y="417906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2944" y="7862015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856982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035673" y="3580892"/>
            <a:ext cx="4327423" cy="432742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  <a:ln w="57150" cap="sq">
              <a:solidFill>
                <a:srgbClr val="C0C2A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776793" y="1095845"/>
            <a:ext cx="14737465" cy="1823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Impact &amp; Value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82132" y="3191143"/>
            <a:ext cx="9189523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AI agents signifi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cantly improve financial process efficiency by automating repetitive tasks.​</a:t>
            </a:r>
          </a:p>
          <a:p>
            <a:pPr algn="l">
              <a:lnSpc>
                <a:spcPts val="3499"/>
              </a:lnSpc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The system shifts finance roles from manual investigation to strategic oversight and decision making.​</a:t>
            </a:r>
          </a:p>
          <a:p>
            <a:pPr algn="l">
              <a:lnSpc>
                <a:spcPts val="3499"/>
              </a:lnSpc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Despite automation, human expertis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e remains essential for: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andling exceptions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alidating AI recommendations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499" spc="142">
                <a:solidFill>
                  <a:srgbClr val="605440"/>
                </a:solidFill>
                <a:latin typeface="Poppins"/>
                <a:ea typeface="Poppins"/>
                <a:cs typeface="Poppins"/>
                <a:sym typeface="Poppins"/>
              </a:rPr>
              <a:t>ritical financial decisions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41136" y="4123923"/>
            <a:ext cx="13382450" cy="5795493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257027" y="364019"/>
            <a:ext cx="14729259" cy="7448282"/>
          </a:xfrm>
          <a:prstGeom prst="line">
            <a:avLst/>
          </a:prstGeom>
          <a:ln cap="flat" w="38100">
            <a:solidFill>
              <a:srgbClr val="C0C2A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734826" y="-684353"/>
            <a:ext cx="5553174" cy="6612391"/>
          </a:xfrm>
          <a:custGeom>
            <a:avLst/>
            <a:gdLst/>
            <a:ahLst/>
            <a:cxnLst/>
            <a:rect r="r" b="b" t="t" l="l"/>
            <a:pathLst>
              <a:path h="6612391" w="5553174">
                <a:moveTo>
                  <a:pt x="0" y="0"/>
                </a:moveTo>
                <a:lnTo>
                  <a:pt x="5553174" y="0"/>
                </a:lnTo>
                <a:lnTo>
                  <a:pt x="5553174" y="6612391"/>
                </a:lnTo>
                <a:lnTo>
                  <a:pt x="0" y="6612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684573" y="6222318"/>
            <a:ext cx="2863975" cy="5827394"/>
          </a:xfrm>
          <a:custGeom>
            <a:avLst/>
            <a:gdLst/>
            <a:ahLst/>
            <a:cxnLst/>
            <a:rect r="r" b="b" t="t" l="l"/>
            <a:pathLst>
              <a:path h="5827394" w="2863975">
                <a:moveTo>
                  <a:pt x="2863975" y="5827393"/>
                </a:moveTo>
                <a:lnTo>
                  <a:pt x="0" y="5827393"/>
                </a:lnTo>
                <a:lnTo>
                  <a:pt x="0" y="0"/>
                </a:lnTo>
                <a:lnTo>
                  <a:pt x="2863975" y="0"/>
                </a:lnTo>
                <a:lnTo>
                  <a:pt x="2863975" y="582739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66578" y="7587266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964742" y="-1028700"/>
            <a:ext cx="4611757" cy="4114800"/>
          </a:xfrm>
          <a:custGeom>
            <a:avLst/>
            <a:gdLst/>
            <a:ahLst/>
            <a:cxnLst/>
            <a:rect r="r" b="b" t="t" l="l"/>
            <a:pathLst>
              <a:path h="4114800" w="4611757">
                <a:moveTo>
                  <a:pt x="0" y="0"/>
                </a:moveTo>
                <a:lnTo>
                  <a:pt x="4611757" y="0"/>
                </a:lnTo>
                <a:lnTo>
                  <a:pt x="4611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89311" y="5281042"/>
            <a:ext cx="1699972" cy="1699972"/>
          </a:xfrm>
          <a:custGeom>
            <a:avLst/>
            <a:gdLst/>
            <a:ahLst/>
            <a:cxnLst/>
            <a:rect r="r" b="b" t="t" l="l"/>
            <a:pathLst>
              <a:path h="1699972" w="1699972">
                <a:moveTo>
                  <a:pt x="0" y="0"/>
                </a:moveTo>
                <a:lnTo>
                  <a:pt x="1699972" y="0"/>
                </a:lnTo>
                <a:lnTo>
                  <a:pt x="1699972" y="1699972"/>
                </a:lnTo>
                <a:lnTo>
                  <a:pt x="0" y="16999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15558" y="6280463"/>
            <a:ext cx="883130" cy="883130"/>
          </a:xfrm>
          <a:custGeom>
            <a:avLst/>
            <a:gdLst/>
            <a:ahLst/>
            <a:cxnLst/>
            <a:rect r="r" b="b" t="t" l="l"/>
            <a:pathLst>
              <a:path h="883130" w="883130">
                <a:moveTo>
                  <a:pt x="0" y="0"/>
                </a:moveTo>
                <a:lnTo>
                  <a:pt x="883131" y="0"/>
                </a:lnTo>
                <a:lnTo>
                  <a:pt x="883131" y="883131"/>
                </a:lnTo>
                <a:lnTo>
                  <a:pt x="0" y="883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67675" y="3405486"/>
            <a:ext cx="4919149" cy="314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13"/>
              </a:lnSpc>
            </a:pPr>
            <a:r>
              <a:rPr lang="en-US" sz="11113" b="true">
                <a:solidFill>
                  <a:srgbClr val="443B2B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DAHBjdVj5rI</dc:identifier>
  <dcterms:modified xsi:type="dcterms:W3CDTF">2011-08-01T06:04:30Z</dcterms:modified>
  <cp:revision>1</cp:revision>
  <dc:title>Neutral Minimalist Geometric Project presentation</dc:title>
</cp:coreProperties>
</file>