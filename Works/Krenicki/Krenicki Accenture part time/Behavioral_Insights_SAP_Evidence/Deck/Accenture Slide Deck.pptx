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Abril Fatface"/>
      <p:regular r:id="rId28"/>
    </p:embeddedFont>
    <p:embeddedFont>
      <p:font typeface="PT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aandiya Moha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AbrilFatface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T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italic.fntdata"/><Relationship Id="rId30" Type="http://schemas.openxmlformats.org/officeDocument/2006/relationships/font" Target="fonts/PT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T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05T15:09:31.979">
    <p:pos x="6000" y="0"/>
    <p:text>redesign slide, ask if they have questions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080b61eb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080b61eb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9f2f57a7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9f2f57a7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b4cf37d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b4cf37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48dfc0c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48dfc0c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b4cf37de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b4cf37de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3e7e9877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3e7e9877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2779d65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2779d65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3ff1f9970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3ff1f9970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3e7e987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3e7e987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48c82c97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48c82c97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493fbf063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493fbf06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48c82c97a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48c82c97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4a6e062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b4a6e062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243963" y="-933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79191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5649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784685">
            <a:off x="-181759" y="-8212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 flipH="1" rot="1783285">
            <a:off x="-385508" y="-12432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43200" y="-478825"/>
            <a:ext cx="1214376" cy="4636445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1055101">
            <a:off x="-960243" y="-611114"/>
            <a:ext cx="1615770" cy="1821365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 rot="10800000">
            <a:off x="7641225" y="-691372"/>
            <a:ext cx="1756619" cy="207607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145456" y="-66021"/>
            <a:ext cx="1756619" cy="232279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-1794915">
            <a:off x="-1502546" y="-638410"/>
            <a:ext cx="2293282" cy="2585085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8555291" y="-912025"/>
            <a:ext cx="1031060" cy="313232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7852681" y="-293879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title"/>
          </p:nvPr>
        </p:nvSpPr>
        <p:spPr>
          <a:xfrm>
            <a:off x="5110086" y="220340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110088" y="2786250"/>
            <a:ext cx="2742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3" type="subTitle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4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992836" y="-201404"/>
            <a:ext cx="2374143" cy="280590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 rot="-2700000">
            <a:off x="-1671654" y="-637784"/>
            <a:ext cx="2293212" cy="2585006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 flipH="1" rot="1315565">
            <a:off x="7821221" y="-111650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 flipH="1">
            <a:off x="-243963" y="-2457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 flipH="1">
            <a:off x="80715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 flipH="1">
            <a:off x="77173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 rot="-3419928">
            <a:off x="-1702337" y="601789"/>
            <a:ext cx="2807434" cy="1193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 flipH="1" rot="1401600">
            <a:off x="8049665" y="111206"/>
            <a:ext cx="2374221" cy="280599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 rot="-836192">
            <a:off x="-1327580" y="-192083"/>
            <a:ext cx="2334065" cy="2880761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 txBox="1"/>
          <p:nvPr>
            <p:ph type="title"/>
          </p:nvPr>
        </p:nvSpPr>
        <p:spPr>
          <a:xfrm>
            <a:off x="1896900" y="1307100"/>
            <a:ext cx="6534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880749">
            <a:off x="-109876" y="-360103"/>
            <a:ext cx="1253609" cy="3696848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 flipH="1" rot="1966325">
            <a:off x="-97652" y="-885201"/>
            <a:ext cx="1064941" cy="3438159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8448000" y="-7715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20000" y="124018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41550" y="2221513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 flipH="1">
            <a:off x="-331799" y="-846185"/>
            <a:ext cx="855913" cy="3527545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 flipH="1" rot="894957">
            <a:off x="8570322" y="26143"/>
            <a:ext cx="1383968" cy="1264504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 flipH="1" rot="894957">
            <a:off x="8014872" y="-268356"/>
            <a:ext cx="1730081" cy="277377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3245625" y="1913850"/>
            <a:ext cx="5050500" cy="13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 rot="1103675">
            <a:off x="274406" y="-611819"/>
            <a:ext cx="1245021" cy="318126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 flipH="1">
            <a:off x="-878080" y="-1048117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 rot="1884779">
            <a:off x="7986089" y="-765133"/>
            <a:ext cx="2074380" cy="220204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flipH="1" rot="-784685">
            <a:off x="7733575" y="-8974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 rot="-1783285">
            <a:off x="7922631" y="-13956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 flipH="1">
            <a:off x="-331801" y="-16813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243700" y="1478750"/>
            <a:ext cx="3180300" cy="30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-243963" y="-1695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flipH="1">
            <a:off x="79191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 flipH="1">
            <a:off x="75649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2" type="subTitle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hasCustomPrompt="1"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hasCustomPrompt="1" idx="5" type="title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7" type="subTitle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hasCustomPrompt="1" idx="8" type="title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/>
          <p:nvPr>
            <p:ph idx="9" type="subTitle"/>
          </p:nvPr>
        </p:nvSpPr>
        <p:spPr>
          <a:xfrm>
            <a:off x="5944800" y="3288772"/>
            <a:ext cx="215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3" type="subTitle"/>
          </p:nvPr>
        </p:nvSpPr>
        <p:spPr>
          <a:xfrm>
            <a:off x="5944800" y="3918099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14" type="title"/>
          </p:nvPr>
        </p:nvSpPr>
        <p:spPr>
          <a:xfrm>
            <a:off x="4986065" y="3257135"/>
            <a:ext cx="9897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5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flipH="1" rot="-784685">
            <a:off x="7733586" y="-3640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 rot="-1783285">
            <a:off x="8151242" y="-7860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-408376" y="-174026"/>
            <a:ext cx="1214376" cy="412852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1407300" y="1189100"/>
            <a:ext cx="63294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2008950" y="3153500"/>
            <a:ext cx="5126100" cy="8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984785" y="25045"/>
            <a:ext cx="2462769" cy="3479258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1747850" y="-340664"/>
            <a:ext cx="2293271" cy="3283712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 flipH="1" rot="1315565">
            <a:off x="7997421" y="-481925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4070700" y="3115663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17397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 flipH="1" rot="-455257">
            <a:off x="7806607" y="-318267"/>
            <a:ext cx="1246880" cy="4103824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 rot="-1538068">
            <a:off x="8279381" y="-585154"/>
            <a:ext cx="1048448" cy="3401387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 flipH="1" rot="654765">
            <a:off x="-453981" y="-1416413"/>
            <a:ext cx="1214384" cy="4002644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0" y="1303638"/>
            <a:ext cx="3293700" cy="20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4572000" y="3292363"/>
            <a:ext cx="34914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2539665">
            <a:off x="7952801" y="67183"/>
            <a:ext cx="1899215" cy="944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 flipH="1" rot="-1669522">
            <a:off x="-1115619" y="-369656"/>
            <a:ext cx="2074389" cy="220205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 rot="-1532380">
            <a:off x="-1606285" y="-643205"/>
            <a:ext cx="2462769" cy="3479258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720000" y="2215050"/>
            <a:ext cx="25755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flipH="1" rot="2539665">
            <a:off x="7952801" y="67183"/>
            <a:ext cx="1899215" cy="944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 flipH="1" rot="-1669522">
            <a:off x="-1115619" y="-369656"/>
            <a:ext cx="2074389" cy="220205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1606285" y="-643205"/>
            <a:ext cx="2462769" cy="3479258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719900" y="1533450"/>
            <a:ext cx="7704000" cy="30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flipH="1" rot="1236882">
            <a:off x="7680459" y="103396"/>
            <a:ext cx="2374143" cy="280590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 flipH="1">
            <a:off x="8516333" y="-485412"/>
            <a:ext cx="2293271" cy="2585072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005022" y="-481925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33129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37185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2" type="title"/>
          </p:nvPr>
        </p:nvSpPr>
        <p:spPr>
          <a:xfrm>
            <a:off x="3484419" y="18756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0" name="Google Shape;130;p20"/>
          <p:cNvSpPr txBox="1"/>
          <p:nvPr>
            <p:ph idx="3" type="subTitle"/>
          </p:nvPr>
        </p:nvSpPr>
        <p:spPr>
          <a:xfrm>
            <a:off x="3484421" y="2269788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4" type="title"/>
          </p:nvPr>
        </p:nvSpPr>
        <p:spPr>
          <a:xfrm>
            <a:off x="6255596" y="33357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2" name="Google Shape;132;p20"/>
          <p:cNvSpPr txBox="1"/>
          <p:nvPr>
            <p:ph idx="5" type="subTitle"/>
          </p:nvPr>
        </p:nvSpPr>
        <p:spPr>
          <a:xfrm>
            <a:off x="6255599" y="37185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6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flipH="1">
            <a:off x="8252620" y="-928356"/>
            <a:ext cx="1245003" cy="318121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 rot="-844789">
            <a:off x="8256274" y="-340789"/>
            <a:ext cx="1031065" cy="343335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-263905" y="-1215306"/>
            <a:ext cx="1245003" cy="318121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1323370" y="129759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1323370" y="174910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2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3" type="title"/>
          </p:nvPr>
        </p:nvSpPr>
        <p:spPr>
          <a:xfrm>
            <a:off x="1323370" y="242272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2" name="Google Shape;142;p21"/>
          <p:cNvSpPr txBox="1"/>
          <p:nvPr>
            <p:ph idx="4" type="subTitle"/>
          </p:nvPr>
        </p:nvSpPr>
        <p:spPr>
          <a:xfrm>
            <a:off x="1323370" y="2874231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5" type="title"/>
          </p:nvPr>
        </p:nvSpPr>
        <p:spPr>
          <a:xfrm>
            <a:off x="1323370" y="354784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4" name="Google Shape;144;p21"/>
          <p:cNvSpPr txBox="1"/>
          <p:nvPr>
            <p:ph idx="6" type="subTitle"/>
          </p:nvPr>
        </p:nvSpPr>
        <p:spPr>
          <a:xfrm>
            <a:off x="1323370" y="399935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 rot="-240488">
            <a:off x="-424134" y="-626662"/>
            <a:ext cx="1244966" cy="3296515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 flipH="1" rot="758190">
            <a:off x="-566166" y="-1075222"/>
            <a:ext cx="1031062" cy="3132328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8371800" y="-4667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868975" y="17080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830575" y="2630725"/>
            <a:ext cx="22521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2" type="title"/>
          </p:nvPr>
        </p:nvSpPr>
        <p:spPr>
          <a:xfrm>
            <a:off x="3484350" y="17080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2" name="Google Shape;152;p22"/>
          <p:cNvSpPr txBox="1"/>
          <p:nvPr>
            <p:ph idx="3" type="subTitle"/>
          </p:nvPr>
        </p:nvSpPr>
        <p:spPr>
          <a:xfrm>
            <a:off x="3445950" y="2630725"/>
            <a:ext cx="22521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4" type="title"/>
          </p:nvPr>
        </p:nvSpPr>
        <p:spPr>
          <a:xfrm>
            <a:off x="6099725" y="17080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" name="Google Shape;154;p22"/>
          <p:cNvSpPr txBox="1"/>
          <p:nvPr>
            <p:ph idx="5" type="subTitle"/>
          </p:nvPr>
        </p:nvSpPr>
        <p:spPr>
          <a:xfrm>
            <a:off x="6061325" y="2630725"/>
            <a:ext cx="22521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2"/>
          <p:cNvSpPr txBox="1"/>
          <p:nvPr>
            <p:ph idx="6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 rot="784685">
            <a:off x="-410359" y="-8974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 flipH="1" rot="1783285">
            <a:off x="-385508" y="-13956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8448000" y="-7715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713100" y="155995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1046700" y="199407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2" type="title"/>
          </p:nvPr>
        </p:nvSpPr>
        <p:spPr>
          <a:xfrm>
            <a:off x="6112200" y="155995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3" name="Google Shape;163;p23"/>
          <p:cNvSpPr txBox="1"/>
          <p:nvPr>
            <p:ph idx="3" type="subTitle"/>
          </p:nvPr>
        </p:nvSpPr>
        <p:spPr>
          <a:xfrm>
            <a:off x="6112200" y="199407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3"/>
          <p:cNvSpPr txBox="1"/>
          <p:nvPr>
            <p:ph idx="4" type="title"/>
          </p:nvPr>
        </p:nvSpPr>
        <p:spPr>
          <a:xfrm>
            <a:off x="713100" y="299416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23"/>
          <p:cNvSpPr txBox="1"/>
          <p:nvPr>
            <p:ph idx="5" type="subTitle"/>
          </p:nvPr>
        </p:nvSpPr>
        <p:spPr>
          <a:xfrm>
            <a:off x="1046700" y="342828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6" type="title"/>
          </p:nvPr>
        </p:nvSpPr>
        <p:spPr>
          <a:xfrm>
            <a:off x="6112200" y="299416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7" name="Google Shape;167;p23"/>
          <p:cNvSpPr txBox="1"/>
          <p:nvPr>
            <p:ph idx="7" type="subTitle"/>
          </p:nvPr>
        </p:nvSpPr>
        <p:spPr>
          <a:xfrm>
            <a:off x="6112200" y="342828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8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 rot="784685">
            <a:off x="-257959" y="-8974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 flipH="1" rot="1783285">
            <a:off x="-461708" y="-13194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 rot="-593063">
            <a:off x="8066979" y="-555017"/>
            <a:ext cx="1214363" cy="4636379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1872622" y="16182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4"/>
          <p:cNvSpPr txBox="1"/>
          <p:nvPr>
            <p:ph idx="1" type="subTitle"/>
          </p:nvPr>
        </p:nvSpPr>
        <p:spPr>
          <a:xfrm>
            <a:off x="1872622" y="20654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2" type="title"/>
          </p:nvPr>
        </p:nvSpPr>
        <p:spPr>
          <a:xfrm>
            <a:off x="5893580" y="16182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6" name="Google Shape;176;p24"/>
          <p:cNvSpPr txBox="1"/>
          <p:nvPr>
            <p:ph idx="3" type="subTitle"/>
          </p:nvPr>
        </p:nvSpPr>
        <p:spPr>
          <a:xfrm>
            <a:off x="5893576" y="20654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4" type="title"/>
          </p:nvPr>
        </p:nvSpPr>
        <p:spPr>
          <a:xfrm>
            <a:off x="1872622" y="30516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8" name="Google Shape;178;p24"/>
          <p:cNvSpPr txBox="1"/>
          <p:nvPr>
            <p:ph idx="5" type="subTitle"/>
          </p:nvPr>
        </p:nvSpPr>
        <p:spPr>
          <a:xfrm>
            <a:off x="1872622" y="34988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6" type="title"/>
          </p:nvPr>
        </p:nvSpPr>
        <p:spPr>
          <a:xfrm>
            <a:off x="5893580" y="30516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0" name="Google Shape;180;p24"/>
          <p:cNvSpPr txBox="1"/>
          <p:nvPr>
            <p:ph idx="7" type="subTitle"/>
          </p:nvPr>
        </p:nvSpPr>
        <p:spPr>
          <a:xfrm>
            <a:off x="5893576" y="34988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8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 flipH="1">
            <a:off x="7692880" y="-288986"/>
            <a:ext cx="2374159" cy="280592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 flipH="1" rot="-2700000">
            <a:off x="8364443" y="-538691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 rot="-236223">
            <a:off x="-431802" y="-749425"/>
            <a:ext cx="1244962" cy="3296496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2" type="title"/>
          </p:nvPr>
        </p:nvSpPr>
        <p:spPr>
          <a:xfrm>
            <a:off x="1286050" y="129759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25"/>
          <p:cNvSpPr txBox="1"/>
          <p:nvPr>
            <p:ph idx="1" type="subTitle"/>
          </p:nvPr>
        </p:nvSpPr>
        <p:spPr>
          <a:xfrm>
            <a:off x="1286050" y="174910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3" type="title"/>
          </p:nvPr>
        </p:nvSpPr>
        <p:spPr>
          <a:xfrm>
            <a:off x="1286050" y="242272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0" name="Google Shape;190;p25"/>
          <p:cNvSpPr txBox="1"/>
          <p:nvPr>
            <p:ph idx="4" type="subTitle"/>
          </p:nvPr>
        </p:nvSpPr>
        <p:spPr>
          <a:xfrm>
            <a:off x="1286050" y="2874231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idx="5" type="title"/>
          </p:nvPr>
        </p:nvSpPr>
        <p:spPr>
          <a:xfrm>
            <a:off x="1286050" y="354784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2" name="Google Shape;192;p25"/>
          <p:cNvSpPr txBox="1"/>
          <p:nvPr>
            <p:ph idx="6" type="subTitle"/>
          </p:nvPr>
        </p:nvSpPr>
        <p:spPr>
          <a:xfrm>
            <a:off x="1286050" y="399935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7" type="title"/>
          </p:nvPr>
        </p:nvSpPr>
        <p:spPr>
          <a:xfrm>
            <a:off x="5682650" y="129759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25"/>
          <p:cNvSpPr txBox="1"/>
          <p:nvPr>
            <p:ph idx="8" type="subTitle"/>
          </p:nvPr>
        </p:nvSpPr>
        <p:spPr>
          <a:xfrm>
            <a:off x="5682650" y="174910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9" type="title"/>
          </p:nvPr>
        </p:nvSpPr>
        <p:spPr>
          <a:xfrm>
            <a:off x="5682650" y="242272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25"/>
          <p:cNvSpPr txBox="1"/>
          <p:nvPr>
            <p:ph idx="13" type="subTitle"/>
          </p:nvPr>
        </p:nvSpPr>
        <p:spPr>
          <a:xfrm>
            <a:off x="5682650" y="2874231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14" type="title"/>
          </p:nvPr>
        </p:nvSpPr>
        <p:spPr>
          <a:xfrm>
            <a:off x="5682650" y="354784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8" name="Google Shape;198;p25"/>
          <p:cNvSpPr txBox="1"/>
          <p:nvPr>
            <p:ph idx="15" type="subTitle"/>
          </p:nvPr>
        </p:nvSpPr>
        <p:spPr>
          <a:xfrm>
            <a:off x="5682650" y="399935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6"/>
          <p:cNvSpPr txBox="1"/>
          <p:nvPr>
            <p:ph idx="1" type="subTitle"/>
          </p:nvPr>
        </p:nvSpPr>
        <p:spPr>
          <a:xfrm>
            <a:off x="2223600" y="1234825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hasCustomPrompt="1" idx="2" type="title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3" name="Google Shape;203;p26"/>
          <p:cNvSpPr txBox="1"/>
          <p:nvPr>
            <p:ph idx="3" type="subTitle"/>
          </p:nvPr>
        </p:nvSpPr>
        <p:spPr>
          <a:xfrm>
            <a:off x="2223600" y="2554644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hasCustomPrompt="1"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5" name="Google Shape;205;p26"/>
          <p:cNvSpPr txBox="1"/>
          <p:nvPr>
            <p:ph idx="5" type="subTitle"/>
          </p:nvPr>
        </p:nvSpPr>
        <p:spPr>
          <a:xfrm>
            <a:off x="2223600" y="3874463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" name="Google Shape;206;p26"/>
          <p:cNvSpPr/>
          <p:nvPr/>
        </p:nvSpPr>
        <p:spPr>
          <a:xfrm flipH="1" rot="-1103675">
            <a:off x="8084800" y="-611819"/>
            <a:ext cx="1245021" cy="318126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8322223" y="-561604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 flipH="1" rot="1040920">
            <a:off x="-826208" y="-506959"/>
            <a:ext cx="2074408" cy="220207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7"/>
          <p:cNvSpPr/>
          <p:nvPr/>
        </p:nvSpPr>
        <p:spPr>
          <a:xfrm flipH="1">
            <a:off x="7692880" y="-288986"/>
            <a:ext cx="2374159" cy="280592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 flipH="1" rot="-2700000">
            <a:off x="8364443" y="-538691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 rot="-236223">
            <a:off x="-431802" y="-749425"/>
            <a:ext cx="1244962" cy="3296496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7874419" y="-137976"/>
            <a:ext cx="2481131" cy="294392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 rot="2700000">
            <a:off x="94776" y="-643730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8576741" y="-658300"/>
            <a:ext cx="1031060" cy="313232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720000" y="375287"/>
            <a:ext cx="42948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subTitle"/>
          </p:nvPr>
        </p:nvSpPr>
        <p:spPr>
          <a:xfrm>
            <a:off x="713100" y="1394019"/>
            <a:ext cx="3434700" cy="14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8"/>
          <p:cNvSpPr txBox="1"/>
          <p:nvPr/>
        </p:nvSpPr>
        <p:spPr>
          <a:xfrm>
            <a:off x="720000" y="2966252"/>
            <a:ext cx="37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dk1"/>
              </a:solidFill>
              <a:highlight>
                <a:srgbClr val="DFDEFC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- Ralph Lauren</a:t>
            </a:r>
            <a:endParaRPr/>
          </a:p>
        </p:txBody>
      </p:sp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GenAI in Receivables Management</a:t>
            </a:r>
            <a:endParaRPr/>
          </a:p>
        </p:txBody>
      </p:sp>
      <p:cxnSp>
        <p:nvCxnSpPr>
          <p:cNvPr id="228" name="Google Shape;228;p30"/>
          <p:cNvCxnSpPr>
            <a:endCxn id="229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6331500" y="4630647"/>
            <a:ext cx="2585400" cy="4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Purdue University</a:t>
            </a:r>
            <a:endParaRPr sz="1200"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81" y="400600"/>
            <a:ext cx="4445246" cy="4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5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 &amp; </a:t>
            </a:r>
            <a:r>
              <a:rPr lang="en"/>
              <a:t>Accounts Receivable</a:t>
            </a:r>
            <a:endParaRPr/>
          </a:p>
        </p:txBody>
      </p:sp>
      <p:sp>
        <p:nvSpPr>
          <p:cNvPr id="238" name="Google Shape;238;p31"/>
          <p:cNvSpPr txBox="1"/>
          <p:nvPr>
            <p:ph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240" name="Google Shape;240;p31"/>
          <p:cNvSpPr txBox="1"/>
          <p:nvPr>
            <p:ph idx="4" type="subTitle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Insights &amp; Agent for Incorrect Credits</a:t>
            </a:r>
            <a:endParaRPr/>
          </a:p>
        </p:txBody>
      </p:sp>
      <p:sp>
        <p:nvSpPr>
          <p:cNvPr id="241" name="Google Shape;241;p31"/>
          <p:cNvSpPr txBox="1"/>
          <p:nvPr>
            <p:ph idx="5" type="title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42" name="Google Shape;242;p31"/>
          <p:cNvSpPr txBox="1"/>
          <p:nvPr>
            <p:ph idx="6" type="subTitle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243" name="Google Shape;243;p31"/>
          <p:cNvSpPr txBox="1"/>
          <p:nvPr>
            <p:ph idx="7" type="subTitle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 Resolution Agent &amp; Contract Accounting </a:t>
            </a:r>
            <a:endParaRPr/>
          </a:p>
        </p:txBody>
      </p:sp>
      <p:sp>
        <p:nvSpPr>
          <p:cNvPr id="244" name="Google Shape;244;p31"/>
          <p:cNvSpPr txBox="1"/>
          <p:nvPr>
            <p:ph idx="8" type="title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cxnSp>
        <p:nvCxnSpPr>
          <p:cNvPr id="245" name="Google Shape;245;p31"/>
          <p:cNvCxnSpPr>
            <a:endCxn id="24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53" name="Google Shape;253;p32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54" name="Google Shape;254;p32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Saandiya, Tolu, Parth</a:t>
            </a:r>
            <a:endParaRPr/>
          </a:p>
        </p:txBody>
      </p:sp>
      <p:cxnSp>
        <p:nvCxnSpPr>
          <p:cNvPr id="255" name="Google Shape;255;p32"/>
          <p:cNvCxnSpPr>
            <a:endCxn id="25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32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5066879" y="830493"/>
            <a:ext cx="28113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264" name="Google Shape;264;p33"/>
          <p:cNvSpPr txBox="1"/>
          <p:nvPr>
            <p:ph idx="3" type="subTitle"/>
          </p:nvPr>
        </p:nvSpPr>
        <p:spPr>
          <a:xfrm>
            <a:off x="4778125" y="1282597"/>
            <a:ext cx="3388800" cy="22467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Apply incoming payments to open receivables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Payments received (ACH / Wire / Cash / Check)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AR accountants manually need to: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Investigate remittance data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Match payments to invoices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Clear invoices or flag issues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Lot of high-volume repetitive work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Major </a:t>
            </a:r>
            <a:r>
              <a:rPr lang="en" sz="1309" u="sng"/>
              <a:t>processing bottleneck</a:t>
            </a:r>
            <a:endParaRPr sz="1309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265" name="Google Shape;265;p33"/>
          <p:cNvSpPr txBox="1"/>
          <p:nvPr>
            <p:ph type="title"/>
          </p:nvPr>
        </p:nvSpPr>
        <p:spPr>
          <a:xfrm>
            <a:off x="216350" y="830500"/>
            <a:ext cx="40086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SAP Cash Application (AR Agent)</a:t>
            </a:r>
            <a:endParaRPr sz="1818"/>
          </a:p>
        </p:txBody>
      </p:sp>
      <p:sp>
        <p:nvSpPr>
          <p:cNvPr id="266" name="Google Shape;266;p33"/>
          <p:cNvSpPr txBox="1"/>
          <p:nvPr>
            <p:ph idx="3" type="subTitle"/>
          </p:nvPr>
        </p:nvSpPr>
        <p:spPr>
          <a:xfrm>
            <a:off x="526250" y="1282601"/>
            <a:ext cx="3495600" cy="20754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Primary Task: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Automatically match incoming payments to open invoices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Read bank statements + remittance data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Uses reinforced learning from</a:t>
            </a:r>
            <a:r>
              <a:rPr lang="en" sz="1309"/>
              <a:t> accountants</a:t>
            </a:r>
            <a:r>
              <a:rPr lang="en" sz="1309"/>
              <a:t>' actions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75% reduction in effort analyzing and </a:t>
            </a:r>
            <a:r>
              <a:rPr lang="en" sz="1309"/>
              <a:t>reconciling</a:t>
            </a:r>
            <a:r>
              <a:rPr lang="en" sz="1309"/>
              <a:t> open AR items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267" name="Google Shape;267;p33"/>
          <p:cNvSpPr txBox="1"/>
          <p:nvPr>
            <p:ph type="title"/>
          </p:nvPr>
        </p:nvSpPr>
        <p:spPr>
          <a:xfrm>
            <a:off x="1413654" y="3405503"/>
            <a:ext cx="28113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Fit in L5 Workflow</a:t>
            </a:r>
            <a:endParaRPr sz="1818"/>
          </a:p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526250" y="3886109"/>
            <a:ext cx="3863100" cy="1045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Exact Placement: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After payment is </a:t>
            </a:r>
            <a:r>
              <a:rPr lang="en" sz="1309"/>
              <a:t>received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Before invoice clearing / dispute handling</a:t>
            </a:r>
            <a:endParaRPr sz="1309"/>
          </a:p>
        </p:txBody>
      </p:sp>
      <p:sp>
        <p:nvSpPr>
          <p:cNvPr id="269" name="Google Shape;269;p33"/>
          <p:cNvSpPr txBox="1"/>
          <p:nvPr>
            <p:ph idx="3" type="subTitle"/>
          </p:nvPr>
        </p:nvSpPr>
        <p:spPr>
          <a:xfrm>
            <a:off x="4224950" y="3886109"/>
            <a:ext cx="3863100" cy="1045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Main changes in L5: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AI replaces manual matching as default path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Human involvement becomes conditional</a:t>
            </a:r>
            <a:endParaRPr sz="1309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pic>
        <p:nvPicPr>
          <p:cNvPr id="270" name="Google Shape;27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325" y="5925"/>
            <a:ext cx="2321924" cy="24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4" type="title"/>
          </p:nvPr>
        </p:nvSpPr>
        <p:spPr>
          <a:xfrm>
            <a:off x="720000" y="428838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Automation Logic &amp; Decision Thresholds (AR app)</a:t>
            </a:r>
            <a:endParaRPr sz="2600"/>
          </a:p>
        </p:txBody>
      </p:sp>
      <p:sp>
        <p:nvSpPr>
          <p:cNvPr id="276" name="Google Shape;276;p34"/>
          <p:cNvSpPr txBox="1"/>
          <p:nvPr>
            <p:ph idx="2" type="title"/>
          </p:nvPr>
        </p:nvSpPr>
        <p:spPr>
          <a:xfrm>
            <a:off x="720002" y="1201825"/>
            <a:ext cx="2547600" cy="4137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395250" y="1615536"/>
            <a:ext cx="3197100" cy="21957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-251757" lvl="0" marL="338415" rtl="0" algn="l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</a:rPr>
              <a:t>Autonomous Matching:</a:t>
            </a:r>
            <a:br>
              <a:rPr b="1"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scans bank statements and remittance data to propose invoice matches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b="1" lang="en" sz="1300">
                <a:solidFill>
                  <a:srgbClr val="000000"/>
                </a:solidFill>
              </a:rPr>
              <a:t>Confidence Scoring:</a:t>
            </a:r>
            <a:endParaRPr b="1" sz="1300">
              <a:solidFill>
                <a:srgbClr val="000000"/>
              </a:solidFill>
            </a:endParaRPr>
          </a:p>
          <a:p>
            <a:pPr indent="-251758" lvl="1" marL="6768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High confidence → </a:t>
            </a:r>
            <a:r>
              <a:rPr b="1" lang="en" sz="1300">
                <a:solidFill>
                  <a:srgbClr val="000000"/>
                </a:solidFill>
              </a:rPr>
              <a:t>Auto-clearing</a:t>
            </a:r>
            <a:endParaRPr b="1" sz="1300">
              <a:solidFill>
                <a:srgbClr val="000000"/>
              </a:solidFill>
            </a:endParaRPr>
          </a:p>
          <a:p>
            <a:pPr indent="-251758" lvl="1" marL="6768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Medium confidence → </a:t>
            </a:r>
            <a:r>
              <a:rPr b="1" lang="en" sz="1300">
                <a:solidFill>
                  <a:srgbClr val="000000"/>
                </a:solidFill>
              </a:rPr>
              <a:t>AI recommendation</a:t>
            </a:r>
            <a:endParaRPr b="1"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</a:rPr>
              <a:t>Predictive Risk Awareness:</a:t>
            </a:r>
            <a:br>
              <a:rPr b="1"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highlights which payments or exceptions need urgent attention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88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78" name="Google Shape;278;p34"/>
          <p:cNvPicPr preferRelativeResize="0"/>
          <p:nvPr/>
        </p:nvPicPr>
        <p:blipFill rotWithShape="1">
          <a:blip r:embed="rId3">
            <a:alphaModFix/>
          </a:blip>
          <a:srcRect b="29436" l="0" r="55239" t="12890"/>
          <a:stretch/>
        </p:blipFill>
        <p:spPr>
          <a:xfrm>
            <a:off x="4000713" y="752025"/>
            <a:ext cx="4761531" cy="408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126752" cy="2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type="title"/>
          </p:nvPr>
        </p:nvSpPr>
        <p:spPr>
          <a:xfrm>
            <a:off x="720000" y="4760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</a:t>
            </a:r>
            <a:endParaRPr/>
          </a:p>
        </p:txBody>
      </p:sp>
      <p:sp>
        <p:nvSpPr>
          <p:cNvPr id="285" name="Google Shape;285;p35"/>
          <p:cNvSpPr txBox="1"/>
          <p:nvPr>
            <p:ph idx="1" type="body"/>
          </p:nvPr>
        </p:nvSpPr>
        <p:spPr>
          <a:xfrm>
            <a:off x="511600" y="1174600"/>
            <a:ext cx="3876000" cy="32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When Is It Automated?</a:t>
            </a:r>
            <a:endParaRPr b="1" sz="13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Repetitive, high-volume payments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Clear remittance data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Standard customers and invoices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High-confidence matches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When Does It Escalate?</a:t>
            </a:r>
            <a:endParaRPr b="1" sz="13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Low Confidence:</a:t>
            </a:r>
            <a:br>
              <a:rPr b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Short payments or missing invoice references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Edge Cases:</a:t>
            </a:r>
            <a:br>
              <a:rPr b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New customer behavior or complex disputes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Risk-Based Escalation:</a:t>
            </a:r>
            <a:br>
              <a:rPr b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High-risk or high-value invoices flagged by Joule</a:t>
            </a:r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4045650" y="170725"/>
            <a:ext cx="3876000" cy="20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Control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handles the matching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Humans review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flagged exceptions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 Accountant shifts from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“doer” → “reviewer”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35"/>
          <p:cNvPicPr preferRelativeResize="0"/>
          <p:nvPr/>
        </p:nvPicPr>
        <p:blipFill rotWithShape="1">
          <a:blip r:embed="rId3">
            <a:alphaModFix/>
          </a:blip>
          <a:srcRect b="29829" l="46482" r="2688" t="13264"/>
          <a:stretch/>
        </p:blipFill>
        <p:spPr>
          <a:xfrm>
            <a:off x="4300450" y="1847300"/>
            <a:ext cx="4256148" cy="31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293" name="Google Shape;293;p36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294" name="Google Shape;294;p36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Mayank, Byron, Rhea</a:t>
            </a:r>
            <a:endParaRPr/>
          </a:p>
        </p:txBody>
      </p:sp>
      <p:cxnSp>
        <p:nvCxnSpPr>
          <p:cNvPr id="295" name="Google Shape;295;p36"/>
          <p:cNvCxnSpPr>
            <a:endCxn id="29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6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1030500" y="-255275"/>
            <a:ext cx="76038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Dispute Resolution Agent</a:t>
            </a:r>
            <a:endParaRPr sz="3900"/>
          </a:p>
        </p:txBody>
      </p:sp>
      <p:sp>
        <p:nvSpPr>
          <p:cNvPr id="303" name="Google Shape;303;p37"/>
          <p:cNvSpPr txBox="1"/>
          <p:nvPr>
            <p:ph idx="1" type="subTitle"/>
          </p:nvPr>
        </p:nvSpPr>
        <p:spPr>
          <a:xfrm>
            <a:off x="136925" y="890975"/>
            <a:ext cx="2525700" cy="16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Before (Manual Process):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Accountants review invoices and contracts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Decide if disputes are valid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Apply corrections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Slow and error-prone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4" name="Google Shape;304;p37"/>
          <p:cNvSpPr txBox="1"/>
          <p:nvPr/>
        </p:nvSpPr>
        <p:spPr>
          <a:xfrm>
            <a:off x="136925" y="3096975"/>
            <a:ext cx="4539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Why the agent isn’t useful (dispute case opening)l: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The dispute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hasn’t been investigated yet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→ no invoice/contract analysis needed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No corrections or payments are involved → nothing for the AI to act on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Work is mostly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intake and routing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, which is simple administrative work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37"/>
          <p:cNvSpPr txBox="1"/>
          <p:nvPr/>
        </p:nvSpPr>
        <p:spPr>
          <a:xfrm>
            <a:off x="2548550" y="890975"/>
            <a:ext cx="32826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Dispute Case Management: </a:t>
            </a:r>
            <a:endParaRPr b="1"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Automatically reviews invoices and contracts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replaces manual review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Checks if customer complaints are justified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supports faster decisions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Suggests or triggers corrections (e.g., credit memos)</a:t>
            </a: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→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reduces delays and back-and-forth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6" name="Google Shape;3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4450" y="890976"/>
            <a:ext cx="3332775" cy="41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1100400" y="-300425"/>
            <a:ext cx="69432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Contract Accounting </a:t>
            </a:r>
            <a:endParaRPr sz="3900"/>
          </a:p>
        </p:txBody>
      </p:sp>
      <p:sp>
        <p:nvSpPr>
          <p:cNvPr id="312" name="Google Shape;312;p38"/>
          <p:cNvSpPr txBox="1"/>
          <p:nvPr>
            <p:ph idx="1" type="subTitle"/>
          </p:nvPr>
        </p:nvSpPr>
        <p:spPr>
          <a:xfrm>
            <a:off x="0" y="975475"/>
            <a:ext cx="3010800" cy="26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Before (Manual Process):</a:t>
            </a:r>
            <a:endParaRPr b="1"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"/>
              <a:buChar char="●"/>
            </a:pPr>
            <a:r>
              <a:rPr lang="en" sz="1000">
                <a:solidFill>
                  <a:srgbClr val="000000"/>
                </a:solidFill>
              </a:rPr>
              <a:t>Manually match payments to invoices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"/>
              <a:buChar char="●"/>
            </a:pPr>
            <a:r>
              <a:rPr lang="en" sz="1000">
                <a:solidFill>
                  <a:srgbClr val="000000"/>
                </a:solidFill>
              </a:rPr>
              <a:t>Clear accounts after corrections</a:t>
            </a:r>
            <a:br>
              <a:rPr lang="en" sz="1000">
                <a:solidFill>
                  <a:srgbClr val="000000"/>
                </a:solidFill>
              </a:rPr>
            </a:br>
            <a:r>
              <a:rPr lang="en" sz="1000">
                <a:solidFill>
                  <a:srgbClr val="000000"/>
                </a:solidFill>
              </a:rPr>
              <a:t>Slow, error-prone, delays dispute closure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After (With AI Agent):</a:t>
            </a:r>
            <a:endParaRPr b="1"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"/>
              <a:buChar char="●"/>
            </a:pPr>
            <a:r>
              <a:rPr lang="en" sz="1000">
                <a:solidFill>
                  <a:srgbClr val="000000"/>
                </a:solidFill>
              </a:rPr>
              <a:t>Automatically matches payments to open invoices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"/>
              <a:buChar char="●"/>
            </a:pPr>
            <a:r>
              <a:rPr lang="en" sz="1000">
                <a:solidFill>
                  <a:srgbClr val="000000"/>
                </a:solidFill>
              </a:rPr>
              <a:t>Clears accounts and re-matches after corrections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"/>
              <a:buChar char="●"/>
            </a:pPr>
            <a:r>
              <a:rPr lang="en" sz="1000">
                <a:solidFill>
                  <a:srgbClr val="000000"/>
                </a:solidFill>
              </a:rPr>
              <a:t>Detects underpayments/partial payments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"/>
              <a:buChar char="●"/>
            </a:pPr>
            <a:r>
              <a:rPr lang="en" sz="1000">
                <a:solidFill>
                  <a:srgbClr val="000000"/>
                </a:solidFill>
              </a:rPr>
              <a:t>Speeds up dispute closure and reduces errors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3" name="Google Shape;313;p38"/>
          <p:cNvSpPr txBox="1"/>
          <p:nvPr/>
        </p:nvSpPr>
        <p:spPr>
          <a:xfrm>
            <a:off x="147225" y="3616375"/>
            <a:ext cx="38415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Dispute Case Opening:</a:t>
            </a:r>
            <a:endParaRPr b="1"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not useful → dispute hasn’t been investigated yet, so nothing to analyze or correct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Stage is mostly intake: 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detecting disputes, creating cases, assigning to the right team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2914825" y="999950"/>
            <a:ext cx="33987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Dispute Case Management:</a:t>
            </a:r>
            <a:endParaRPr b="1"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Automatically matches payments to open invoices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reduces manual work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Detects underpayments or partial payments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speeds up dispute resolution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Clears accounts after corrections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ensures accurate financials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5775" y="569225"/>
            <a:ext cx="2668225" cy="42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321" name="Google Shape;321;p39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322" name="Google Shape;322;p39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Allison, Prabhu, Tanvi</a:t>
            </a:r>
            <a:endParaRPr/>
          </a:p>
        </p:txBody>
      </p:sp>
      <p:cxnSp>
        <p:nvCxnSpPr>
          <p:cNvPr id="323" name="Google Shape;323;p39"/>
          <p:cNvCxnSpPr>
            <a:endCxn id="324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9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5" name="Google Shape;32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>
            <p:ph idx="4" type="title"/>
          </p:nvPr>
        </p:nvSpPr>
        <p:spPr>
          <a:xfrm>
            <a:off x="677500" y="95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Behavioral Insights Agent</a:t>
            </a:r>
            <a:endParaRPr sz="3900"/>
          </a:p>
        </p:txBody>
      </p:sp>
      <p:sp>
        <p:nvSpPr>
          <p:cNvPr id="331" name="Google Shape;331;p40"/>
          <p:cNvSpPr txBox="1"/>
          <p:nvPr/>
        </p:nvSpPr>
        <p:spPr>
          <a:xfrm>
            <a:off x="425075" y="7651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What does it do?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425075" y="1024700"/>
            <a:ext cx="5172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Helps collection specialists predict payment risk by analyzing historical customer behavior, maximizing collections and minimizing write-offs 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1807125" y="1898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0"/>
          <p:cNvSpPr txBox="1"/>
          <p:nvPr/>
        </p:nvSpPr>
        <p:spPr>
          <a:xfrm>
            <a:off x="425075" y="1407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Primary Tasks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363125" y="1618850"/>
            <a:ext cx="53169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valuates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 historical invoice and payment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 data to score contract accounts by payment risk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Flag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accounts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 likely to pay late or default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Assigns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risk scores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 to highlight priority cases and explains the behavioral patterns driving those risks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Enhances financial stability such that collections teams can prioritize follow-ups and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act early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 while improving the cash flow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40"/>
          <p:cNvSpPr txBox="1"/>
          <p:nvPr/>
        </p:nvSpPr>
        <p:spPr>
          <a:xfrm>
            <a:off x="5680075" y="9213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Where does the Agent Fits in L5: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40"/>
          <p:cNvSpPr txBox="1"/>
          <p:nvPr/>
        </p:nvSpPr>
        <p:spPr>
          <a:xfrm>
            <a:off x="5724575" y="1263500"/>
            <a:ext cx="345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1.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Execute Bad Debt Reserves &amp; Allowances </a:t>
            </a:r>
            <a:endParaRPr b="1"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5872525" y="1663313"/>
            <a:ext cx="3000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Acts as the primary intelligence layer between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"Run Valuation"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"Approve Valuation Proposal,"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 replacing static aging rules with real-time risk predictions.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5680075" y="2606925"/>
            <a:ext cx="338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2.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Review Dispute Mgt. Performance &amp; KPIs </a:t>
            </a:r>
            <a:endParaRPr b="1"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5872525" y="2921050"/>
            <a:ext cx="29757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Acts as  the Real-Time Analytics &amp; Root-Cause Layer that sits between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"Data Consolidation" 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and </a:t>
            </a:r>
            <a:r>
              <a:rPr b="1" lang="en" sz="1000">
                <a:latin typeface="Nunito"/>
                <a:ea typeface="Nunito"/>
                <a:cs typeface="Nunito"/>
                <a:sym typeface="Nunito"/>
              </a:rPr>
              <a:t>"Management Review." </a:t>
            </a:r>
            <a:r>
              <a:rPr lang="en" sz="1000">
                <a:latin typeface="Nunito"/>
                <a:ea typeface="Nunito"/>
                <a:cs typeface="Nunito"/>
                <a:sym typeface="Nunito"/>
              </a:rPr>
              <a:t>replacing manual data digging by providing constant updates on why disputes are happening and predicting which ones will occur next so management can fix the root cause immediately.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363125" y="3019550"/>
            <a:ext cx="2608200" cy="1987500"/>
          </a:xfrm>
          <a:prstGeom prst="rect">
            <a:avLst/>
          </a:prstGeom>
          <a:noFill/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Before (Manual Process):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120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No automated explanation of payment behavior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Payments are processed according to rules with no behavioral context from prior customer payment history.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Late payment signals are detected only after failure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No process to identify risky customers</a:t>
            </a:r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3043775" y="3019550"/>
            <a:ext cx="2680800" cy="1965300"/>
          </a:xfrm>
          <a:prstGeom prst="rect">
            <a:avLst/>
          </a:prstGeom>
          <a:noFill/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  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After (With AI Agent):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120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Payment risk is predicted before execution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Uses behaviour data  to focus payment processing on the highest-priority accounts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Flags problematic accounts early to fix defaults and disputes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Takes smarter control of cash flows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 txBox="1"/>
          <p:nvPr>
            <p:ph idx="2" type="title"/>
          </p:nvPr>
        </p:nvSpPr>
        <p:spPr>
          <a:xfrm>
            <a:off x="5110086" y="220340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1"/>
          <p:cNvSpPr txBox="1"/>
          <p:nvPr>
            <p:ph idx="1" type="subTitle"/>
          </p:nvPr>
        </p:nvSpPr>
        <p:spPr>
          <a:xfrm>
            <a:off x="5110088" y="2786250"/>
            <a:ext cx="2742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41"/>
          <p:cNvPicPr preferRelativeResize="0"/>
          <p:nvPr/>
        </p:nvPicPr>
        <p:blipFill rotWithShape="1">
          <a:blip r:embed="rId3">
            <a:alphaModFix/>
          </a:blip>
          <a:srcRect b="-2219" l="0" r="0" t="2220"/>
          <a:stretch/>
        </p:blipFill>
        <p:spPr>
          <a:xfrm>
            <a:off x="4333100" y="277225"/>
            <a:ext cx="4296575" cy="474937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 txBox="1"/>
          <p:nvPr/>
        </p:nvSpPr>
        <p:spPr>
          <a:xfrm>
            <a:off x="289400" y="2143550"/>
            <a:ext cx="38709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Behavioral Insights is triggered by a review cycle or new open items, running a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scoring process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to produce a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prioritized risk list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with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key drivers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The collector reviews the list, acts on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high-risk items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(choosing and executing a strategy in SAP), and records outcomes.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Resolved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paid items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are cleared and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KPIs are reported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Unresolved cases are escalated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the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strategy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is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 adjusted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scoring is rerun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in a loop for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subsequent review cycles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569250" y="17586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Process Overview: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569250" y="277225"/>
            <a:ext cx="642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Why this agent is useful?</a:t>
            </a:r>
            <a:endParaRPr b="1"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363450" y="662125"/>
            <a:ext cx="3411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Identifies the real "problem" accounts.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Fixes issues before they happen.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Smarter financial planning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Resolves arguments faster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Incorrect Credits </a:t>
            </a:r>
            <a:r>
              <a:rPr lang="en" sz="2600"/>
              <a:t>Agent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type="title"/>
          </p:nvPr>
        </p:nvSpPr>
        <p:spPr>
          <a:xfrm>
            <a:off x="1320325" y="1307100"/>
            <a:ext cx="71106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