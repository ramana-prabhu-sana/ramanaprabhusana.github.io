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22"/>
  </p:normalViewPr>
  <p:slideViewPr>
    <p:cSldViewPr snapToGrid="0">
      <p:cViewPr varScale="1">
        <p:scale>
          <a:sx n="85" d="100"/>
          <a:sy n="85" d="100"/>
        </p:scale>
        <p:origin x="208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CB3E-8B89-2C72-BE27-79A979F2A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7FF1AE-884F-F91F-F9B7-8266E1AA4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4AF4B-02D5-5F81-D447-BBC5C57AA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4B97-229B-3C48-A5E3-103B7A3E5DA5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D2A22-687F-6779-E734-E9095D093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1C35A-8216-7475-2CFB-C122AD71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CDBD5-F6AD-E745-85CF-2C18C65A3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40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9692B-6735-9989-A5F9-D732A42A0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B1922-3A4D-E51A-AECD-433C97D84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92E89-F81E-04F8-4733-E6E5FB7C2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4B97-229B-3C48-A5E3-103B7A3E5DA5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660B9-968A-E836-35FC-0F5F803BF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F2A77-4E0F-8455-F953-5D17A47A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CDBD5-F6AD-E745-85CF-2C18C65A3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05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DA762-F43B-0D7C-8A78-EB7D1DF2B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B4F57-6F68-2AB8-B8E8-A68EE0884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CB83B-F058-7914-69B7-568674E38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4B97-229B-3C48-A5E3-103B7A3E5DA5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98696-4339-1A17-5F66-DB301985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629DB-8921-D3DC-EB4A-FF936940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CDBD5-F6AD-E745-85CF-2C18C65A3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5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D999A-E768-6C67-0715-82665308A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B8344-9E45-521B-7C61-D147C404DC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639DC-4C43-B1EF-8F42-718DFF3D0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89DF9-B805-0DDC-65AC-B8D96D04A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4B97-229B-3C48-A5E3-103B7A3E5DA5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62F4F-AD0C-0D6D-C792-D41A8392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83251-056D-081E-2AF3-C808D650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CDBD5-F6AD-E745-85CF-2C18C65A3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01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4227-2B75-F5B5-57B9-9DA34A87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CAFE8-0BFD-2F8C-916B-F1A34E529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41FF9B-A62F-4DAF-D206-D23BBCBCA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E91E05-9B8C-C6AD-C86F-F646BC109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D55376-8810-8F0E-4542-C5DBFD46A8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E91EC3-03A6-474E-C91D-0D928B2F4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4B97-229B-3C48-A5E3-103B7A3E5DA5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A902EC-F228-471E-7308-5F3B8196A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44CA4-5DD8-C1C1-F302-AE4FB57C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CDBD5-F6AD-E745-85CF-2C18C65A3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1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2A4F-3D2A-46C4-D9C1-556B64662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543676-B4A1-29CD-D3D8-551A48A97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4B97-229B-3C48-A5E3-103B7A3E5DA5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9C61E-F752-1733-9E42-8E8F4F20B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647AE-E8D2-37B4-1783-9FA4B8E2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CDBD5-F6AD-E745-85CF-2C18C65A3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59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94A396-4A79-EF2E-73F0-40A080CA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4B97-229B-3C48-A5E3-103B7A3E5DA5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96C57D-9281-2768-C39F-CD62AC8DA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80E86-B6FE-935B-2D5D-70CC652F0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CDBD5-F6AD-E745-85CF-2C18C65A3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18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8BCAF-DA16-A7F8-0D3D-6F4FE331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FC60C-8E63-4215-F932-0C9450AD8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14259-FF7F-0476-8902-259A18CA7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51E51-3C47-4EE8-8CAD-DCE4200B4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4B97-229B-3C48-A5E3-103B7A3E5DA5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13799-8DA4-74B0-6DAF-C436EA1E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7AF29-DDC4-CA4B-C689-69C84C18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CDBD5-F6AD-E745-85CF-2C18C65A3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17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42438-E309-F90A-F1B1-8019D0C82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DD15CB-7DA9-8A08-2F11-E475E1402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C5F87-E65E-9D6E-7534-73199DD23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96A66-8BCC-60F1-ED17-EB66AA22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4B97-229B-3C48-A5E3-103B7A3E5DA5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EFCBB-794E-EEB9-0056-C5355BE4D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519FF-1271-400B-83DC-491F5637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CDBD5-F6AD-E745-85CF-2C18C65A3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62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44A78-AC62-CB47-D199-72A1950E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34D2A-4EE3-966C-1FF0-519114791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64C68-9A88-D3DE-498E-31F3C66FB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4B97-229B-3C48-A5E3-103B7A3E5DA5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81DC2-96EF-BFBD-1108-4CEF6CBCF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62D8B-9360-0940-252B-71A8FCDA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CDBD5-F6AD-E745-85CF-2C18C65A3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93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28FB2C-9FD5-7C7C-F3F0-1DC480C89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79AB0-26C2-CC57-6863-747EAC413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8C83D-FE16-CAD9-7EC0-36C69CE20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4B97-229B-3C48-A5E3-103B7A3E5DA5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2DE65-4973-0B3D-C03A-FADF4EFBB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E9765-970F-2A1F-0C2E-F9EAAF194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CDBD5-F6AD-E745-85CF-2C18C65A3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9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DB1201-9653-A594-6CED-72265B53F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D1AEC-C17D-DDD8-6060-ADCD2CF4B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8B03F-9165-432D-E69B-02F0A053BB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F24B97-229B-3C48-A5E3-103B7A3E5DA5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86DCA-97E0-304D-82C8-418A4FA83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8EA85-0315-A2F3-9DBD-AF872E107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3CDBD5-F6AD-E745-85CF-2C18C65A3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11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71FF17BC-F0ED-E57F-9852-01C7899CCD8C}"/>
              </a:ext>
            </a:extLst>
          </p:cNvPr>
          <p:cNvSpPr/>
          <p:nvPr/>
        </p:nvSpPr>
        <p:spPr>
          <a:xfrm>
            <a:off x="3742624" y="137160"/>
            <a:ext cx="5829300" cy="54605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6797D5-AAE5-A42B-E51C-6CA5897F9C55}"/>
              </a:ext>
            </a:extLst>
          </p:cNvPr>
          <p:cNvSpPr/>
          <p:nvPr/>
        </p:nvSpPr>
        <p:spPr>
          <a:xfrm>
            <a:off x="6080577" y="308610"/>
            <a:ext cx="1927278" cy="4668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Trigger: Collection of review cycle or new open items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57AF473-3643-492D-63E6-23A789F6685D}"/>
              </a:ext>
            </a:extLst>
          </p:cNvPr>
          <p:cNvSpPr/>
          <p:nvPr/>
        </p:nvSpPr>
        <p:spPr>
          <a:xfrm>
            <a:off x="5996381" y="994212"/>
            <a:ext cx="2094235" cy="4061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Behavioral insights scoring (Scheduled or on demand triggering)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3CA79C3-EDD7-43BE-CF27-0E3CDB784C8C}"/>
              </a:ext>
            </a:extLst>
          </p:cNvPr>
          <p:cNvSpPr/>
          <p:nvPr/>
        </p:nvSpPr>
        <p:spPr>
          <a:xfrm>
            <a:off x="6178112" y="1594713"/>
            <a:ext cx="1730773" cy="4061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prioritized risk list and key drivers</a:t>
            </a:r>
          </a:p>
        </p:txBody>
      </p:sp>
      <p:sp>
        <p:nvSpPr>
          <p:cNvPr id="7" name="Decision 6">
            <a:extLst>
              <a:ext uri="{FF2B5EF4-FFF2-40B4-BE49-F238E27FC236}">
                <a16:creationId xmlns:a16="http://schemas.microsoft.com/office/drawing/2014/main" id="{EFFF3EB5-260A-6B88-DFFA-A1AFDC66B270}"/>
              </a:ext>
            </a:extLst>
          </p:cNvPr>
          <p:cNvSpPr/>
          <p:nvPr/>
        </p:nvSpPr>
        <p:spPr>
          <a:xfrm>
            <a:off x="6336574" y="2226696"/>
            <a:ext cx="1413849" cy="78693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risk or action needed?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E0BFD6-D630-CD07-FA24-137D6E465A25}"/>
              </a:ext>
            </a:extLst>
          </p:cNvPr>
          <p:cNvSpPr/>
          <p:nvPr/>
        </p:nvSpPr>
        <p:spPr>
          <a:xfrm>
            <a:off x="5032833" y="3153609"/>
            <a:ext cx="1880120" cy="40615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strategy (dunning, call, payment plan)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A013FF3-FA2A-C0C2-8C61-F29DC79021D7}"/>
              </a:ext>
            </a:extLst>
          </p:cNvPr>
          <p:cNvSpPr/>
          <p:nvPr/>
        </p:nvSpPr>
        <p:spPr>
          <a:xfrm>
            <a:off x="7228908" y="3158095"/>
            <a:ext cx="1686394" cy="40615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 follow-up and monitor the activities for potential high risk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DA83388-750F-2CB8-FF85-33D105484DEC}"/>
              </a:ext>
            </a:extLst>
          </p:cNvPr>
          <p:cNvSpPr/>
          <p:nvPr/>
        </p:nvSpPr>
        <p:spPr>
          <a:xfrm>
            <a:off x="5030116" y="3722942"/>
            <a:ext cx="1880120" cy="4061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 actions in SAP. Update status and capture outcome</a:t>
            </a:r>
          </a:p>
        </p:txBody>
      </p:sp>
      <p:sp>
        <p:nvSpPr>
          <p:cNvPr id="13" name="Decision 12">
            <a:extLst>
              <a:ext uri="{FF2B5EF4-FFF2-40B4-BE49-F238E27FC236}">
                <a16:creationId xmlns:a16="http://schemas.microsoft.com/office/drawing/2014/main" id="{886B4AE6-078E-A24B-7EF2-A1FD838700BE}"/>
              </a:ext>
            </a:extLst>
          </p:cNvPr>
          <p:cNvSpPr/>
          <p:nvPr/>
        </p:nvSpPr>
        <p:spPr>
          <a:xfrm>
            <a:off x="5274164" y="4337193"/>
            <a:ext cx="1393337" cy="54442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Paid or resolved?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C487203-A01E-D51B-5A27-86170477A188}"/>
              </a:ext>
            </a:extLst>
          </p:cNvPr>
          <p:cNvSpPr/>
          <p:nvPr/>
        </p:nvSpPr>
        <p:spPr>
          <a:xfrm>
            <a:off x="3998189" y="4998181"/>
            <a:ext cx="1880120" cy="40615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 items, close case, report KPIs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E18D78C-60DF-5B50-4F6B-FD6CFBC75061}"/>
              </a:ext>
            </a:extLst>
          </p:cNvPr>
          <p:cNvSpPr/>
          <p:nvPr/>
        </p:nvSpPr>
        <p:spPr>
          <a:xfrm>
            <a:off x="6080577" y="4998181"/>
            <a:ext cx="1880120" cy="40615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escalate, adjust strategy, re-run scoring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BDCF016-AE62-C27C-005D-17C46C767EC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7043498" y="775467"/>
            <a:ext cx="718" cy="218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0D0DA76-D3A4-14A2-9607-444937F9E0E3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7043498" y="1400366"/>
            <a:ext cx="0" cy="194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756106F-4CB5-6C48-853B-6D25225D9F24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043498" y="2000868"/>
            <a:ext cx="0" cy="225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7A244690-D77F-29F9-C14F-857F5B1DF7C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7750423" y="2620162"/>
            <a:ext cx="321683" cy="53793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05C94455-FE8F-A77A-4005-E3440A20FDAB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V="1">
            <a:off x="5972893" y="2620162"/>
            <a:ext cx="363680" cy="53344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650E0C3-2B63-AA19-1B32-CEBE2CF3CFDF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5970176" y="4129096"/>
            <a:ext cx="656" cy="208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60F357D-15AE-DA7A-C979-BA928EE9AAA0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5970177" y="3559763"/>
            <a:ext cx="2717" cy="163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8FDF86D0-2167-B0AE-440C-1AF970769D53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V="1">
            <a:off x="4926819" y="4609403"/>
            <a:ext cx="347344" cy="3773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E6787D40-8E1A-1A5D-657E-D31532352690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6667501" y="4609404"/>
            <a:ext cx="341707" cy="3773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ECC99BBA-BC79-7C53-C298-FE2CFC093404}"/>
              </a:ext>
            </a:extLst>
          </p:cNvPr>
          <p:cNvCxnSpPr>
            <a:cxnSpLocks/>
            <a:stCxn id="17" idx="3"/>
            <a:endCxn id="5" idx="3"/>
          </p:cNvCxnSpPr>
          <p:nvPr/>
        </p:nvCxnSpPr>
        <p:spPr>
          <a:xfrm flipV="1">
            <a:off x="7960697" y="1197290"/>
            <a:ext cx="129918" cy="4003969"/>
          </a:xfrm>
          <a:prstGeom prst="bentConnector3">
            <a:avLst>
              <a:gd name="adj1" fmla="val 83902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BD13FD54-99DC-0930-572B-FCD7CB420AC9}"/>
              </a:ext>
            </a:extLst>
          </p:cNvPr>
          <p:cNvSpPr txBox="1"/>
          <p:nvPr/>
        </p:nvSpPr>
        <p:spPr>
          <a:xfrm>
            <a:off x="5661661" y="2762168"/>
            <a:ext cx="674913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27AC134-F0FC-428F-66F7-781DBACBBA05}"/>
              </a:ext>
            </a:extLst>
          </p:cNvPr>
          <p:cNvSpPr txBox="1"/>
          <p:nvPr/>
        </p:nvSpPr>
        <p:spPr>
          <a:xfrm>
            <a:off x="8027374" y="2762168"/>
            <a:ext cx="674913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50F974E-040B-AE1A-88B8-F9E2AD6FDFF2}"/>
              </a:ext>
            </a:extLst>
          </p:cNvPr>
          <p:cNvSpPr txBox="1"/>
          <p:nvPr/>
        </p:nvSpPr>
        <p:spPr>
          <a:xfrm>
            <a:off x="6657275" y="4397694"/>
            <a:ext cx="674913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94E9EF6-B46A-7120-6722-D3213D2636F7}"/>
              </a:ext>
            </a:extLst>
          </p:cNvPr>
          <p:cNvSpPr txBox="1"/>
          <p:nvPr/>
        </p:nvSpPr>
        <p:spPr>
          <a:xfrm>
            <a:off x="4912306" y="4397694"/>
            <a:ext cx="674913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4208296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DE04-FC15-EE40-C1B7-42F882DB8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BAF89C4-574B-BACA-8D98-13AABA891E8F}"/>
              </a:ext>
            </a:extLst>
          </p:cNvPr>
          <p:cNvSpPr/>
          <p:nvPr/>
        </p:nvSpPr>
        <p:spPr>
          <a:xfrm>
            <a:off x="601722" y="688105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new valuation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BCDE63-8903-C869-E900-ECD5EF7E609D}"/>
              </a:ext>
            </a:extLst>
          </p:cNvPr>
          <p:cNvCxnSpPr>
            <a:cxnSpLocks/>
            <a:stCxn id="15" idx="3"/>
            <a:endCxn id="21" idx="1"/>
          </p:cNvCxnSpPr>
          <p:nvPr/>
        </p:nvCxnSpPr>
        <p:spPr>
          <a:xfrm flipV="1">
            <a:off x="7048551" y="954904"/>
            <a:ext cx="343066" cy="10466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A2C3663-8975-7F43-C496-7A023FFF9ACA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1616635" y="942439"/>
            <a:ext cx="343066" cy="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pic>
        <p:nvPicPr>
          <p:cNvPr id="2" name="Picture 1" descr="A diagram of a computer&#10;&#10;AI-generated content may be incorrect.">
            <a:extLst>
              <a:ext uri="{FF2B5EF4-FFF2-40B4-BE49-F238E27FC236}">
                <a16:creationId xmlns:a16="http://schemas.microsoft.com/office/drawing/2014/main" id="{808CBE1A-8B61-D490-C218-C055774CD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75" y="3733800"/>
            <a:ext cx="11560937" cy="272843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B5A7258-842B-5613-B949-AC7F8FF5C47A}"/>
              </a:ext>
            </a:extLst>
          </p:cNvPr>
          <p:cNvSpPr/>
          <p:nvPr/>
        </p:nvSpPr>
        <p:spPr>
          <a:xfrm>
            <a:off x="1959701" y="688621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 customer Master Data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87B4EE0-9E70-A0AE-A59A-BC5CE38D9BD9}"/>
              </a:ext>
            </a:extLst>
          </p:cNvPr>
          <p:cNvSpPr/>
          <p:nvPr/>
        </p:nvSpPr>
        <p:spPr>
          <a:xfrm>
            <a:off x="3317680" y="688620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Validation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096B502-147D-7329-BABA-43066ED45139}"/>
              </a:ext>
            </a:extLst>
          </p:cNvPr>
          <p:cNvSpPr/>
          <p:nvPr/>
        </p:nvSpPr>
        <p:spPr>
          <a:xfrm>
            <a:off x="4675659" y="688620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 Valuation Proposal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5EE267B-1D4B-9E94-83D8-A5D6EE7C6B15}"/>
              </a:ext>
            </a:extLst>
          </p:cNvPr>
          <p:cNvSpPr/>
          <p:nvPr/>
        </p:nvSpPr>
        <p:spPr>
          <a:xfrm>
            <a:off x="6033638" y="1747218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 Valuation Proposal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1BF15C7-8FA0-6BC5-0E9F-61F2BD1C745A}"/>
              </a:ext>
            </a:extLst>
          </p:cNvPr>
          <p:cNvSpPr/>
          <p:nvPr/>
        </p:nvSpPr>
        <p:spPr>
          <a:xfrm>
            <a:off x="8749596" y="1737973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bad debts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00C8C1D-20A2-6958-74D1-C1885D7785D6}"/>
              </a:ext>
            </a:extLst>
          </p:cNvPr>
          <p:cNvSpPr/>
          <p:nvPr/>
        </p:nvSpPr>
        <p:spPr>
          <a:xfrm>
            <a:off x="7391617" y="700570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and Display Postings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5197D2D-B28F-CA7C-37A8-2D035F5A788E}"/>
              </a:ext>
            </a:extLst>
          </p:cNvPr>
          <p:cNvSpPr/>
          <p:nvPr/>
        </p:nvSpPr>
        <p:spPr>
          <a:xfrm>
            <a:off x="10107575" y="688618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 Debt Reversal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7A9A66F-7098-C23B-51C9-CBC2D2F13730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74614" y="942954"/>
            <a:ext cx="34306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861787B-53B9-4930-1A2A-32096AF34FAB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4332593" y="942954"/>
            <a:ext cx="3430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CAE6277-46CA-846B-4DB9-FF0AD485EA39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5690572" y="942954"/>
            <a:ext cx="343066" cy="10585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6938272-2585-D2B0-9B0C-2A8B5CE2DDDE}"/>
              </a:ext>
            </a:extLst>
          </p:cNvPr>
          <p:cNvCxnSpPr>
            <a:cxnSpLocks/>
            <a:stCxn id="21" idx="3"/>
            <a:endCxn id="18" idx="1"/>
          </p:cNvCxnSpPr>
          <p:nvPr/>
        </p:nvCxnSpPr>
        <p:spPr>
          <a:xfrm>
            <a:off x="8406530" y="954904"/>
            <a:ext cx="343066" cy="1037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F8AB8C7-AB31-5002-9494-4CC1D7445062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 flipV="1">
            <a:off x="9764509" y="942952"/>
            <a:ext cx="343066" cy="10493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0AC0C28-FD9D-DDA4-1382-73D5FA84D47E}"/>
              </a:ext>
            </a:extLst>
          </p:cNvPr>
          <p:cNvCxnSpPr/>
          <p:nvPr/>
        </p:nvCxnSpPr>
        <p:spPr>
          <a:xfrm flipV="1">
            <a:off x="191911" y="1478228"/>
            <a:ext cx="11921067" cy="102216"/>
          </a:xfrm>
          <a:prstGeom prst="line">
            <a:avLst/>
          </a:prstGeom>
          <a:ln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04E8444-48BE-775E-02EC-4E5C72C00EA1}"/>
              </a:ext>
            </a:extLst>
          </p:cNvPr>
          <p:cNvSpPr txBox="1"/>
          <p:nvPr/>
        </p:nvSpPr>
        <p:spPr>
          <a:xfrm>
            <a:off x="277656" y="222799"/>
            <a:ext cx="1682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latin typeface="Calibri" panose="020F0502020204030204" pitchFamily="34" charset="0"/>
                <a:cs typeface="Calibri" panose="020F0502020204030204" pitchFamily="34" charset="0"/>
              </a:rPr>
              <a:t>GL Accountant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689EC0-4690-14FF-05F6-5172B239D665}"/>
              </a:ext>
            </a:extLst>
          </p:cNvPr>
          <p:cNvSpPr txBox="1"/>
          <p:nvPr/>
        </p:nvSpPr>
        <p:spPr>
          <a:xfrm>
            <a:off x="344611" y="1630696"/>
            <a:ext cx="1529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latin typeface="Calibri" panose="020F0502020204030204" pitchFamily="34" charset="0"/>
                <a:cs typeface="Calibri" panose="020F0502020204030204" pitchFamily="34" charset="0"/>
              </a:rPr>
              <a:t>Accounts Receivable Manager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5B4861F-9999-F05B-759E-27B354E9CCE5}"/>
              </a:ext>
            </a:extLst>
          </p:cNvPr>
          <p:cNvSpPr/>
          <p:nvPr/>
        </p:nvSpPr>
        <p:spPr>
          <a:xfrm>
            <a:off x="191911" y="101600"/>
            <a:ext cx="11921067" cy="27319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25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0E7ED64-8D4E-6510-B02F-7A1A083A7940}"/>
              </a:ext>
            </a:extLst>
          </p:cNvPr>
          <p:cNvSpPr/>
          <p:nvPr/>
        </p:nvSpPr>
        <p:spPr>
          <a:xfrm>
            <a:off x="601722" y="2223394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new valuation</a:t>
            </a:r>
          </a:p>
        </p:txBody>
      </p:sp>
      <p:cxnSp>
        <p:nvCxnSpPr>
          <p:cNvPr id="5" name="Straight Arrow Connector 19">
            <a:extLst>
              <a:ext uri="{FF2B5EF4-FFF2-40B4-BE49-F238E27FC236}">
                <a16:creationId xmlns:a16="http://schemas.microsoft.com/office/drawing/2014/main" id="{FA4D851A-11D2-36C3-C228-DDF34B08881C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7048551" y="2490193"/>
            <a:ext cx="343066" cy="10466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6FEA9D9-10B1-9130-EE67-D7078ECE33F4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1616635" y="2477728"/>
            <a:ext cx="343066" cy="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38ABAE5-4F01-2333-2A0F-7630024607EF}"/>
              </a:ext>
            </a:extLst>
          </p:cNvPr>
          <p:cNvSpPr/>
          <p:nvPr/>
        </p:nvSpPr>
        <p:spPr>
          <a:xfrm>
            <a:off x="1959701" y="2223910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 customer Master Data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C936D49-BF21-9C54-C0A7-5FCE74817D08}"/>
              </a:ext>
            </a:extLst>
          </p:cNvPr>
          <p:cNvSpPr/>
          <p:nvPr/>
        </p:nvSpPr>
        <p:spPr>
          <a:xfrm>
            <a:off x="3317680" y="2223909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Validation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0BD347B-37B0-3A5D-D234-3F60AD7D0EFD}"/>
              </a:ext>
            </a:extLst>
          </p:cNvPr>
          <p:cNvSpPr/>
          <p:nvPr/>
        </p:nvSpPr>
        <p:spPr>
          <a:xfrm>
            <a:off x="4675659" y="2223909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 Valuation Proposal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E583C58-D06D-9588-80E7-0294B89E1A0D}"/>
              </a:ext>
            </a:extLst>
          </p:cNvPr>
          <p:cNvSpPr/>
          <p:nvPr/>
        </p:nvSpPr>
        <p:spPr>
          <a:xfrm>
            <a:off x="6033638" y="3282507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 Valuation Proposal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3A9629-7532-86F2-65D5-5630E6AAAA50}"/>
              </a:ext>
            </a:extLst>
          </p:cNvPr>
          <p:cNvSpPr/>
          <p:nvPr/>
        </p:nvSpPr>
        <p:spPr>
          <a:xfrm>
            <a:off x="8749596" y="3273262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bad debts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F79ED5F-E64E-A025-88E5-DF38465904D5}"/>
              </a:ext>
            </a:extLst>
          </p:cNvPr>
          <p:cNvSpPr/>
          <p:nvPr/>
        </p:nvSpPr>
        <p:spPr>
          <a:xfrm>
            <a:off x="7391617" y="2235859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and Display Postings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EDEC989-9117-0964-A811-3FF837EA258B}"/>
              </a:ext>
            </a:extLst>
          </p:cNvPr>
          <p:cNvSpPr/>
          <p:nvPr/>
        </p:nvSpPr>
        <p:spPr>
          <a:xfrm>
            <a:off x="10107575" y="2223907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 Debt Reversal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9767FE-5BDC-AD44-FAEF-C6D0766AEDB2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2974614" y="2478243"/>
            <a:ext cx="34306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7BF6DA-DFE8-119F-A223-B102C4762EAD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332593" y="2478243"/>
            <a:ext cx="3430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6" name="Straight Arrow Connector 26">
            <a:extLst>
              <a:ext uri="{FF2B5EF4-FFF2-40B4-BE49-F238E27FC236}">
                <a16:creationId xmlns:a16="http://schemas.microsoft.com/office/drawing/2014/main" id="{904BE81C-CB18-6E93-35E6-0CD9B7B95914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5690572" y="2478243"/>
            <a:ext cx="343066" cy="10585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7" name="Straight Arrow Connector 29">
            <a:extLst>
              <a:ext uri="{FF2B5EF4-FFF2-40B4-BE49-F238E27FC236}">
                <a16:creationId xmlns:a16="http://schemas.microsoft.com/office/drawing/2014/main" id="{8951AF7D-4EA1-0560-9387-B6807676E2A9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>
            <a:off x="8406530" y="2490193"/>
            <a:ext cx="343066" cy="1037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8" name="Straight Arrow Connector 46">
            <a:extLst>
              <a:ext uri="{FF2B5EF4-FFF2-40B4-BE49-F238E27FC236}">
                <a16:creationId xmlns:a16="http://schemas.microsoft.com/office/drawing/2014/main" id="{FE89423F-E02E-12A7-321E-ADAF51BBD6F7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V="1">
            <a:off x="9764509" y="2478241"/>
            <a:ext cx="343066" cy="10493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200AB2B-C571-7651-8988-B0E438235C88}"/>
              </a:ext>
            </a:extLst>
          </p:cNvPr>
          <p:cNvCxnSpPr/>
          <p:nvPr/>
        </p:nvCxnSpPr>
        <p:spPr>
          <a:xfrm flipV="1">
            <a:off x="191911" y="3013517"/>
            <a:ext cx="11921067" cy="102216"/>
          </a:xfrm>
          <a:prstGeom prst="line">
            <a:avLst/>
          </a:prstGeom>
          <a:ln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7EF709C-995C-C6DE-B783-AC7858AC0E20}"/>
              </a:ext>
            </a:extLst>
          </p:cNvPr>
          <p:cNvSpPr txBox="1"/>
          <p:nvPr/>
        </p:nvSpPr>
        <p:spPr>
          <a:xfrm>
            <a:off x="277656" y="1758088"/>
            <a:ext cx="1682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latin typeface="Calibri" panose="020F0502020204030204" pitchFamily="34" charset="0"/>
                <a:cs typeface="Calibri" panose="020F0502020204030204" pitchFamily="34" charset="0"/>
              </a:rPr>
              <a:t>GL Accountant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A6603D-73D2-5743-78AD-FBAD1BA73E38}"/>
              </a:ext>
            </a:extLst>
          </p:cNvPr>
          <p:cNvSpPr txBox="1"/>
          <p:nvPr/>
        </p:nvSpPr>
        <p:spPr>
          <a:xfrm>
            <a:off x="344611" y="3165985"/>
            <a:ext cx="1529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latin typeface="Calibri" panose="020F0502020204030204" pitchFamily="34" charset="0"/>
                <a:cs typeface="Calibri" panose="020F0502020204030204" pitchFamily="34" charset="0"/>
              </a:rPr>
              <a:t>Accounts Receivable Manager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7BE140-1D74-6295-7156-57D84B08E4BD}"/>
              </a:ext>
            </a:extLst>
          </p:cNvPr>
          <p:cNvSpPr/>
          <p:nvPr/>
        </p:nvSpPr>
        <p:spPr>
          <a:xfrm>
            <a:off x="191911" y="1636889"/>
            <a:ext cx="11921067" cy="27319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71EE6B-7E54-B514-657C-A51191DCB799}"/>
              </a:ext>
            </a:extLst>
          </p:cNvPr>
          <p:cNvSpPr/>
          <p:nvPr/>
        </p:nvSpPr>
        <p:spPr>
          <a:xfrm>
            <a:off x="4504126" y="1911976"/>
            <a:ext cx="2630452" cy="219718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6E19F1-4BA8-8A07-2CEB-24F6BEE01AB9}"/>
              </a:ext>
            </a:extLst>
          </p:cNvPr>
          <p:cNvSpPr/>
          <p:nvPr/>
        </p:nvSpPr>
        <p:spPr>
          <a:xfrm>
            <a:off x="8644808" y="1966035"/>
            <a:ext cx="2630452" cy="219718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82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CF67C-22D2-D93C-CF0E-C13E0DB95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D7827FD-441C-90A5-FF23-2C34B7D261C9}"/>
              </a:ext>
            </a:extLst>
          </p:cNvPr>
          <p:cNvSpPr/>
          <p:nvPr/>
        </p:nvSpPr>
        <p:spPr>
          <a:xfrm>
            <a:off x="601722" y="2223394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new valuation</a:t>
            </a:r>
          </a:p>
        </p:txBody>
      </p:sp>
      <p:cxnSp>
        <p:nvCxnSpPr>
          <p:cNvPr id="5" name="Straight Arrow Connector 19">
            <a:extLst>
              <a:ext uri="{FF2B5EF4-FFF2-40B4-BE49-F238E27FC236}">
                <a16:creationId xmlns:a16="http://schemas.microsoft.com/office/drawing/2014/main" id="{3B8C9FCA-6419-E25C-26E9-ED8978A024D5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7048551" y="2490193"/>
            <a:ext cx="343066" cy="10466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80555F7-19E7-5501-DE61-6D687937903F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1616635" y="2477728"/>
            <a:ext cx="343066" cy="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DC663D4-DDDD-470B-6DF6-5924A58AAFF4}"/>
              </a:ext>
            </a:extLst>
          </p:cNvPr>
          <p:cNvSpPr/>
          <p:nvPr/>
        </p:nvSpPr>
        <p:spPr>
          <a:xfrm>
            <a:off x="1959701" y="2223910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 customer Master Data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84F3DCA-A218-07A5-5038-50F32462FE70}"/>
              </a:ext>
            </a:extLst>
          </p:cNvPr>
          <p:cNvSpPr/>
          <p:nvPr/>
        </p:nvSpPr>
        <p:spPr>
          <a:xfrm>
            <a:off x="3317680" y="2223909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Validation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5C0A403-281E-B8C5-226B-2212B8ECBB0B}"/>
              </a:ext>
            </a:extLst>
          </p:cNvPr>
          <p:cNvSpPr/>
          <p:nvPr/>
        </p:nvSpPr>
        <p:spPr>
          <a:xfrm>
            <a:off x="4675659" y="2223909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 Valuation Proposal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D0F853E-B637-2456-C8B4-9C44E2EF9034}"/>
              </a:ext>
            </a:extLst>
          </p:cNvPr>
          <p:cNvSpPr/>
          <p:nvPr/>
        </p:nvSpPr>
        <p:spPr>
          <a:xfrm>
            <a:off x="6033638" y="3282507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 Valuation Proposal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BF4D36D-3AFD-AA8E-8310-C5F5EDF5F844}"/>
              </a:ext>
            </a:extLst>
          </p:cNvPr>
          <p:cNvSpPr/>
          <p:nvPr/>
        </p:nvSpPr>
        <p:spPr>
          <a:xfrm>
            <a:off x="8749596" y="3273262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bad debts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789E05F-4805-34ED-CD13-8E7FDDF3D4A1}"/>
              </a:ext>
            </a:extLst>
          </p:cNvPr>
          <p:cNvSpPr/>
          <p:nvPr/>
        </p:nvSpPr>
        <p:spPr>
          <a:xfrm>
            <a:off x="7391617" y="2235859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and Display Postings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A23713-258F-9D10-FBEA-745C1CD54AF1}"/>
              </a:ext>
            </a:extLst>
          </p:cNvPr>
          <p:cNvSpPr/>
          <p:nvPr/>
        </p:nvSpPr>
        <p:spPr>
          <a:xfrm>
            <a:off x="10107575" y="2223907"/>
            <a:ext cx="1014913" cy="508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 Debt Reversal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848289-D07D-AD5B-F44C-E208C28AD4A6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2974614" y="2478243"/>
            <a:ext cx="34306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B931E0-1098-D9C1-D6E6-74C38798659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332593" y="2478243"/>
            <a:ext cx="3430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6" name="Straight Arrow Connector 26">
            <a:extLst>
              <a:ext uri="{FF2B5EF4-FFF2-40B4-BE49-F238E27FC236}">
                <a16:creationId xmlns:a16="http://schemas.microsoft.com/office/drawing/2014/main" id="{1527C54C-7138-D0E6-6083-EDAB8E2AD28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5690572" y="2478243"/>
            <a:ext cx="343066" cy="10585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7" name="Straight Arrow Connector 29">
            <a:extLst>
              <a:ext uri="{FF2B5EF4-FFF2-40B4-BE49-F238E27FC236}">
                <a16:creationId xmlns:a16="http://schemas.microsoft.com/office/drawing/2014/main" id="{D49FB28D-F835-38AA-ECE8-B4128B50D0FC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>
            <a:off x="8406530" y="2490193"/>
            <a:ext cx="343066" cy="1037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8" name="Straight Arrow Connector 46">
            <a:extLst>
              <a:ext uri="{FF2B5EF4-FFF2-40B4-BE49-F238E27FC236}">
                <a16:creationId xmlns:a16="http://schemas.microsoft.com/office/drawing/2014/main" id="{650670F1-88A9-E6F9-AA3E-6DA2DC8FC798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V="1">
            <a:off x="9764509" y="2478241"/>
            <a:ext cx="343066" cy="10493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9FDED36-EC67-32D1-B97F-26979F7BC24B}"/>
              </a:ext>
            </a:extLst>
          </p:cNvPr>
          <p:cNvCxnSpPr/>
          <p:nvPr/>
        </p:nvCxnSpPr>
        <p:spPr>
          <a:xfrm flipV="1">
            <a:off x="191911" y="3013517"/>
            <a:ext cx="11921067" cy="102216"/>
          </a:xfrm>
          <a:prstGeom prst="line">
            <a:avLst/>
          </a:prstGeom>
          <a:ln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F67C7F0-06D2-0503-AB90-C3F9BB1CAD0B}"/>
              </a:ext>
            </a:extLst>
          </p:cNvPr>
          <p:cNvSpPr txBox="1"/>
          <p:nvPr/>
        </p:nvSpPr>
        <p:spPr>
          <a:xfrm>
            <a:off x="277656" y="1758088"/>
            <a:ext cx="1682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latin typeface="Calibri" panose="020F0502020204030204" pitchFamily="34" charset="0"/>
                <a:cs typeface="Calibri" panose="020F0502020204030204" pitchFamily="34" charset="0"/>
              </a:rPr>
              <a:t>GL Accountant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83107A-551F-6DAD-5CBE-B9DECEED30D8}"/>
              </a:ext>
            </a:extLst>
          </p:cNvPr>
          <p:cNvSpPr txBox="1"/>
          <p:nvPr/>
        </p:nvSpPr>
        <p:spPr>
          <a:xfrm>
            <a:off x="344611" y="3165985"/>
            <a:ext cx="1529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latin typeface="Calibri" panose="020F0502020204030204" pitchFamily="34" charset="0"/>
                <a:cs typeface="Calibri" panose="020F0502020204030204" pitchFamily="34" charset="0"/>
              </a:rPr>
              <a:t>Accounts Receivable Manager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CB1637-D7AB-F55F-2FA4-D6275C2F5F36}"/>
              </a:ext>
            </a:extLst>
          </p:cNvPr>
          <p:cNvSpPr/>
          <p:nvPr/>
        </p:nvSpPr>
        <p:spPr>
          <a:xfrm>
            <a:off x="191911" y="1636889"/>
            <a:ext cx="11921067" cy="27319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22827DB7-E55A-7365-21FC-2BCD44B5E631}"/>
              </a:ext>
            </a:extLst>
          </p:cNvPr>
          <p:cNvSpPr/>
          <p:nvPr/>
        </p:nvSpPr>
        <p:spPr>
          <a:xfrm>
            <a:off x="239247" y="4590763"/>
            <a:ext cx="4581395" cy="932090"/>
          </a:xfrm>
          <a:prstGeom prst="wedgeRoundRectCallout">
            <a:avLst>
              <a:gd name="adj1" fmla="val 42338"/>
              <a:gd name="adj2" fmla="val -10779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Auto-builds valuation proposal package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Pre-checks master data and policy rules, flags issues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Recommends approve or revise. Routes exceptions with rationale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Auto-approve within tolerance thresholds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99854C-3444-0AC1-8288-ADCDED88CDFA}"/>
              </a:ext>
            </a:extLst>
          </p:cNvPr>
          <p:cNvSpPr/>
          <p:nvPr/>
        </p:nvSpPr>
        <p:spPr>
          <a:xfrm>
            <a:off x="4504126" y="1911976"/>
            <a:ext cx="2630452" cy="219718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719990-349E-B015-7ECD-BAF472C72FB6}"/>
              </a:ext>
            </a:extLst>
          </p:cNvPr>
          <p:cNvSpPr/>
          <p:nvPr/>
        </p:nvSpPr>
        <p:spPr>
          <a:xfrm>
            <a:off x="8644808" y="1966035"/>
            <a:ext cx="2630452" cy="219718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ular Callout 28">
            <a:extLst>
              <a:ext uri="{FF2B5EF4-FFF2-40B4-BE49-F238E27FC236}">
                <a16:creationId xmlns:a16="http://schemas.microsoft.com/office/drawing/2014/main" id="{ECA1EFE4-5E18-7260-5746-A77F8670603A}"/>
              </a:ext>
            </a:extLst>
          </p:cNvPr>
          <p:cNvSpPr/>
          <p:nvPr/>
        </p:nvSpPr>
        <p:spPr>
          <a:xfrm>
            <a:off x="7391617" y="4623135"/>
            <a:ext cx="4311480" cy="1122293"/>
          </a:xfrm>
          <a:prstGeom prst="wedgeRoundRectCallout">
            <a:avLst>
              <a:gd name="adj1" fmla="val -14602"/>
              <a:gd name="adj2" fmla="val -8079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Analyzes drivers (aging, disputes, payment behavior, risk signals)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Flags anomalies and identifies reversal candidates with reasons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Suggests next best actions and creates a prioritized worklist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Captures audit-ready explanation for every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439929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239</Words>
  <Application>Microsoft Macintosh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Ramana prabhu Sana</dc:creator>
  <cp:lastModifiedBy>Ramana prabhu Sana</cp:lastModifiedBy>
  <cp:revision>1</cp:revision>
  <dcterms:created xsi:type="dcterms:W3CDTF">2026-01-13T04:20:20Z</dcterms:created>
  <dcterms:modified xsi:type="dcterms:W3CDTF">2026-01-13T05:41:22Z</dcterms:modified>
</cp:coreProperties>
</file>