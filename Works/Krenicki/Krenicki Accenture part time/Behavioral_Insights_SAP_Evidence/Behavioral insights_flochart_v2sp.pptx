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0" r:id="rId2"/>
    <p:sldId id="258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87"/>
  </p:normalViewPr>
  <p:slideViewPr>
    <p:cSldViewPr snapToGrid="0">
      <p:cViewPr varScale="1">
        <p:scale>
          <a:sx n="112" d="100"/>
          <a:sy n="112" d="100"/>
        </p:scale>
        <p:origin x="166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72F7A-9D3D-E14B-BB2C-C00DEB464C34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A392-87C1-C14A-B527-B351547EF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518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72F7A-9D3D-E14B-BB2C-C00DEB464C34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A392-87C1-C14A-B527-B351547EF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668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72F7A-9D3D-E14B-BB2C-C00DEB464C34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A392-87C1-C14A-B527-B351547EF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95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72F7A-9D3D-E14B-BB2C-C00DEB464C34}" type="datetimeFigureOut">
              <a:rPr lang="en-US" smtClean="0"/>
              <a:t>1/5/26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A392-87C1-C14A-B527-B351547EF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935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72F7A-9D3D-E14B-BB2C-C00DEB464C34}" type="datetimeFigureOut">
              <a:rPr lang="en-US" smtClean="0"/>
              <a:t>1/5/26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A392-87C1-C14A-B527-B351547EF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04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72F7A-9D3D-E14B-BB2C-C00DEB464C34}" type="datetimeFigureOut">
              <a:rPr lang="en-US" smtClean="0"/>
              <a:t>1/5/26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A392-87C1-C14A-B527-B351547EF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153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72F7A-9D3D-E14B-BB2C-C00DEB464C34}" type="datetimeFigureOut">
              <a:rPr lang="en-US" smtClean="0"/>
              <a:t>1/5/26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A392-87C1-C14A-B527-B351547EF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741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72F7A-9D3D-E14B-BB2C-C00DEB464C34}" type="datetimeFigureOut">
              <a:rPr lang="en-US" smtClean="0"/>
              <a:t>1/5/26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A392-87C1-C14A-B527-B351547EF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77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72F7A-9D3D-E14B-BB2C-C00DEB464C34}" type="datetimeFigureOut">
              <a:rPr lang="en-US" smtClean="0"/>
              <a:t>1/5/26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A392-87C1-C14A-B527-B351547EF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746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72F7A-9D3D-E14B-BB2C-C00DEB464C34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A392-87C1-C14A-B527-B351547EF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612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72F7A-9D3D-E14B-BB2C-C00DEB464C34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A392-87C1-C14A-B527-B351547EF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081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672F7A-9D3D-E14B-BB2C-C00DEB464C34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E7A392-87C1-C14A-B527-B351547EF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499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>
            <a:extLst>
              <a:ext uri="{FF2B5EF4-FFF2-40B4-BE49-F238E27FC236}">
                <a16:creationId xmlns:a16="http://schemas.microsoft.com/office/drawing/2014/main" id="{71FF17BC-F0ED-E57F-9852-01C7899CCD8C}"/>
              </a:ext>
            </a:extLst>
          </p:cNvPr>
          <p:cNvSpPr/>
          <p:nvPr/>
        </p:nvSpPr>
        <p:spPr>
          <a:xfrm>
            <a:off x="2218624" y="137160"/>
            <a:ext cx="5829300" cy="54605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6797D5-AAE5-A42B-E51C-6CA5897F9C55}"/>
              </a:ext>
            </a:extLst>
          </p:cNvPr>
          <p:cNvSpPr/>
          <p:nvPr/>
        </p:nvSpPr>
        <p:spPr>
          <a:xfrm>
            <a:off x="4556577" y="308610"/>
            <a:ext cx="1927278" cy="46685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Trigger: Collection review cycle or new open items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57AF473-3643-492D-63E6-23A789F6685D}"/>
              </a:ext>
            </a:extLst>
          </p:cNvPr>
          <p:cNvSpPr/>
          <p:nvPr/>
        </p:nvSpPr>
        <p:spPr>
          <a:xfrm>
            <a:off x="4472380" y="994211"/>
            <a:ext cx="2094235" cy="4061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85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 Behavioral insights scoring (Scheduled or on demand triggering)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3CA79C3-EDD7-43BE-CF27-0E3CDB784C8C}"/>
              </a:ext>
            </a:extLst>
          </p:cNvPr>
          <p:cNvSpPr/>
          <p:nvPr/>
        </p:nvSpPr>
        <p:spPr>
          <a:xfrm>
            <a:off x="4654111" y="1594712"/>
            <a:ext cx="1730773" cy="4061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85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Review prioritized risk list and key drivers</a:t>
            </a:r>
          </a:p>
        </p:txBody>
      </p:sp>
      <p:sp>
        <p:nvSpPr>
          <p:cNvPr id="7" name="Decision 6">
            <a:extLst>
              <a:ext uri="{FF2B5EF4-FFF2-40B4-BE49-F238E27FC236}">
                <a16:creationId xmlns:a16="http://schemas.microsoft.com/office/drawing/2014/main" id="{EFFF3EB5-260A-6B88-DFFA-A1AFDC66B270}"/>
              </a:ext>
            </a:extLst>
          </p:cNvPr>
          <p:cNvSpPr/>
          <p:nvPr/>
        </p:nvSpPr>
        <p:spPr>
          <a:xfrm>
            <a:off x="4812573" y="2226696"/>
            <a:ext cx="1413849" cy="786932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850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risk or action needed?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2E0BFD6-D630-CD07-FA24-137D6E465A25}"/>
              </a:ext>
            </a:extLst>
          </p:cNvPr>
          <p:cNvSpPr/>
          <p:nvPr/>
        </p:nvSpPr>
        <p:spPr>
          <a:xfrm>
            <a:off x="3508833" y="3153608"/>
            <a:ext cx="1880120" cy="406155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85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 strategy (dunning, call, payment plan)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A013FF3-FA2A-C0C2-8C61-F29DC79021D7}"/>
              </a:ext>
            </a:extLst>
          </p:cNvPr>
          <p:cNvSpPr/>
          <p:nvPr/>
        </p:nvSpPr>
        <p:spPr>
          <a:xfrm>
            <a:off x="5704908" y="3158094"/>
            <a:ext cx="1686394" cy="40615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8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Standard follow-up and monitor the activities for potential high risk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DA83388-750F-2CB8-FF85-33D105484DEC}"/>
              </a:ext>
            </a:extLst>
          </p:cNvPr>
          <p:cNvSpPr/>
          <p:nvPr/>
        </p:nvSpPr>
        <p:spPr>
          <a:xfrm>
            <a:off x="3506116" y="3722941"/>
            <a:ext cx="1880120" cy="4061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85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Execute actions in SAP. Update status and capture outcome</a:t>
            </a:r>
          </a:p>
        </p:txBody>
      </p:sp>
      <p:sp>
        <p:nvSpPr>
          <p:cNvPr id="13" name="Decision 12">
            <a:extLst>
              <a:ext uri="{FF2B5EF4-FFF2-40B4-BE49-F238E27FC236}">
                <a16:creationId xmlns:a16="http://schemas.microsoft.com/office/drawing/2014/main" id="{886B4AE6-078E-A24B-7EF2-A1FD838700BE}"/>
              </a:ext>
            </a:extLst>
          </p:cNvPr>
          <p:cNvSpPr/>
          <p:nvPr/>
        </p:nvSpPr>
        <p:spPr>
          <a:xfrm>
            <a:off x="3750163" y="4337192"/>
            <a:ext cx="1393337" cy="544421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850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Paid or resolved?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C487203-A01E-D51B-5A27-86170477A188}"/>
              </a:ext>
            </a:extLst>
          </p:cNvPr>
          <p:cNvSpPr/>
          <p:nvPr/>
        </p:nvSpPr>
        <p:spPr>
          <a:xfrm>
            <a:off x="2474189" y="4998180"/>
            <a:ext cx="1880120" cy="406155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85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clear items, close case, report KPIs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E18D78C-60DF-5B50-4F6B-FD6CFBC75061}"/>
              </a:ext>
            </a:extLst>
          </p:cNvPr>
          <p:cNvSpPr/>
          <p:nvPr/>
        </p:nvSpPr>
        <p:spPr>
          <a:xfrm>
            <a:off x="4556577" y="4998180"/>
            <a:ext cx="1880120" cy="40615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8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escalate, adjust strategy, re-run scoring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BDCF016-AE62-C27C-005D-17C46C767ECE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5519498" y="775466"/>
            <a:ext cx="718" cy="2187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0D0DA76-D3A4-14A2-9607-444937F9E0E3}"/>
              </a:ext>
            </a:extLst>
          </p:cNvPr>
          <p:cNvCxnSpPr>
            <a:cxnSpLocks/>
          </p:cNvCxnSpPr>
          <p:nvPr/>
        </p:nvCxnSpPr>
        <p:spPr>
          <a:xfrm>
            <a:off x="5519498" y="1274636"/>
            <a:ext cx="0" cy="3200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756106F-4CB5-6C48-853B-6D25225D9F24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5519498" y="2000867"/>
            <a:ext cx="0" cy="2258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7A244690-D77F-29F9-C14F-857F5B1DF7C4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6226422" y="2620162"/>
            <a:ext cx="321683" cy="53793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05C94455-FE8F-A77A-4005-E3440A20FDAB}"/>
              </a:ext>
            </a:extLst>
          </p:cNvPr>
          <p:cNvCxnSpPr>
            <a:cxnSpLocks/>
            <a:stCxn id="7" idx="1"/>
          </p:cNvCxnSpPr>
          <p:nvPr/>
        </p:nvCxnSpPr>
        <p:spPr>
          <a:xfrm rot="10800000" flipV="1">
            <a:off x="4448893" y="2620162"/>
            <a:ext cx="363680" cy="53344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650E0C3-2B63-AA19-1B32-CEBE2CF3CFDF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>
            <a:off x="4446176" y="4129096"/>
            <a:ext cx="656" cy="2080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60F357D-15AE-DA7A-C979-BA928EE9AAA0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 flipH="1">
            <a:off x="4446176" y="3559763"/>
            <a:ext cx="2717" cy="1631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8FDF86D0-2167-B0AE-440C-1AF970769D53}"/>
              </a:ext>
            </a:extLst>
          </p:cNvPr>
          <p:cNvCxnSpPr>
            <a:cxnSpLocks/>
            <a:stCxn id="13" idx="1"/>
          </p:cNvCxnSpPr>
          <p:nvPr/>
        </p:nvCxnSpPr>
        <p:spPr>
          <a:xfrm rot="10800000" flipV="1">
            <a:off x="3402819" y="4609402"/>
            <a:ext cx="347344" cy="37734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E6787D40-8E1A-1A5D-657E-D31532352690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5143500" y="4609403"/>
            <a:ext cx="341707" cy="37734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61" name="Elbow Connector 60">
            <a:extLst>
              <a:ext uri="{FF2B5EF4-FFF2-40B4-BE49-F238E27FC236}">
                <a16:creationId xmlns:a16="http://schemas.microsoft.com/office/drawing/2014/main" id="{ECC99BBA-BC79-7C53-C298-FE2CFC093404}"/>
              </a:ext>
            </a:extLst>
          </p:cNvPr>
          <p:cNvCxnSpPr>
            <a:cxnSpLocks/>
            <a:stCxn id="17" idx="3"/>
            <a:endCxn id="5" idx="3"/>
          </p:cNvCxnSpPr>
          <p:nvPr/>
        </p:nvCxnSpPr>
        <p:spPr>
          <a:xfrm flipV="1">
            <a:off x="6436697" y="1197289"/>
            <a:ext cx="129918" cy="4003969"/>
          </a:xfrm>
          <a:prstGeom prst="bentConnector3">
            <a:avLst>
              <a:gd name="adj1" fmla="val 839020"/>
            </a:avLst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BD13FD54-99DC-0930-572B-FCD7CB420AC9}"/>
              </a:ext>
            </a:extLst>
          </p:cNvPr>
          <p:cNvSpPr txBox="1"/>
          <p:nvPr/>
        </p:nvSpPr>
        <p:spPr>
          <a:xfrm>
            <a:off x="4137660" y="2762168"/>
            <a:ext cx="674913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50" dirty="0">
                <a:latin typeface="Arial" panose="020B0604020202020204" pitchFamily="34" charset="0"/>
                <a:cs typeface="Arial" panose="020B0604020202020204" pitchFamily="34" charset="0"/>
              </a:rPr>
              <a:t>Yes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27AC134-F0FC-428F-66F7-781DBACBBA05}"/>
              </a:ext>
            </a:extLst>
          </p:cNvPr>
          <p:cNvSpPr txBox="1"/>
          <p:nvPr/>
        </p:nvSpPr>
        <p:spPr>
          <a:xfrm>
            <a:off x="6503373" y="2762168"/>
            <a:ext cx="674913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50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50F974E-040B-AE1A-88B8-F9E2AD6FDFF2}"/>
              </a:ext>
            </a:extLst>
          </p:cNvPr>
          <p:cNvSpPr txBox="1"/>
          <p:nvPr/>
        </p:nvSpPr>
        <p:spPr>
          <a:xfrm>
            <a:off x="5133274" y="4397694"/>
            <a:ext cx="674913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50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194E9EF6-B46A-7120-6722-D3213D2636F7}"/>
              </a:ext>
            </a:extLst>
          </p:cNvPr>
          <p:cNvSpPr txBox="1"/>
          <p:nvPr/>
        </p:nvSpPr>
        <p:spPr>
          <a:xfrm>
            <a:off x="3388305" y="4397694"/>
            <a:ext cx="674913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50" dirty="0">
                <a:latin typeface="Arial" panose="020B0604020202020204" pitchFamily="34" charset="0"/>
                <a:cs typeface="Arial" panose="020B0604020202020204" pitchFamily="34" charset="0"/>
              </a:rPr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4208296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AEA96FE-4DB3-2EC6-6EA2-FB5A7921E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3429000" cy="5143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34C4977-4CD9-D8A8-1525-6037DCC6E0E1}"/>
              </a:ext>
            </a:extLst>
          </p:cNvPr>
          <p:cNvSpPr/>
          <p:nvPr/>
        </p:nvSpPr>
        <p:spPr>
          <a:xfrm>
            <a:off x="4563144" y="227331"/>
            <a:ext cx="1903850" cy="594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Trigger: Collection review cycle or new open items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39B4AA-B2C5-2D9F-C8E5-E4865D58E33D}"/>
              </a:ext>
            </a:extLst>
          </p:cNvPr>
          <p:cNvSpPr/>
          <p:nvPr/>
        </p:nvSpPr>
        <p:spPr>
          <a:xfrm>
            <a:off x="4572000" y="1014263"/>
            <a:ext cx="1903850" cy="594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Run Behavioral insights scoring (Scheduled or on demand triggering)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A7DEE4-1826-C541-5EF8-3AAFA433CE37}"/>
              </a:ext>
            </a:extLst>
          </p:cNvPr>
          <p:cNvSpPr/>
          <p:nvPr/>
        </p:nvSpPr>
        <p:spPr>
          <a:xfrm>
            <a:off x="4563144" y="1740494"/>
            <a:ext cx="1903850" cy="594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Review prioritized risk list and key drivers</a:t>
            </a:r>
          </a:p>
        </p:txBody>
      </p:sp>
      <p:sp>
        <p:nvSpPr>
          <p:cNvPr id="9" name="Decision 8">
            <a:extLst>
              <a:ext uri="{FF2B5EF4-FFF2-40B4-BE49-F238E27FC236}">
                <a16:creationId xmlns:a16="http://schemas.microsoft.com/office/drawing/2014/main" id="{79124BEF-3A86-E86B-3B3E-08855EC90ACC}"/>
              </a:ext>
            </a:extLst>
          </p:cNvPr>
          <p:cNvSpPr/>
          <p:nvPr/>
        </p:nvSpPr>
        <p:spPr>
          <a:xfrm>
            <a:off x="4598331" y="2466726"/>
            <a:ext cx="1413849" cy="786932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High risk or action needed?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DB8C3D-DF04-179C-33E8-095D42BF07FC}"/>
              </a:ext>
            </a:extLst>
          </p:cNvPr>
          <p:cNvSpPr/>
          <p:nvPr/>
        </p:nvSpPr>
        <p:spPr>
          <a:xfrm>
            <a:off x="4101551" y="3312117"/>
            <a:ext cx="694687" cy="4061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Yes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445876-0BDD-F5DC-833D-DA64CE3C882C}"/>
              </a:ext>
            </a:extLst>
          </p:cNvPr>
          <p:cNvSpPr/>
          <p:nvPr/>
        </p:nvSpPr>
        <p:spPr>
          <a:xfrm>
            <a:off x="7556035" y="3230983"/>
            <a:ext cx="694687" cy="4061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4653BD-6857-8C31-E8E7-2E7875ED58A9}"/>
              </a:ext>
            </a:extLst>
          </p:cNvPr>
          <p:cNvSpPr/>
          <p:nvPr/>
        </p:nvSpPr>
        <p:spPr>
          <a:xfrm>
            <a:off x="3508833" y="4067061"/>
            <a:ext cx="1880120" cy="4061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select strategy (dunning, call, payment plan)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6163BB-5B38-4AED-F2C7-41873530EF6C}"/>
              </a:ext>
            </a:extLst>
          </p:cNvPr>
          <p:cNvSpPr/>
          <p:nvPr/>
        </p:nvSpPr>
        <p:spPr>
          <a:xfrm>
            <a:off x="7029825" y="4186794"/>
            <a:ext cx="1393714" cy="4061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Standard follow-up and monitor the activities for potential high risk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648C59B-11AE-AC08-FACB-314D32C6E678}"/>
              </a:ext>
            </a:extLst>
          </p:cNvPr>
          <p:cNvSpPr/>
          <p:nvPr/>
        </p:nvSpPr>
        <p:spPr>
          <a:xfrm>
            <a:off x="3437536" y="4900886"/>
            <a:ext cx="1880120" cy="4061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Execute actions in SAP. Update status and capture outcome</a:t>
            </a:r>
          </a:p>
        </p:txBody>
      </p:sp>
      <p:sp>
        <p:nvSpPr>
          <p:cNvPr id="16" name="Decision 15">
            <a:extLst>
              <a:ext uri="{FF2B5EF4-FFF2-40B4-BE49-F238E27FC236}">
                <a16:creationId xmlns:a16="http://schemas.microsoft.com/office/drawing/2014/main" id="{5F4271B3-EADF-040A-BBAC-34B42C062D88}"/>
              </a:ext>
            </a:extLst>
          </p:cNvPr>
          <p:cNvSpPr/>
          <p:nvPr/>
        </p:nvSpPr>
        <p:spPr>
          <a:xfrm>
            <a:off x="3715873" y="5398073"/>
            <a:ext cx="1393337" cy="544421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Paid or resolved?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A7C57A8-4FA8-A4EF-B153-E41D3C745D32}"/>
              </a:ext>
            </a:extLst>
          </p:cNvPr>
          <p:cNvSpPr/>
          <p:nvPr/>
        </p:nvSpPr>
        <p:spPr>
          <a:xfrm>
            <a:off x="4101551" y="6086463"/>
            <a:ext cx="694687" cy="4061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Yes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704D32-B0A3-5A09-4C47-563EF032BB66}"/>
              </a:ext>
            </a:extLst>
          </p:cNvPr>
          <p:cNvSpPr/>
          <p:nvPr/>
        </p:nvSpPr>
        <p:spPr>
          <a:xfrm>
            <a:off x="5523925" y="6086463"/>
            <a:ext cx="694687" cy="4061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5242D32-0510-0D88-37DD-B915B2E3901B}"/>
              </a:ext>
            </a:extLst>
          </p:cNvPr>
          <p:cNvSpPr/>
          <p:nvPr/>
        </p:nvSpPr>
        <p:spPr>
          <a:xfrm>
            <a:off x="3508833" y="6576632"/>
            <a:ext cx="1880120" cy="4061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clear items, close case, report KPIs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DD957F-7F56-1BCD-D8A3-5DED3F92FA34}"/>
              </a:ext>
            </a:extLst>
          </p:cNvPr>
          <p:cNvSpPr/>
          <p:nvPr/>
        </p:nvSpPr>
        <p:spPr>
          <a:xfrm>
            <a:off x="5515069" y="6632388"/>
            <a:ext cx="1880120" cy="4061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escalate, adjust strategy, re-run scoring</a:t>
            </a:r>
          </a:p>
        </p:txBody>
      </p:sp>
    </p:spTree>
    <p:extLst>
      <p:ext uri="{BB962C8B-B14F-4D97-AF65-F5344CB8AC3E}">
        <p14:creationId xmlns:p14="http://schemas.microsoft.com/office/powerpoint/2010/main" val="2764037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52</TotalTime>
  <Words>172</Words>
  <Application>Microsoft Macintosh PowerPoint</Application>
  <PresentationFormat>On-screen Show (4:3)</PresentationFormat>
  <Paragraphs>28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Ramana prabhu Sana</dc:creator>
  <cp:lastModifiedBy>Ramana prabhu Sana</cp:lastModifiedBy>
  <cp:revision>1</cp:revision>
  <dcterms:created xsi:type="dcterms:W3CDTF">2026-01-05T07:33:41Z</dcterms:created>
  <dcterms:modified xsi:type="dcterms:W3CDTF">2026-01-05T08:26:36Z</dcterms:modified>
</cp:coreProperties>
</file>