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Lst>
  <p:sldSz cy="5143500" cx="9144000"/>
  <p:notesSz cx="6858000" cy="9144000"/>
  <p:embeddedFontLst>
    <p:embeddedFont>
      <p:font typeface="Inter SemiBold"/>
      <p:regular r:id="rId37"/>
      <p:bold r:id="rId38"/>
      <p:italic r:id="rId39"/>
      <p:boldItalic r:id="rId40"/>
    </p:embeddedFont>
    <p:embeddedFont>
      <p:font typeface="Nunito"/>
      <p:regular r:id="rId41"/>
      <p:bold r:id="rId42"/>
      <p:italic r:id="rId43"/>
      <p:boldItalic r:id="rId44"/>
    </p:embeddedFont>
    <p:embeddedFont>
      <p:font typeface="Playfair Display"/>
      <p:regular r:id="rId45"/>
      <p:bold r:id="rId46"/>
      <p:italic r:id="rId47"/>
      <p:boldItalic r:id="rId48"/>
    </p:embeddedFont>
    <p:embeddedFont>
      <p:font typeface="Abril Fatface"/>
      <p:regular r:id="rId49"/>
    </p:embeddedFont>
    <p:embeddedFont>
      <p:font typeface="Inter"/>
      <p:regular r:id="rId50"/>
      <p:bold r:id="rId51"/>
      <p:italic r:id="rId52"/>
      <p:boldItalic r:id="rId53"/>
    </p:embeddedFont>
    <p:embeddedFont>
      <p:font typeface="PT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font" Target="fonts/InterSemiBold-boldItalic.fntdata"/><Relationship Id="rId42" Type="http://schemas.openxmlformats.org/officeDocument/2006/relationships/font" Target="fonts/Nunito-bold.fntdata"/><Relationship Id="rId41" Type="http://schemas.openxmlformats.org/officeDocument/2006/relationships/font" Target="fonts/Nunito-regular.fntdata"/><Relationship Id="rId44" Type="http://schemas.openxmlformats.org/officeDocument/2006/relationships/font" Target="fonts/Nunito-boldItalic.fntdata"/><Relationship Id="rId43" Type="http://schemas.openxmlformats.org/officeDocument/2006/relationships/font" Target="fonts/Nunito-italic.fntdata"/><Relationship Id="rId46" Type="http://schemas.openxmlformats.org/officeDocument/2006/relationships/font" Target="fonts/PlayfairDisplay-bold.fntdata"/><Relationship Id="rId45" Type="http://schemas.openxmlformats.org/officeDocument/2006/relationships/font" Target="fonts/PlayfairDispl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PlayfairDisplay-boldItalic.fntdata"/><Relationship Id="rId47" Type="http://schemas.openxmlformats.org/officeDocument/2006/relationships/font" Target="fonts/PlayfairDisplay-italic.fntdata"/><Relationship Id="rId49" Type="http://schemas.openxmlformats.org/officeDocument/2006/relationships/font" Target="fonts/AbrilFatface-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font" Target="fonts/InterSemiBold-regular.fntdata"/><Relationship Id="rId36" Type="http://schemas.openxmlformats.org/officeDocument/2006/relationships/slide" Target="slides/slide32.xml"/><Relationship Id="rId39" Type="http://schemas.openxmlformats.org/officeDocument/2006/relationships/font" Target="fonts/InterSemiBold-italic.fntdata"/><Relationship Id="rId38" Type="http://schemas.openxmlformats.org/officeDocument/2006/relationships/font" Target="fonts/InterSemiBold-bold.fnt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Inter-bold.fntdata"/><Relationship Id="rId50" Type="http://schemas.openxmlformats.org/officeDocument/2006/relationships/font" Target="fonts/Inter-regular.fntdata"/><Relationship Id="rId53" Type="http://schemas.openxmlformats.org/officeDocument/2006/relationships/font" Target="fonts/Inter-boldItalic.fntdata"/><Relationship Id="rId52" Type="http://schemas.openxmlformats.org/officeDocument/2006/relationships/font" Target="fonts/Inter-italic.fntdata"/><Relationship Id="rId11" Type="http://schemas.openxmlformats.org/officeDocument/2006/relationships/slide" Target="slides/slide7.xml"/><Relationship Id="rId55" Type="http://schemas.openxmlformats.org/officeDocument/2006/relationships/font" Target="fonts/PTSans-bold.fntdata"/><Relationship Id="rId10" Type="http://schemas.openxmlformats.org/officeDocument/2006/relationships/slide" Target="slides/slide6.xml"/><Relationship Id="rId54" Type="http://schemas.openxmlformats.org/officeDocument/2006/relationships/font" Target="fonts/PTSans-regular.fntdata"/><Relationship Id="rId13" Type="http://schemas.openxmlformats.org/officeDocument/2006/relationships/slide" Target="slides/slide9.xml"/><Relationship Id="rId57" Type="http://schemas.openxmlformats.org/officeDocument/2006/relationships/font" Target="fonts/PTSans-boldItalic.fntdata"/><Relationship Id="rId12" Type="http://schemas.openxmlformats.org/officeDocument/2006/relationships/slide" Target="slides/slide8.xml"/><Relationship Id="rId56" Type="http://schemas.openxmlformats.org/officeDocument/2006/relationships/font" Target="fonts/PTSans-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f080b61eb8_0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f080b61eb8_0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99f2f57a71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99f2f57a71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ab4cf37d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ab4cf37d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https://youtu.be/16fHuTti6hM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3b48dfc0c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3b48dfc0c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3b9d4f14c22_4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0" name="Google Shape;280;g3b9d4f14c22_4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b9d4f14c22_4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b9d4f14c22_4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b9d4f14c22_4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3b9d4f14c22_4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b9d4f14c22_4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b9d4f14c22_4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b9d4f14c22_4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b9d4f14c22_4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b9d4f14c22_4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b9d4f14c22_4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9d4f14c22_4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b9d4f14c22_4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b7ad55844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3b7ad55844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b3e7e9877c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b3e7e9877c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ba17b599f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ba17b599f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https://youtu.be/16fHuTti6hM</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b7ae5bb3d7_2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b7ae5bb3d7_2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b="1" lang="en">
                <a:solidFill>
                  <a:schemeClr val="dk1"/>
                </a:solidFill>
                <a:latin typeface="Nunito"/>
                <a:ea typeface="Nunito"/>
                <a:cs typeface="Nunito"/>
                <a:sym typeface="Nunito"/>
              </a:rPr>
              <a:t>Before State (Manual Process):</a:t>
            </a:r>
            <a:endParaRPr b="1">
              <a:solidFill>
                <a:schemeClr val="dk1"/>
              </a:solidFill>
              <a:latin typeface="Nunito"/>
              <a:ea typeface="Nunito"/>
              <a:cs typeface="Nunito"/>
              <a:sym typeface="Nunito"/>
            </a:endParaRPr>
          </a:p>
          <a:p>
            <a:pPr indent="-298450" lvl="0" marL="457200" rtl="0" algn="l">
              <a:spcBef>
                <a:spcPts val="1200"/>
              </a:spcBef>
              <a:spcAft>
                <a:spcPts val="0"/>
              </a:spcAft>
              <a:buClr>
                <a:schemeClr val="dk1"/>
              </a:buClr>
              <a:buSzPts val="1100"/>
              <a:buFont typeface="Nunito"/>
              <a:buChar char="●"/>
            </a:pPr>
            <a:r>
              <a:rPr lang="en">
                <a:solidFill>
                  <a:schemeClr val="dk1"/>
                </a:solidFill>
                <a:latin typeface="Nunito"/>
                <a:ea typeface="Nunito"/>
                <a:cs typeface="Nunito"/>
                <a:sym typeface="Nunito"/>
              </a:rPr>
              <a:t>Accountants review invoices and contracts</a:t>
            </a:r>
            <a:endParaRPr>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Decide if disputes are valid</a:t>
            </a:r>
            <a:endParaRPr>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Apply orrections</a:t>
            </a:r>
            <a:endParaRPr>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a:solidFill>
                  <a:schemeClr val="dk1"/>
                </a:solidFill>
                <a:latin typeface="Nunito"/>
                <a:ea typeface="Nunito"/>
                <a:cs typeface="Nunito"/>
                <a:sym typeface="Nunito"/>
              </a:rPr>
              <a:t>Slow and error-prone</a:t>
            </a:r>
            <a:endParaRPr sz="1000">
              <a:solidFill>
                <a:srgbClr val="302926"/>
              </a:solidFill>
              <a:latin typeface="Nunito"/>
              <a:ea typeface="Nunito"/>
              <a:cs typeface="Nunito"/>
              <a:sym typeface="Nunito"/>
            </a:endParaRPr>
          </a:p>
          <a:p>
            <a:pPr indent="0" lvl="0" marL="0" rtl="0" algn="l">
              <a:spcBef>
                <a:spcPts val="1200"/>
              </a:spcBef>
              <a:spcAft>
                <a:spcPts val="0"/>
              </a:spcAft>
              <a:buClr>
                <a:schemeClr val="dk1"/>
              </a:buClr>
              <a:buSzPts val="1100"/>
              <a:buFont typeface="Arial"/>
              <a:buNone/>
            </a:pPr>
            <a:r>
              <a:t/>
            </a:r>
            <a:endParaRPr sz="1700">
              <a:solidFill>
                <a:srgbClr val="302926"/>
              </a:solidFill>
              <a:latin typeface="Nunito"/>
              <a:ea typeface="Nunito"/>
              <a:cs typeface="Nunito"/>
              <a:sym typeface="Nunito"/>
            </a:endParaRPr>
          </a:p>
          <a:p>
            <a:pPr indent="0" lvl="0" marL="0" rtl="0" algn="l">
              <a:spcBef>
                <a:spcPts val="1600"/>
              </a:spcBef>
              <a:spcAft>
                <a:spcPts val="0"/>
              </a:spcAft>
              <a:buClr>
                <a:schemeClr val="dk1"/>
              </a:buClr>
              <a:buSzPts val="1100"/>
              <a:buFont typeface="Arial"/>
              <a:buNone/>
            </a:pPr>
            <a:r>
              <a:t/>
            </a:r>
            <a:endParaRPr sz="1700">
              <a:solidFill>
                <a:srgbClr val="302926"/>
              </a:solidFill>
              <a:latin typeface="Nunito"/>
              <a:ea typeface="Nunito"/>
              <a:cs typeface="Nunito"/>
              <a:sym typeface="Nunito"/>
            </a:endParaRPr>
          </a:p>
          <a:p>
            <a:pPr indent="0" lvl="0" marL="0" rtl="0" algn="l">
              <a:spcBef>
                <a:spcPts val="160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8e7be02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0" name="Google Shape;400;g3b8e7be02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7ae5bb3d7_2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3" name="Google Shape;433;g3b7ae5bb3d7_2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b3e7e9877c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b3e7e9877c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3b9d4f14c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3b9d4f14c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the human-driven process you are using human judgement for both.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bf63df2e3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bf63df2e3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b7b639edb8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b7b639edb8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b7ae5bb3d7_1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b7ae5bb3d7_1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g3b7b639edb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6" name="Google Shape;486;g3b7b639edb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b7ae5bb3d7_1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3b7ae5bb3d7_1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g3b66398bc6d_1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g3b66398bc6d_1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b4a6e0627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b4a6e0627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3b48c82c97a_2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3b48c82c97a_2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b7aad840e8_1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b7aad840e8_1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3b7aad840e8_1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2" name="Google Shape;552;g3b7aad840e8_1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5" name="Shape 555"/>
        <p:cNvGrpSpPr/>
        <p:nvPr/>
      </p:nvGrpSpPr>
      <p:grpSpPr>
        <a:xfrm>
          <a:off x="0" y="0"/>
          <a:ext cx="0" cy="0"/>
          <a:chOff x="0" y="0"/>
          <a:chExt cx="0" cy="0"/>
        </a:xfrm>
      </p:grpSpPr>
      <p:sp>
        <p:nvSpPr>
          <p:cNvPr id="556" name="Google Shape;556;g3b7aad840e8_1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7" name="Google Shape;557;g3b7aad840e8_1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0" name="Shape 560"/>
        <p:cNvGrpSpPr/>
        <p:nvPr/>
      </p:nvGrpSpPr>
      <p:grpSpPr>
        <a:xfrm>
          <a:off x="0" y="0"/>
          <a:ext cx="0" cy="0"/>
          <a:chOff x="0" y="0"/>
          <a:chExt cx="0" cy="0"/>
        </a:xfrm>
      </p:grpSpPr>
      <p:sp>
        <p:nvSpPr>
          <p:cNvPr id="561" name="Google Shape;561;g3b66398bc6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2" name="Google Shape;562;g3b66398bc6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p:nvPr/>
        </p:nvSpPr>
        <p:spPr>
          <a:xfrm flipH="1">
            <a:off x="-243963" y="-933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p:nvPr/>
        </p:nvSpPr>
        <p:spPr>
          <a:xfrm flipH="1">
            <a:off x="79191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75649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type="ctrTitle"/>
          </p:nvPr>
        </p:nvSpPr>
        <p:spPr>
          <a:xfrm>
            <a:off x="713100" y="1481055"/>
            <a:ext cx="6816600" cy="2414100"/>
          </a:xfrm>
          <a:prstGeom prst="rect">
            <a:avLst/>
          </a:prstGeom>
        </p:spPr>
        <p:txBody>
          <a:bodyPr anchorCtr="0" anchor="b" bIns="91425" lIns="91425" spcFirstLastPara="1" rIns="91425" wrap="square" tIns="91425">
            <a:noAutofit/>
          </a:bodyPr>
          <a:lstStyle>
            <a:lvl1pPr lvl="0">
              <a:lnSpc>
                <a:spcPct val="90000"/>
              </a:lnSpc>
              <a:spcBef>
                <a:spcPts val="0"/>
              </a:spcBef>
              <a:spcAft>
                <a:spcPts val="0"/>
              </a:spcAft>
              <a:buClr>
                <a:srgbClr val="191919"/>
              </a:buClr>
              <a:buSzPts val="5200"/>
              <a:buNone/>
              <a:defRPr sz="7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3" name="Google Shape;13;p2"/>
          <p:cNvSpPr txBox="1"/>
          <p:nvPr>
            <p:ph idx="1" type="subTitle"/>
          </p:nvPr>
        </p:nvSpPr>
        <p:spPr>
          <a:xfrm>
            <a:off x="713100" y="3995538"/>
            <a:ext cx="4528800" cy="4758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rot="784685">
            <a:off x="-181759" y="-8212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p:nvPr/>
        </p:nvSpPr>
        <p:spPr>
          <a:xfrm flipH="1" rot="1783285">
            <a:off x="-385508" y="-12432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3"/>
          <p:cNvSpPr/>
          <p:nvPr/>
        </p:nvSpPr>
        <p:spPr>
          <a:xfrm>
            <a:off x="8143200" y="-478825"/>
            <a:ext cx="1214376" cy="4636445"/>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txBox="1"/>
          <p:nvPr>
            <p:ph type="title"/>
          </p:nvPr>
        </p:nvSpPr>
        <p:spPr>
          <a:xfrm>
            <a:off x="720000" y="2195100"/>
            <a:ext cx="4337700" cy="14661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9" name="Google Shape;19;p3"/>
          <p:cNvSpPr txBox="1"/>
          <p:nvPr>
            <p:ph hasCustomPrompt="1" idx="2" type="title"/>
          </p:nvPr>
        </p:nvSpPr>
        <p:spPr>
          <a:xfrm>
            <a:off x="720000" y="1178725"/>
            <a:ext cx="5067600" cy="1000800"/>
          </a:xfrm>
          <a:prstGeom prst="rect">
            <a:avLst/>
          </a:prstGeom>
        </p:spPr>
        <p:txBody>
          <a:bodyPr anchorCtr="0" anchor="b" bIns="91425" lIns="91425" spcFirstLastPara="1" rIns="91425" wrap="square" tIns="91425">
            <a:noAutofit/>
          </a:bodyPr>
          <a:lstStyle>
            <a:lvl1pPr lvl="0" rtl="0">
              <a:spcBef>
                <a:spcPts val="0"/>
              </a:spcBef>
              <a:spcAft>
                <a:spcPts val="0"/>
              </a:spcAft>
              <a:buSzPts val="6000"/>
              <a:buNone/>
              <a:defRPr sz="60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 name="Google Shape;20;p3"/>
          <p:cNvSpPr txBox="1"/>
          <p:nvPr>
            <p:ph idx="1" type="subTitle"/>
          </p:nvPr>
        </p:nvSpPr>
        <p:spPr>
          <a:xfrm>
            <a:off x="720000" y="3676775"/>
            <a:ext cx="5067600" cy="713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sp>
        <p:nvSpPr>
          <p:cNvPr id="22" name="Google Shape;22;p4"/>
          <p:cNvSpPr/>
          <p:nvPr/>
        </p:nvSpPr>
        <p:spPr>
          <a:xfrm rot="-1055101">
            <a:off x="-960243" y="-611114"/>
            <a:ext cx="1615770" cy="1821365"/>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4"/>
          <p:cNvSpPr/>
          <p:nvPr/>
        </p:nvSpPr>
        <p:spPr>
          <a:xfrm flipH="1" rot="10800000">
            <a:off x="7641225" y="-691372"/>
            <a:ext cx="1756619" cy="207607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4"/>
          <p:cNvSpPr/>
          <p:nvPr/>
        </p:nvSpPr>
        <p:spPr>
          <a:xfrm flipH="1">
            <a:off x="8145456" y="-66021"/>
            <a:ext cx="1756619" cy="232279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4"/>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6" name="Google Shape;26;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04800" lvl="0" marL="457200" rtl="0">
              <a:lnSpc>
                <a:spcPct val="100000"/>
              </a:lnSpc>
              <a:spcBef>
                <a:spcPts val="0"/>
              </a:spcBef>
              <a:spcAft>
                <a:spcPts val="0"/>
              </a:spcAft>
              <a:buClr>
                <a:srgbClr val="434343"/>
              </a:buClr>
              <a:buSzPts val="1200"/>
              <a:buAutoNum type="arabicPeriod"/>
              <a:defRPr sz="1200">
                <a:solidFill>
                  <a:srgbClr val="434343"/>
                </a:solidFill>
              </a:defRPr>
            </a:lvl1pPr>
            <a:lvl2pPr indent="-304800" lvl="1" marL="9144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160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160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160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160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1600"/>
              </a:spcBef>
              <a:spcAft>
                <a:spcPts val="1600"/>
              </a:spcAft>
              <a:buClr>
                <a:srgbClr val="434343"/>
              </a:buClr>
              <a:buSzPts val="1200"/>
              <a:buFont typeface="Roboto Condensed Light"/>
              <a:buAutoNum type="romanLcPeriod"/>
              <a:defRPr>
                <a:solidFill>
                  <a:srgbClr val="434343"/>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5"/>
          <p:cNvSpPr/>
          <p:nvPr/>
        </p:nvSpPr>
        <p:spPr>
          <a:xfrm rot="-1794915">
            <a:off x="-1502546" y="-638410"/>
            <a:ext cx="2293282" cy="2585085"/>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5"/>
          <p:cNvSpPr/>
          <p:nvPr/>
        </p:nvSpPr>
        <p:spPr>
          <a:xfrm>
            <a:off x="8555291" y="-912025"/>
            <a:ext cx="1031060" cy="313232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5"/>
          <p:cNvSpPr/>
          <p:nvPr/>
        </p:nvSpPr>
        <p:spPr>
          <a:xfrm>
            <a:off x="7852681" y="-293879"/>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txBox="1"/>
          <p:nvPr>
            <p:ph type="title"/>
          </p:nvPr>
        </p:nvSpPr>
        <p:spPr>
          <a:xfrm>
            <a:off x="1291314" y="2203402"/>
            <a:ext cx="2742600" cy="55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2" name="Google Shape;32;p5"/>
          <p:cNvSpPr txBox="1"/>
          <p:nvPr>
            <p:ph idx="2" type="title"/>
          </p:nvPr>
        </p:nvSpPr>
        <p:spPr>
          <a:xfrm>
            <a:off x="5110086" y="2203402"/>
            <a:ext cx="2742600" cy="558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b="0" sz="25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33" name="Google Shape;33;p5"/>
          <p:cNvSpPr txBox="1"/>
          <p:nvPr>
            <p:ph idx="1" type="subTitle"/>
          </p:nvPr>
        </p:nvSpPr>
        <p:spPr>
          <a:xfrm>
            <a:off x="5110088" y="2786250"/>
            <a:ext cx="27426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4" name="Google Shape;34;p5"/>
          <p:cNvSpPr txBox="1"/>
          <p:nvPr>
            <p:ph idx="3" type="subTitle"/>
          </p:nvPr>
        </p:nvSpPr>
        <p:spPr>
          <a:xfrm>
            <a:off x="1291312" y="2786250"/>
            <a:ext cx="2742600" cy="1010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35" name="Google Shape;35;p5"/>
          <p:cNvSpPr txBox="1"/>
          <p:nvPr>
            <p:ph idx="4"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p:nvPr/>
        </p:nvSpPr>
        <p:spPr>
          <a:xfrm rot="-1236882">
            <a:off x="-992836" y="-201404"/>
            <a:ext cx="2374143" cy="280590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6"/>
          <p:cNvSpPr/>
          <p:nvPr/>
        </p:nvSpPr>
        <p:spPr>
          <a:xfrm rot="-2700000">
            <a:off x="-1671654" y="-637784"/>
            <a:ext cx="2293212" cy="2585006"/>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6"/>
          <p:cNvSpPr/>
          <p:nvPr/>
        </p:nvSpPr>
        <p:spPr>
          <a:xfrm flipH="1" rot="1315565">
            <a:off x="7821221" y="-111650"/>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6"/>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1" name="Shape 41"/>
        <p:cNvGrpSpPr/>
        <p:nvPr/>
      </p:nvGrpSpPr>
      <p:grpSpPr>
        <a:xfrm>
          <a:off x="0" y="0"/>
          <a:ext cx="0" cy="0"/>
          <a:chOff x="0" y="0"/>
          <a:chExt cx="0" cy="0"/>
        </a:xfrm>
      </p:grpSpPr>
      <p:sp>
        <p:nvSpPr>
          <p:cNvPr id="42" name="Google Shape;42;p7"/>
          <p:cNvSpPr/>
          <p:nvPr/>
        </p:nvSpPr>
        <p:spPr>
          <a:xfrm flipH="1">
            <a:off x="-243963" y="-2457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7"/>
          <p:cNvSpPr/>
          <p:nvPr/>
        </p:nvSpPr>
        <p:spPr>
          <a:xfrm flipH="1">
            <a:off x="80715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7"/>
          <p:cNvSpPr/>
          <p:nvPr/>
        </p:nvSpPr>
        <p:spPr>
          <a:xfrm flipH="1">
            <a:off x="77173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7"/>
          <p:cNvSpPr txBox="1"/>
          <p:nvPr>
            <p:ph idx="1" type="body"/>
          </p:nvPr>
        </p:nvSpPr>
        <p:spPr>
          <a:xfrm>
            <a:off x="720000" y="1650200"/>
            <a:ext cx="3876000" cy="2336100"/>
          </a:xfrm>
          <a:prstGeom prst="rect">
            <a:avLst/>
          </a:prstGeom>
        </p:spPr>
        <p:txBody>
          <a:bodyPr anchorCtr="0" anchor="ctr" bIns="91425" lIns="91425" spcFirstLastPara="1" rIns="91425" wrap="square" tIns="91425">
            <a:noAutofit/>
          </a:bodyPr>
          <a:lstStyle>
            <a:lvl1pPr indent="-292100" lvl="0" marL="457200" rtl="0">
              <a:lnSpc>
                <a:spcPct val="100000"/>
              </a:lnSpc>
              <a:spcBef>
                <a:spcPts val="0"/>
              </a:spcBef>
              <a:spcAft>
                <a:spcPts val="0"/>
              </a:spcAft>
              <a:buSzPts val="1000"/>
              <a:buChar char="●"/>
              <a:defRPr>
                <a:solidFill>
                  <a:srgbClr val="434343"/>
                </a:solidFill>
              </a:defRPr>
            </a:lvl1pPr>
            <a:lvl2pPr indent="-317500" lvl="1" marL="914400" rtl="0">
              <a:lnSpc>
                <a:spcPct val="115000"/>
              </a:lnSpc>
              <a:spcBef>
                <a:spcPts val="0"/>
              </a:spcBef>
              <a:spcAft>
                <a:spcPts val="0"/>
              </a:spcAft>
              <a:buSzPts val="1400"/>
              <a:buChar char="○"/>
              <a:defRPr>
                <a:solidFill>
                  <a:srgbClr val="434343"/>
                </a:solidFill>
              </a:defRPr>
            </a:lvl2pPr>
            <a:lvl3pPr indent="-317500" lvl="2" marL="1371600" rtl="0">
              <a:lnSpc>
                <a:spcPct val="115000"/>
              </a:lnSpc>
              <a:spcBef>
                <a:spcPts val="1600"/>
              </a:spcBef>
              <a:spcAft>
                <a:spcPts val="0"/>
              </a:spcAft>
              <a:buSzPts val="1400"/>
              <a:buChar char="■"/>
              <a:defRPr>
                <a:solidFill>
                  <a:srgbClr val="434343"/>
                </a:solidFill>
              </a:defRPr>
            </a:lvl3pPr>
            <a:lvl4pPr indent="-317500" lvl="3" marL="1828800" rtl="0">
              <a:lnSpc>
                <a:spcPct val="115000"/>
              </a:lnSpc>
              <a:spcBef>
                <a:spcPts val="1600"/>
              </a:spcBef>
              <a:spcAft>
                <a:spcPts val="0"/>
              </a:spcAft>
              <a:buSzPts val="1400"/>
              <a:buChar char="●"/>
              <a:defRPr>
                <a:solidFill>
                  <a:srgbClr val="434343"/>
                </a:solidFill>
              </a:defRPr>
            </a:lvl4pPr>
            <a:lvl5pPr indent="-317500" lvl="4" marL="2286000" rtl="0">
              <a:lnSpc>
                <a:spcPct val="115000"/>
              </a:lnSpc>
              <a:spcBef>
                <a:spcPts val="1600"/>
              </a:spcBef>
              <a:spcAft>
                <a:spcPts val="0"/>
              </a:spcAft>
              <a:buSzPts val="1400"/>
              <a:buChar char="○"/>
              <a:defRPr>
                <a:solidFill>
                  <a:srgbClr val="434343"/>
                </a:solidFill>
              </a:defRPr>
            </a:lvl5pPr>
            <a:lvl6pPr indent="-317500" lvl="5" marL="2743200" rtl="0">
              <a:lnSpc>
                <a:spcPct val="115000"/>
              </a:lnSpc>
              <a:spcBef>
                <a:spcPts val="1600"/>
              </a:spcBef>
              <a:spcAft>
                <a:spcPts val="0"/>
              </a:spcAft>
              <a:buSzPts val="1400"/>
              <a:buChar char="■"/>
              <a:defRPr>
                <a:solidFill>
                  <a:srgbClr val="434343"/>
                </a:solidFill>
              </a:defRPr>
            </a:lvl6pPr>
            <a:lvl7pPr indent="-317500" lvl="6" marL="3200400" rtl="0">
              <a:lnSpc>
                <a:spcPct val="115000"/>
              </a:lnSpc>
              <a:spcBef>
                <a:spcPts val="1600"/>
              </a:spcBef>
              <a:spcAft>
                <a:spcPts val="0"/>
              </a:spcAft>
              <a:buSzPts val="1400"/>
              <a:buChar char="●"/>
              <a:defRPr>
                <a:solidFill>
                  <a:srgbClr val="434343"/>
                </a:solidFill>
              </a:defRPr>
            </a:lvl7pPr>
            <a:lvl8pPr indent="-317500" lvl="7" marL="3657600" rtl="0">
              <a:lnSpc>
                <a:spcPct val="115000"/>
              </a:lnSpc>
              <a:spcBef>
                <a:spcPts val="1600"/>
              </a:spcBef>
              <a:spcAft>
                <a:spcPts val="0"/>
              </a:spcAft>
              <a:buSzPts val="1400"/>
              <a:buChar char="○"/>
              <a:defRPr>
                <a:solidFill>
                  <a:srgbClr val="434343"/>
                </a:solidFill>
              </a:defRPr>
            </a:lvl8pPr>
            <a:lvl9pPr indent="-317500" lvl="8" marL="4114800" rtl="0">
              <a:lnSpc>
                <a:spcPct val="115000"/>
              </a:lnSpc>
              <a:spcBef>
                <a:spcPts val="1600"/>
              </a:spcBef>
              <a:spcAft>
                <a:spcPts val="1600"/>
              </a:spcAft>
              <a:buSzPts val="1400"/>
              <a:buChar char="■"/>
              <a:defRPr>
                <a:solidFill>
                  <a:srgbClr val="434343"/>
                </a:solidFill>
              </a:defRPr>
            </a:lvl9pPr>
          </a:lstStyle>
          <a:p/>
        </p:txBody>
      </p:sp>
      <p:sp>
        <p:nvSpPr>
          <p:cNvPr id="46" name="Google Shape;46;p7"/>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
        <p:nvSpPr>
          <p:cNvPr id="48" name="Google Shape;48;p8"/>
          <p:cNvSpPr/>
          <p:nvPr/>
        </p:nvSpPr>
        <p:spPr>
          <a:xfrm rot="-3419928">
            <a:off x="-1702337" y="601789"/>
            <a:ext cx="2807434" cy="1193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8"/>
          <p:cNvSpPr/>
          <p:nvPr/>
        </p:nvSpPr>
        <p:spPr>
          <a:xfrm flipH="1" rot="1401600">
            <a:off x="8049665" y="111206"/>
            <a:ext cx="2374221" cy="280599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p:nvPr/>
        </p:nvSpPr>
        <p:spPr>
          <a:xfrm rot="-836192">
            <a:off x="-1327580" y="-192083"/>
            <a:ext cx="2334065" cy="2880761"/>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8"/>
          <p:cNvSpPr txBox="1"/>
          <p:nvPr>
            <p:ph type="title"/>
          </p:nvPr>
        </p:nvSpPr>
        <p:spPr>
          <a:xfrm>
            <a:off x="1896900" y="1307100"/>
            <a:ext cx="6534000" cy="2529300"/>
          </a:xfrm>
          <a:prstGeom prst="rect">
            <a:avLst/>
          </a:prstGeom>
        </p:spPr>
        <p:txBody>
          <a:bodyPr anchorCtr="0" anchor="ctr" bIns="91425" lIns="91425" spcFirstLastPara="1" rIns="91425" wrap="square" tIns="91425">
            <a:noAutofit/>
          </a:bodyPr>
          <a:lstStyle>
            <a:lvl1pPr lvl="0" algn="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2" name="Shape 52"/>
        <p:cNvGrpSpPr/>
        <p:nvPr/>
      </p:nvGrpSpPr>
      <p:grpSpPr>
        <a:xfrm>
          <a:off x="0" y="0"/>
          <a:ext cx="0" cy="0"/>
          <a:chOff x="0" y="0"/>
          <a:chExt cx="0" cy="0"/>
        </a:xfrm>
      </p:grpSpPr>
      <p:sp>
        <p:nvSpPr>
          <p:cNvPr id="53" name="Google Shape;53;p9"/>
          <p:cNvSpPr/>
          <p:nvPr/>
        </p:nvSpPr>
        <p:spPr>
          <a:xfrm rot="880749">
            <a:off x="-109876" y="-360103"/>
            <a:ext cx="1253609" cy="3696848"/>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9"/>
          <p:cNvSpPr/>
          <p:nvPr/>
        </p:nvSpPr>
        <p:spPr>
          <a:xfrm flipH="1" rot="1966325">
            <a:off x="-97652" y="-885201"/>
            <a:ext cx="1064941" cy="3438159"/>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9"/>
          <p:cNvSpPr/>
          <p:nvPr/>
        </p:nvSpPr>
        <p:spPr>
          <a:xfrm>
            <a:off x="8448000" y="-7715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txBox="1"/>
          <p:nvPr>
            <p:ph type="title"/>
          </p:nvPr>
        </p:nvSpPr>
        <p:spPr>
          <a:xfrm>
            <a:off x="720000" y="1240186"/>
            <a:ext cx="77040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None/>
              <a:defRPr sz="45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7" name="Google Shape;57;p9"/>
          <p:cNvSpPr txBox="1"/>
          <p:nvPr>
            <p:ph idx="1" type="subTitle"/>
          </p:nvPr>
        </p:nvSpPr>
        <p:spPr>
          <a:xfrm>
            <a:off x="2241550" y="2221513"/>
            <a:ext cx="4661100" cy="1681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8" name="Shape 58"/>
        <p:cNvGrpSpPr/>
        <p:nvPr/>
      </p:nvGrpSpPr>
      <p:grpSpPr>
        <a:xfrm>
          <a:off x="0" y="0"/>
          <a:ext cx="0" cy="0"/>
          <a:chOff x="0" y="0"/>
          <a:chExt cx="0" cy="0"/>
        </a:xfrm>
      </p:grpSpPr>
      <p:sp>
        <p:nvSpPr>
          <p:cNvPr id="59" name="Google Shape;59;p10"/>
          <p:cNvSpPr/>
          <p:nvPr/>
        </p:nvSpPr>
        <p:spPr>
          <a:xfrm flipH="1">
            <a:off x="-331799" y="-846185"/>
            <a:ext cx="855913" cy="3527545"/>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0"/>
          <p:cNvSpPr/>
          <p:nvPr/>
        </p:nvSpPr>
        <p:spPr>
          <a:xfrm flipH="1" rot="894957">
            <a:off x="8570322" y="26143"/>
            <a:ext cx="1383968" cy="1264504"/>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0"/>
          <p:cNvSpPr/>
          <p:nvPr/>
        </p:nvSpPr>
        <p:spPr>
          <a:xfrm flipH="1" rot="894957">
            <a:off x="8014872" y="-268356"/>
            <a:ext cx="1730081" cy="277377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txBox="1"/>
          <p:nvPr>
            <p:ph type="title"/>
          </p:nvPr>
        </p:nvSpPr>
        <p:spPr>
          <a:xfrm>
            <a:off x="3245625" y="1913850"/>
            <a:ext cx="5050500" cy="1315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500"/>
              <a:buNone/>
              <a:defRPr/>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3" name="Shape 63"/>
        <p:cNvGrpSpPr/>
        <p:nvPr/>
      </p:nvGrpSpPr>
      <p:grpSpPr>
        <a:xfrm>
          <a:off x="0" y="0"/>
          <a:ext cx="0" cy="0"/>
          <a:chOff x="0" y="0"/>
          <a:chExt cx="0" cy="0"/>
        </a:xfrm>
      </p:grpSpPr>
      <p:sp>
        <p:nvSpPr>
          <p:cNvPr id="64" name="Google Shape;64;p11"/>
          <p:cNvSpPr/>
          <p:nvPr/>
        </p:nvSpPr>
        <p:spPr>
          <a:xfrm rot="1103675">
            <a:off x="274406" y="-611819"/>
            <a:ext cx="1245021" cy="318126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p:nvPr/>
        </p:nvSpPr>
        <p:spPr>
          <a:xfrm flipH="1">
            <a:off x="-878080" y="-1048117"/>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11"/>
          <p:cNvSpPr/>
          <p:nvPr/>
        </p:nvSpPr>
        <p:spPr>
          <a:xfrm rot="1884779">
            <a:off x="7986089" y="-765133"/>
            <a:ext cx="2074380" cy="220204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1"/>
          <p:cNvSpPr txBox="1"/>
          <p:nvPr>
            <p:ph hasCustomPrompt="1" type="title"/>
          </p:nvPr>
        </p:nvSpPr>
        <p:spPr>
          <a:xfrm>
            <a:off x="1284000" y="1387300"/>
            <a:ext cx="6576000" cy="21003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12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8" name="Google Shape;68;p11"/>
          <p:cNvSpPr txBox="1"/>
          <p:nvPr>
            <p:ph idx="1" type="subTitle"/>
          </p:nvPr>
        </p:nvSpPr>
        <p:spPr>
          <a:xfrm>
            <a:off x="1284000" y="3259075"/>
            <a:ext cx="65760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8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rgbClr val="FFFFFF"/>
        </a:solidFill>
      </p:bgPr>
    </p:bg>
    <p:spTree>
      <p:nvGrpSpPr>
        <p:cNvPr id="69" name="Shape 6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ONE_COLUMN_TEXT_1">
    <p:spTree>
      <p:nvGrpSpPr>
        <p:cNvPr id="70" name="Shape 70"/>
        <p:cNvGrpSpPr/>
        <p:nvPr/>
      </p:nvGrpSpPr>
      <p:grpSpPr>
        <a:xfrm>
          <a:off x="0" y="0"/>
          <a:ext cx="0" cy="0"/>
          <a:chOff x="0" y="0"/>
          <a:chExt cx="0" cy="0"/>
        </a:xfrm>
      </p:grpSpPr>
      <p:sp>
        <p:nvSpPr>
          <p:cNvPr id="71" name="Google Shape;71;p13"/>
          <p:cNvSpPr/>
          <p:nvPr/>
        </p:nvSpPr>
        <p:spPr>
          <a:xfrm flipH="1" rot="-784685">
            <a:off x="7733575"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3"/>
          <p:cNvSpPr/>
          <p:nvPr/>
        </p:nvSpPr>
        <p:spPr>
          <a:xfrm rot="-1783285">
            <a:off x="7922631" y="-13956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3"/>
          <p:cNvSpPr/>
          <p:nvPr/>
        </p:nvSpPr>
        <p:spPr>
          <a:xfrm flipH="1">
            <a:off x="-331801" y="-16813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3"/>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75" name="Google Shape;75;p13"/>
          <p:cNvSpPr txBox="1"/>
          <p:nvPr>
            <p:ph idx="1" type="subTitle"/>
          </p:nvPr>
        </p:nvSpPr>
        <p:spPr>
          <a:xfrm>
            <a:off x="5243700" y="1478750"/>
            <a:ext cx="3180300" cy="301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r">
              <a:spcBef>
                <a:spcPts val="0"/>
              </a:spcBef>
              <a:spcAft>
                <a:spcPts val="0"/>
              </a:spcAft>
              <a:buSzPts val="1400"/>
              <a:buNone/>
              <a:defRPr/>
            </a:lvl2pPr>
            <a:lvl3pPr lvl="2" rtl="0" algn="r">
              <a:spcBef>
                <a:spcPts val="1600"/>
              </a:spcBef>
              <a:spcAft>
                <a:spcPts val="0"/>
              </a:spcAft>
              <a:buSzPts val="1400"/>
              <a:buNone/>
              <a:defRPr/>
            </a:lvl3pPr>
            <a:lvl4pPr lvl="3" rtl="0" algn="r">
              <a:spcBef>
                <a:spcPts val="1600"/>
              </a:spcBef>
              <a:spcAft>
                <a:spcPts val="0"/>
              </a:spcAft>
              <a:buSzPts val="1400"/>
              <a:buNone/>
              <a:defRPr/>
            </a:lvl4pPr>
            <a:lvl5pPr lvl="4" rtl="0" algn="r">
              <a:spcBef>
                <a:spcPts val="1600"/>
              </a:spcBef>
              <a:spcAft>
                <a:spcPts val="0"/>
              </a:spcAft>
              <a:buSzPts val="1400"/>
              <a:buNone/>
              <a:defRPr/>
            </a:lvl5pPr>
            <a:lvl6pPr lvl="5" rtl="0" algn="r">
              <a:spcBef>
                <a:spcPts val="1600"/>
              </a:spcBef>
              <a:spcAft>
                <a:spcPts val="0"/>
              </a:spcAft>
              <a:buSzPts val="1400"/>
              <a:buNone/>
              <a:defRPr/>
            </a:lvl6pPr>
            <a:lvl7pPr lvl="6" rtl="0" algn="r">
              <a:spcBef>
                <a:spcPts val="1600"/>
              </a:spcBef>
              <a:spcAft>
                <a:spcPts val="0"/>
              </a:spcAft>
              <a:buSzPts val="1400"/>
              <a:buNone/>
              <a:defRPr/>
            </a:lvl7pPr>
            <a:lvl8pPr lvl="7" rtl="0" algn="r">
              <a:spcBef>
                <a:spcPts val="1600"/>
              </a:spcBef>
              <a:spcAft>
                <a:spcPts val="0"/>
              </a:spcAft>
              <a:buSzPts val="1400"/>
              <a:buNone/>
              <a:defRPr/>
            </a:lvl8pPr>
            <a:lvl9pPr lvl="8" rtl="0" algn="r">
              <a:spcBef>
                <a:spcPts val="1600"/>
              </a:spcBef>
              <a:spcAft>
                <a:spcPts val="160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76" name="Shape 76"/>
        <p:cNvGrpSpPr/>
        <p:nvPr/>
      </p:nvGrpSpPr>
      <p:grpSpPr>
        <a:xfrm>
          <a:off x="0" y="0"/>
          <a:ext cx="0" cy="0"/>
          <a:chOff x="0" y="0"/>
          <a:chExt cx="0" cy="0"/>
        </a:xfrm>
      </p:grpSpPr>
      <p:sp>
        <p:nvSpPr>
          <p:cNvPr id="77" name="Google Shape;77;p14"/>
          <p:cNvSpPr/>
          <p:nvPr/>
        </p:nvSpPr>
        <p:spPr>
          <a:xfrm flipH="1">
            <a:off x="-243963" y="-169573"/>
            <a:ext cx="855913" cy="260023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4"/>
          <p:cNvSpPr/>
          <p:nvPr/>
        </p:nvSpPr>
        <p:spPr>
          <a:xfrm flipH="1">
            <a:off x="7919140" y="-278604"/>
            <a:ext cx="1383960" cy="932103"/>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flipH="1">
            <a:off x="7564905" y="-93375"/>
            <a:ext cx="1730072" cy="204458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txBox="1"/>
          <p:nvPr>
            <p:ph idx="1" type="subTitle"/>
          </p:nvPr>
        </p:nvSpPr>
        <p:spPr>
          <a:xfrm>
            <a:off x="1497800" y="1489792"/>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1" name="Google Shape;81;p14"/>
          <p:cNvSpPr txBox="1"/>
          <p:nvPr>
            <p:ph idx="2" type="subTitle"/>
          </p:nvPr>
        </p:nvSpPr>
        <p:spPr>
          <a:xfrm>
            <a:off x="1497800" y="2119128"/>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2" name="Google Shape;82;p14"/>
          <p:cNvSpPr txBox="1"/>
          <p:nvPr>
            <p:ph hasCustomPrompt="1" type="title"/>
          </p:nvPr>
        </p:nvSpPr>
        <p:spPr>
          <a:xfrm>
            <a:off x="720000" y="1458160"/>
            <a:ext cx="7989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3" name="Google Shape;83;p14"/>
          <p:cNvSpPr txBox="1"/>
          <p:nvPr>
            <p:ph idx="3" type="subTitle"/>
          </p:nvPr>
        </p:nvSpPr>
        <p:spPr>
          <a:xfrm>
            <a:off x="1497800" y="3288764"/>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4" name="Google Shape;84;p14"/>
          <p:cNvSpPr txBox="1"/>
          <p:nvPr>
            <p:ph idx="4" type="subTitle"/>
          </p:nvPr>
        </p:nvSpPr>
        <p:spPr>
          <a:xfrm>
            <a:off x="1497800" y="3918099"/>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5" name="Google Shape;85;p14"/>
          <p:cNvSpPr txBox="1"/>
          <p:nvPr>
            <p:ph hasCustomPrompt="1" idx="5" type="title"/>
          </p:nvPr>
        </p:nvSpPr>
        <p:spPr>
          <a:xfrm>
            <a:off x="720000" y="3257135"/>
            <a:ext cx="7989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6" name="Google Shape;86;p14"/>
          <p:cNvSpPr txBox="1"/>
          <p:nvPr>
            <p:ph idx="6" type="subTitle"/>
          </p:nvPr>
        </p:nvSpPr>
        <p:spPr>
          <a:xfrm>
            <a:off x="5944800" y="1489792"/>
            <a:ext cx="248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87" name="Google Shape;87;p14"/>
          <p:cNvSpPr txBox="1"/>
          <p:nvPr>
            <p:ph idx="7" type="subTitle"/>
          </p:nvPr>
        </p:nvSpPr>
        <p:spPr>
          <a:xfrm>
            <a:off x="5944800" y="2119127"/>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88" name="Google Shape;88;p14"/>
          <p:cNvSpPr txBox="1"/>
          <p:nvPr>
            <p:ph hasCustomPrompt="1" idx="8" type="title"/>
          </p:nvPr>
        </p:nvSpPr>
        <p:spPr>
          <a:xfrm>
            <a:off x="4986065" y="1458160"/>
            <a:ext cx="9897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89" name="Google Shape;89;p14"/>
          <p:cNvSpPr txBox="1"/>
          <p:nvPr>
            <p:ph idx="9" type="subTitle"/>
          </p:nvPr>
        </p:nvSpPr>
        <p:spPr>
          <a:xfrm>
            <a:off x="5944800" y="3288772"/>
            <a:ext cx="2156100" cy="667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2100"/>
              <a:buFont typeface="Playfair Display"/>
              <a:buNone/>
              <a:defRPr sz="2400">
                <a:latin typeface="Abril Fatface"/>
                <a:ea typeface="Abril Fatface"/>
                <a:cs typeface="Abril Fatface"/>
                <a:sym typeface="Abril Fatface"/>
              </a:defRPr>
            </a:lvl1pPr>
            <a:lvl2pPr lvl="1" rtl="0" algn="ctr">
              <a:spcBef>
                <a:spcPts val="0"/>
              </a:spcBef>
              <a:spcAft>
                <a:spcPts val="0"/>
              </a:spcAft>
              <a:buSzPts val="2100"/>
              <a:buFont typeface="Playfair Display"/>
              <a:buNone/>
              <a:defRPr b="1" sz="2100">
                <a:latin typeface="Playfair Display"/>
                <a:ea typeface="Playfair Display"/>
                <a:cs typeface="Playfair Display"/>
                <a:sym typeface="Playfair Display"/>
              </a:defRPr>
            </a:lvl2pPr>
            <a:lvl3pPr lvl="2"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3pPr>
            <a:lvl4pPr lvl="3"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4pPr>
            <a:lvl5pPr lvl="4"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5pPr>
            <a:lvl6pPr lvl="5"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6pPr>
            <a:lvl7pPr lvl="6"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7pPr>
            <a:lvl8pPr lvl="7" rtl="0" algn="ctr">
              <a:spcBef>
                <a:spcPts val="1600"/>
              </a:spcBef>
              <a:spcAft>
                <a:spcPts val="0"/>
              </a:spcAft>
              <a:buSzPts val="2100"/>
              <a:buFont typeface="Playfair Display"/>
              <a:buNone/>
              <a:defRPr b="1" sz="2100">
                <a:latin typeface="Playfair Display"/>
                <a:ea typeface="Playfair Display"/>
                <a:cs typeface="Playfair Display"/>
                <a:sym typeface="Playfair Display"/>
              </a:defRPr>
            </a:lvl8pPr>
            <a:lvl9pPr lvl="8" rtl="0" algn="ctr">
              <a:spcBef>
                <a:spcPts val="1600"/>
              </a:spcBef>
              <a:spcAft>
                <a:spcPts val="1600"/>
              </a:spcAft>
              <a:buSzPts val="2100"/>
              <a:buFont typeface="Playfair Display"/>
              <a:buNone/>
              <a:defRPr b="1" sz="2100">
                <a:latin typeface="Playfair Display"/>
                <a:ea typeface="Playfair Display"/>
                <a:cs typeface="Playfair Display"/>
                <a:sym typeface="Playfair Display"/>
              </a:defRPr>
            </a:lvl9pPr>
          </a:lstStyle>
          <a:p/>
        </p:txBody>
      </p:sp>
      <p:sp>
        <p:nvSpPr>
          <p:cNvPr id="90" name="Google Shape;90;p14"/>
          <p:cNvSpPr txBox="1"/>
          <p:nvPr>
            <p:ph idx="13" type="subTitle"/>
          </p:nvPr>
        </p:nvSpPr>
        <p:spPr>
          <a:xfrm>
            <a:off x="5944800" y="3918099"/>
            <a:ext cx="2486100" cy="527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1600"/>
              </a:spcBef>
              <a:spcAft>
                <a:spcPts val="0"/>
              </a:spcAft>
              <a:buSzPts val="1400"/>
              <a:buNone/>
              <a:defRPr/>
            </a:lvl3pPr>
            <a:lvl4pPr lvl="3" rtl="0" algn="ctr">
              <a:spcBef>
                <a:spcPts val="1600"/>
              </a:spcBef>
              <a:spcAft>
                <a:spcPts val="0"/>
              </a:spcAft>
              <a:buSzPts val="1400"/>
              <a:buNone/>
              <a:defRPr/>
            </a:lvl4pPr>
            <a:lvl5pPr lvl="4" rtl="0" algn="ctr">
              <a:spcBef>
                <a:spcPts val="1600"/>
              </a:spcBef>
              <a:spcAft>
                <a:spcPts val="0"/>
              </a:spcAft>
              <a:buSzPts val="1400"/>
              <a:buNone/>
              <a:defRPr/>
            </a:lvl5pPr>
            <a:lvl6pPr lvl="5" rtl="0" algn="ctr">
              <a:spcBef>
                <a:spcPts val="1600"/>
              </a:spcBef>
              <a:spcAft>
                <a:spcPts val="0"/>
              </a:spcAft>
              <a:buSzPts val="1400"/>
              <a:buNone/>
              <a:defRPr/>
            </a:lvl6pPr>
            <a:lvl7pPr lvl="6" rtl="0" algn="ctr">
              <a:spcBef>
                <a:spcPts val="1600"/>
              </a:spcBef>
              <a:spcAft>
                <a:spcPts val="0"/>
              </a:spcAft>
              <a:buSzPts val="1400"/>
              <a:buNone/>
              <a:defRPr/>
            </a:lvl7pPr>
            <a:lvl8pPr lvl="7" rtl="0" algn="ctr">
              <a:spcBef>
                <a:spcPts val="1600"/>
              </a:spcBef>
              <a:spcAft>
                <a:spcPts val="0"/>
              </a:spcAft>
              <a:buSzPts val="1400"/>
              <a:buNone/>
              <a:defRPr/>
            </a:lvl8pPr>
            <a:lvl9pPr lvl="8" rtl="0" algn="ctr">
              <a:spcBef>
                <a:spcPts val="1600"/>
              </a:spcBef>
              <a:spcAft>
                <a:spcPts val="1600"/>
              </a:spcAft>
              <a:buSzPts val="1400"/>
              <a:buNone/>
              <a:defRPr/>
            </a:lvl9pPr>
          </a:lstStyle>
          <a:p/>
        </p:txBody>
      </p:sp>
      <p:sp>
        <p:nvSpPr>
          <p:cNvPr id="91" name="Google Shape;91;p14"/>
          <p:cNvSpPr txBox="1"/>
          <p:nvPr>
            <p:ph hasCustomPrompt="1" idx="14" type="title"/>
          </p:nvPr>
        </p:nvSpPr>
        <p:spPr>
          <a:xfrm>
            <a:off x="4986065" y="3257135"/>
            <a:ext cx="989700" cy="3570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4000"/>
              <a:buNone/>
              <a:defRPr sz="2600"/>
            </a:lvl1pPr>
            <a:lvl2pPr lvl="1" rtl="0" algn="ctr">
              <a:spcBef>
                <a:spcPts val="0"/>
              </a:spcBef>
              <a:spcAft>
                <a:spcPts val="0"/>
              </a:spcAft>
              <a:buSzPts val="4000"/>
              <a:buNone/>
              <a:defRPr b="1" sz="4000"/>
            </a:lvl2pPr>
            <a:lvl3pPr lvl="2" rtl="0" algn="ctr">
              <a:spcBef>
                <a:spcPts val="0"/>
              </a:spcBef>
              <a:spcAft>
                <a:spcPts val="0"/>
              </a:spcAft>
              <a:buSzPts val="4000"/>
              <a:buNone/>
              <a:defRPr b="1" sz="4000"/>
            </a:lvl3pPr>
            <a:lvl4pPr lvl="3" rtl="0" algn="ctr">
              <a:spcBef>
                <a:spcPts val="0"/>
              </a:spcBef>
              <a:spcAft>
                <a:spcPts val="0"/>
              </a:spcAft>
              <a:buSzPts val="4000"/>
              <a:buNone/>
              <a:defRPr b="1" sz="4000"/>
            </a:lvl4pPr>
            <a:lvl5pPr lvl="4" rtl="0" algn="ctr">
              <a:spcBef>
                <a:spcPts val="0"/>
              </a:spcBef>
              <a:spcAft>
                <a:spcPts val="0"/>
              </a:spcAft>
              <a:buSzPts val="4000"/>
              <a:buNone/>
              <a:defRPr b="1" sz="4000"/>
            </a:lvl5pPr>
            <a:lvl6pPr lvl="5" rtl="0" algn="ctr">
              <a:spcBef>
                <a:spcPts val="0"/>
              </a:spcBef>
              <a:spcAft>
                <a:spcPts val="0"/>
              </a:spcAft>
              <a:buSzPts val="4000"/>
              <a:buNone/>
              <a:defRPr b="1" sz="4000"/>
            </a:lvl6pPr>
            <a:lvl7pPr lvl="6" rtl="0" algn="ctr">
              <a:spcBef>
                <a:spcPts val="0"/>
              </a:spcBef>
              <a:spcAft>
                <a:spcPts val="0"/>
              </a:spcAft>
              <a:buSzPts val="4000"/>
              <a:buNone/>
              <a:defRPr b="1" sz="4000"/>
            </a:lvl7pPr>
            <a:lvl8pPr lvl="7" rtl="0" algn="ctr">
              <a:spcBef>
                <a:spcPts val="0"/>
              </a:spcBef>
              <a:spcAft>
                <a:spcPts val="0"/>
              </a:spcAft>
              <a:buSzPts val="4000"/>
              <a:buNone/>
              <a:defRPr b="1" sz="4000"/>
            </a:lvl8pPr>
            <a:lvl9pPr lvl="8" rtl="0" algn="ctr">
              <a:spcBef>
                <a:spcPts val="0"/>
              </a:spcBef>
              <a:spcAft>
                <a:spcPts val="0"/>
              </a:spcAft>
              <a:buSzPts val="4000"/>
              <a:buNone/>
              <a:defRPr b="1" sz="4000"/>
            </a:lvl9pPr>
          </a:lstStyle>
          <a:p>
            <a:r>
              <a:t>xx%</a:t>
            </a:r>
          </a:p>
        </p:txBody>
      </p:sp>
      <p:sp>
        <p:nvSpPr>
          <p:cNvPr id="92" name="Google Shape;92;p14"/>
          <p:cNvSpPr txBox="1"/>
          <p:nvPr>
            <p:ph idx="15"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
    <p:spTree>
      <p:nvGrpSpPr>
        <p:cNvPr id="93" name="Shape 93"/>
        <p:cNvGrpSpPr/>
        <p:nvPr/>
      </p:nvGrpSpPr>
      <p:grpSpPr>
        <a:xfrm>
          <a:off x="0" y="0"/>
          <a:ext cx="0" cy="0"/>
          <a:chOff x="0" y="0"/>
          <a:chExt cx="0" cy="0"/>
        </a:xfrm>
      </p:grpSpPr>
      <p:sp>
        <p:nvSpPr>
          <p:cNvPr id="94" name="Google Shape;94;p15"/>
          <p:cNvSpPr/>
          <p:nvPr/>
        </p:nvSpPr>
        <p:spPr>
          <a:xfrm flipH="1" rot="-784685">
            <a:off x="7733586" y="-3640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p:nvPr/>
        </p:nvSpPr>
        <p:spPr>
          <a:xfrm rot="-1783285">
            <a:off x="8151242" y="-7860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5"/>
          <p:cNvSpPr/>
          <p:nvPr/>
        </p:nvSpPr>
        <p:spPr>
          <a:xfrm flipH="1">
            <a:off x="-408376" y="-174026"/>
            <a:ext cx="1214376" cy="412852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5"/>
          <p:cNvSpPr txBox="1"/>
          <p:nvPr>
            <p:ph type="title"/>
          </p:nvPr>
        </p:nvSpPr>
        <p:spPr>
          <a:xfrm>
            <a:off x="1407300" y="1189100"/>
            <a:ext cx="6329400" cy="19644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500"/>
              <a:buNone/>
              <a:defRPr sz="15000"/>
            </a:lvl1pPr>
            <a:lvl2pPr lvl="1" rtl="0" algn="ctr">
              <a:spcBef>
                <a:spcPts val="0"/>
              </a:spcBef>
              <a:spcAft>
                <a:spcPts val="0"/>
              </a:spcAft>
              <a:buSzPts val="3500"/>
              <a:buNone/>
              <a:defRPr/>
            </a:lvl2pPr>
            <a:lvl3pPr lvl="2" rtl="0" algn="ctr">
              <a:spcBef>
                <a:spcPts val="0"/>
              </a:spcBef>
              <a:spcAft>
                <a:spcPts val="0"/>
              </a:spcAft>
              <a:buSzPts val="3500"/>
              <a:buNone/>
              <a:defRPr/>
            </a:lvl3pPr>
            <a:lvl4pPr lvl="3" rtl="0" algn="ctr">
              <a:spcBef>
                <a:spcPts val="0"/>
              </a:spcBef>
              <a:spcAft>
                <a:spcPts val="0"/>
              </a:spcAft>
              <a:buSzPts val="3500"/>
              <a:buNone/>
              <a:defRPr/>
            </a:lvl4pPr>
            <a:lvl5pPr lvl="4" rtl="0" algn="ctr">
              <a:spcBef>
                <a:spcPts val="0"/>
              </a:spcBef>
              <a:spcAft>
                <a:spcPts val="0"/>
              </a:spcAft>
              <a:buSzPts val="3500"/>
              <a:buNone/>
              <a:defRPr/>
            </a:lvl5pPr>
            <a:lvl6pPr lvl="5" rtl="0" algn="ctr">
              <a:spcBef>
                <a:spcPts val="0"/>
              </a:spcBef>
              <a:spcAft>
                <a:spcPts val="0"/>
              </a:spcAft>
              <a:buSzPts val="3500"/>
              <a:buNone/>
              <a:defRPr/>
            </a:lvl6pPr>
            <a:lvl7pPr lvl="6" rtl="0" algn="ctr">
              <a:spcBef>
                <a:spcPts val="0"/>
              </a:spcBef>
              <a:spcAft>
                <a:spcPts val="0"/>
              </a:spcAft>
              <a:buSzPts val="3500"/>
              <a:buNone/>
              <a:defRPr/>
            </a:lvl7pPr>
            <a:lvl8pPr lvl="7" rtl="0" algn="ctr">
              <a:spcBef>
                <a:spcPts val="0"/>
              </a:spcBef>
              <a:spcAft>
                <a:spcPts val="0"/>
              </a:spcAft>
              <a:buSzPts val="3500"/>
              <a:buNone/>
              <a:defRPr/>
            </a:lvl8pPr>
            <a:lvl9pPr lvl="8" rtl="0" algn="ctr">
              <a:spcBef>
                <a:spcPts val="0"/>
              </a:spcBef>
              <a:spcAft>
                <a:spcPts val="0"/>
              </a:spcAft>
              <a:buSzPts val="3500"/>
              <a:buNone/>
              <a:defRPr/>
            </a:lvl9pPr>
          </a:lstStyle>
          <a:p/>
        </p:txBody>
      </p:sp>
      <p:sp>
        <p:nvSpPr>
          <p:cNvPr id="98" name="Google Shape;98;p15"/>
          <p:cNvSpPr txBox="1"/>
          <p:nvPr>
            <p:ph idx="1" type="subTitle"/>
          </p:nvPr>
        </p:nvSpPr>
        <p:spPr>
          <a:xfrm>
            <a:off x="2008950" y="3153500"/>
            <a:ext cx="5126100" cy="801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99" name="Shape 99"/>
        <p:cNvGrpSpPr/>
        <p:nvPr/>
      </p:nvGrpSpPr>
      <p:grpSpPr>
        <a:xfrm>
          <a:off x="0" y="0"/>
          <a:ext cx="0" cy="0"/>
          <a:chOff x="0" y="0"/>
          <a:chExt cx="0" cy="0"/>
        </a:xfrm>
      </p:grpSpPr>
      <p:sp>
        <p:nvSpPr>
          <p:cNvPr id="100" name="Google Shape;100;p16"/>
          <p:cNvSpPr/>
          <p:nvPr/>
        </p:nvSpPr>
        <p:spPr>
          <a:xfrm rot="-1532380">
            <a:off x="-984785" y="2504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16"/>
          <p:cNvSpPr/>
          <p:nvPr/>
        </p:nvSpPr>
        <p:spPr>
          <a:xfrm>
            <a:off x="-1747850" y="-340664"/>
            <a:ext cx="2293271" cy="3283712"/>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6"/>
          <p:cNvSpPr/>
          <p:nvPr/>
        </p:nvSpPr>
        <p:spPr>
          <a:xfrm flipH="1" rot="1315565">
            <a:off x="7997421" y="-481925"/>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16"/>
          <p:cNvSpPr txBox="1"/>
          <p:nvPr>
            <p:ph type="title"/>
          </p:nvPr>
        </p:nvSpPr>
        <p:spPr>
          <a:xfrm>
            <a:off x="4070700" y="3115663"/>
            <a:ext cx="4360200" cy="5319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104" name="Google Shape;104;p16"/>
          <p:cNvSpPr txBox="1"/>
          <p:nvPr>
            <p:ph idx="1" type="subTitle"/>
          </p:nvPr>
        </p:nvSpPr>
        <p:spPr>
          <a:xfrm>
            <a:off x="1739700" y="1511313"/>
            <a:ext cx="6691200" cy="1478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3000"/>
              <a:buNone/>
              <a:defRPr sz="30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
    <p:spTree>
      <p:nvGrpSpPr>
        <p:cNvPr id="105" name="Shape 105"/>
        <p:cNvGrpSpPr/>
        <p:nvPr/>
      </p:nvGrpSpPr>
      <p:grpSpPr>
        <a:xfrm>
          <a:off x="0" y="0"/>
          <a:ext cx="0" cy="0"/>
          <a:chOff x="0" y="0"/>
          <a:chExt cx="0" cy="0"/>
        </a:xfrm>
      </p:grpSpPr>
      <p:sp>
        <p:nvSpPr>
          <p:cNvPr id="106" name="Google Shape;106;p17"/>
          <p:cNvSpPr/>
          <p:nvPr/>
        </p:nvSpPr>
        <p:spPr>
          <a:xfrm flipH="1" rot="-455257">
            <a:off x="7806607" y="-318267"/>
            <a:ext cx="1246880" cy="4103824"/>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p:nvPr/>
        </p:nvSpPr>
        <p:spPr>
          <a:xfrm rot="-1538068">
            <a:off x="8279381" y="-585154"/>
            <a:ext cx="1048448" cy="3401387"/>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p:nvPr/>
        </p:nvSpPr>
        <p:spPr>
          <a:xfrm flipH="1" rot="654765">
            <a:off x="-453981" y="-1416413"/>
            <a:ext cx="1214384" cy="4002644"/>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7"/>
          <p:cNvSpPr txBox="1"/>
          <p:nvPr>
            <p:ph type="title"/>
          </p:nvPr>
        </p:nvSpPr>
        <p:spPr>
          <a:xfrm>
            <a:off x="4572000" y="1303638"/>
            <a:ext cx="3293700" cy="20847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0" name="Google Shape;110;p17"/>
          <p:cNvSpPr txBox="1"/>
          <p:nvPr>
            <p:ph idx="1" type="subTitle"/>
          </p:nvPr>
        </p:nvSpPr>
        <p:spPr>
          <a:xfrm>
            <a:off x="4572000" y="3292363"/>
            <a:ext cx="3491400" cy="10047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
    <p:spTree>
      <p:nvGrpSpPr>
        <p:cNvPr id="111" name="Shape 111"/>
        <p:cNvGrpSpPr/>
        <p:nvPr/>
      </p:nvGrpSpPr>
      <p:grpSpPr>
        <a:xfrm>
          <a:off x="0" y="0"/>
          <a:ext cx="0" cy="0"/>
          <a:chOff x="0" y="0"/>
          <a:chExt cx="0" cy="0"/>
        </a:xfrm>
      </p:grpSpPr>
      <p:sp>
        <p:nvSpPr>
          <p:cNvPr id="112" name="Google Shape;112;p18"/>
          <p:cNvSpPr/>
          <p:nvPr/>
        </p:nvSpPr>
        <p:spPr>
          <a:xfrm flipH="1" rot="2539665">
            <a:off x="7952801" y="67183"/>
            <a:ext cx="1899215" cy="944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8"/>
          <p:cNvSpPr/>
          <p:nvPr/>
        </p:nvSpPr>
        <p:spPr>
          <a:xfrm flipH="1" rot="-1669522">
            <a:off x="-1115619" y="-369656"/>
            <a:ext cx="2074389" cy="220205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8"/>
          <p:cNvSpPr/>
          <p:nvPr/>
        </p:nvSpPr>
        <p:spPr>
          <a:xfrm rot="-1532380">
            <a:off x="-1606285" y="-64320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8"/>
          <p:cNvSpPr txBox="1"/>
          <p:nvPr>
            <p:ph type="title"/>
          </p:nvPr>
        </p:nvSpPr>
        <p:spPr>
          <a:xfrm>
            <a:off x="720000" y="445025"/>
            <a:ext cx="4294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6" name="Google Shape;116;p18"/>
          <p:cNvSpPr txBox="1"/>
          <p:nvPr>
            <p:ph idx="1" type="subTitle"/>
          </p:nvPr>
        </p:nvSpPr>
        <p:spPr>
          <a:xfrm>
            <a:off x="720000" y="2215050"/>
            <a:ext cx="2575500" cy="1080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0">
    <p:spTree>
      <p:nvGrpSpPr>
        <p:cNvPr id="117" name="Shape 117"/>
        <p:cNvGrpSpPr/>
        <p:nvPr/>
      </p:nvGrpSpPr>
      <p:grpSpPr>
        <a:xfrm>
          <a:off x="0" y="0"/>
          <a:ext cx="0" cy="0"/>
          <a:chOff x="0" y="0"/>
          <a:chExt cx="0" cy="0"/>
        </a:xfrm>
      </p:grpSpPr>
      <p:sp>
        <p:nvSpPr>
          <p:cNvPr id="118" name="Google Shape;118;p19"/>
          <p:cNvSpPr/>
          <p:nvPr/>
        </p:nvSpPr>
        <p:spPr>
          <a:xfrm flipH="1" rot="2539665">
            <a:off x="7952801" y="67183"/>
            <a:ext cx="1899215" cy="944427"/>
          </a:xfrm>
          <a:custGeom>
            <a:rect b="b" l="l" r="r" t="t"/>
            <a:pathLst>
              <a:path extrusionOk="0" h="15587" w="31345">
                <a:moveTo>
                  <a:pt x="30788" y="0"/>
                </a:moveTo>
                <a:cubicBezTo>
                  <a:pt x="30548" y="648"/>
                  <a:pt x="30314" y="1315"/>
                  <a:pt x="30074" y="2000"/>
                </a:cubicBezTo>
                <a:cubicBezTo>
                  <a:pt x="29285" y="4244"/>
                  <a:pt x="28473" y="6566"/>
                  <a:pt x="27396" y="8520"/>
                </a:cubicBezTo>
                <a:cubicBezTo>
                  <a:pt x="26219" y="10665"/>
                  <a:pt x="23851" y="11484"/>
                  <a:pt x="21561" y="12277"/>
                </a:cubicBezTo>
                <a:cubicBezTo>
                  <a:pt x="21182" y="12408"/>
                  <a:pt x="20804" y="12540"/>
                  <a:pt x="20436" y="12675"/>
                </a:cubicBezTo>
                <a:cubicBezTo>
                  <a:pt x="16907" y="13975"/>
                  <a:pt x="13844" y="14991"/>
                  <a:pt x="10468" y="14991"/>
                </a:cubicBezTo>
                <a:cubicBezTo>
                  <a:pt x="9863" y="14991"/>
                  <a:pt x="9249" y="14958"/>
                  <a:pt x="8619" y="14889"/>
                </a:cubicBezTo>
                <a:cubicBezTo>
                  <a:pt x="7491" y="14764"/>
                  <a:pt x="6267" y="14452"/>
                  <a:pt x="5086" y="14148"/>
                </a:cubicBezTo>
                <a:cubicBezTo>
                  <a:pt x="3486" y="13740"/>
                  <a:pt x="1837" y="13311"/>
                  <a:pt x="291" y="13311"/>
                </a:cubicBezTo>
                <a:cubicBezTo>
                  <a:pt x="193" y="13311"/>
                  <a:pt x="97" y="13313"/>
                  <a:pt x="0" y="13316"/>
                </a:cubicBezTo>
                <a:lnTo>
                  <a:pt x="20" y="13908"/>
                </a:lnTo>
                <a:cubicBezTo>
                  <a:pt x="99" y="13906"/>
                  <a:pt x="180" y="13905"/>
                  <a:pt x="260" y="13905"/>
                </a:cubicBezTo>
                <a:cubicBezTo>
                  <a:pt x="1737" y="13905"/>
                  <a:pt x="3366" y="14319"/>
                  <a:pt x="4938" y="14725"/>
                </a:cubicBezTo>
                <a:cubicBezTo>
                  <a:pt x="6142" y="15030"/>
                  <a:pt x="7385" y="15349"/>
                  <a:pt x="8554" y="15478"/>
                </a:cubicBezTo>
                <a:cubicBezTo>
                  <a:pt x="9211" y="15550"/>
                  <a:pt x="9853" y="15586"/>
                  <a:pt x="10484" y="15586"/>
                </a:cubicBezTo>
                <a:cubicBezTo>
                  <a:pt x="13945" y="15586"/>
                  <a:pt x="17057" y="14553"/>
                  <a:pt x="20643" y="13234"/>
                </a:cubicBezTo>
                <a:cubicBezTo>
                  <a:pt x="21004" y="13099"/>
                  <a:pt x="21380" y="12971"/>
                  <a:pt x="21758" y="12839"/>
                </a:cubicBezTo>
                <a:cubicBezTo>
                  <a:pt x="24041" y="12047"/>
                  <a:pt x="26627" y="11152"/>
                  <a:pt x="27917" y="8806"/>
                </a:cubicBezTo>
                <a:cubicBezTo>
                  <a:pt x="29015" y="6810"/>
                  <a:pt x="29838" y="4464"/>
                  <a:pt x="30633" y="2194"/>
                </a:cubicBezTo>
                <a:cubicBezTo>
                  <a:pt x="30873" y="1516"/>
                  <a:pt x="31107" y="849"/>
                  <a:pt x="31344" y="207"/>
                </a:cubicBezTo>
                <a:lnTo>
                  <a:pt x="30788"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19"/>
          <p:cNvSpPr/>
          <p:nvPr/>
        </p:nvSpPr>
        <p:spPr>
          <a:xfrm flipH="1" rot="-1669522">
            <a:off x="-1115619" y="-369656"/>
            <a:ext cx="2074389" cy="220205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19"/>
          <p:cNvSpPr/>
          <p:nvPr/>
        </p:nvSpPr>
        <p:spPr>
          <a:xfrm rot="-1532380">
            <a:off x="-1606285" y="-643205"/>
            <a:ext cx="2462769" cy="3479258"/>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9"/>
          <p:cNvSpPr txBox="1"/>
          <p:nvPr>
            <p:ph idx="1" type="body"/>
          </p:nvPr>
        </p:nvSpPr>
        <p:spPr>
          <a:xfrm>
            <a:off x="719900" y="1533450"/>
            <a:ext cx="7704000" cy="30987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Char char="●"/>
              <a:defRPr>
                <a:solidFill>
                  <a:srgbClr val="434343"/>
                </a:solidFill>
              </a:defRPr>
            </a:lvl1pPr>
            <a:lvl2pPr indent="-317500" lvl="1" marL="914400" rtl="0">
              <a:lnSpc>
                <a:spcPct val="115000"/>
              </a:lnSpc>
              <a:spcBef>
                <a:spcPts val="0"/>
              </a:spcBef>
              <a:spcAft>
                <a:spcPts val="0"/>
              </a:spcAft>
              <a:buClr>
                <a:srgbClr val="434343"/>
              </a:buClr>
              <a:buSzPts val="1400"/>
              <a:buChar char="○"/>
              <a:defRPr>
                <a:solidFill>
                  <a:srgbClr val="434343"/>
                </a:solidFill>
              </a:defRPr>
            </a:lvl2pPr>
            <a:lvl3pPr indent="-317500" lvl="2" marL="1371600" rtl="0">
              <a:lnSpc>
                <a:spcPct val="115000"/>
              </a:lnSpc>
              <a:spcBef>
                <a:spcPts val="1600"/>
              </a:spcBef>
              <a:spcAft>
                <a:spcPts val="0"/>
              </a:spcAft>
              <a:buClr>
                <a:srgbClr val="434343"/>
              </a:buClr>
              <a:buSzPts val="1400"/>
              <a:buChar char="■"/>
              <a:defRPr>
                <a:solidFill>
                  <a:srgbClr val="434343"/>
                </a:solidFill>
              </a:defRPr>
            </a:lvl3pPr>
            <a:lvl4pPr indent="-317500" lvl="3" marL="1828800" rtl="0">
              <a:lnSpc>
                <a:spcPct val="115000"/>
              </a:lnSpc>
              <a:spcBef>
                <a:spcPts val="1600"/>
              </a:spcBef>
              <a:spcAft>
                <a:spcPts val="0"/>
              </a:spcAft>
              <a:buClr>
                <a:srgbClr val="434343"/>
              </a:buClr>
              <a:buSzPts val="1400"/>
              <a:buChar char="●"/>
              <a:defRPr>
                <a:solidFill>
                  <a:srgbClr val="434343"/>
                </a:solidFill>
              </a:defRPr>
            </a:lvl4pPr>
            <a:lvl5pPr indent="-317500" lvl="4" marL="2286000" rtl="0">
              <a:lnSpc>
                <a:spcPct val="115000"/>
              </a:lnSpc>
              <a:spcBef>
                <a:spcPts val="1600"/>
              </a:spcBef>
              <a:spcAft>
                <a:spcPts val="0"/>
              </a:spcAft>
              <a:buClr>
                <a:srgbClr val="434343"/>
              </a:buClr>
              <a:buSzPts val="1400"/>
              <a:buChar char="○"/>
              <a:defRPr>
                <a:solidFill>
                  <a:srgbClr val="434343"/>
                </a:solidFill>
              </a:defRPr>
            </a:lvl5pPr>
            <a:lvl6pPr indent="-317500" lvl="5" marL="2743200" rtl="0">
              <a:lnSpc>
                <a:spcPct val="115000"/>
              </a:lnSpc>
              <a:spcBef>
                <a:spcPts val="1600"/>
              </a:spcBef>
              <a:spcAft>
                <a:spcPts val="0"/>
              </a:spcAft>
              <a:buClr>
                <a:srgbClr val="434343"/>
              </a:buClr>
              <a:buSzPts val="1400"/>
              <a:buChar char="■"/>
              <a:defRPr>
                <a:solidFill>
                  <a:srgbClr val="434343"/>
                </a:solidFill>
              </a:defRPr>
            </a:lvl6pPr>
            <a:lvl7pPr indent="-317500" lvl="6" marL="3200400" rtl="0">
              <a:lnSpc>
                <a:spcPct val="115000"/>
              </a:lnSpc>
              <a:spcBef>
                <a:spcPts val="1600"/>
              </a:spcBef>
              <a:spcAft>
                <a:spcPts val="0"/>
              </a:spcAft>
              <a:buClr>
                <a:srgbClr val="434343"/>
              </a:buClr>
              <a:buSzPts val="1400"/>
              <a:buChar char="●"/>
              <a:defRPr>
                <a:solidFill>
                  <a:srgbClr val="434343"/>
                </a:solidFill>
              </a:defRPr>
            </a:lvl7pPr>
            <a:lvl8pPr indent="-317500" lvl="7" marL="3657600" rtl="0">
              <a:lnSpc>
                <a:spcPct val="115000"/>
              </a:lnSpc>
              <a:spcBef>
                <a:spcPts val="1600"/>
              </a:spcBef>
              <a:spcAft>
                <a:spcPts val="0"/>
              </a:spcAft>
              <a:buClr>
                <a:srgbClr val="434343"/>
              </a:buClr>
              <a:buSzPts val="1400"/>
              <a:buChar char="○"/>
              <a:defRPr>
                <a:solidFill>
                  <a:srgbClr val="434343"/>
                </a:solidFill>
              </a:defRPr>
            </a:lvl8pPr>
            <a:lvl9pPr indent="-317500" lvl="8" marL="4114800" rtl="0">
              <a:lnSpc>
                <a:spcPct val="115000"/>
              </a:lnSpc>
              <a:spcBef>
                <a:spcPts val="1600"/>
              </a:spcBef>
              <a:spcAft>
                <a:spcPts val="1600"/>
              </a:spcAft>
              <a:buClr>
                <a:srgbClr val="434343"/>
              </a:buClr>
              <a:buSzPts val="1400"/>
              <a:buChar char="■"/>
              <a:defRPr>
                <a:solidFill>
                  <a:srgbClr val="434343"/>
                </a:solidFill>
              </a:defRPr>
            </a:lvl9pPr>
          </a:lstStyle>
          <a:p/>
        </p:txBody>
      </p:sp>
      <p:sp>
        <p:nvSpPr>
          <p:cNvPr id="122" name="Google Shape;122;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23" name="Shape 123"/>
        <p:cNvGrpSpPr/>
        <p:nvPr/>
      </p:nvGrpSpPr>
      <p:grpSpPr>
        <a:xfrm>
          <a:off x="0" y="0"/>
          <a:ext cx="0" cy="0"/>
          <a:chOff x="0" y="0"/>
          <a:chExt cx="0" cy="0"/>
        </a:xfrm>
      </p:grpSpPr>
      <p:sp>
        <p:nvSpPr>
          <p:cNvPr id="124" name="Google Shape;124;p20"/>
          <p:cNvSpPr/>
          <p:nvPr/>
        </p:nvSpPr>
        <p:spPr>
          <a:xfrm flipH="1" rot="1236882">
            <a:off x="7680459" y="103396"/>
            <a:ext cx="2374143" cy="2805904"/>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8516333" y="-485412"/>
            <a:ext cx="2293271" cy="2585072"/>
          </a:xfrm>
          <a:custGeom>
            <a:rect b="b" l="l" r="r" t="t"/>
            <a:pathLst>
              <a:path extrusionOk="0" h="42665" w="37849">
                <a:moveTo>
                  <a:pt x="34362" y="0"/>
                </a:moveTo>
                <a:lnTo>
                  <a:pt x="33773" y="93"/>
                </a:lnTo>
                <a:cubicBezTo>
                  <a:pt x="34056" y="1905"/>
                  <a:pt x="34542" y="3747"/>
                  <a:pt x="35013" y="5527"/>
                </a:cubicBezTo>
                <a:cubicBezTo>
                  <a:pt x="36102" y="9655"/>
                  <a:pt x="37231" y="13926"/>
                  <a:pt x="35928" y="18232"/>
                </a:cubicBezTo>
                <a:cubicBezTo>
                  <a:pt x="35529" y="19551"/>
                  <a:pt x="34523" y="20491"/>
                  <a:pt x="33457" y="21485"/>
                </a:cubicBezTo>
                <a:cubicBezTo>
                  <a:pt x="32444" y="22433"/>
                  <a:pt x="31395" y="23413"/>
                  <a:pt x="30832" y="24782"/>
                </a:cubicBezTo>
                <a:cubicBezTo>
                  <a:pt x="30549" y="25465"/>
                  <a:pt x="30345" y="26252"/>
                  <a:pt x="30148" y="27012"/>
                </a:cubicBezTo>
                <a:cubicBezTo>
                  <a:pt x="29644" y="28943"/>
                  <a:pt x="29125" y="30943"/>
                  <a:pt x="27289" y="31663"/>
                </a:cubicBezTo>
                <a:cubicBezTo>
                  <a:pt x="26513" y="31966"/>
                  <a:pt x="24388" y="32404"/>
                  <a:pt x="21693" y="32960"/>
                </a:cubicBezTo>
                <a:cubicBezTo>
                  <a:pt x="13788" y="34588"/>
                  <a:pt x="1841" y="37048"/>
                  <a:pt x="288" y="40651"/>
                </a:cubicBezTo>
                <a:cubicBezTo>
                  <a:pt x="1" y="41315"/>
                  <a:pt x="64" y="41993"/>
                  <a:pt x="479" y="42664"/>
                </a:cubicBezTo>
                <a:lnTo>
                  <a:pt x="985" y="42352"/>
                </a:lnTo>
                <a:cubicBezTo>
                  <a:pt x="672" y="41848"/>
                  <a:pt x="626" y="41371"/>
                  <a:pt x="834" y="40885"/>
                </a:cubicBezTo>
                <a:cubicBezTo>
                  <a:pt x="2265" y="37569"/>
                  <a:pt x="14502" y="35049"/>
                  <a:pt x="21811" y="33542"/>
                </a:cubicBezTo>
                <a:cubicBezTo>
                  <a:pt x="24532" y="32982"/>
                  <a:pt x="26684" y="32539"/>
                  <a:pt x="27506" y="32216"/>
                </a:cubicBezTo>
                <a:cubicBezTo>
                  <a:pt x="29624" y="31387"/>
                  <a:pt x="30207" y="29141"/>
                  <a:pt x="30723" y="27160"/>
                </a:cubicBezTo>
                <a:cubicBezTo>
                  <a:pt x="30924" y="26387"/>
                  <a:pt x="31112" y="25653"/>
                  <a:pt x="31378" y="25008"/>
                </a:cubicBezTo>
                <a:cubicBezTo>
                  <a:pt x="31894" y="23758"/>
                  <a:pt x="32895" y="22824"/>
                  <a:pt x="33862" y="21920"/>
                </a:cubicBezTo>
                <a:cubicBezTo>
                  <a:pt x="34937" y="20916"/>
                  <a:pt x="36053" y="19876"/>
                  <a:pt x="36496" y="18403"/>
                </a:cubicBezTo>
                <a:cubicBezTo>
                  <a:pt x="37849" y="13938"/>
                  <a:pt x="36698" y="9587"/>
                  <a:pt x="35585" y="5376"/>
                </a:cubicBezTo>
                <a:cubicBezTo>
                  <a:pt x="35119" y="3609"/>
                  <a:pt x="34638" y="1784"/>
                  <a:pt x="34362" y="0"/>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rot="-1315565">
            <a:off x="-1005022" y="-481925"/>
            <a:ext cx="2374167" cy="280593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txBox="1"/>
          <p:nvPr>
            <p:ph type="title"/>
          </p:nvPr>
        </p:nvSpPr>
        <p:spPr>
          <a:xfrm>
            <a:off x="720000" y="3312975"/>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28" name="Google Shape;128;p20"/>
          <p:cNvSpPr txBox="1"/>
          <p:nvPr>
            <p:ph idx="1" type="subTitle"/>
          </p:nvPr>
        </p:nvSpPr>
        <p:spPr>
          <a:xfrm>
            <a:off x="720000" y="3718550"/>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29" name="Google Shape;129;p20"/>
          <p:cNvSpPr txBox="1"/>
          <p:nvPr>
            <p:ph idx="2" type="title"/>
          </p:nvPr>
        </p:nvSpPr>
        <p:spPr>
          <a:xfrm>
            <a:off x="3484419" y="18756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0" name="Google Shape;130;p20"/>
          <p:cNvSpPr txBox="1"/>
          <p:nvPr>
            <p:ph idx="3" type="subTitle"/>
          </p:nvPr>
        </p:nvSpPr>
        <p:spPr>
          <a:xfrm>
            <a:off x="3484421" y="2269788"/>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1" name="Google Shape;131;p20"/>
          <p:cNvSpPr txBox="1"/>
          <p:nvPr>
            <p:ph idx="4" type="title"/>
          </p:nvPr>
        </p:nvSpPr>
        <p:spPr>
          <a:xfrm>
            <a:off x="6255596" y="3335775"/>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2" name="Google Shape;132;p20"/>
          <p:cNvSpPr txBox="1"/>
          <p:nvPr>
            <p:ph idx="5" type="subTitle"/>
          </p:nvPr>
        </p:nvSpPr>
        <p:spPr>
          <a:xfrm>
            <a:off x="6255599" y="3718550"/>
            <a:ext cx="2175300" cy="8694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3" name="Google Shape;133;p20"/>
          <p:cNvSpPr txBox="1"/>
          <p:nvPr>
            <p:ph idx="6"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34" name="Shape 134"/>
        <p:cNvGrpSpPr/>
        <p:nvPr/>
      </p:nvGrpSpPr>
      <p:grpSpPr>
        <a:xfrm>
          <a:off x="0" y="0"/>
          <a:ext cx="0" cy="0"/>
          <a:chOff x="0" y="0"/>
          <a:chExt cx="0" cy="0"/>
        </a:xfrm>
      </p:grpSpPr>
      <p:sp>
        <p:nvSpPr>
          <p:cNvPr id="135" name="Google Shape;135;p21"/>
          <p:cNvSpPr/>
          <p:nvPr/>
        </p:nvSpPr>
        <p:spPr>
          <a:xfrm flipH="1">
            <a:off x="8252620" y="-928356"/>
            <a:ext cx="1245003" cy="3181217"/>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21"/>
          <p:cNvSpPr/>
          <p:nvPr/>
        </p:nvSpPr>
        <p:spPr>
          <a:xfrm rot="-844789">
            <a:off x="8256274" y="-340789"/>
            <a:ext cx="1031065" cy="343335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21"/>
          <p:cNvSpPr/>
          <p:nvPr/>
        </p:nvSpPr>
        <p:spPr>
          <a:xfrm>
            <a:off x="-263905" y="-1215306"/>
            <a:ext cx="1245003" cy="3181217"/>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21"/>
          <p:cNvSpPr txBox="1"/>
          <p:nvPr>
            <p:ph type="title"/>
          </p:nvPr>
        </p:nvSpPr>
        <p:spPr>
          <a:xfrm>
            <a:off x="1323370" y="129759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39" name="Google Shape;139;p21"/>
          <p:cNvSpPr txBox="1"/>
          <p:nvPr>
            <p:ph idx="1" type="subTitle"/>
          </p:nvPr>
        </p:nvSpPr>
        <p:spPr>
          <a:xfrm>
            <a:off x="1323370" y="174910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0" name="Google Shape;140;p21"/>
          <p:cNvSpPr txBox="1"/>
          <p:nvPr>
            <p:ph idx="2"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1" name="Google Shape;141;p21"/>
          <p:cNvSpPr txBox="1"/>
          <p:nvPr>
            <p:ph idx="3" type="title"/>
          </p:nvPr>
        </p:nvSpPr>
        <p:spPr>
          <a:xfrm>
            <a:off x="1323370" y="2422722"/>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2" name="Google Shape;142;p21"/>
          <p:cNvSpPr txBox="1"/>
          <p:nvPr>
            <p:ph idx="4" type="subTitle"/>
          </p:nvPr>
        </p:nvSpPr>
        <p:spPr>
          <a:xfrm>
            <a:off x="1323370" y="2874231"/>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3" name="Google Shape;143;p21"/>
          <p:cNvSpPr txBox="1"/>
          <p:nvPr>
            <p:ph idx="5" type="title"/>
          </p:nvPr>
        </p:nvSpPr>
        <p:spPr>
          <a:xfrm>
            <a:off x="1323370" y="354784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44" name="Google Shape;144;p21"/>
          <p:cNvSpPr txBox="1"/>
          <p:nvPr>
            <p:ph idx="6" type="subTitle"/>
          </p:nvPr>
        </p:nvSpPr>
        <p:spPr>
          <a:xfrm>
            <a:off x="1323370" y="399935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6_2">
    <p:spTree>
      <p:nvGrpSpPr>
        <p:cNvPr id="145" name="Shape 145"/>
        <p:cNvGrpSpPr/>
        <p:nvPr/>
      </p:nvGrpSpPr>
      <p:grpSpPr>
        <a:xfrm>
          <a:off x="0" y="0"/>
          <a:ext cx="0" cy="0"/>
          <a:chOff x="0" y="0"/>
          <a:chExt cx="0" cy="0"/>
        </a:xfrm>
      </p:grpSpPr>
      <p:sp>
        <p:nvSpPr>
          <p:cNvPr id="146" name="Google Shape;146;p22"/>
          <p:cNvSpPr/>
          <p:nvPr/>
        </p:nvSpPr>
        <p:spPr>
          <a:xfrm rot="-240488">
            <a:off x="-424134" y="-626662"/>
            <a:ext cx="1244966" cy="3296515"/>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rot="758190">
            <a:off x="-566166" y="-1075222"/>
            <a:ext cx="1031062" cy="3132328"/>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22"/>
          <p:cNvSpPr/>
          <p:nvPr/>
        </p:nvSpPr>
        <p:spPr>
          <a:xfrm>
            <a:off x="8371800" y="-4667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2"/>
          <p:cNvSpPr txBox="1"/>
          <p:nvPr>
            <p:ph type="title"/>
          </p:nvPr>
        </p:nvSpPr>
        <p:spPr>
          <a:xfrm>
            <a:off x="868975"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0" name="Google Shape;150;p22"/>
          <p:cNvSpPr txBox="1"/>
          <p:nvPr>
            <p:ph idx="1" type="subTitle"/>
          </p:nvPr>
        </p:nvSpPr>
        <p:spPr>
          <a:xfrm>
            <a:off x="830575"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1" name="Google Shape;151;p22"/>
          <p:cNvSpPr txBox="1"/>
          <p:nvPr>
            <p:ph idx="2" type="title"/>
          </p:nvPr>
        </p:nvSpPr>
        <p:spPr>
          <a:xfrm>
            <a:off x="3484350"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2" name="Google Shape;152;p22"/>
          <p:cNvSpPr txBox="1"/>
          <p:nvPr>
            <p:ph idx="3" type="subTitle"/>
          </p:nvPr>
        </p:nvSpPr>
        <p:spPr>
          <a:xfrm>
            <a:off x="3445950"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3" name="Google Shape;153;p22"/>
          <p:cNvSpPr txBox="1"/>
          <p:nvPr>
            <p:ph idx="4" type="title"/>
          </p:nvPr>
        </p:nvSpPr>
        <p:spPr>
          <a:xfrm>
            <a:off x="6099725" y="1708013"/>
            <a:ext cx="2175300" cy="5277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54" name="Google Shape;154;p22"/>
          <p:cNvSpPr txBox="1"/>
          <p:nvPr>
            <p:ph idx="5" type="subTitle"/>
          </p:nvPr>
        </p:nvSpPr>
        <p:spPr>
          <a:xfrm>
            <a:off x="6061325" y="2630725"/>
            <a:ext cx="2252100" cy="118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5" name="Google Shape;155;p22"/>
          <p:cNvSpPr txBox="1"/>
          <p:nvPr>
            <p:ph idx="6"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56" name="Shape 156"/>
        <p:cNvGrpSpPr/>
        <p:nvPr/>
      </p:nvGrpSpPr>
      <p:grpSpPr>
        <a:xfrm>
          <a:off x="0" y="0"/>
          <a:ext cx="0" cy="0"/>
          <a:chOff x="0" y="0"/>
          <a:chExt cx="0" cy="0"/>
        </a:xfrm>
      </p:grpSpPr>
      <p:sp>
        <p:nvSpPr>
          <p:cNvPr id="157" name="Google Shape;157;p23"/>
          <p:cNvSpPr/>
          <p:nvPr/>
        </p:nvSpPr>
        <p:spPr>
          <a:xfrm rot="784685">
            <a:off x="-410359"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flipH="1" rot="1783285">
            <a:off x="-385508" y="-13956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a:off x="8448000" y="-771525"/>
            <a:ext cx="1214376" cy="4002640"/>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txBox="1"/>
          <p:nvPr>
            <p:ph type="title"/>
          </p:nvPr>
        </p:nvSpPr>
        <p:spPr>
          <a:xfrm>
            <a:off x="713100" y="1559953"/>
            <a:ext cx="2311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1" name="Google Shape;161;p23"/>
          <p:cNvSpPr txBox="1"/>
          <p:nvPr>
            <p:ph idx="1" type="subTitle"/>
          </p:nvPr>
        </p:nvSpPr>
        <p:spPr>
          <a:xfrm>
            <a:off x="1046700" y="1994078"/>
            <a:ext cx="19782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2" name="Google Shape;162;p23"/>
          <p:cNvSpPr txBox="1"/>
          <p:nvPr>
            <p:ph idx="2" type="title"/>
          </p:nvPr>
        </p:nvSpPr>
        <p:spPr>
          <a:xfrm>
            <a:off x="6112200" y="1559953"/>
            <a:ext cx="2311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3" name="Google Shape;163;p23"/>
          <p:cNvSpPr txBox="1"/>
          <p:nvPr>
            <p:ph idx="3" type="subTitle"/>
          </p:nvPr>
        </p:nvSpPr>
        <p:spPr>
          <a:xfrm>
            <a:off x="6112200" y="1994078"/>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4" name="Google Shape;164;p23"/>
          <p:cNvSpPr txBox="1"/>
          <p:nvPr>
            <p:ph idx="4" type="title"/>
          </p:nvPr>
        </p:nvSpPr>
        <p:spPr>
          <a:xfrm>
            <a:off x="713100" y="2994163"/>
            <a:ext cx="23118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5" name="Google Shape;165;p23"/>
          <p:cNvSpPr txBox="1"/>
          <p:nvPr>
            <p:ph idx="5" type="subTitle"/>
          </p:nvPr>
        </p:nvSpPr>
        <p:spPr>
          <a:xfrm>
            <a:off x="1046700" y="3428288"/>
            <a:ext cx="1978200" cy="665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6" name="Google Shape;166;p23"/>
          <p:cNvSpPr txBox="1"/>
          <p:nvPr>
            <p:ph idx="6" type="title"/>
          </p:nvPr>
        </p:nvSpPr>
        <p:spPr>
          <a:xfrm>
            <a:off x="6112200" y="2994163"/>
            <a:ext cx="23118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67" name="Google Shape;167;p23"/>
          <p:cNvSpPr txBox="1"/>
          <p:nvPr>
            <p:ph idx="7" type="subTitle"/>
          </p:nvPr>
        </p:nvSpPr>
        <p:spPr>
          <a:xfrm>
            <a:off x="6112200" y="3428288"/>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8" name="Google Shape;168;p23"/>
          <p:cNvSpPr txBox="1"/>
          <p:nvPr>
            <p:ph idx="8"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5_1">
    <p:spTree>
      <p:nvGrpSpPr>
        <p:cNvPr id="169" name="Shape 169"/>
        <p:cNvGrpSpPr/>
        <p:nvPr/>
      </p:nvGrpSpPr>
      <p:grpSpPr>
        <a:xfrm>
          <a:off x="0" y="0"/>
          <a:ext cx="0" cy="0"/>
          <a:chOff x="0" y="0"/>
          <a:chExt cx="0" cy="0"/>
        </a:xfrm>
      </p:grpSpPr>
      <p:sp>
        <p:nvSpPr>
          <p:cNvPr id="170" name="Google Shape;170;p24"/>
          <p:cNvSpPr/>
          <p:nvPr/>
        </p:nvSpPr>
        <p:spPr>
          <a:xfrm rot="784685">
            <a:off x="-257959" y="-897417"/>
            <a:ext cx="1244983" cy="329652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24"/>
          <p:cNvSpPr/>
          <p:nvPr/>
        </p:nvSpPr>
        <p:spPr>
          <a:xfrm flipH="1" rot="1783285">
            <a:off x="-461708" y="-1319495"/>
            <a:ext cx="1031077" cy="3132372"/>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4"/>
          <p:cNvSpPr/>
          <p:nvPr/>
        </p:nvSpPr>
        <p:spPr>
          <a:xfrm rot="-593063">
            <a:off x="8066979" y="-555017"/>
            <a:ext cx="1214363" cy="4636379"/>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4"/>
          <p:cNvSpPr txBox="1"/>
          <p:nvPr>
            <p:ph type="title"/>
          </p:nvPr>
        </p:nvSpPr>
        <p:spPr>
          <a:xfrm>
            <a:off x="1872622" y="16182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4" name="Google Shape;174;p24"/>
          <p:cNvSpPr txBox="1"/>
          <p:nvPr>
            <p:ph idx="1" type="subTitle"/>
          </p:nvPr>
        </p:nvSpPr>
        <p:spPr>
          <a:xfrm>
            <a:off x="1872622" y="20654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5" name="Google Shape;175;p24"/>
          <p:cNvSpPr txBox="1"/>
          <p:nvPr>
            <p:ph idx="2" type="title"/>
          </p:nvPr>
        </p:nvSpPr>
        <p:spPr>
          <a:xfrm>
            <a:off x="5893580" y="16182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6" name="Google Shape;176;p24"/>
          <p:cNvSpPr txBox="1"/>
          <p:nvPr>
            <p:ph idx="3" type="subTitle"/>
          </p:nvPr>
        </p:nvSpPr>
        <p:spPr>
          <a:xfrm>
            <a:off x="5893576" y="20654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7" name="Google Shape;177;p24"/>
          <p:cNvSpPr txBox="1"/>
          <p:nvPr>
            <p:ph idx="4" type="title"/>
          </p:nvPr>
        </p:nvSpPr>
        <p:spPr>
          <a:xfrm>
            <a:off x="1872622" y="30516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78" name="Google Shape;178;p24"/>
          <p:cNvSpPr txBox="1"/>
          <p:nvPr>
            <p:ph idx="5" type="subTitle"/>
          </p:nvPr>
        </p:nvSpPr>
        <p:spPr>
          <a:xfrm>
            <a:off x="1872622" y="34988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79" name="Google Shape;179;p24"/>
          <p:cNvSpPr txBox="1"/>
          <p:nvPr>
            <p:ph idx="6" type="title"/>
          </p:nvPr>
        </p:nvSpPr>
        <p:spPr>
          <a:xfrm>
            <a:off x="5893580" y="3051650"/>
            <a:ext cx="19782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80" name="Google Shape;180;p24"/>
          <p:cNvSpPr txBox="1"/>
          <p:nvPr>
            <p:ph idx="7" type="subTitle"/>
          </p:nvPr>
        </p:nvSpPr>
        <p:spPr>
          <a:xfrm>
            <a:off x="5893576" y="3498850"/>
            <a:ext cx="1978200" cy="665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81" name="Google Shape;181;p24"/>
          <p:cNvSpPr txBox="1"/>
          <p:nvPr>
            <p:ph idx="8"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82" name="Shape 182"/>
        <p:cNvGrpSpPr/>
        <p:nvPr/>
      </p:nvGrpSpPr>
      <p:grpSpPr>
        <a:xfrm>
          <a:off x="0" y="0"/>
          <a:ext cx="0" cy="0"/>
          <a:chOff x="0" y="0"/>
          <a:chExt cx="0" cy="0"/>
        </a:xfrm>
      </p:grpSpPr>
      <p:sp>
        <p:nvSpPr>
          <p:cNvPr id="183" name="Google Shape;183;p25"/>
          <p:cNvSpPr/>
          <p:nvPr/>
        </p:nvSpPr>
        <p:spPr>
          <a:xfrm flipH="1">
            <a:off x="7692880" y="-288986"/>
            <a:ext cx="2374159" cy="280592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25"/>
          <p:cNvSpPr/>
          <p:nvPr/>
        </p:nvSpPr>
        <p:spPr>
          <a:xfrm flipH="1" rot="-2700000">
            <a:off x="8364443" y="-538691"/>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25"/>
          <p:cNvSpPr/>
          <p:nvPr/>
        </p:nvSpPr>
        <p:spPr>
          <a:xfrm rot="-236223">
            <a:off x="-431802" y="-749425"/>
            <a:ext cx="1244962" cy="3296496"/>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25"/>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7" name="Google Shape;187;p25"/>
          <p:cNvSpPr txBox="1"/>
          <p:nvPr>
            <p:ph idx="2" type="title"/>
          </p:nvPr>
        </p:nvSpPr>
        <p:spPr>
          <a:xfrm>
            <a:off x="1286050" y="129759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88" name="Google Shape;188;p25"/>
          <p:cNvSpPr txBox="1"/>
          <p:nvPr>
            <p:ph idx="1" type="subTitle"/>
          </p:nvPr>
        </p:nvSpPr>
        <p:spPr>
          <a:xfrm>
            <a:off x="1286050" y="174910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5"/>
          <p:cNvSpPr txBox="1"/>
          <p:nvPr>
            <p:ph idx="3" type="title"/>
          </p:nvPr>
        </p:nvSpPr>
        <p:spPr>
          <a:xfrm>
            <a:off x="1286050" y="2422722"/>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0" name="Google Shape;190;p25"/>
          <p:cNvSpPr txBox="1"/>
          <p:nvPr>
            <p:ph idx="4" type="subTitle"/>
          </p:nvPr>
        </p:nvSpPr>
        <p:spPr>
          <a:xfrm>
            <a:off x="1286050" y="2874231"/>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5"/>
          <p:cNvSpPr txBox="1"/>
          <p:nvPr>
            <p:ph idx="5" type="title"/>
          </p:nvPr>
        </p:nvSpPr>
        <p:spPr>
          <a:xfrm>
            <a:off x="1286050" y="3547847"/>
            <a:ext cx="2175300" cy="5277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2500"/>
              <a:buNone/>
              <a:defRPr sz="2500"/>
            </a:lvl1pPr>
            <a:lvl2pPr lvl="1" rtl="0" algn="ctr">
              <a:spcBef>
                <a:spcPts val="0"/>
              </a:spcBef>
              <a:spcAft>
                <a:spcPts val="0"/>
              </a:spcAft>
              <a:buSzPts val="2500"/>
              <a:buNone/>
              <a:defRPr sz="2500"/>
            </a:lvl2pPr>
            <a:lvl3pPr lvl="2" rtl="0" algn="ctr">
              <a:spcBef>
                <a:spcPts val="0"/>
              </a:spcBef>
              <a:spcAft>
                <a:spcPts val="0"/>
              </a:spcAft>
              <a:buSzPts val="2500"/>
              <a:buNone/>
              <a:defRPr sz="2500"/>
            </a:lvl3pPr>
            <a:lvl4pPr lvl="3" rtl="0" algn="ctr">
              <a:spcBef>
                <a:spcPts val="0"/>
              </a:spcBef>
              <a:spcAft>
                <a:spcPts val="0"/>
              </a:spcAft>
              <a:buSzPts val="2500"/>
              <a:buNone/>
              <a:defRPr sz="2500"/>
            </a:lvl4pPr>
            <a:lvl5pPr lvl="4" rtl="0" algn="ctr">
              <a:spcBef>
                <a:spcPts val="0"/>
              </a:spcBef>
              <a:spcAft>
                <a:spcPts val="0"/>
              </a:spcAft>
              <a:buSzPts val="2500"/>
              <a:buNone/>
              <a:defRPr sz="2500"/>
            </a:lvl5pPr>
            <a:lvl6pPr lvl="5" rtl="0" algn="ctr">
              <a:spcBef>
                <a:spcPts val="0"/>
              </a:spcBef>
              <a:spcAft>
                <a:spcPts val="0"/>
              </a:spcAft>
              <a:buSzPts val="2500"/>
              <a:buNone/>
              <a:defRPr sz="2500"/>
            </a:lvl6pPr>
            <a:lvl7pPr lvl="6" rtl="0" algn="ctr">
              <a:spcBef>
                <a:spcPts val="0"/>
              </a:spcBef>
              <a:spcAft>
                <a:spcPts val="0"/>
              </a:spcAft>
              <a:buSzPts val="2500"/>
              <a:buNone/>
              <a:defRPr sz="2500"/>
            </a:lvl7pPr>
            <a:lvl8pPr lvl="7" rtl="0" algn="ctr">
              <a:spcBef>
                <a:spcPts val="0"/>
              </a:spcBef>
              <a:spcAft>
                <a:spcPts val="0"/>
              </a:spcAft>
              <a:buSzPts val="2500"/>
              <a:buNone/>
              <a:defRPr sz="2500"/>
            </a:lvl8pPr>
            <a:lvl9pPr lvl="8" rtl="0" algn="ctr">
              <a:spcBef>
                <a:spcPts val="0"/>
              </a:spcBef>
              <a:spcAft>
                <a:spcPts val="0"/>
              </a:spcAft>
              <a:buSzPts val="2500"/>
              <a:buNone/>
              <a:defRPr sz="2500"/>
            </a:lvl9pPr>
          </a:lstStyle>
          <a:p/>
        </p:txBody>
      </p:sp>
      <p:sp>
        <p:nvSpPr>
          <p:cNvPr id="192" name="Google Shape;192;p25"/>
          <p:cNvSpPr txBox="1"/>
          <p:nvPr>
            <p:ph idx="6" type="subTitle"/>
          </p:nvPr>
        </p:nvSpPr>
        <p:spPr>
          <a:xfrm>
            <a:off x="1286050" y="3999356"/>
            <a:ext cx="2175300" cy="6024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3" name="Google Shape;193;p25"/>
          <p:cNvSpPr txBox="1"/>
          <p:nvPr>
            <p:ph idx="7" type="title"/>
          </p:nvPr>
        </p:nvSpPr>
        <p:spPr>
          <a:xfrm>
            <a:off x="5682650" y="1297597"/>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4" name="Google Shape;194;p25"/>
          <p:cNvSpPr txBox="1"/>
          <p:nvPr>
            <p:ph idx="8" type="subTitle"/>
          </p:nvPr>
        </p:nvSpPr>
        <p:spPr>
          <a:xfrm>
            <a:off x="5682650" y="1749106"/>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5" name="Google Shape;195;p25"/>
          <p:cNvSpPr txBox="1"/>
          <p:nvPr>
            <p:ph idx="9" type="title"/>
          </p:nvPr>
        </p:nvSpPr>
        <p:spPr>
          <a:xfrm>
            <a:off x="5682650" y="2422722"/>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6" name="Google Shape;196;p25"/>
          <p:cNvSpPr txBox="1"/>
          <p:nvPr>
            <p:ph idx="13" type="subTitle"/>
          </p:nvPr>
        </p:nvSpPr>
        <p:spPr>
          <a:xfrm>
            <a:off x="5682650" y="2874231"/>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197" name="Google Shape;197;p25"/>
          <p:cNvSpPr txBox="1"/>
          <p:nvPr>
            <p:ph idx="14" type="title"/>
          </p:nvPr>
        </p:nvSpPr>
        <p:spPr>
          <a:xfrm>
            <a:off x="5682650" y="3547847"/>
            <a:ext cx="2175300" cy="527700"/>
          </a:xfrm>
          <a:prstGeom prst="rect">
            <a:avLst/>
          </a:prstGeom>
        </p:spPr>
        <p:txBody>
          <a:bodyPr anchorCtr="0" anchor="ctr" bIns="91425" lIns="91425" spcFirstLastPara="1" rIns="91425" wrap="square" tIns="91425">
            <a:noAutofit/>
          </a:bodyPr>
          <a:lstStyle>
            <a:lvl1pPr lvl="0" rtl="0">
              <a:spcBef>
                <a:spcPts val="0"/>
              </a:spcBef>
              <a:spcAft>
                <a:spcPts val="0"/>
              </a:spcAft>
              <a:buSzPts val="2500"/>
              <a:buNone/>
              <a:defRPr sz="2500"/>
            </a:lvl1pPr>
            <a:lvl2pPr lvl="1" rtl="0">
              <a:spcBef>
                <a:spcPts val="0"/>
              </a:spcBef>
              <a:spcAft>
                <a:spcPts val="0"/>
              </a:spcAft>
              <a:buSzPts val="2500"/>
              <a:buNone/>
              <a:defRPr sz="2500"/>
            </a:lvl2pPr>
            <a:lvl3pPr lvl="2" rtl="0">
              <a:spcBef>
                <a:spcPts val="0"/>
              </a:spcBef>
              <a:spcAft>
                <a:spcPts val="0"/>
              </a:spcAft>
              <a:buSzPts val="2500"/>
              <a:buNone/>
              <a:defRPr sz="2500"/>
            </a:lvl3pPr>
            <a:lvl4pPr lvl="3" rtl="0">
              <a:spcBef>
                <a:spcPts val="0"/>
              </a:spcBef>
              <a:spcAft>
                <a:spcPts val="0"/>
              </a:spcAft>
              <a:buSzPts val="2500"/>
              <a:buNone/>
              <a:defRPr sz="2500"/>
            </a:lvl4pPr>
            <a:lvl5pPr lvl="4" rtl="0">
              <a:spcBef>
                <a:spcPts val="0"/>
              </a:spcBef>
              <a:spcAft>
                <a:spcPts val="0"/>
              </a:spcAft>
              <a:buSzPts val="2500"/>
              <a:buNone/>
              <a:defRPr sz="2500"/>
            </a:lvl5pPr>
            <a:lvl6pPr lvl="5" rtl="0">
              <a:spcBef>
                <a:spcPts val="0"/>
              </a:spcBef>
              <a:spcAft>
                <a:spcPts val="0"/>
              </a:spcAft>
              <a:buSzPts val="2500"/>
              <a:buNone/>
              <a:defRPr sz="2500"/>
            </a:lvl6pPr>
            <a:lvl7pPr lvl="6" rtl="0">
              <a:spcBef>
                <a:spcPts val="0"/>
              </a:spcBef>
              <a:spcAft>
                <a:spcPts val="0"/>
              </a:spcAft>
              <a:buSzPts val="2500"/>
              <a:buNone/>
              <a:defRPr sz="2500"/>
            </a:lvl7pPr>
            <a:lvl8pPr lvl="7" rtl="0">
              <a:spcBef>
                <a:spcPts val="0"/>
              </a:spcBef>
              <a:spcAft>
                <a:spcPts val="0"/>
              </a:spcAft>
              <a:buSzPts val="2500"/>
              <a:buNone/>
              <a:defRPr sz="2500"/>
            </a:lvl8pPr>
            <a:lvl9pPr lvl="8" rtl="0">
              <a:spcBef>
                <a:spcPts val="0"/>
              </a:spcBef>
              <a:spcAft>
                <a:spcPts val="0"/>
              </a:spcAft>
              <a:buSzPts val="2500"/>
              <a:buNone/>
              <a:defRPr sz="2500"/>
            </a:lvl9pPr>
          </a:lstStyle>
          <a:p/>
        </p:txBody>
      </p:sp>
      <p:sp>
        <p:nvSpPr>
          <p:cNvPr id="198" name="Google Shape;198;p25"/>
          <p:cNvSpPr txBox="1"/>
          <p:nvPr>
            <p:ph idx="15" type="subTitle"/>
          </p:nvPr>
        </p:nvSpPr>
        <p:spPr>
          <a:xfrm>
            <a:off x="5682650" y="3999356"/>
            <a:ext cx="2175300" cy="6024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99" name="Shape 199"/>
        <p:cNvGrpSpPr/>
        <p:nvPr/>
      </p:nvGrpSpPr>
      <p:grpSpPr>
        <a:xfrm>
          <a:off x="0" y="0"/>
          <a:ext cx="0" cy="0"/>
          <a:chOff x="0" y="0"/>
          <a:chExt cx="0" cy="0"/>
        </a:xfrm>
      </p:grpSpPr>
      <p:sp>
        <p:nvSpPr>
          <p:cNvPr id="200" name="Google Shape;200;p26"/>
          <p:cNvSpPr txBox="1"/>
          <p:nvPr>
            <p:ph hasCustomPrompt="1" type="title"/>
          </p:nvPr>
        </p:nvSpPr>
        <p:spPr>
          <a:xfrm>
            <a:off x="2223600" y="670225"/>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1" name="Google Shape;201;p26"/>
          <p:cNvSpPr txBox="1"/>
          <p:nvPr>
            <p:ph idx="1" type="subTitle"/>
          </p:nvPr>
        </p:nvSpPr>
        <p:spPr>
          <a:xfrm>
            <a:off x="2223600" y="1234825"/>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2" name="Google Shape;202;p26"/>
          <p:cNvSpPr txBox="1"/>
          <p:nvPr>
            <p:ph hasCustomPrompt="1" idx="2" type="title"/>
          </p:nvPr>
        </p:nvSpPr>
        <p:spPr>
          <a:xfrm>
            <a:off x="2223600" y="1954311"/>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3" name="Google Shape;203;p26"/>
          <p:cNvSpPr txBox="1"/>
          <p:nvPr>
            <p:ph idx="3" type="subTitle"/>
          </p:nvPr>
        </p:nvSpPr>
        <p:spPr>
          <a:xfrm>
            <a:off x="2223600" y="2554644"/>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4" name="Google Shape;204;p26"/>
          <p:cNvSpPr txBox="1"/>
          <p:nvPr>
            <p:ph hasCustomPrompt="1" idx="4" type="title"/>
          </p:nvPr>
        </p:nvSpPr>
        <p:spPr>
          <a:xfrm>
            <a:off x="2223600" y="3265638"/>
            <a:ext cx="4696800" cy="7689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6000"/>
              <a:buNone/>
              <a:defRPr sz="4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05" name="Google Shape;205;p26"/>
          <p:cNvSpPr txBox="1"/>
          <p:nvPr>
            <p:ph idx="5" type="subTitle"/>
          </p:nvPr>
        </p:nvSpPr>
        <p:spPr>
          <a:xfrm>
            <a:off x="2223600" y="3874463"/>
            <a:ext cx="4696800" cy="5988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PT Sans"/>
              <a:buNone/>
              <a:defRPr sz="18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4pPr>
            <a:lvl5pPr lvl="4"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5pPr>
            <a:lvl6pPr lvl="5"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6pPr>
            <a:lvl7pPr lvl="6"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7pPr>
            <a:lvl8pPr lvl="7"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8pPr>
            <a:lvl9pPr lvl="8" rtl="0" algn="ctr">
              <a:lnSpc>
                <a:spcPct val="100000"/>
              </a:lnSpc>
              <a:spcBef>
                <a:spcPts val="0"/>
              </a:spcBef>
              <a:spcAft>
                <a:spcPts val="0"/>
              </a:spcAft>
              <a:buClr>
                <a:schemeClr val="dk1"/>
              </a:buClr>
              <a:buSzPts val="2100"/>
              <a:buFont typeface="PT Sans"/>
              <a:buNone/>
              <a:defRPr sz="2100">
                <a:solidFill>
                  <a:schemeClr val="dk1"/>
                </a:solidFill>
                <a:latin typeface="PT Sans"/>
                <a:ea typeface="PT Sans"/>
                <a:cs typeface="PT Sans"/>
                <a:sym typeface="PT Sans"/>
              </a:defRPr>
            </a:lvl9pPr>
          </a:lstStyle>
          <a:p/>
        </p:txBody>
      </p:sp>
      <p:sp>
        <p:nvSpPr>
          <p:cNvPr id="206" name="Google Shape;206;p26"/>
          <p:cNvSpPr/>
          <p:nvPr/>
        </p:nvSpPr>
        <p:spPr>
          <a:xfrm flipH="1" rot="-1103675">
            <a:off x="8084800" y="-611819"/>
            <a:ext cx="1245021" cy="3181261"/>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6"/>
          <p:cNvSpPr/>
          <p:nvPr/>
        </p:nvSpPr>
        <p:spPr>
          <a:xfrm>
            <a:off x="8322223" y="-561604"/>
            <a:ext cx="2074359" cy="2202022"/>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26"/>
          <p:cNvSpPr/>
          <p:nvPr/>
        </p:nvSpPr>
        <p:spPr>
          <a:xfrm flipH="1" rot="1040920">
            <a:off x="-826208" y="-506959"/>
            <a:ext cx="2074408" cy="2202074"/>
          </a:xfrm>
          <a:custGeom>
            <a:rect b="b" l="l" r="r" t="t"/>
            <a:pathLst>
              <a:path extrusionOk="0" h="36343" w="34236">
                <a:moveTo>
                  <a:pt x="3454" y="1"/>
                </a:moveTo>
                <a:cubicBezTo>
                  <a:pt x="3217" y="564"/>
                  <a:pt x="2938" y="1179"/>
                  <a:pt x="2639" y="1830"/>
                </a:cubicBezTo>
                <a:cubicBezTo>
                  <a:pt x="1527" y="4274"/>
                  <a:pt x="142" y="7317"/>
                  <a:pt x="59" y="9762"/>
                </a:cubicBezTo>
                <a:cubicBezTo>
                  <a:pt x="0" y="11502"/>
                  <a:pt x="1556" y="12976"/>
                  <a:pt x="3064" y="14400"/>
                </a:cubicBezTo>
                <a:cubicBezTo>
                  <a:pt x="3840" y="15137"/>
                  <a:pt x="4573" y="15831"/>
                  <a:pt x="5057" y="16529"/>
                </a:cubicBezTo>
                <a:cubicBezTo>
                  <a:pt x="6529" y="18670"/>
                  <a:pt x="7191" y="20552"/>
                  <a:pt x="8033" y="22936"/>
                </a:cubicBezTo>
                <a:cubicBezTo>
                  <a:pt x="8139" y="23239"/>
                  <a:pt x="8247" y="23548"/>
                  <a:pt x="8359" y="23864"/>
                </a:cubicBezTo>
                <a:cubicBezTo>
                  <a:pt x="9224" y="26292"/>
                  <a:pt x="11151" y="26950"/>
                  <a:pt x="13386" y="27710"/>
                </a:cubicBezTo>
                <a:cubicBezTo>
                  <a:pt x="13866" y="27875"/>
                  <a:pt x="14362" y="28045"/>
                  <a:pt x="14866" y="28240"/>
                </a:cubicBezTo>
                <a:cubicBezTo>
                  <a:pt x="17859" y="29391"/>
                  <a:pt x="20803" y="30760"/>
                  <a:pt x="23653" y="32082"/>
                </a:cubicBezTo>
                <a:cubicBezTo>
                  <a:pt x="25511" y="32943"/>
                  <a:pt x="27435" y="33839"/>
                  <a:pt x="29354" y="34665"/>
                </a:cubicBezTo>
                <a:cubicBezTo>
                  <a:pt x="29919" y="34905"/>
                  <a:pt x="30561" y="35099"/>
                  <a:pt x="31238" y="35306"/>
                </a:cubicBezTo>
                <a:cubicBezTo>
                  <a:pt x="32202" y="35599"/>
                  <a:pt x="33199" y="35901"/>
                  <a:pt x="33929" y="36342"/>
                </a:cubicBezTo>
                <a:lnTo>
                  <a:pt x="34235" y="35832"/>
                </a:lnTo>
                <a:cubicBezTo>
                  <a:pt x="33443" y="35355"/>
                  <a:pt x="32409" y="35040"/>
                  <a:pt x="31413" y="34736"/>
                </a:cubicBezTo>
                <a:cubicBezTo>
                  <a:pt x="30748" y="34536"/>
                  <a:pt x="30123" y="34345"/>
                  <a:pt x="29591" y="34118"/>
                </a:cubicBezTo>
                <a:cubicBezTo>
                  <a:pt x="27679" y="33296"/>
                  <a:pt x="25757" y="32404"/>
                  <a:pt x="23902" y="31542"/>
                </a:cubicBezTo>
                <a:cubicBezTo>
                  <a:pt x="21044" y="30216"/>
                  <a:pt x="18090" y="28845"/>
                  <a:pt x="15079" y="27684"/>
                </a:cubicBezTo>
                <a:cubicBezTo>
                  <a:pt x="14566" y="27486"/>
                  <a:pt x="14063" y="27315"/>
                  <a:pt x="13576" y="27151"/>
                </a:cubicBezTo>
                <a:cubicBezTo>
                  <a:pt x="11405" y="26407"/>
                  <a:pt x="9688" y="25822"/>
                  <a:pt x="8918" y="23667"/>
                </a:cubicBezTo>
                <a:cubicBezTo>
                  <a:pt x="8806" y="23351"/>
                  <a:pt x="8698" y="23042"/>
                  <a:pt x="8592" y="22743"/>
                </a:cubicBezTo>
                <a:cubicBezTo>
                  <a:pt x="7770" y="20410"/>
                  <a:pt x="7062" y="18397"/>
                  <a:pt x="5543" y="16193"/>
                </a:cubicBezTo>
                <a:cubicBezTo>
                  <a:pt x="5027" y="15443"/>
                  <a:pt x="4271" y="14725"/>
                  <a:pt x="3471" y="13969"/>
                </a:cubicBezTo>
                <a:cubicBezTo>
                  <a:pt x="2060" y="12633"/>
                  <a:pt x="603" y="11255"/>
                  <a:pt x="652" y="9781"/>
                </a:cubicBezTo>
                <a:cubicBezTo>
                  <a:pt x="730" y="7455"/>
                  <a:pt x="2089" y="4475"/>
                  <a:pt x="3182" y="2077"/>
                </a:cubicBezTo>
                <a:cubicBezTo>
                  <a:pt x="3481" y="1422"/>
                  <a:pt x="3761" y="800"/>
                  <a:pt x="4001" y="234"/>
                </a:cubicBezTo>
                <a:lnTo>
                  <a:pt x="3454"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209" name="Shape 209"/>
        <p:cNvGrpSpPr/>
        <p:nvPr/>
      </p:nvGrpSpPr>
      <p:grpSpPr>
        <a:xfrm>
          <a:off x="0" y="0"/>
          <a:ext cx="0" cy="0"/>
          <a:chOff x="0" y="0"/>
          <a:chExt cx="0" cy="0"/>
        </a:xfrm>
      </p:grpSpPr>
      <p:sp>
        <p:nvSpPr>
          <p:cNvPr id="210" name="Google Shape;210;p27"/>
          <p:cNvSpPr txBox="1"/>
          <p:nvPr>
            <p:ph type="title"/>
          </p:nvPr>
        </p:nvSpPr>
        <p:spPr>
          <a:xfrm>
            <a:off x="720000" y="521225"/>
            <a:ext cx="7704000" cy="571800"/>
          </a:xfrm>
          <a:prstGeom prst="rect">
            <a:avLst/>
          </a:prstGeom>
        </p:spPr>
        <p:txBody>
          <a:bodyPr anchorCtr="0" anchor="ctr" bIns="91425" lIns="91425" spcFirstLastPara="1" rIns="91425" wrap="square" tIns="91425">
            <a:noAutofit/>
          </a:bodyPr>
          <a:lstStyle>
            <a:lvl1pPr lvl="0" rtl="0">
              <a:spcBef>
                <a:spcPts val="0"/>
              </a:spcBef>
              <a:spcAft>
                <a:spcPts val="0"/>
              </a:spcAft>
              <a:buSzPts val="3500"/>
              <a:buNone/>
              <a:defRPr b="1"/>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1" name="Google Shape;211;p27"/>
          <p:cNvSpPr/>
          <p:nvPr/>
        </p:nvSpPr>
        <p:spPr>
          <a:xfrm flipH="1">
            <a:off x="7692880" y="-288986"/>
            <a:ext cx="2374159" cy="2805923"/>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7"/>
          <p:cNvSpPr/>
          <p:nvPr/>
        </p:nvSpPr>
        <p:spPr>
          <a:xfrm flipH="1" rot="-2700000">
            <a:off x="8364443" y="-538691"/>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27"/>
          <p:cNvSpPr/>
          <p:nvPr/>
        </p:nvSpPr>
        <p:spPr>
          <a:xfrm rot="-236223">
            <a:off x="-431802" y="-749425"/>
            <a:ext cx="1244962" cy="3296496"/>
          </a:xfrm>
          <a:custGeom>
            <a:rect b="b" l="l" r="r" t="t"/>
            <a:pathLst>
              <a:path extrusionOk="0" h="52504" w="20548">
                <a:moveTo>
                  <a:pt x="20041" y="0"/>
                </a:moveTo>
                <a:cubicBezTo>
                  <a:pt x="19883" y="254"/>
                  <a:pt x="19679" y="536"/>
                  <a:pt x="19462" y="839"/>
                </a:cubicBezTo>
                <a:cubicBezTo>
                  <a:pt x="18998" y="1480"/>
                  <a:pt x="18472" y="2208"/>
                  <a:pt x="18245" y="2868"/>
                </a:cubicBezTo>
                <a:cubicBezTo>
                  <a:pt x="17949" y="3734"/>
                  <a:pt x="17946" y="4842"/>
                  <a:pt x="17939" y="5918"/>
                </a:cubicBezTo>
                <a:cubicBezTo>
                  <a:pt x="17935" y="6609"/>
                  <a:pt x="17932" y="7264"/>
                  <a:pt x="17853" y="7823"/>
                </a:cubicBezTo>
                <a:cubicBezTo>
                  <a:pt x="17699" y="8955"/>
                  <a:pt x="17577" y="10063"/>
                  <a:pt x="17455" y="11136"/>
                </a:cubicBezTo>
                <a:cubicBezTo>
                  <a:pt x="17097" y="14395"/>
                  <a:pt x="16755" y="17471"/>
                  <a:pt x="15577" y="20738"/>
                </a:cubicBezTo>
                <a:cubicBezTo>
                  <a:pt x="14893" y="22630"/>
                  <a:pt x="13415" y="24272"/>
                  <a:pt x="11988" y="25860"/>
                </a:cubicBezTo>
                <a:cubicBezTo>
                  <a:pt x="11399" y="26511"/>
                  <a:pt x="10790" y="27190"/>
                  <a:pt x="10257" y="27864"/>
                </a:cubicBezTo>
                <a:cubicBezTo>
                  <a:pt x="9554" y="28752"/>
                  <a:pt x="8781" y="29647"/>
                  <a:pt x="8034" y="30515"/>
                </a:cubicBezTo>
                <a:cubicBezTo>
                  <a:pt x="6487" y="32308"/>
                  <a:pt x="4889" y="34160"/>
                  <a:pt x="3692" y="36177"/>
                </a:cubicBezTo>
                <a:cubicBezTo>
                  <a:pt x="2346" y="38447"/>
                  <a:pt x="1810" y="41539"/>
                  <a:pt x="1340" y="44266"/>
                </a:cubicBezTo>
                <a:cubicBezTo>
                  <a:pt x="1198" y="45079"/>
                  <a:pt x="1063" y="45848"/>
                  <a:pt x="915" y="46579"/>
                </a:cubicBezTo>
                <a:cubicBezTo>
                  <a:pt x="718" y="47536"/>
                  <a:pt x="590" y="48513"/>
                  <a:pt x="464" y="49460"/>
                </a:cubicBezTo>
                <a:cubicBezTo>
                  <a:pt x="336" y="50428"/>
                  <a:pt x="204" y="51424"/>
                  <a:pt x="1" y="52382"/>
                </a:cubicBezTo>
                <a:lnTo>
                  <a:pt x="583" y="52503"/>
                </a:lnTo>
                <a:cubicBezTo>
                  <a:pt x="790" y="51527"/>
                  <a:pt x="921" y="50516"/>
                  <a:pt x="1053" y="49539"/>
                </a:cubicBezTo>
                <a:cubicBezTo>
                  <a:pt x="1175" y="48601"/>
                  <a:pt x="1303" y="47634"/>
                  <a:pt x="1494" y="46697"/>
                </a:cubicBezTo>
                <a:cubicBezTo>
                  <a:pt x="1648" y="45957"/>
                  <a:pt x="1780" y="45184"/>
                  <a:pt x="1922" y="44365"/>
                </a:cubicBezTo>
                <a:cubicBezTo>
                  <a:pt x="2386" y="41690"/>
                  <a:pt x="2912" y="38657"/>
                  <a:pt x="4202" y="36482"/>
                </a:cubicBezTo>
                <a:cubicBezTo>
                  <a:pt x="5373" y="34509"/>
                  <a:pt x="6955" y="32673"/>
                  <a:pt x="8485" y="30900"/>
                </a:cubicBezTo>
                <a:cubicBezTo>
                  <a:pt x="9235" y="30032"/>
                  <a:pt x="10011" y="29130"/>
                  <a:pt x="10722" y="28232"/>
                </a:cubicBezTo>
                <a:cubicBezTo>
                  <a:pt x="11244" y="27571"/>
                  <a:pt x="11821" y="26933"/>
                  <a:pt x="12429" y="26255"/>
                </a:cubicBezTo>
                <a:cubicBezTo>
                  <a:pt x="13896" y="24627"/>
                  <a:pt x="15413" y="22942"/>
                  <a:pt x="16133" y="20939"/>
                </a:cubicBezTo>
                <a:cubicBezTo>
                  <a:pt x="17337" y="17606"/>
                  <a:pt x="17683" y="14494"/>
                  <a:pt x="18048" y="11202"/>
                </a:cubicBezTo>
                <a:cubicBezTo>
                  <a:pt x="18166" y="10132"/>
                  <a:pt x="18288" y="9027"/>
                  <a:pt x="18442" y="7906"/>
                </a:cubicBezTo>
                <a:cubicBezTo>
                  <a:pt x="18524" y="7303"/>
                  <a:pt x="18528" y="6632"/>
                  <a:pt x="18531" y="5922"/>
                </a:cubicBezTo>
                <a:cubicBezTo>
                  <a:pt x="18538" y="4895"/>
                  <a:pt x="18544" y="3832"/>
                  <a:pt x="18808" y="3060"/>
                </a:cubicBezTo>
                <a:cubicBezTo>
                  <a:pt x="19005" y="2484"/>
                  <a:pt x="19502" y="1793"/>
                  <a:pt x="19942" y="1188"/>
                </a:cubicBezTo>
                <a:cubicBezTo>
                  <a:pt x="20166" y="879"/>
                  <a:pt x="20377" y="586"/>
                  <a:pt x="20548" y="313"/>
                </a:cubicBezTo>
                <a:lnTo>
                  <a:pt x="20041"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214" name="Shape 214"/>
        <p:cNvGrpSpPr/>
        <p:nvPr/>
      </p:nvGrpSpPr>
      <p:grpSpPr>
        <a:xfrm>
          <a:off x="0" y="0"/>
          <a:ext cx="0" cy="0"/>
          <a:chOff x="0" y="0"/>
          <a:chExt cx="0" cy="0"/>
        </a:xfrm>
      </p:grpSpPr>
      <p:sp>
        <p:nvSpPr>
          <p:cNvPr id="215" name="Google Shape;215;p28"/>
          <p:cNvSpPr/>
          <p:nvPr/>
        </p:nvSpPr>
        <p:spPr>
          <a:xfrm flipH="1">
            <a:off x="7874419" y="-137976"/>
            <a:ext cx="2481131" cy="2943927"/>
          </a:xfrm>
          <a:custGeom>
            <a:rect b="b" l="l" r="r" t="t"/>
            <a:pathLst>
              <a:path extrusionOk="0" h="46310" w="39184">
                <a:moveTo>
                  <a:pt x="38660" y="1"/>
                </a:moveTo>
                <a:cubicBezTo>
                  <a:pt x="37555" y="2041"/>
                  <a:pt x="37032" y="3857"/>
                  <a:pt x="36509" y="5853"/>
                </a:cubicBezTo>
                <a:cubicBezTo>
                  <a:pt x="36404" y="6254"/>
                  <a:pt x="36325" y="6689"/>
                  <a:pt x="36246" y="7109"/>
                </a:cubicBezTo>
                <a:cubicBezTo>
                  <a:pt x="36111" y="7863"/>
                  <a:pt x="35967" y="8639"/>
                  <a:pt x="35677" y="9251"/>
                </a:cubicBezTo>
                <a:cubicBezTo>
                  <a:pt x="35367" y="9896"/>
                  <a:pt x="34772" y="10478"/>
                  <a:pt x="34196" y="11041"/>
                </a:cubicBezTo>
                <a:cubicBezTo>
                  <a:pt x="33970" y="11265"/>
                  <a:pt x="33733" y="11495"/>
                  <a:pt x="33522" y="11725"/>
                </a:cubicBezTo>
                <a:cubicBezTo>
                  <a:pt x="32722" y="12590"/>
                  <a:pt x="32022" y="13501"/>
                  <a:pt x="31345" y="14386"/>
                </a:cubicBezTo>
                <a:cubicBezTo>
                  <a:pt x="30970" y="14877"/>
                  <a:pt x="30578" y="15384"/>
                  <a:pt x="30180" y="15873"/>
                </a:cubicBezTo>
                <a:cubicBezTo>
                  <a:pt x="29654" y="16521"/>
                  <a:pt x="28999" y="17068"/>
                  <a:pt x="28308" y="17646"/>
                </a:cubicBezTo>
                <a:cubicBezTo>
                  <a:pt x="27729" y="18133"/>
                  <a:pt x="27127" y="18636"/>
                  <a:pt x="26611" y="19206"/>
                </a:cubicBezTo>
                <a:cubicBezTo>
                  <a:pt x="26433" y="19400"/>
                  <a:pt x="26259" y="19588"/>
                  <a:pt x="26084" y="19775"/>
                </a:cubicBezTo>
                <a:cubicBezTo>
                  <a:pt x="25071" y="20871"/>
                  <a:pt x="24114" y="21903"/>
                  <a:pt x="23509" y="23196"/>
                </a:cubicBezTo>
                <a:cubicBezTo>
                  <a:pt x="23031" y="24219"/>
                  <a:pt x="22686" y="25367"/>
                  <a:pt x="22351" y="26480"/>
                </a:cubicBezTo>
                <a:cubicBezTo>
                  <a:pt x="21871" y="28075"/>
                  <a:pt x="21373" y="29723"/>
                  <a:pt x="20489" y="30983"/>
                </a:cubicBezTo>
                <a:cubicBezTo>
                  <a:pt x="19179" y="32852"/>
                  <a:pt x="17054" y="34102"/>
                  <a:pt x="15005" y="35312"/>
                </a:cubicBezTo>
                <a:cubicBezTo>
                  <a:pt x="14287" y="35734"/>
                  <a:pt x="13610" y="36131"/>
                  <a:pt x="12965" y="36555"/>
                </a:cubicBezTo>
                <a:cubicBezTo>
                  <a:pt x="11067" y="37806"/>
                  <a:pt x="9231" y="39188"/>
                  <a:pt x="7455" y="40526"/>
                </a:cubicBezTo>
                <a:cubicBezTo>
                  <a:pt x="6070" y="41569"/>
                  <a:pt x="4639" y="42648"/>
                  <a:pt x="3195" y="43648"/>
                </a:cubicBezTo>
                <a:cubicBezTo>
                  <a:pt x="2251" y="44306"/>
                  <a:pt x="1132" y="45073"/>
                  <a:pt x="1" y="45809"/>
                </a:cubicBezTo>
                <a:lnTo>
                  <a:pt x="323" y="46309"/>
                </a:lnTo>
                <a:cubicBezTo>
                  <a:pt x="1462" y="45566"/>
                  <a:pt x="2583" y="44796"/>
                  <a:pt x="3534" y="44138"/>
                </a:cubicBezTo>
                <a:cubicBezTo>
                  <a:pt x="4988" y="43128"/>
                  <a:pt x="6422" y="42046"/>
                  <a:pt x="7810" y="41000"/>
                </a:cubicBezTo>
                <a:cubicBezTo>
                  <a:pt x="9580" y="39668"/>
                  <a:pt x="11409" y="38289"/>
                  <a:pt x="13291" y="37052"/>
                </a:cubicBezTo>
                <a:cubicBezTo>
                  <a:pt x="13926" y="36634"/>
                  <a:pt x="14594" y="36240"/>
                  <a:pt x="15304" y="35822"/>
                </a:cubicBezTo>
                <a:cubicBezTo>
                  <a:pt x="17413" y="34582"/>
                  <a:pt x="19590" y="33295"/>
                  <a:pt x="20975" y="31325"/>
                </a:cubicBezTo>
                <a:cubicBezTo>
                  <a:pt x="21916" y="29986"/>
                  <a:pt x="22426" y="28292"/>
                  <a:pt x="22920" y="26650"/>
                </a:cubicBezTo>
                <a:cubicBezTo>
                  <a:pt x="23248" y="25558"/>
                  <a:pt x="23591" y="24430"/>
                  <a:pt x="24048" y="23446"/>
                </a:cubicBezTo>
                <a:cubicBezTo>
                  <a:pt x="24614" y="22239"/>
                  <a:pt x="25538" y="21239"/>
                  <a:pt x="26522" y="20180"/>
                </a:cubicBezTo>
                <a:cubicBezTo>
                  <a:pt x="26696" y="19992"/>
                  <a:pt x="26871" y="19801"/>
                  <a:pt x="27048" y="19608"/>
                </a:cubicBezTo>
                <a:cubicBezTo>
                  <a:pt x="27538" y="19067"/>
                  <a:pt x="28124" y="18577"/>
                  <a:pt x="28690" y="18100"/>
                </a:cubicBezTo>
                <a:cubicBezTo>
                  <a:pt x="29374" y="17531"/>
                  <a:pt x="30078" y="16939"/>
                  <a:pt x="30641" y="16248"/>
                </a:cubicBezTo>
                <a:cubicBezTo>
                  <a:pt x="31045" y="15752"/>
                  <a:pt x="31436" y="15241"/>
                  <a:pt x="31818" y="14745"/>
                </a:cubicBezTo>
                <a:cubicBezTo>
                  <a:pt x="32486" y="13873"/>
                  <a:pt x="33180" y="12972"/>
                  <a:pt x="33960" y="12127"/>
                </a:cubicBezTo>
                <a:cubicBezTo>
                  <a:pt x="34157" y="11910"/>
                  <a:pt x="34377" y="11696"/>
                  <a:pt x="34611" y="11465"/>
                </a:cubicBezTo>
                <a:cubicBezTo>
                  <a:pt x="35226" y="10867"/>
                  <a:pt x="35858" y="10248"/>
                  <a:pt x="36213" y="9508"/>
                </a:cubicBezTo>
                <a:cubicBezTo>
                  <a:pt x="36536" y="8823"/>
                  <a:pt x="36687" y="8008"/>
                  <a:pt x="36832" y="7218"/>
                </a:cubicBezTo>
                <a:cubicBezTo>
                  <a:pt x="36911" y="6787"/>
                  <a:pt x="36986" y="6383"/>
                  <a:pt x="37085" y="6001"/>
                </a:cubicBezTo>
                <a:cubicBezTo>
                  <a:pt x="37598" y="4047"/>
                  <a:pt x="38108" y="2264"/>
                  <a:pt x="39184" y="284"/>
                </a:cubicBezTo>
                <a:lnTo>
                  <a:pt x="38660" y="1"/>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28"/>
          <p:cNvSpPr/>
          <p:nvPr/>
        </p:nvSpPr>
        <p:spPr>
          <a:xfrm rot="2700000">
            <a:off x="94776" y="-643730"/>
            <a:ext cx="1031034" cy="313224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28"/>
          <p:cNvSpPr/>
          <p:nvPr/>
        </p:nvSpPr>
        <p:spPr>
          <a:xfrm>
            <a:off x="8576741" y="-658300"/>
            <a:ext cx="1031060" cy="3132321"/>
          </a:xfrm>
          <a:custGeom>
            <a:rect b="b" l="l" r="r" t="t"/>
            <a:pathLst>
              <a:path extrusionOk="0" h="51697" w="17017">
                <a:moveTo>
                  <a:pt x="2507" y="1"/>
                </a:moveTo>
                <a:lnTo>
                  <a:pt x="1951" y="211"/>
                </a:lnTo>
                <a:cubicBezTo>
                  <a:pt x="2296" y="1119"/>
                  <a:pt x="2520" y="2083"/>
                  <a:pt x="2760" y="3103"/>
                </a:cubicBezTo>
                <a:cubicBezTo>
                  <a:pt x="2977" y="4037"/>
                  <a:pt x="3204" y="5001"/>
                  <a:pt x="3533" y="5922"/>
                </a:cubicBezTo>
                <a:cubicBezTo>
                  <a:pt x="3599" y="6116"/>
                  <a:pt x="3671" y="6310"/>
                  <a:pt x="3740" y="6501"/>
                </a:cubicBezTo>
                <a:cubicBezTo>
                  <a:pt x="4122" y="7537"/>
                  <a:pt x="4481" y="8517"/>
                  <a:pt x="4573" y="9616"/>
                </a:cubicBezTo>
                <a:cubicBezTo>
                  <a:pt x="4822" y="12527"/>
                  <a:pt x="3441" y="15893"/>
                  <a:pt x="2224" y="18860"/>
                </a:cubicBezTo>
                <a:cubicBezTo>
                  <a:pt x="1869" y="19725"/>
                  <a:pt x="1533" y="20545"/>
                  <a:pt x="1247" y="21321"/>
                </a:cubicBezTo>
                <a:cubicBezTo>
                  <a:pt x="0" y="24732"/>
                  <a:pt x="1720" y="26670"/>
                  <a:pt x="3711" y="28914"/>
                </a:cubicBezTo>
                <a:cubicBezTo>
                  <a:pt x="4194" y="29456"/>
                  <a:pt x="4695" y="30019"/>
                  <a:pt x="5185" y="30637"/>
                </a:cubicBezTo>
                <a:cubicBezTo>
                  <a:pt x="5741" y="31331"/>
                  <a:pt x="6297" y="32019"/>
                  <a:pt x="6852" y="32700"/>
                </a:cubicBezTo>
                <a:cubicBezTo>
                  <a:pt x="9330" y="35756"/>
                  <a:pt x="11668" y="38638"/>
                  <a:pt x="13613" y="42059"/>
                </a:cubicBezTo>
                <a:cubicBezTo>
                  <a:pt x="13850" y="42477"/>
                  <a:pt x="14087" y="42875"/>
                  <a:pt x="14324" y="43266"/>
                </a:cubicBezTo>
                <a:cubicBezTo>
                  <a:pt x="15444" y="45142"/>
                  <a:pt x="16418" y="46760"/>
                  <a:pt x="16319" y="49027"/>
                </a:cubicBezTo>
                <a:cubicBezTo>
                  <a:pt x="16300" y="49481"/>
                  <a:pt x="16221" y="49905"/>
                  <a:pt x="16145" y="50313"/>
                </a:cubicBezTo>
                <a:cubicBezTo>
                  <a:pt x="16066" y="50747"/>
                  <a:pt x="15984" y="51190"/>
                  <a:pt x="15967" y="51677"/>
                </a:cubicBezTo>
                <a:lnTo>
                  <a:pt x="16559" y="51697"/>
                </a:lnTo>
                <a:cubicBezTo>
                  <a:pt x="16576" y="51256"/>
                  <a:pt x="16652" y="50849"/>
                  <a:pt x="16731" y="50421"/>
                </a:cubicBezTo>
                <a:cubicBezTo>
                  <a:pt x="16810" y="49994"/>
                  <a:pt x="16892" y="49550"/>
                  <a:pt x="16912" y="49053"/>
                </a:cubicBezTo>
                <a:cubicBezTo>
                  <a:pt x="17017" y="46609"/>
                  <a:pt x="15954" y="44835"/>
                  <a:pt x="14829" y="42960"/>
                </a:cubicBezTo>
                <a:cubicBezTo>
                  <a:pt x="14599" y="42573"/>
                  <a:pt x="14363" y="42178"/>
                  <a:pt x="14129" y="41766"/>
                </a:cubicBezTo>
                <a:cubicBezTo>
                  <a:pt x="12162" y="38302"/>
                  <a:pt x="9807" y="35400"/>
                  <a:pt x="7313" y="32328"/>
                </a:cubicBezTo>
                <a:cubicBezTo>
                  <a:pt x="6760" y="31647"/>
                  <a:pt x="6204" y="30959"/>
                  <a:pt x="5651" y="30265"/>
                </a:cubicBezTo>
                <a:cubicBezTo>
                  <a:pt x="5149" y="29637"/>
                  <a:pt x="4645" y="29068"/>
                  <a:pt x="4155" y="28519"/>
                </a:cubicBezTo>
                <a:cubicBezTo>
                  <a:pt x="2138" y="26245"/>
                  <a:pt x="678" y="24604"/>
                  <a:pt x="1806" y="21525"/>
                </a:cubicBezTo>
                <a:cubicBezTo>
                  <a:pt x="2086" y="20758"/>
                  <a:pt x="2418" y="19946"/>
                  <a:pt x="2773" y="19087"/>
                </a:cubicBezTo>
                <a:cubicBezTo>
                  <a:pt x="4016" y="16057"/>
                  <a:pt x="5425" y="12623"/>
                  <a:pt x="5165" y="9567"/>
                </a:cubicBezTo>
                <a:cubicBezTo>
                  <a:pt x="5066" y="8389"/>
                  <a:pt x="4675" y="7327"/>
                  <a:pt x="4300" y="6297"/>
                </a:cubicBezTo>
                <a:cubicBezTo>
                  <a:pt x="4230" y="6106"/>
                  <a:pt x="4158" y="5915"/>
                  <a:pt x="4092" y="5725"/>
                </a:cubicBezTo>
                <a:cubicBezTo>
                  <a:pt x="3776" y="4833"/>
                  <a:pt x="3553" y="3886"/>
                  <a:pt x="3339" y="2968"/>
                </a:cubicBezTo>
                <a:cubicBezTo>
                  <a:pt x="3105" y="1975"/>
                  <a:pt x="2865" y="948"/>
                  <a:pt x="2507" y="1"/>
                </a:cubicBez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8"/>
          <p:cNvSpPr txBox="1"/>
          <p:nvPr>
            <p:ph type="title"/>
          </p:nvPr>
        </p:nvSpPr>
        <p:spPr>
          <a:xfrm>
            <a:off x="720000" y="375287"/>
            <a:ext cx="4294800" cy="873000"/>
          </a:xfrm>
          <a:prstGeom prst="rect">
            <a:avLst/>
          </a:prstGeom>
        </p:spPr>
        <p:txBody>
          <a:bodyPr anchorCtr="0" anchor="t" bIns="91425" lIns="91425" spcFirstLastPara="1" rIns="91425" wrap="square" tIns="91425">
            <a:noAutofit/>
          </a:bodyPr>
          <a:lstStyle>
            <a:lvl1pPr lvl="0"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19" name="Google Shape;219;p28"/>
          <p:cNvSpPr txBox="1"/>
          <p:nvPr>
            <p:ph idx="1" type="subTitle"/>
          </p:nvPr>
        </p:nvSpPr>
        <p:spPr>
          <a:xfrm>
            <a:off x="713100" y="1394019"/>
            <a:ext cx="3434700" cy="14265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20" name="Google Shape;220;p28"/>
          <p:cNvSpPr txBox="1"/>
          <p:nvPr/>
        </p:nvSpPr>
        <p:spPr>
          <a:xfrm>
            <a:off x="720000" y="2966252"/>
            <a:ext cx="3772800" cy="615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300"/>
              </a:spcBef>
              <a:spcAft>
                <a:spcPts val="0"/>
              </a:spcAft>
              <a:buNone/>
            </a:pPr>
            <a:r>
              <a:rPr lang="en" sz="1000">
                <a:solidFill>
                  <a:schemeClr val="dk1"/>
                </a:solidFill>
                <a:latin typeface="Nunito"/>
                <a:ea typeface="Nunito"/>
                <a:cs typeface="Nunito"/>
                <a:sym typeface="Nunito"/>
              </a:rPr>
              <a:t>CREDITS: This presentation template was created by </a:t>
            </a:r>
            <a:r>
              <a:rPr lang="en" sz="1000">
                <a:solidFill>
                  <a:schemeClr val="dk1"/>
                </a:solidFill>
                <a:uFill>
                  <a:noFill/>
                </a:uFill>
                <a:latin typeface="Nunito"/>
                <a:ea typeface="Nunito"/>
                <a:cs typeface="Nunito"/>
                <a:sym typeface="Nunito"/>
                <a:hlinkClick r:id="rId2">
                  <a:extLst>
                    <a:ext uri="{A12FA001-AC4F-418D-AE19-62706E023703}">
                      <ahyp:hlinkClr val="tx"/>
                    </a:ext>
                  </a:extLst>
                </a:hlinkClick>
              </a:rPr>
              <a:t>Slidesgo</a:t>
            </a:r>
            <a:r>
              <a:rPr lang="en" sz="1000">
                <a:solidFill>
                  <a:schemeClr val="dk1"/>
                </a:solidFill>
                <a:latin typeface="Nunito"/>
                <a:ea typeface="Nunito"/>
                <a:cs typeface="Nunito"/>
                <a:sym typeface="Nunito"/>
              </a:rPr>
              <a:t>, including icons by </a:t>
            </a:r>
            <a:r>
              <a:rPr lang="en" sz="1000">
                <a:solidFill>
                  <a:schemeClr val="dk1"/>
                </a:solidFill>
                <a:uFill>
                  <a:noFill/>
                </a:uFill>
                <a:latin typeface="Nunito"/>
                <a:ea typeface="Nunito"/>
                <a:cs typeface="Nunito"/>
                <a:sym typeface="Nunito"/>
                <a:hlinkClick r:id="rId3">
                  <a:extLst>
                    <a:ext uri="{A12FA001-AC4F-418D-AE19-62706E023703}">
                      <ahyp:hlinkClr val="tx"/>
                    </a:ext>
                  </a:extLst>
                </a:hlinkClick>
              </a:rPr>
              <a:t>Flaticon</a:t>
            </a:r>
            <a:r>
              <a:rPr lang="en" sz="1000">
                <a:solidFill>
                  <a:schemeClr val="dk1"/>
                </a:solidFill>
                <a:latin typeface="Nunito"/>
                <a:ea typeface="Nunito"/>
                <a:cs typeface="Nunito"/>
                <a:sym typeface="Nunito"/>
              </a:rPr>
              <a:t> &amp; images by </a:t>
            </a:r>
            <a:r>
              <a:rPr lang="en" sz="1000">
                <a:solidFill>
                  <a:schemeClr val="dk1"/>
                </a:solidFill>
                <a:uFill>
                  <a:noFill/>
                </a:uFill>
                <a:latin typeface="Nunito"/>
                <a:ea typeface="Nunito"/>
                <a:cs typeface="Nunito"/>
                <a:sym typeface="Nunito"/>
                <a:hlinkClick r:id="rId4">
                  <a:extLst>
                    <a:ext uri="{A12FA001-AC4F-418D-AE19-62706E023703}">
                      <ahyp:hlinkClr val="tx"/>
                    </a:ext>
                  </a:extLst>
                </a:hlinkClick>
              </a:rPr>
              <a:t>Freepik</a:t>
            </a:r>
            <a:endParaRPr sz="1000">
              <a:solidFill>
                <a:schemeClr val="dk1"/>
              </a:solidFill>
              <a:highlight>
                <a:srgbClr val="DFDEFC"/>
              </a:highlight>
              <a:latin typeface="Nunito"/>
              <a:ea typeface="Nunito"/>
              <a:cs typeface="Nunito"/>
              <a:sym typeface="Nunito"/>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221" name="Shape 22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theme" Target="../theme/theme2.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1pPr>
            <a:lvl2pPr lvl="1"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2pPr>
            <a:lvl3pPr lvl="2"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3pPr>
            <a:lvl4pPr lvl="3"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4pPr>
            <a:lvl5pPr lvl="4"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5pPr>
            <a:lvl6pPr lvl="5"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6pPr>
            <a:lvl7pPr lvl="6"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7pPr>
            <a:lvl8pPr lvl="7"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8pPr>
            <a:lvl9pPr lvl="8" rtl="0">
              <a:spcBef>
                <a:spcPts val="0"/>
              </a:spcBef>
              <a:spcAft>
                <a:spcPts val="0"/>
              </a:spcAft>
              <a:buClr>
                <a:schemeClr val="dk1"/>
              </a:buClr>
              <a:buSzPts val="3500"/>
              <a:buFont typeface="Abril Fatface"/>
              <a:buNone/>
              <a:defRPr sz="3500">
                <a:solidFill>
                  <a:schemeClr val="dk1"/>
                </a:solidFill>
                <a:latin typeface="Abril Fatface"/>
                <a:ea typeface="Abril Fatface"/>
                <a:cs typeface="Abril Fatface"/>
                <a:sym typeface="Abril Fatface"/>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indent="-317500" lvl="1" marL="914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2pPr>
            <a:lvl3pPr indent="-317500" lvl="2" marL="1371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3pPr>
            <a:lvl4pPr indent="-317500" lvl="3" marL="18288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4pPr>
            <a:lvl5pPr indent="-317500" lvl="4" marL="22860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5pPr>
            <a:lvl6pPr indent="-317500" lvl="5" marL="27432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6pPr>
            <a:lvl7pPr indent="-317500" lvl="6" marL="32004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7pPr>
            <a:lvl8pPr indent="-317500" lvl="7" marL="3657600">
              <a:lnSpc>
                <a:spcPct val="115000"/>
              </a:lnSpc>
              <a:spcBef>
                <a:spcPts val="1600"/>
              </a:spcBef>
              <a:spcAft>
                <a:spcPts val="0"/>
              </a:spcAft>
              <a:buClr>
                <a:schemeClr val="dk1"/>
              </a:buClr>
              <a:buSzPts val="1400"/>
              <a:buFont typeface="Nunito"/>
              <a:buChar char="○"/>
              <a:defRPr>
                <a:solidFill>
                  <a:schemeClr val="dk1"/>
                </a:solidFill>
                <a:latin typeface="Nunito"/>
                <a:ea typeface="Nunito"/>
                <a:cs typeface="Nunito"/>
                <a:sym typeface="Nunito"/>
              </a:defRPr>
            </a:lvl8pPr>
            <a:lvl9pPr indent="-317500" lvl="8" marL="4114800">
              <a:lnSpc>
                <a:spcPct val="115000"/>
              </a:lnSpc>
              <a:spcBef>
                <a:spcPts val="1600"/>
              </a:spcBef>
              <a:spcAft>
                <a:spcPts val="1600"/>
              </a:spcAft>
              <a:buClr>
                <a:schemeClr val="dk1"/>
              </a:buClr>
              <a:buSzPts val="1400"/>
              <a:buFont typeface="Nunito"/>
              <a:buChar char="■"/>
              <a:defRPr>
                <a:solidFill>
                  <a:schemeClr val="dk1"/>
                </a:solidFill>
                <a:latin typeface="Nunito"/>
                <a:ea typeface="Nunito"/>
                <a:cs typeface="Nunito"/>
                <a:sym typeface="Nuni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4.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24.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21.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2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2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5.png"/><Relationship Id="rId11" Type="http://schemas.openxmlformats.org/officeDocument/2006/relationships/image" Target="../media/image11.png"/><Relationship Id="rId10" Type="http://schemas.openxmlformats.org/officeDocument/2006/relationships/image" Target="../media/image13.png"/><Relationship Id="rId13" Type="http://schemas.openxmlformats.org/officeDocument/2006/relationships/hyperlink" Target="https://purdue0-my.sharepoint.com/:v:/g/personal/toyeleke_purdue_edu/IQABzFAO0BioSqabnswUbQaIAbuQnZWLfRvsSeAi0OzlfCM?e=4gPedE" TargetMode="External"/><Relationship Id="rId12"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5.png"/><Relationship Id="rId11" Type="http://schemas.openxmlformats.org/officeDocument/2006/relationships/image" Target="../media/image11.png"/><Relationship Id="rId10" Type="http://schemas.openxmlformats.org/officeDocument/2006/relationships/image" Target="../media/image13.png"/><Relationship Id="rId12"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3.png"/><Relationship Id="rId4" Type="http://schemas.openxmlformats.org/officeDocument/2006/relationships/image" Target="../media/image8.png"/><Relationship Id="rId9" Type="http://schemas.openxmlformats.org/officeDocument/2006/relationships/image" Target="../media/image7.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15.png"/><Relationship Id="rId11" Type="http://schemas.openxmlformats.org/officeDocument/2006/relationships/image" Target="../media/image11.png"/><Relationship Id="rId10" Type="http://schemas.openxmlformats.org/officeDocument/2006/relationships/image" Target="../media/image13.png"/><Relationship Id="rId12" Type="http://schemas.openxmlformats.org/officeDocument/2006/relationships/image" Target="../media/image1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0"/>
          <p:cNvSpPr txBox="1"/>
          <p:nvPr>
            <p:ph type="ctrTitle"/>
          </p:nvPr>
        </p:nvSpPr>
        <p:spPr>
          <a:xfrm>
            <a:off x="713100" y="1481055"/>
            <a:ext cx="6816600" cy="2414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Accenture - Ralph Lauren</a:t>
            </a:r>
            <a:endParaRPr/>
          </a:p>
        </p:txBody>
      </p:sp>
      <p:sp>
        <p:nvSpPr>
          <p:cNvPr id="227" name="Google Shape;227;p30"/>
          <p:cNvSpPr txBox="1"/>
          <p:nvPr>
            <p:ph idx="1" type="subTitle"/>
          </p:nvPr>
        </p:nvSpPr>
        <p:spPr>
          <a:xfrm>
            <a:off x="713100" y="3995538"/>
            <a:ext cx="4528800" cy="475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GenAI in Receivables Management</a:t>
            </a:r>
            <a:endParaRPr/>
          </a:p>
        </p:txBody>
      </p:sp>
      <p:cxnSp>
        <p:nvCxnSpPr>
          <p:cNvPr id="228" name="Google Shape;228;p30"/>
          <p:cNvCxnSpPr>
            <a:endCxn id="229"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29" name="Google Shape;229;p30"/>
          <p:cNvSpPr txBox="1"/>
          <p:nvPr>
            <p:ph idx="1" type="subTitle"/>
          </p:nvPr>
        </p:nvSpPr>
        <p:spPr>
          <a:xfrm>
            <a:off x="6331500" y="4630647"/>
            <a:ext cx="2585400" cy="4758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sz="1200"/>
              <a:t>Purdue University</a:t>
            </a:r>
            <a:endParaRPr sz="1200"/>
          </a:p>
        </p:txBody>
      </p:sp>
      <p:pic>
        <p:nvPicPr>
          <p:cNvPr id="230" name="Google Shape;230;p30"/>
          <p:cNvPicPr preferRelativeResize="0"/>
          <p:nvPr/>
        </p:nvPicPr>
        <p:blipFill>
          <a:blip r:embed="rId3">
            <a:alphaModFix/>
          </a:blip>
          <a:stretch>
            <a:fillRect/>
          </a:stretch>
        </p:blipFill>
        <p:spPr>
          <a:xfrm>
            <a:off x="594781" y="400600"/>
            <a:ext cx="4445246" cy="4758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1"/>
          <p:cNvSpPr txBox="1"/>
          <p:nvPr>
            <p:ph idx="15" type="title"/>
          </p:nvPr>
        </p:nvSpPr>
        <p:spPr>
          <a:xfrm>
            <a:off x="720000" y="52122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T</a:t>
            </a:r>
            <a:r>
              <a:rPr lang="en"/>
              <a:t>able of contents</a:t>
            </a:r>
            <a:endParaRPr/>
          </a:p>
        </p:txBody>
      </p:sp>
      <p:sp>
        <p:nvSpPr>
          <p:cNvPr id="236" name="Google Shape;236;p31"/>
          <p:cNvSpPr txBox="1"/>
          <p:nvPr>
            <p:ph idx="1" type="subTitle"/>
          </p:nvPr>
        </p:nvSpPr>
        <p:spPr>
          <a:xfrm>
            <a:off x="1497800" y="1489792"/>
            <a:ext cx="2486100" cy="66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 Ledger</a:t>
            </a:r>
            <a:endParaRPr/>
          </a:p>
        </p:txBody>
      </p:sp>
      <p:sp>
        <p:nvSpPr>
          <p:cNvPr id="237" name="Google Shape;237;p31"/>
          <p:cNvSpPr txBox="1"/>
          <p:nvPr>
            <p:ph idx="2" type="subTitle"/>
          </p:nvPr>
        </p:nvSpPr>
        <p:spPr>
          <a:xfrm>
            <a:off x="1497800" y="2119128"/>
            <a:ext cx="2486100" cy="5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Accounts Receivable Agent &amp; </a:t>
            </a:r>
            <a:r>
              <a:rPr lang="en"/>
              <a:t>Accounts Receivable</a:t>
            </a:r>
            <a:endParaRPr/>
          </a:p>
        </p:txBody>
      </p:sp>
      <p:sp>
        <p:nvSpPr>
          <p:cNvPr id="238" name="Google Shape;238;p31"/>
          <p:cNvSpPr txBox="1"/>
          <p:nvPr>
            <p:ph type="title"/>
          </p:nvPr>
        </p:nvSpPr>
        <p:spPr>
          <a:xfrm>
            <a:off x="720000" y="1458160"/>
            <a:ext cx="798900" cy="357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01.</a:t>
            </a:r>
            <a:endParaRPr/>
          </a:p>
        </p:txBody>
      </p:sp>
      <p:sp>
        <p:nvSpPr>
          <p:cNvPr id="239" name="Google Shape;239;p31"/>
          <p:cNvSpPr txBox="1"/>
          <p:nvPr>
            <p:ph idx="3" type="subTitle"/>
          </p:nvPr>
        </p:nvSpPr>
        <p:spPr>
          <a:xfrm>
            <a:off x="1497800" y="3288764"/>
            <a:ext cx="2486100" cy="66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&amp; Revenue</a:t>
            </a:r>
            <a:endParaRPr/>
          </a:p>
        </p:txBody>
      </p:sp>
      <p:sp>
        <p:nvSpPr>
          <p:cNvPr id="240" name="Google Shape;240;p31"/>
          <p:cNvSpPr txBox="1"/>
          <p:nvPr>
            <p:ph idx="4" type="subTitle"/>
          </p:nvPr>
        </p:nvSpPr>
        <p:spPr>
          <a:xfrm>
            <a:off x="1497800" y="3918099"/>
            <a:ext cx="2486100" cy="5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Behavioral Insights &amp; Agent for Incorrect Credits</a:t>
            </a:r>
            <a:endParaRPr/>
          </a:p>
        </p:txBody>
      </p:sp>
      <p:sp>
        <p:nvSpPr>
          <p:cNvPr id="241" name="Google Shape;241;p31"/>
          <p:cNvSpPr txBox="1"/>
          <p:nvPr>
            <p:ph idx="5" type="title"/>
          </p:nvPr>
        </p:nvSpPr>
        <p:spPr>
          <a:xfrm>
            <a:off x="720000" y="3257135"/>
            <a:ext cx="798900" cy="357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03.</a:t>
            </a:r>
            <a:endParaRPr/>
          </a:p>
        </p:txBody>
      </p:sp>
      <p:sp>
        <p:nvSpPr>
          <p:cNvPr id="242" name="Google Shape;242;p31"/>
          <p:cNvSpPr txBox="1"/>
          <p:nvPr>
            <p:ph idx="6" type="subTitle"/>
          </p:nvPr>
        </p:nvSpPr>
        <p:spPr>
          <a:xfrm>
            <a:off x="5944800" y="1489792"/>
            <a:ext cx="2486100" cy="66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Disputes</a:t>
            </a:r>
            <a:endParaRPr/>
          </a:p>
        </p:txBody>
      </p:sp>
      <p:sp>
        <p:nvSpPr>
          <p:cNvPr id="243" name="Google Shape;243;p31"/>
          <p:cNvSpPr txBox="1"/>
          <p:nvPr>
            <p:ph idx="7" type="subTitle"/>
          </p:nvPr>
        </p:nvSpPr>
        <p:spPr>
          <a:xfrm>
            <a:off x="5944800" y="2119127"/>
            <a:ext cx="2486100" cy="52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Dispute Resolution Agent &amp; Contract Accounting </a:t>
            </a:r>
            <a:endParaRPr/>
          </a:p>
        </p:txBody>
      </p:sp>
      <p:sp>
        <p:nvSpPr>
          <p:cNvPr id="244" name="Google Shape;244;p31"/>
          <p:cNvSpPr txBox="1"/>
          <p:nvPr>
            <p:ph idx="8" type="title"/>
          </p:nvPr>
        </p:nvSpPr>
        <p:spPr>
          <a:xfrm>
            <a:off x="4986065" y="1458160"/>
            <a:ext cx="989700" cy="3570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02.</a:t>
            </a:r>
            <a:endParaRPr/>
          </a:p>
        </p:txBody>
      </p:sp>
      <p:cxnSp>
        <p:nvCxnSpPr>
          <p:cNvPr id="245" name="Google Shape;245;p31"/>
          <p:cNvCxnSpPr>
            <a:endCxn id="246"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46" name="Google Shape;246;p31"/>
          <p:cNvSpPr txBox="1"/>
          <p:nvPr/>
        </p:nvSpPr>
        <p:spPr>
          <a:xfrm>
            <a:off x="6331500" y="4630647"/>
            <a:ext cx="2585400" cy="47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Nunito"/>
              <a:ea typeface="Nunito"/>
              <a:cs typeface="Nunito"/>
              <a:sym typeface="Nunito"/>
            </a:endParaRPr>
          </a:p>
          <a:p>
            <a:pPr indent="0" lvl="0" marL="0" rtl="0" algn="r">
              <a:spcBef>
                <a:spcPts val="0"/>
              </a:spcBef>
              <a:spcAft>
                <a:spcPts val="0"/>
              </a:spcAft>
              <a:buNone/>
            </a:pPr>
            <a:r>
              <a:rPr lang="en" sz="1200">
                <a:solidFill>
                  <a:schemeClr val="dk1"/>
                </a:solidFill>
                <a:latin typeface="Nunito"/>
                <a:ea typeface="Nunito"/>
                <a:cs typeface="Nunito"/>
                <a:sym typeface="Nunito"/>
              </a:rPr>
              <a:t>Purdue University</a:t>
            </a:r>
            <a:endParaRPr sz="1200">
              <a:solidFill>
                <a:schemeClr val="dk1"/>
              </a:solidFill>
              <a:latin typeface="Nunito"/>
              <a:ea typeface="Nunito"/>
              <a:cs typeface="Nunito"/>
              <a:sym typeface="Nunito"/>
            </a:endParaRPr>
          </a:p>
          <a:p>
            <a:pPr indent="0" lvl="0" marL="0" rtl="0" algn="r">
              <a:spcBef>
                <a:spcPts val="0"/>
              </a:spcBef>
              <a:spcAft>
                <a:spcPts val="0"/>
              </a:spcAft>
              <a:buNone/>
            </a:pPr>
            <a:r>
              <a:t/>
            </a:r>
            <a:endParaRPr sz="1200">
              <a:solidFill>
                <a:schemeClr val="dk1"/>
              </a:solidFill>
              <a:latin typeface="Nunito"/>
              <a:ea typeface="Nunito"/>
              <a:cs typeface="Nunito"/>
              <a:sym typeface="Nunito"/>
            </a:endParaRPr>
          </a:p>
        </p:txBody>
      </p:sp>
      <p:pic>
        <p:nvPicPr>
          <p:cNvPr id="247" name="Google Shape;247;p31"/>
          <p:cNvPicPr preferRelativeResize="0"/>
          <p:nvPr/>
        </p:nvPicPr>
        <p:blipFill>
          <a:blip r:embed="rId3">
            <a:alphaModFix/>
          </a:blip>
          <a:stretch>
            <a:fillRect/>
          </a:stretch>
        </p:blipFill>
        <p:spPr>
          <a:xfrm>
            <a:off x="0" y="1326"/>
            <a:ext cx="3335324" cy="3570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2"/>
          <p:cNvSpPr txBox="1"/>
          <p:nvPr>
            <p:ph type="title"/>
          </p:nvPr>
        </p:nvSpPr>
        <p:spPr>
          <a:xfrm>
            <a:off x="720000" y="2195100"/>
            <a:ext cx="4337700" cy="146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AR Ledger</a:t>
            </a:r>
            <a:endParaRPr/>
          </a:p>
        </p:txBody>
      </p:sp>
      <p:sp>
        <p:nvSpPr>
          <p:cNvPr id="253" name="Google Shape;253;p32"/>
          <p:cNvSpPr txBox="1"/>
          <p:nvPr>
            <p:ph idx="2" type="title"/>
          </p:nvPr>
        </p:nvSpPr>
        <p:spPr>
          <a:xfrm>
            <a:off x="720000" y="1178725"/>
            <a:ext cx="5067600" cy="100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254" name="Google Shape;254;p32"/>
          <p:cNvSpPr txBox="1"/>
          <p:nvPr>
            <p:ph idx="1" type="subTitle"/>
          </p:nvPr>
        </p:nvSpPr>
        <p:spPr>
          <a:xfrm>
            <a:off x="720000" y="3676775"/>
            <a:ext cx="5067600" cy="713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Saandiya, Tolu, Parth</a:t>
            </a:r>
            <a:endParaRPr/>
          </a:p>
        </p:txBody>
      </p:sp>
      <p:cxnSp>
        <p:nvCxnSpPr>
          <p:cNvPr id="255" name="Google Shape;255;p32"/>
          <p:cNvCxnSpPr>
            <a:endCxn id="256"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256" name="Google Shape;256;p32"/>
          <p:cNvSpPr txBox="1"/>
          <p:nvPr/>
        </p:nvSpPr>
        <p:spPr>
          <a:xfrm>
            <a:off x="6331500" y="4630647"/>
            <a:ext cx="2585400" cy="47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Nunito"/>
              <a:ea typeface="Nunito"/>
              <a:cs typeface="Nunito"/>
              <a:sym typeface="Nunito"/>
            </a:endParaRPr>
          </a:p>
          <a:p>
            <a:pPr indent="0" lvl="0" marL="0" rtl="0" algn="r">
              <a:spcBef>
                <a:spcPts val="0"/>
              </a:spcBef>
              <a:spcAft>
                <a:spcPts val="0"/>
              </a:spcAft>
              <a:buNone/>
            </a:pPr>
            <a:r>
              <a:rPr lang="en" sz="1200">
                <a:solidFill>
                  <a:schemeClr val="dk1"/>
                </a:solidFill>
                <a:latin typeface="Nunito"/>
                <a:ea typeface="Nunito"/>
                <a:cs typeface="Nunito"/>
                <a:sym typeface="Nunito"/>
              </a:rPr>
              <a:t>Purdue University</a:t>
            </a:r>
            <a:endParaRPr sz="1200">
              <a:solidFill>
                <a:schemeClr val="dk1"/>
              </a:solidFill>
              <a:latin typeface="Nunito"/>
              <a:ea typeface="Nunito"/>
              <a:cs typeface="Nunito"/>
              <a:sym typeface="Nunito"/>
            </a:endParaRPr>
          </a:p>
          <a:p>
            <a:pPr indent="0" lvl="0" marL="0" rtl="0" algn="r">
              <a:spcBef>
                <a:spcPts val="0"/>
              </a:spcBef>
              <a:spcAft>
                <a:spcPts val="0"/>
              </a:spcAft>
              <a:buNone/>
            </a:pPr>
            <a:r>
              <a:t/>
            </a:r>
            <a:endParaRPr sz="1200">
              <a:solidFill>
                <a:schemeClr val="dk1"/>
              </a:solidFill>
              <a:latin typeface="Nunito"/>
              <a:ea typeface="Nunito"/>
              <a:cs typeface="Nunito"/>
              <a:sym typeface="Nunito"/>
            </a:endParaRPr>
          </a:p>
        </p:txBody>
      </p:sp>
      <p:pic>
        <p:nvPicPr>
          <p:cNvPr id="257" name="Google Shape;257;p32"/>
          <p:cNvPicPr preferRelativeResize="0"/>
          <p:nvPr/>
        </p:nvPicPr>
        <p:blipFill>
          <a:blip r:embed="rId3">
            <a:alphaModFix/>
          </a:blip>
          <a:stretch>
            <a:fillRect/>
          </a:stretch>
        </p:blipFill>
        <p:spPr>
          <a:xfrm>
            <a:off x="0" y="1"/>
            <a:ext cx="3335324" cy="357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3"/>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Current State and Agent Overview</a:t>
            </a:r>
            <a:endParaRPr sz="2600"/>
          </a:p>
        </p:txBody>
      </p:sp>
      <p:sp>
        <p:nvSpPr>
          <p:cNvPr id="263" name="Google Shape;263;p33"/>
          <p:cNvSpPr txBox="1"/>
          <p:nvPr>
            <p:ph type="title"/>
          </p:nvPr>
        </p:nvSpPr>
        <p:spPr>
          <a:xfrm>
            <a:off x="815004" y="2461493"/>
            <a:ext cx="28113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Human-Driven Process</a:t>
            </a:r>
            <a:endParaRPr sz="1818"/>
          </a:p>
        </p:txBody>
      </p:sp>
      <p:sp>
        <p:nvSpPr>
          <p:cNvPr id="264" name="Google Shape;264;p33"/>
          <p:cNvSpPr txBox="1"/>
          <p:nvPr>
            <p:ph idx="3" type="subTitle"/>
          </p:nvPr>
        </p:nvSpPr>
        <p:spPr>
          <a:xfrm>
            <a:off x="472133" y="2832647"/>
            <a:ext cx="3388800" cy="2246700"/>
          </a:xfrm>
          <a:prstGeom prst="rect">
            <a:avLst/>
          </a:prstGeom>
        </p:spPr>
        <p:txBody>
          <a:bodyPr anchorCtr="0" anchor="t" bIns="66525" lIns="66525" spcFirstLastPara="1" rIns="66525" wrap="square" tIns="66525">
            <a:noAutofit/>
          </a:bodyPr>
          <a:lstStyle/>
          <a:p>
            <a:pPr indent="0" lvl="0" marL="0" rtl="0" algn="l">
              <a:spcBef>
                <a:spcPts val="0"/>
              </a:spcBef>
              <a:spcAft>
                <a:spcPts val="0"/>
              </a:spcAft>
              <a:buNone/>
            </a:pPr>
            <a:r>
              <a:rPr lang="en" sz="1309"/>
              <a:t>L5 Step: Apply incoming payments to open receivables</a:t>
            </a:r>
            <a:endParaRPr sz="1309"/>
          </a:p>
          <a:p>
            <a:pPr indent="-311757" lvl="0" marL="457200" rtl="0" algn="l">
              <a:spcBef>
                <a:spcPts val="0"/>
              </a:spcBef>
              <a:spcAft>
                <a:spcPts val="0"/>
              </a:spcAft>
              <a:buSzPts val="1310"/>
              <a:buChar char="●"/>
            </a:pPr>
            <a:r>
              <a:rPr lang="en" sz="1309"/>
              <a:t>Payments received (ACH / Wire / Cash / Check)</a:t>
            </a:r>
            <a:endParaRPr sz="1309"/>
          </a:p>
          <a:p>
            <a:pPr indent="-311757" lvl="0" marL="457200" rtl="0" algn="l">
              <a:spcBef>
                <a:spcPts val="0"/>
              </a:spcBef>
              <a:spcAft>
                <a:spcPts val="0"/>
              </a:spcAft>
              <a:buSzPts val="1310"/>
              <a:buChar char="●"/>
            </a:pPr>
            <a:r>
              <a:rPr lang="en" sz="1309"/>
              <a:t>AR accountants manually need to:</a:t>
            </a:r>
            <a:endParaRPr sz="1309"/>
          </a:p>
          <a:p>
            <a:pPr indent="-311757" lvl="1" marL="914400" rtl="0" algn="l">
              <a:spcBef>
                <a:spcPts val="0"/>
              </a:spcBef>
              <a:spcAft>
                <a:spcPts val="0"/>
              </a:spcAft>
              <a:buSzPts val="1310"/>
              <a:buChar char="○"/>
            </a:pPr>
            <a:r>
              <a:rPr lang="en" sz="1309"/>
              <a:t>Investigate remittance data</a:t>
            </a:r>
            <a:endParaRPr sz="1309"/>
          </a:p>
          <a:p>
            <a:pPr indent="-311757" lvl="1" marL="914400" rtl="0" algn="l">
              <a:spcBef>
                <a:spcPts val="0"/>
              </a:spcBef>
              <a:spcAft>
                <a:spcPts val="0"/>
              </a:spcAft>
              <a:buSzPts val="1310"/>
              <a:buChar char="○"/>
            </a:pPr>
            <a:r>
              <a:rPr lang="en" sz="1309"/>
              <a:t>Match payments to invoices</a:t>
            </a:r>
            <a:endParaRPr sz="1309"/>
          </a:p>
          <a:p>
            <a:pPr indent="-311757" lvl="1" marL="914400" rtl="0" algn="l">
              <a:spcBef>
                <a:spcPts val="0"/>
              </a:spcBef>
              <a:spcAft>
                <a:spcPts val="0"/>
              </a:spcAft>
              <a:buSzPts val="1310"/>
              <a:buChar char="○"/>
            </a:pPr>
            <a:r>
              <a:rPr lang="en" sz="1309"/>
              <a:t>Clear invoices or flag issues</a:t>
            </a:r>
            <a:endParaRPr sz="1309"/>
          </a:p>
          <a:p>
            <a:pPr indent="-311757" lvl="0" marL="457200" rtl="0" algn="l">
              <a:spcBef>
                <a:spcPts val="0"/>
              </a:spcBef>
              <a:spcAft>
                <a:spcPts val="0"/>
              </a:spcAft>
              <a:buSzPts val="1310"/>
              <a:buChar char="●"/>
            </a:pPr>
            <a:r>
              <a:rPr lang="en" sz="1309"/>
              <a:t>Lot of high-volume repetitive work</a:t>
            </a:r>
            <a:endParaRPr sz="1309"/>
          </a:p>
          <a:p>
            <a:pPr indent="-311757" lvl="0" marL="457200" rtl="0" algn="l">
              <a:spcBef>
                <a:spcPts val="0"/>
              </a:spcBef>
              <a:spcAft>
                <a:spcPts val="0"/>
              </a:spcAft>
              <a:buSzPts val="1310"/>
              <a:buChar char="●"/>
            </a:pPr>
            <a:r>
              <a:rPr lang="en" sz="1309"/>
              <a:t>Major </a:t>
            </a:r>
            <a:r>
              <a:rPr lang="en" sz="1309" u="sng"/>
              <a:t>processing bottleneck</a:t>
            </a:r>
            <a:endParaRPr sz="1309" u="sng"/>
          </a:p>
          <a:p>
            <a:pPr indent="0" lvl="0" marL="0" rtl="0" algn="l">
              <a:spcBef>
                <a:spcPts val="0"/>
              </a:spcBef>
              <a:spcAft>
                <a:spcPts val="0"/>
              </a:spcAft>
              <a:buNone/>
            </a:pPr>
            <a:r>
              <a:t/>
            </a:r>
            <a:endParaRPr sz="1309"/>
          </a:p>
        </p:txBody>
      </p:sp>
      <p:sp>
        <p:nvSpPr>
          <p:cNvPr id="265" name="Google Shape;265;p33"/>
          <p:cNvSpPr txBox="1"/>
          <p:nvPr>
            <p:ph type="title"/>
          </p:nvPr>
        </p:nvSpPr>
        <p:spPr>
          <a:xfrm>
            <a:off x="2567700" y="950188"/>
            <a:ext cx="40086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SAP Cash Application (AR Agent)</a:t>
            </a:r>
            <a:endParaRPr sz="1818"/>
          </a:p>
        </p:txBody>
      </p:sp>
      <p:sp>
        <p:nvSpPr>
          <p:cNvPr id="266" name="Google Shape;266;p33"/>
          <p:cNvSpPr txBox="1"/>
          <p:nvPr>
            <p:ph idx="3" type="subTitle"/>
          </p:nvPr>
        </p:nvSpPr>
        <p:spPr>
          <a:xfrm>
            <a:off x="570775" y="1402700"/>
            <a:ext cx="3832500" cy="896400"/>
          </a:xfrm>
          <a:prstGeom prst="rect">
            <a:avLst/>
          </a:prstGeom>
        </p:spPr>
        <p:txBody>
          <a:bodyPr anchorCtr="0" anchor="t" bIns="66525" lIns="66525" spcFirstLastPara="1" rIns="66525" wrap="square" tIns="66525">
            <a:noAutofit/>
          </a:bodyPr>
          <a:lstStyle/>
          <a:p>
            <a:pPr indent="-311757" lvl="0" marL="457200" rtl="0" algn="l">
              <a:spcBef>
                <a:spcPts val="0"/>
              </a:spcBef>
              <a:spcAft>
                <a:spcPts val="0"/>
              </a:spcAft>
              <a:buSzPts val="1310"/>
              <a:buChar char="●"/>
            </a:pPr>
            <a:r>
              <a:rPr lang="en" sz="1309"/>
              <a:t>Automatically match incoming payments to open invoices</a:t>
            </a:r>
            <a:endParaRPr sz="1309"/>
          </a:p>
          <a:p>
            <a:pPr indent="-311757" lvl="0" marL="457200" rtl="0" algn="l">
              <a:spcBef>
                <a:spcPts val="0"/>
              </a:spcBef>
              <a:spcAft>
                <a:spcPts val="0"/>
              </a:spcAft>
              <a:buSzPts val="1310"/>
              <a:buChar char="●"/>
            </a:pPr>
            <a:r>
              <a:rPr lang="en" sz="1309"/>
              <a:t>Read bank statements + remittance data</a:t>
            </a:r>
            <a:endParaRPr sz="1309"/>
          </a:p>
          <a:p>
            <a:pPr indent="0" lvl="0" marL="0" rtl="0" algn="l">
              <a:spcBef>
                <a:spcPts val="0"/>
              </a:spcBef>
              <a:spcAft>
                <a:spcPts val="0"/>
              </a:spcAft>
              <a:buNone/>
            </a:pPr>
            <a:r>
              <a:t/>
            </a:r>
            <a:endParaRPr sz="1309"/>
          </a:p>
        </p:txBody>
      </p:sp>
      <p:pic>
        <p:nvPicPr>
          <p:cNvPr id="267" name="Google Shape;267;p33"/>
          <p:cNvPicPr preferRelativeResize="0"/>
          <p:nvPr/>
        </p:nvPicPr>
        <p:blipFill>
          <a:blip r:embed="rId3">
            <a:alphaModFix/>
          </a:blip>
          <a:stretch>
            <a:fillRect/>
          </a:stretch>
        </p:blipFill>
        <p:spPr>
          <a:xfrm>
            <a:off x="548325" y="5925"/>
            <a:ext cx="2321924" cy="248525"/>
          </a:xfrm>
          <a:prstGeom prst="rect">
            <a:avLst/>
          </a:prstGeom>
          <a:noFill/>
          <a:ln>
            <a:noFill/>
          </a:ln>
        </p:spPr>
      </p:pic>
      <p:sp>
        <p:nvSpPr>
          <p:cNvPr id="268" name="Google Shape;268;p33"/>
          <p:cNvSpPr txBox="1"/>
          <p:nvPr>
            <p:ph idx="2" type="title"/>
          </p:nvPr>
        </p:nvSpPr>
        <p:spPr>
          <a:xfrm>
            <a:off x="5216052" y="2457908"/>
            <a:ext cx="2547600" cy="413700"/>
          </a:xfrm>
          <a:prstGeom prst="rect">
            <a:avLst/>
          </a:prstGeom>
        </p:spPr>
        <p:txBody>
          <a:bodyPr anchorCtr="0" anchor="t" bIns="67675" lIns="67675" spcFirstLastPara="1" rIns="67675" wrap="square" tIns="67675">
            <a:noAutofit/>
          </a:bodyPr>
          <a:lstStyle/>
          <a:p>
            <a:pPr indent="0" lvl="0" marL="0" rtl="0" algn="ctr">
              <a:spcBef>
                <a:spcPts val="0"/>
              </a:spcBef>
              <a:spcAft>
                <a:spcPts val="0"/>
              </a:spcAft>
              <a:buNone/>
            </a:pPr>
            <a:r>
              <a:rPr lang="en" sz="1850"/>
              <a:t>AI-Driven Process</a:t>
            </a:r>
            <a:endParaRPr sz="1850"/>
          </a:p>
        </p:txBody>
      </p:sp>
      <p:sp>
        <p:nvSpPr>
          <p:cNvPr id="269" name="Google Shape;269;p33"/>
          <p:cNvSpPr txBox="1"/>
          <p:nvPr>
            <p:ph idx="1" type="subTitle"/>
          </p:nvPr>
        </p:nvSpPr>
        <p:spPr>
          <a:xfrm>
            <a:off x="4130650" y="2715600"/>
            <a:ext cx="4718400" cy="2176800"/>
          </a:xfrm>
          <a:prstGeom prst="rect">
            <a:avLst/>
          </a:prstGeom>
        </p:spPr>
        <p:txBody>
          <a:bodyPr anchorCtr="0" anchor="t" bIns="67675" lIns="67675" spcFirstLastPara="1" rIns="67675" wrap="square" tIns="67675">
            <a:noAutofit/>
          </a:bodyPr>
          <a:lstStyle/>
          <a:p>
            <a:pPr indent="-251757" lvl="0" marL="338415" rtl="0" algn="l">
              <a:lnSpc>
                <a:spcPct val="115000"/>
              </a:lnSpc>
              <a:spcBef>
                <a:spcPts val="888"/>
              </a:spcBef>
              <a:spcAft>
                <a:spcPts val="0"/>
              </a:spcAft>
              <a:buClr>
                <a:srgbClr val="000000"/>
              </a:buClr>
              <a:buSzPts val="1300"/>
              <a:buFont typeface="Arial"/>
              <a:buChar char="●"/>
            </a:pPr>
            <a:r>
              <a:rPr lang="en" sz="1300">
                <a:solidFill>
                  <a:srgbClr val="000000"/>
                </a:solidFill>
              </a:rPr>
              <a:t>Autonomous Matching:</a:t>
            </a:r>
            <a:br>
              <a:rPr lang="en" sz="1300">
                <a:solidFill>
                  <a:srgbClr val="000000"/>
                </a:solidFill>
              </a:rPr>
            </a:br>
            <a:r>
              <a:rPr lang="en" sz="1300">
                <a:solidFill>
                  <a:srgbClr val="000000"/>
                </a:solidFill>
              </a:rPr>
              <a:t>AI scans bank statements and remittance data to propose invoice matches</a:t>
            </a:r>
            <a:endParaRPr sz="1300">
              <a:solidFill>
                <a:srgbClr val="000000"/>
              </a:solidFill>
            </a:endParaRPr>
          </a:p>
          <a:p>
            <a:pPr indent="-251757" lvl="0" marL="338415" rtl="0" algn="l">
              <a:lnSpc>
                <a:spcPct val="115000"/>
              </a:lnSpc>
              <a:spcBef>
                <a:spcPts val="0"/>
              </a:spcBef>
              <a:spcAft>
                <a:spcPts val="0"/>
              </a:spcAft>
              <a:buClr>
                <a:srgbClr val="000000"/>
              </a:buClr>
              <a:buSzPts val="1300"/>
              <a:buFont typeface="Nunito"/>
              <a:buChar char="●"/>
            </a:pPr>
            <a:r>
              <a:rPr lang="en" sz="1300">
                <a:solidFill>
                  <a:srgbClr val="000000"/>
                </a:solidFill>
              </a:rPr>
              <a:t>Confidence Scoring:</a:t>
            </a:r>
            <a:endParaRPr sz="1300">
              <a:solidFill>
                <a:srgbClr val="000000"/>
              </a:solidFill>
            </a:endParaRPr>
          </a:p>
          <a:p>
            <a:pPr indent="-251758" lvl="1" marL="676832" rtl="0" algn="l">
              <a:lnSpc>
                <a:spcPct val="115000"/>
              </a:lnSpc>
              <a:spcBef>
                <a:spcPts val="0"/>
              </a:spcBef>
              <a:spcAft>
                <a:spcPts val="0"/>
              </a:spcAft>
              <a:buClr>
                <a:srgbClr val="000000"/>
              </a:buClr>
              <a:buSzPts val="1300"/>
              <a:buFont typeface="Arial"/>
              <a:buChar char="○"/>
            </a:pPr>
            <a:r>
              <a:rPr lang="en" sz="1300">
                <a:solidFill>
                  <a:srgbClr val="000000"/>
                </a:solidFill>
              </a:rPr>
              <a:t>High confidence → Auto-clearing</a:t>
            </a:r>
            <a:endParaRPr sz="1300">
              <a:solidFill>
                <a:srgbClr val="000000"/>
              </a:solidFill>
            </a:endParaRPr>
          </a:p>
          <a:p>
            <a:pPr indent="-251758" lvl="1" marL="676832" rtl="0" algn="l">
              <a:lnSpc>
                <a:spcPct val="115000"/>
              </a:lnSpc>
              <a:spcBef>
                <a:spcPts val="0"/>
              </a:spcBef>
              <a:spcAft>
                <a:spcPts val="0"/>
              </a:spcAft>
              <a:buClr>
                <a:srgbClr val="000000"/>
              </a:buClr>
              <a:buSzPts val="1300"/>
              <a:buFont typeface="Arial"/>
              <a:buChar char="○"/>
            </a:pPr>
            <a:r>
              <a:rPr lang="en" sz="1300">
                <a:solidFill>
                  <a:srgbClr val="000000"/>
                </a:solidFill>
              </a:rPr>
              <a:t>Medium confidence → AI recommendation</a:t>
            </a:r>
            <a:endParaRPr sz="1300">
              <a:solidFill>
                <a:srgbClr val="000000"/>
              </a:solidFill>
            </a:endParaRPr>
          </a:p>
          <a:p>
            <a:pPr indent="-251757" lvl="0" marL="338415" rtl="0" algn="l">
              <a:lnSpc>
                <a:spcPct val="115000"/>
              </a:lnSpc>
              <a:spcBef>
                <a:spcPts val="0"/>
              </a:spcBef>
              <a:spcAft>
                <a:spcPts val="0"/>
              </a:spcAft>
              <a:buClr>
                <a:srgbClr val="000000"/>
              </a:buClr>
              <a:buSzPts val="1300"/>
              <a:buFont typeface="Arial"/>
              <a:buChar char="●"/>
            </a:pPr>
            <a:r>
              <a:rPr lang="en" sz="1300">
                <a:solidFill>
                  <a:srgbClr val="000000"/>
                </a:solidFill>
              </a:rPr>
              <a:t>Predictive Risk Awareness:</a:t>
            </a:r>
            <a:br>
              <a:rPr lang="en" sz="1300">
                <a:solidFill>
                  <a:srgbClr val="000000"/>
                </a:solidFill>
              </a:rPr>
            </a:br>
            <a:r>
              <a:rPr lang="en" sz="1300">
                <a:solidFill>
                  <a:srgbClr val="000000"/>
                </a:solidFill>
              </a:rPr>
              <a:t>AI highlights which payments or exceptions need urgent attention</a:t>
            </a:r>
            <a:endParaRPr sz="1300">
              <a:solidFill>
                <a:srgbClr val="000000"/>
              </a:solidFill>
            </a:endParaRPr>
          </a:p>
          <a:p>
            <a:pPr indent="0" lvl="0" marL="0" rtl="0" algn="l">
              <a:spcBef>
                <a:spcPts val="888"/>
              </a:spcBef>
              <a:spcAft>
                <a:spcPts val="0"/>
              </a:spcAft>
              <a:buNone/>
            </a:pPr>
            <a:r>
              <a:t/>
            </a:r>
            <a:endParaRPr sz="1300"/>
          </a:p>
        </p:txBody>
      </p:sp>
      <p:sp>
        <p:nvSpPr>
          <p:cNvPr id="270" name="Google Shape;270;p33"/>
          <p:cNvSpPr txBox="1"/>
          <p:nvPr/>
        </p:nvSpPr>
        <p:spPr>
          <a:xfrm>
            <a:off x="4282550" y="1356700"/>
            <a:ext cx="4150800" cy="1192500"/>
          </a:xfrm>
          <a:prstGeom prst="rect">
            <a:avLst/>
          </a:prstGeom>
          <a:noFill/>
          <a:ln>
            <a:noFill/>
          </a:ln>
        </p:spPr>
        <p:txBody>
          <a:bodyPr anchorCtr="0" anchor="t" bIns="91425" lIns="91425" spcFirstLastPara="1" rIns="91425" wrap="square" tIns="91425">
            <a:spAutoFit/>
          </a:bodyPr>
          <a:lstStyle/>
          <a:p>
            <a:pPr indent="-311757" lvl="0" marL="457200" rtl="0" algn="l">
              <a:spcBef>
                <a:spcPts val="0"/>
              </a:spcBef>
              <a:spcAft>
                <a:spcPts val="0"/>
              </a:spcAft>
              <a:buClr>
                <a:schemeClr val="dk1"/>
              </a:buClr>
              <a:buSzPts val="1310"/>
              <a:buFont typeface="Nunito"/>
              <a:buChar char="●"/>
            </a:pPr>
            <a:r>
              <a:rPr lang="en" sz="1309">
                <a:solidFill>
                  <a:schemeClr val="dk1"/>
                </a:solidFill>
                <a:latin typeface="Nunito"/>
                <a:ea typeface="Nunito"/>
                <a:cs typeface="Nunito"/>
                <a:sym typeface="Nunito"/>
              </a:rPr>
              <a:t>Uses reinforced learning from accountants' actions</a:t>
            </a:r>
            <a:endParaRPr sz="1309">
              <a:solidFill>
                <a:schemeClr val="dk1"/>
              </a:solidFill>
              <a:latin typeface="Nunito"/>
              <a:ea typeface="Nunito"/>
              <a:cs typeface="Nunito"/>
              <a:sym typeface="Nunito"/>
            </a:endParaRPr>
          </a:p>
          <a:p>
            <a:pPr indent="-311757" lvl="0" marL="457200" rtl="0" algn="l">
              <a:spcBef>
                <a:spcPts val="0"/>
              </a:spcBef>
              <a:spcAft>
                <a:spcPts val="0"/>
              </a:spcAft>
              <a:buClr>
                <a:schemeClr val="dk1"/>
              </a:buClr>
              <a:buSzPts val="1310"/>
              <a:buFont typeface="Nunito"/>
              <a:buChar char="●"/>
            </a:pPr>
            <a:r>
              <a:rPr lang="en" sz="1309">
                <a:solidFill>
                  <a:schemeClr val="dk1"/>
                </a:solidFill>
                <a:latin typeface="Nunito"/>
                <a:ea typeface="Nunito"/>
                <a:cs typeface="Nunito"/>
                <a:sym typeface="Nunito"/>
              </a:rPr>
              <a:t>75% reduction in effort analyzing and reconciling open AR items</a:t>
            </a:r>
            <a:endParaRPr sz="1309">
              <a:solidFill>
                <a:schemeClr val="dk1"/>
              </a:solidFill>
              <a:latin typeface="Nunito"/>
              <a:ea typeface="Nunito"/>
              <a:cs typeface="Nunito"/>
              <a:sym typeface="Nunito"/>
            </a:endParaRPr>
          </a:p>
          <a:p>
            <a:pPr indent="0" lvl="0" marL="0" rtl="0" algn="l">
              <a:spcBef>
                <a:spcPts val="0"/>
              </a:spcBef>
              <a:spcAft>
                <a:spcPts val="0"/>
              </a:spcAft>
              <a:buNone/>
            </a:pPr>
            <a:r>
              <a:t/>
            </a:r>
            <a:endParaRPr sz="1309">
              <a:solidFill>
                <a:schemeClr val="dk1"/>
              </a:solidFill>
              <a:latin typeface="Nunito"/>
              <a:ea typeface="Nunito"/>
              <a:cs typeface="Nunito"/>
              <a:sym typeface="Nuni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4"/>
          <p:cNvSpPr txBox="1"/>
          <p:nvPr>
            <p:ph idx="4" type="title"/>
          </p:nvPr>
        </p:nvSpPr>
        <p:spPr>
          <a:xfrm>
            <a:off x="730950" y="180213"/>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Automation Logic &amp; Decision Thresholds</a:t>
            </a:r>
            <a:endParaRPr sz="2600"/>
          </a:p>
        </p:txBody>
      </p:sp>
      <p:pic>
        <p:nvPicPr>
          <p:cNvPr id="276" name="Google Shape;276;p34"/>
          <p:cNvPicPr preferRelativeResize="0"/>
          <p:nvPr/>
        </p:nvPicPr>
        <p:blipFill>
          <a:blip r:embed="rId3">
            <a:alphaModFix/>
          </a:blip>
          <a:stretch>
            <a:fillRect/>
          </a:stretch>
        </p:blipFill>
        <p:spPr>
          <a:xfrm>
            <a:off x="0" y="0"/>
            <a:ext cx="2126752" cy="227650"/>
          </a:xfrm>
          <a:prstGeom prst="rect">
            <a:avLst/>
          </a:prstGeom>
          <a:noFill/>
          <a:ln>
            <a:noFill/>
          </a:ln>
        </p:spPr>
      </p:pic>
      <p:pic>
        <p:nvPicPr>
          <p:cNvPr id="277" name="Google Shape;277;p34"/>
          <p:cNvPicPr preferRelativeResize="0"/>
          <p:nvPr/>
        </p:nvPicPr>
        <p:blipFill rotWithShape="1">
          <a:blip r:embed="rId4">
            <a:alphaModFix/>
          </a:blip>
          <a:srcRect b="25955" l="0" r="0" t="11622"/>
          <a:stretch/>
        </p:blipFill>
        <p:spPr>
          <a:xfrm>
            <a:off x="338525" y="1138600"/>
            <a:ext cx="8050648" cy="335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35"/>
          <p:cNvSpPr txBox="1"/>
          <p:nvPr>
            <p:ph type="title"/>
          </p:nvPr>
        </p:nvSpPr>
        <p:spPr>
          <a:xfrm>
            <a:off x="452116" y="8465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Accounts Receivab</a:t>
            </a:r>
            <a:r>
              <a:rPr lang="en" sz="2600"/>
              <a:t>le Agent: Enablement for Cash Application (ACH/EFT/</a:t>
            </a:r>
            <a:r>
              <a:rPr lang="en" sz="2600"/>
              <a:t>Wire)</a:t>
            </a:r>
            <a:endParaRPr sz="2600"/>
          </a:p>
        </p:txBody>
      </p:sp>
      <p:pic>
        <p:nvPicPr>
          <p:cNvPr id="283" name="Google Shape;283;p35" title="Screenshot 2026-01-21 at 10.50.50 PM.jpg"/>
          <p:cNvPicPr preferRelativeResize="0"/>
          <p:nvPr/>
        </p:nvPicPr>
        <p:blipFill rotWithShape="1">
          <a:blip r:embed="rId3">
            <a:alphaModFix/>
          </a:blip>
          <a:srcRect b="8557" l="2476" r="7140" t="4824"/>
          <a:stretch/>
        </p:blipFill>
        <p:spPr>
          <a:xfrm>
            <a:off x="36797" y="831626"/>
            <a:ext cx="9070423" cy="2839475"/>
          </a:xfrm>
          <a:prstGeom prst="rect">
            <a:avLst/>
          </a:prstGeom>
          <a:noFill/>
          <a:ln>
            <a:noFill/>
          </a:ln>
        </p:spPr>
      </p:pic>
      <p:sp>
        <p:nvSpPr>
          <p:cNvPr id="284" name="Google Shape;284;p35"/>
          <p:cNvSpPr/>
          <p:nvPr/>
        </p:nvSpPr>
        <p:spPr>
          <a:xfrm>
            <a:off x="357200" y="2857500"/>
            <a:ext cx="3863700" cy="2242200"/>
          </a:xfrm>
          <a:prstGeom prst="wedgeRoundRectCallout">
            <a:avLst>
              <a:gd fmla="val -695" name="adj1"/>
              <a:gd fmla="val -58408" name="adj2"/>
              <a:gd fmla="val 0" name="adj3"/>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2"/>
              </a:buClr>
              <a:buSzPts val="1100"/>
              <a:buChar char="●"/>
            </a:pPr>
            <a:r>
              <a:rPr lang="en" sz="1100">
                <a:solidFill>
                  <a:schemeClr val="dk2"/>
                </a:solidFill>
              </a:rPr>
              <a:t>AI scans unstructured data (emails, PDFs) to link unidentified payments to open invoices.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Executes autonomous matching using a &gt;90% confidence threshold for immediate ledger posting in S/4HANA.</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Reduces the manual investigation pool from 7% of transactions down to only 0.7%.</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Utilizes the base Accounts Receivable Agent to reduce uncollectable write-offs through faster clearing.</a:t>
            </a:r>
            <a:endParaRPr sz="1100">
              <a:solidFill>
                <a:schemeClr val="dk2"/>
              </a:solidFill>
            </a:endParaRPr>
          </a:p>
        </p:txBody>
      </p:sp>
      <p:sp>
        <p:nvSpPr>
          <p:cNvPr id="285" name="Google Shape;285;p35"/>
          <p:cNvSpPr/>
          <p:nvPr/>
        </p:nvSpPr>
        <p:spPr>
          <a:xfrm>
            <a:off x="5476875" y="3403200"/>
            <a:ext cx="3532200" cy="1712700"/>
          </a:xfrm>
          <a:prstGeom prst="wedgeRoundRectCallout">
            <a:avLst>
              <a:gd fmla="val -62373" name="adj1"/>
              <a:gd fmla="val -45191" name="adj2"/>
              <a:gd fmla="val 0" name="adj3"/>
            </a:avLst>
          </a:prstGeom>
          <a:solidFill>
            <a:srgbClr val="9900FF"/>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171450" lvl="0" marL="114300" rtl="0" algn="l">
              <a:lnSpc>
                <a:spcPct val="115000"/>
              </a:lnSpc>
              <a:spcBef>
                <a:spcPts val="0"/>
              </a:spcBef>
              <a:spcAft>
                <a:spcPts val="0"/>
              </a:spcAft>
              <a:buClr>
                <a:schemeClr val="dk2"/>
              </a:buClr>
              <a:buSzPts val="900"/>
              <a:buChar char="●"/>
            </a:pPr>
            <a:r>
              <a:rPr lang="en" sz="900">
                <a:solidFill>
                  <a:schemeClr val="dk2"/>
                </a:solidFill>
              </a:rPr>
              <a:t>Automatically flags anomalies and unidentified sources, routing them to the AR Accountant with a generated rationale.</a:t>
            </a:r>
            <a:endParaRPr sz="900">
              <a:solidFill>
                <a:schemeClr val="dk2"/>
              </a:solidFill>
            </a:endParaRPr>
          </a:p>
          <a:p>
            <a:pPr indent="-171450" lvl="0" marL="114300" rtl="0" algn="l">
              <a:lnSpc>
                <a:spcPct val="115000"/>
              </a:lnSpc>
              <a:spcBef>
                <a:spcPts val="0"/>
              </a:spcBef>
              <a:spcAft>
                <a:spcPts val="0"/>
              </a:spcAft>
              <a:buClr>
                <a:schemeClr val="dk2"/>
              </a:buClr>
              <a:buSzPts val="900"/>
              <a:buChar char="●"/>
            </a:pPr>
            <a:r>
              <a:rPr lang="en" sz="900">
                <a:solidFill>
                  <a:schemeClr val="dk2"/>
                </a:solidFill>
              </a:rPr>
              <a:t>Analyzes historical payment behavior to forecast risks and prioritize the collections worklist.</a:t>
            </a:r>
            <a:endParaRPr sz="900">
              <a:solidFill>
                <a:schemeClr val="dk2"/>
              </a:solidFill>
            </a:endParaRPr>
          </a:p>
          <a:p>
            <a:pPr indent="-171450" lvl="0" marL="114300" rtl="0" algn="l">
              <a:lnSpc>
                <a:spcPct val="115000"/>
              </a:lnSpc>
              <a:spcBef>
                <a:spcPts val="0"/>
              </a:spcBef>
              <a:spcAft>
                <a:spcPts val="0"/>
              </a:spcAft>
              <a:buClr>
                <a:schemeClr val="dk2"/>
              </a:buClr>
              <a:buSzPts val="900"/>
              <a:buChar char="●"/>
            </a:pPr>
            <a:r>
              <a:rPr lang="en" sz="900">
                <a:solidFill>
                  <a:schemeClr val="dk2"/>
                </a:solidFill>
              </a:rPr>
              <a:t>Enables natural language queries for quick reports and recommendations on complex unidentified payments.</a:t>
            </a:r>
            <a:endParaRPr sz="900">
              <a:solidFill>
                <a:schemeClr val="dk2"/>
              </a:solidFill>
            </a:endParaRPr>
          </a:p>
          <a:p>
            <a:pPr indent="-171450" lvl="0" marL="114300" rtl="0" algn="l">
              <a:lnSpc>
                <a:spcPct val="115000"/>
              </a:lnSpc>
              <a:spcBef>
                <a:spcPts val="0"/>
              </a:spcBef>
              <a:spcAft>
                <a:spcPts val="0"/>
              </a:spcAft>
              <a:buClr>
                <a:schemeClr val="dk2"/>
              </a:buClr>
              <a:buSzPts val="900"/>
              <a:buChar char="●"/>
            </a:pPr>
            <a:r>
              <a:rPr lang="en" sz="900">
                <a:solidFill>
                  <a:schemeClr val="dk2"/>
                </a:solidFill>
              </a:rPr>
              <a:t>Shifts the AR Accountant role from "Data Entry/Searcher" to "High-Level Reviewer" by automating 90% of investigation effort.</a:t>
            </a:r>
            <a:endParaRPr sz="9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6"/>
          <p:cNvSpPr txBox="1"/>
          <p:nvPr>
            <p:ph type="title"/>
          </p:nvPr>
        </p:nvSpPr>
        <p:spPr>
          <a:xfrm>
            <a:off x="446300" y="7232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SAP Cash Application: Enablement for DTC &amp; Bank Reconciliation</a:t>
            </a:r>
            <a:endParaRPr sz="2600"/>
          </a:p>
        </p:txBody>
      </p:sp>
      <p:pic>
        <p:nvPicPr>
          <p:cNvPr id="291" name="Google Shape;291;p36" title="Screenshot 2026-01-21 at 11.19.28 PM.jpg"/>
          <p:cNvPicPr preferRelativeResize="0"/>
          <p:nvPr/>
        </p:nvPicPr>
        <p:blipFill rotWithShape="1">
          <a:blip r:embed="rId3">
            <a:alphaModFix/>
          </a:blip>
          <a:srcRect b="0" l="0" r="0" t="14944"/>
          <a:stretch/>
        </p:blipFill>
        <p:spPr>
          <a:xfrm>
            <a:off x="163350" y="941550"/>
            <a:ext cx="8065801" cy="4083700"/>
          </a:xfrm>
          <a:prstGeom prst="rect">
            <a:avLst/>
          </a:prstGeom>
          <a:noFill/>
          <a:ln>
            <a:noFill/>
          </a:ln>
        </p:spPr>
      </p:pic>
      <p:sp>
        <p:nvSpPr>
          <p:cNvPr id="292" name="Google Shape;292;p36"/>
          <p:cNvSpPr/>
          <p:nvPr/>
        </p:nvSpPr>
        <p:spPr>
          <a:xfrm>
            <a:off x="5288025" y="405075"/>
            <a:ext cx="3755400" cy="1839300"/>
          </a:xfrm>
          <a:prstGeom prst="wedgeRoundRectCallout">
            <a:avLst>
              <a:gd fmla="val -59329" name="adj1"/>
              <a:gd fmla="val 61905"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2"/>
              </a:buClr>
              <a:buSzPts val="1100"/>
              <a:buChar char="●"/>
            </a:pPr>
            <a:r>
              <a:rPr lang="en" sz="1100">
                <a:solidFill>
                  <a:schemeClr val="dk2"/>
                </a:solidFill>
              </a:rPr>
              <a:t>Leverages </a:t>
            </a:r>
            <a:r>
              <a:rPr b="1" lang="en" sz="1100">
                <a:solidFill>
                  <a:schemeClr val="dk2"/>
                </a:solidFill>
              </a:rPr>
              <a:t>SAP Cash Application (Premium)</a:t>
            </a:r>
            <a:r>
              <a:rPr lang="en" sz="1100">
                <a:solidFill>
                  <a:schemeClr val="dk2"/>
                </a:solidFill>
              </a:rPr>
              <a:t> to automate matching between bank statement items and POS records.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Uses machine learning to increase the rate of successful auto-matches, minimizing "manual investigation" for reconciliations.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Automatically records reconciliation accuracy and baseline values to measure program success</a:t>
            </a:r>
            <a:endParaRPr sz="1100">
              <a:solidFill>
                <a:schemeClr val="dk2"/>
              </a:solidFill>
            </a:endParaRPr>
          </a:p>
        </p:txBody>
      </p:sp>
      <p:sp>
        <p:nvSpPr>
          <p:cNvPr id="293" name="Google Shape;293;p36"/>
          <p:cNvSpPr/>
          <p:nvPr/>
        </p:nvSpPr>
        <p:spPr>
          <a:xfrm>
            <a:off x="218125" y="2244375"/>
            <a:ext cx="3755400" cy="1839300"/>
          </a:xfrm>
          <a:prstGeom prst="wedgeRoundRectCallout">
            <a:avLst>
              <a:gd fmla="val 24655" name="adj1"/>
              <a:gd fmla="val 57739" name="adj2"/>
              <a:gd fmla="val 0" name="adj3"/>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2"/>
              </a:buClr>
              <a:buSzPts val="1100"/>
              <a:buChar char="●"/>
            </a:pPr>
            <a:r>
              <a:rPr lang="en" sz="1100">
                <a:solidFill>
                  <a:schemeClr val="dk2"/>
                </a:solidFill>
              </a:rPr>
              <a:t>Proactively identifies errors in POS data and suggests corrective actions (e.g., repeating POS Inbound).</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Shifts the </a:t>
            </a:r>
            <a:r>
              <a:rPr b="1" lang="en" sz="1100">
                <a:solidFill>
                  <a:schemeClr val="dk2"/>
                </a:solidFill>
              </a:rPr>
              <a:t>Cash Management Specialist</a:t>
            </a:r>
            <a:r>
              <a:rPr lang="en" sz="1100">
                <a:solidFill>
                  <a:schemeClr val="dk2"/>
                </a:solidFill>
              </a:rPr>
              <a:t> role from searching for discrepancies to remediating errors proposed by AI.</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Uses conversational search for navigational assistance in resolving electronic document errors.</a:t>
            </a:r>
            <a:endParaRPr sz="11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325850" y="7232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AR Agent: Enablement for Direct Debit</a:t>
            </a:r>
            <a:endParaRPr sz="2500"/>
          </a:p>
        </p:txBody>
      </p:sp>
      <p:pic>
        <p:nvPicPr>
          <p:cNvPr id="299" name="Google Shape;299;p37" title="Screenshot 2026-01-21 at 11.27.28 PM.jpg"/>
          <p:cNvPicPr preferRelativeResize="0"/>
          <p:nvPr/>
        </p:nvPicPr>
        <p:blipFill>
          <a:blip r:embed="rId3">
            <a:alphaModFix/>
          </a:blip>
          <a:stretch>
            <a:fillRect/>
          </a:stretch>
        </p:blipFill>
        <p:spPr>
          <a:xfrm>
            <a:off x="152400" y="2113029"/>
            <a:ext cx="8839200" cy="2567700"/>
          </a:xfrm>
          <a:prstGeom prst="rect">
            <a:avLst/>
          </a:prstGeom>
          <a:noFill/>
          <a:ln>
            <a:noFill/>
          </a:ln>
        </p:spPr>
      </p:pic>
      <p:sp>
        <p:nvSpPr>
          <p:cNvPr id="300" name="Google Shape;300;p37"/>
          <p:cNvSpPr/>
          <p:nvPr/>
        </p:nvSpPr>
        <p:spPr>
          <a:xfrm>
            <a:off x="3229725" y="722550"/>
            <a:ext cx="3978900" cy="2036400"/>
          </a:xfrm>
          <a:prstGeom prst="wedgeRoundRectCallout">
            <a:avLst>
              <a:gd fmla="val 52910" name="adj1"/>
              <a:gd fmla="val 69893"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Automatically creates payment proposals based on open item maturity and customer payment terms.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Pre-scans the proposal to identify blocks or SEPA mandate issues before the run.</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Self-schedules payment runs based on bank processing windows and liquidity needs.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Shifts the AR Accountant from manually adjusting lines to approving a finalized AI-vetted run</a:t>
            </a:r>
            <a:endParaRPr sz="1100">
              <a:solidFill>
                <a:schemeClr val="dk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8"/>
          <p:cNvSpPr txBox="1"/>
          <p:nvPr>
            <p:ph type="title"/>
          </p:nvPr>
        </p:nvSpPr>
        <p:spPr>
          <a:xfrm>
            <a:off x="435350" y="6140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SAP Cash Application: Enablement for Lockbox</a:t>
            </a:r>
            <a:endParaRPr sz="2500"/>
          </a:p>
        </p:txBody>
      </p:sp>
      <p:pic>
        <p:nvPicPr>
          <p:cNvPr id="306" name="Google Shape;306;p38" title="Screenshot 2026-01-21 at 11.32.20 PM.jpg"/>
          <p:cNvPicPr preferRelativeResize="0"/>
          <p:nvPr/>
        </p:nvPicPr>
        <p:blipFill>
          <a:blip r:embed="rId3">
            <a:alphaModFix/>
          </a:blip>
          <a:stretch>
            <a:fillRect/>
          </a:stretch>
        </p:blipFill>
        <p:spPr>
          <a:xfrm>
            <a:off x="152400" y="1727150"/>
            <a:ext cx="8839201" cy="3195831"/>
          </a:xfrm>
          <a:prstGeom prst="rect">
            <a:avLst/>
          </a:prstGeom>
          <a:noFill/>
          <a:ln>
            <a:noFill/>
          </a:ln>
        </p:spPr>
      </p:pic>
      <p:sp>
        <p:nvSpPr>
          <p:cNvPr id="307" name="Google Shape;307;p38"/>
          <p:cNvSpPr/>
          <p:nvPr/>
        </p:nvSpPr>
        <p:spPr>
          <a:xfrm>
            <a:off x="1696950" y="536425"/>
            <a:ext cx="3978900" cy="2036400"/>
          </a:xfrm>
          <a:prstGeom prst="wedgeRoundRectCallout">
            <a:avLst>
              <a:gd fmla="val 52910" name="adj1"/>
              <a:gd fmla="val 69893"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Leverages </a:t>
            </a:r>
            <a:r>
              <a:rPr b="1" lang="en" sz="1100">
                <a:solidFill>
                  <a:schemeClr val="dk2"/>
                </a:solidFill>
              </a:rPr>
              <a:t>SAP Cash Application (Premium)</a:t>
            </a:r>
            <a:r>
              <a:rPr lang="en" sz="1100">
                <a:solidFill>
                  <a:schemeClr val="dk2"/>
                </a:solidFill>
              </a:rPr>
              <a:t> to clear and recommend matches for high-volume Lockbox files.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Automatically posts matches that meet a high confidence score, bypassing manual entry for standard transactions.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Automatically integrates with external bank files to resolve unapplied cash via behavioral insights.</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Proactively identifies uncollectable risks within the clearing process to flag disputes earlier.</a:t>
            </a:r>
            <a:endParaRPr sz="11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9"/>
          <p:cNvSpPr txBox="1"/>
          <p:nvPr>
            <p:ph type="title"/>
          </p:nvPr>
        </p:nvSpPr>
        <p:spPr>
          <a:xfrm>
            <a:off x="501025" y="8330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Accounts Receivable Agent: Enablement for Customer Down Payments</a:t>
            </a:r>
            <a:endParaRPr sz="2500"/>
          </a:p>
        </p:txBody>
      </p:sp>
      <p:pic>
        <p:nvPicPr>
          <p:cNvPr id="313" name="Google Shape;313;p39" title="Screenshot 2026-01-22 at 12.40.56 AM.jpg"/>
          <p:cNvPicPr preferRelativeResize="0"/>
          <p:nvPr/>
        </p:nvPicPr>
        <p:blipFill>
          <a:blip r:embed="rId3">
            <a:alphaModFix/>
          </a:blip>
          <a:stretch>
            <a:fillRect/>
          </a:stretch>
        </p:blipFill>
        <p:spPr>
          <a:xfrm>
            <a:off x="152400" y="1245425"/>
            <a:ext cx="8839199" cy="2640403"/>
          </a:xfrm>
          <a:prstGeom prst="rect">
            <a:avLst/>
          </a:prstGeom>
          <a:noFill/>
          <a:ln>
            <a:noFill/>
          </a:ln>
        </p:spPr>
      </p:pic>
      <p:sp>
        <p:nvSpPr>
          <p:cNvPr id="314" name="Google Shape;314;p39"/>
          <p:cNvSpPr/>
          <p:nvPr/>
        </p:nvSpPr>
        <p:spPr>
          <a:xfrm>
            <a:off x="501025" y="3175000"/>
            <a:ext cx="3779700" cy="1707900"/>
          </a:xfrm>
          <a:prstGeom prst="wedgeRoundRectCallout">
            <a:avLst>
              <a:gd fmla="val 47974" name="adj1"/>
              <a:gd fmla="val -87180" name="adj2"/>
              <a:gd fmla="val 0" name="adj3"/>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AI automatically links down payments to customer orders to generate consolidated invoices without manual intervention.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Proactively validates master data and policy rules to ensure accurate invoice generation.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Compresses the sales lifecycle time by automating the complex link between orders and payments.</a:t>
            </a:r>
            <a:endParaRPr sz="1100">
              <a:solidFill>
                <a:schemeClr val="dk2"/>
              </a:solidFill>
            </a:endParaRPr>
          </a:p>
        </p:txBody>
      </p:sp>
      <p:sp>
        <p:nvSpPr>
          <p:cNvPr id="315" name="Google Shape;315;p39"/>
          <p:cNvSpPr/>
          <p:nvPr/>
        </p:nvSpPr>
        <p:spPr>
          <a:xfrm>
            <a:off x="4835675" y="3250775"/>
            <a:ext cx="3779700" cy="1707900"/>
          </a:xfrm>
          <a:prstGeom prst="wedgeRoundRectCallout">
            <a:avLst>
              <a:gd fmla="val -16887" name="adj1"/>
              <a:gd fmla="val -92258"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Leverages SAP Cash Application to autonomously clear down payments against incoming bank statements.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Forecasts the risk of late or missing payments to prioritize reconciliation tasks for the AR Accountant.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Automatically captures reconciliation baseline values to track project success and ROI. </a:t>
            </a:r>
            <a:endParaRPr sz="11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9" name="Shape 319"/>
        <p:cNvGrpSpPr/>
        <p:nvPr/>
      </p:nvGrpSpPr>
      <p:grpSpPr>
        <a:xfrm>
          <a:off x="0" y="0"/>
          <a:ext cx="0" cy="0"/>
          <a:chOff x="0" y="0"/>
          <a:chExt cx="0" cy="0"/>
        </a:xfrm>
      </p:grpSpPr>
      <p:sp>
        <p:nvSpPr>
          <p:cNvPr id="320" name="Google Shape;320;p40"/>
          <p:cNvSpPr txBox="1"/>
          <p:nvPr>
            <p:ph idx="1" type="body"/>
          </p:nvPr>
        </p:nvSpPr>
        <p:spPr>
          <a:xfrm>
            <a:off x="720000" y="1650200"/>
            <a:ext cx="3876000" cy="233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0"/>
          <p:cNvSpPr txBox="1"/>
          <p:nvPr>
            <p:ph type="title"/>
          </p:nvPr>
        </p:nvSpPr>
        <p:spPr>
          <a:xfrm>
            <a:off x="358700" y="9855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Accounts Receivable Agent: Enablement for Credit / Payment Card</a:t>
            </a:r>
            <a:endParaRPr sz="2500"/>
          </a:p>
        </p:txBody>
      </p:sp>
      <p:pic>
        <p:nvPicPr>
          <p:cNvPr id="322" name="Google Shape;322;p40" title="Screenshot 2026-01-22 at 12.44.52 AM.jpg"/>
          <p:cNvPicPr preferRelativeResize="0"/>
          <p:nvPr/>
        </p:nvPicPr>
        <p:blipFill>
          <a:blip r:embed="rId3">
            <a:alphaModFix/>
          </a:blip>
          <a:stretch>
            <a:fillRect/>
          </a:stretch>
        </p:blipFill>
        <p:spPr>
          <a:xfrm>
            <a:off x="59125" y="863121"/>
            <a:ext cx="9144000" cy="3789308"/>
          </a:xfrm>
          <a:prstGeom prst="rect">
            <a:avLst/>
          </a:prstGeom>
          <a:noFill/>
          <a:ln>
            <a:noFill/>
          </a:ln>
        </p:spPr>
      </p:pic>
      <p:sp>
        <p:nvSpPr>
          <p:cNvPr id="323" name="Google Shape;323;p40"/>
          <p:cNvSpPr/>
          <p:nvPr/>
        </p:nvSpPr>
        <p:spPr>
          <a:xfrm>
            <a:off x="566725" y="1171475"/>
            <a:ext cx="3779700" cy="1707900"/>
          </a:xfrm>
          <a:prstGeom prst="wedgeRoundRectCallout">
            <a:avLst>
              <a:gd fmla="val 84470" name="adj1"/>
              <a:gd fmla="val -28206" name="adj2"/>
              <a:gd fmla="val 0" name="adj3"/>
            </a:avLst>
          </a:prstGeom>
          <a:solidFill>
            <a:srgbClr val="FF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1200"/>
              </a:spcBef>
              <a:spcAft>
                <a:spcPts val="0"/>
              </a:spcAft>
              <a:buClr>
                <a:schemeClr val="dk2"/>
              </a:buClr>
              <a:buSzPts val="1100"/>
              <a:buChar char="●"/>
            </a:pPr>
            <a:r>
              <a:rPr lang="en" sz="1100">
                <a:solidFill>
                  <a:schemeClr val="dk2"/>
                </a:solidFill>
              </a:rPr>
              <a:t>Uses the AR Agent to autonomously match and clear credit card documents against contract accounts.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Automates repetitive administrative clearing tasks, significantly reducing manual effort for the AR Accountant.</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Works directly within the business context to ensure real-time ledger updates for cleared items.</a:t>
            </a:r>
            <a:endParaRPr sz="1100">
              <a:solidFill>
                <a:schemeClr val="dk2"/>
              </a:solidFill>
            </a:endParaRPr>
          </a:p>
        </p:txBody>
      </p:sp>
      <p:sp>
        <p:nvSpPr>
          <p:cNvPr id="324" name="Google Shape;324;p40"/>
          <p:cNvSpPr/>
          <p:nvPr/>
        </p:nvSpPr>
        <p:spPr>
          <a:xfrm>
            <a:off x="720000" y="3305300"/>
            <a:ext cx="3779700" cy="1707900"/>
          </a:xfrm>
          <a:prstGeom prst="wedgeRoundRectCallout">
            <a:avLst>
              <a:gd fmla="val 66802" name="adj1"/>
              <a:gd fmla="val -19167"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2"/>
              </a:buClr>
              <a:buSzPts val="1100"/>
              <a:buChar char="●"/>
            </a:pPr>
            <a:r>
              <a:rPr lang="en" sz="1100">
                <a:solidFill>
                  <a:schemeClr val="dk2"/>
                </a:solidFill>
              </a:rPr>
              <a:t>Proactively identifies successful vs. failed settlements and suggests the correct posting logic, including fee calculations.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Forecasts settlement failures based on historical bank response codes to prioritize remediation.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Provides a natural language interface for the AR Administrator to investigate settlement errors via the Joule copilot.</a:t>
            </a:r>
            <a:endParaRPr sz="11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1"/>
          <p:cNvSpPr txBox="1"/>
          <p:nvPr>
            <p:ph type="title"/>
          </p:nvPr>
        </p:nvSpPr>
        <p:spPr>
          <a:xfrm>
            <a:off x="468175" y="116125"/>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500"/>
              <a:t>Accounts Receivable Agent: Enablement for Cash &amp; Checks Processing</a:t>
            </a:r>
            <a:endParaRPr sz="2500"/>
          </a:p>
        </p:txBody>
      </p:sp>
      <p:pic>
        <p:nvPicPr>
          <p:cNvPr id="330" name="Google Shape;330;p41" title="Screenshot 2026-01-22 at 12.50.34 AM.jpg"/>
          <p:cNvPicPr preferRelativeResize="0"/>
          <p:nvPr/>
        </p:nvPicPr>
        <p:blipFill>
          <a:blip r:embed="rId3">
            <a:alphaModFix/>
          </a:blip>
          <a:stretch>
            <a:fillRect/>
          </a:stretch>
        </p:blipFill>
        <p:spPr>
          <a:xfrm>
            <a:off x="152400" y="840325"/>
            <a:ext cx="8839198" cy="2293054"/>
          </a:xfrm>
          <a:prstGeom prst="rect">
            <a:avLst/>
          </a:prstGeom>
          <a:noFill/>
          <a:ln>
            <a:noFill/>
          </a:ln>
        </p:spPr>
      </p:pic>
      <p:sp>
        <p:nvSpPr>
          <p:cNvPr id="331" name="Google Shape;331;p41"/>
          <p:cNvSpPr/>
          <p:nvPr/>
        </p:nvSpPr>
        <p:spPr>
          <a:xfrm>
            <a:off x="720000" y="2956025"/>
            <a:ext cx="3944100" cy="2057100"/>
          </a:xfrm>
          <a:prstGeom prst="wedgeRoundRectCallout">
            <a:avLst>
              <a:gd fmla="val 99407" name="adj1"/>
              <a:gd fmla="val -48935"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lnSpc>
                <a:spcPct val="115000"/>
              </a:lnSpc>
              <a:spcBef>
                <a:spcPts val="0"/>
              </a:spcBef>
              <a:spcAft>
                <a:spcPts val="0"/>
              </a:spcAft>
              <a:buClr>
                <a:schemeClr val="dk2"/>
              </a:buClr>
              <a:buSzPts val="1100"/>
              <a:buChar char="●"/>
            </a:pPr>
            <a:r>
              <a:rPr lang="en" sz="1100">
                <a:solidFill>
                  <a:schemeClr val="dk2"/>
                </a:solidFill>
              </a:rPr>
              <a:t>Replaces "Manual Clearing" by recommending and executing proposed matches for accounts receivable.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Automatically posts matches that fall within tolerance thresholds, bypassing the AR Accountant role.</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Proactively identifies uncollectable risks during the clearing process to flag disputes early. </a:t>
            </a:r>
            <a:endParaRPr sz="1100">
              <a:solidFill>
                <a:schemeClr val="dk2"/>
              </a:solidFill>
            </a:endParaRPr>
          </a:p>
          <a:p>
            <a:pPr indent="-298450" lvl="0" marL="457200" rtl="0" algn="l">
              <a:lnSpc>
                <a:spcPct val="115000"/>
              </a:lnSpc>
              <a:spcBef>
                <a:spcPts val="0"/>
              </a:spcBef>
              <a:spcAft>
                <a:spcPts val="0"/>
              </a:spcAft>
              <a:buClr>
                <a:schemeClr val="dk2"/>
              </a:buClr>
              <a:buSzPts val="1100"/>
              <a:buChar char="●"/>
            </a:pPr>
            <a:r>
              <a:rPr lang="en" sz="1100">
                <a:solidFill>
                  <a:schemeClr val="dk2"/>
                </a:solidFill>
              </a:rPr>
              <a:t>Provides navigational assistance through Joule to resolve any matching errors that require manual review.</a:t>
            </a:r>
            <a:endParaRPr sz="11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2"/>
          <p:cNvSpPr txBox="1"/>
          <p:nvPr>
            <p:ph type="title"/>
          </p:nvPr>
        </p:nvSpPr>
        <p:spPr>
          <a:xfrm>
            <a:off x="720000" y="13395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The Balanced View: Value vs. Challenges</a:t>
            </a:r>
            <a:endParaRPr/>
          </a:p>
        </p:txBody>
      </p:sp>
      <p:pic>
        <p:nvPicPr>
          <p:cNvPr descr="image.png" id="337" name="Google Shape;337;p42"/>
          <p:cNvPicPr preferRelativeResize="0"/>
          <p:nvPr/>
        </p:nvPicPr>
        <p:blipFill rotWithShape="1">
          <a:blip r:embed="rId3">
            <a:alphaModFix/>
          </a:blip>
          <a:srcRect b="4104" l="0" r="0" t="0"/>
          <a:stretch/>
        </p:blipFill>
        <p:spPr>
          <a:xfrm>
            <a:off x="278650" y="942013"/>
            <a:ext cx="4124375" cy="3390075"/>
          </a:xfrm>
          <a:prstGeom prst="rect">
            <a:avLst/>
          </a:prstGeom>
          <a:noFill/>
          <a:ln>
            <a:noFill/>
          </a:ln>
        </p:spPr>
      </p:pic>
      <p:sp>
        <p:nvSpPr>
          <p:cNvPr id="338" name="Google Shape;338;p42"/>
          <p:cNvSpPr txBox="1"/>
          <p:nvPr/>
        </p:nvSpPr>
        <p:spPr>
          <a:xfrm>
            <a:off x="543791" y="1275976"/>
            <a:ext cx="2556600" cy="268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47" u="none" cap="none" strike="noStrike">
                <a:solidFill>
                  <a:srgbClr val="047857"/>
                </a:solidFill>
                <a:latin typeface="Inter SemiBold"/>
                <a:ea typeface="Inter SemiBold"/>
                <a:cs typeface="Inter SemiBold"/>
                <a:sym typeface="Inter SemiBold"/>
              </a:rPr>
              <a:t>The Upside (Value)</a:t>
            </a:r>
            <a:endParaRPr sz="1747"/>
          </a:p>
        </p:txBody>
      </p:sp>
      <p:pic>
        <p:nvPicPr>
          <p:cNvPr descr="image.png" id="339" name="Google Shape;339;p42"/>
          <p:cNvPicPr preferRelativeResize="0"/>
          <p:nvPr/>
        </p:nvPicPr>
        <p:blipFill rotWithShape="1">
          <a:blip r:embed="rId4">
            <a:alphaModFix/>
          </a:blip>
          <a:srcRect b="0" l="0" r="0" t="0"/>
          <a:stretch/>
        </p:blipFill>
        <p:spPr>
          <a:xfrm>
            <a:off x="543788" y="1870625"/>
            <a:ext cx="353518" cy="390994"/>
          </a:xfrm>
          <a:prstGeom prst="rect">
            <a:avLst/>
          </a:prstGeom>
          <a:noFill/>
          <a:ln>
            <a:noFill/>
          </a:ln>
        </p:spPr>
      </p:pic>
      <p:pic>
        <p:nvPicPr>
          <p:cNvPr descr="image.png" id="340" name="Google Shape;340;p42"/>
          <p:cNvPicPr preferRelativeResize="0"/>
          <p:nvPr/>
        </p:nvPicPr>
        <p:blipFill rotWithShape="1">
          <a:blip r:embed="rId4">
            <a:alphaModFix/>
          </a:blip>
          <a:srcRect b="0" l="0" r="0" t="0"/>
          <a:stretch/>
        </p:blipFill>
        <p:spPr>
          <a:xfrm>
            <a:off x="543788" y="2821692"/>
            <a:ext cx="353518" cy="390994"/>
          </a:xfrm>
          <a:prstGeom prst="rect">
            <a:avLst/>
          </a:prstGeom>
          <a:noFill/>
          <a:ln>
            <a:noFill/>
          </a:ln>
        </p:spPr>
      </p:pic>
      <p:pic>
        <p:nvPicPr>
          <p:cNvPr descr="image.png" id="341" name="Google Shape;341;p42"/>
          <p:cNvPicPr preferRelativeResize="0"/>
          <p:nvPr/>
        </p:nvPicPr>
        <p:blipFill rotWithShape="1">
          <a:blip r:embed="rId4">
            <a:alphaModFix/>
          </a:blip>
          <a:srcRect b="0" l="0" r="0" t="0"/>
          <a:stretch/>
        </p:blipFill>
        <p:spPr>
          <a:xfrm>
            <a:off x="543788" y="3548642"/>
            <a:ext cx="353518" cy="390994"/>
          </a:xfrm>
          <a:prstGeom prst="rect">
            <a:avLst/>
          </a:prstGeom>
          <a:noFill/>
          <a:ln>
            <a:noFill/>
          </a:ln>
        </p:spPr>
      </p:pic>
      <p:pic>
        <p:nvPicPr>
          <p:cNvPr descr="image.png" id="342" name="Google Shape;342;p42"/>
          <p:cNvPicPr preferRelativeResize="0"/>
          <p:nvPr/>
        </p:nvPicPr>
        <p:blipFill rotWithShape="1">
          <a:blip r:embed="rId5">
            <a:alphaModFix/>
          </a:blip>
          <a:srcRect b="0" l="0" r="0" t="0"/>
          <a:stretch/>
        </p:blipFill>
        <p:spPr>
          <a:xfrm>
            <a:off x="654263" y="1984665"/>
            <a:ext cx="132569" cy="162914"/>
          </a:xfrm>
          <a:prstGeom prst="rect">
            <a:avLst/>
          </a:prstGeom>
          <a:noFill/>
          <a:ln>
            <a:noFill/>
          </a:ln>
        </p:spPr>
      </p:pic>
      <p:sp>
        <p:nvSpPr>
          <p:cNvPr id="343" name="Google Shape;343;p42"/>
          <p:cNvSpPr txBox="1"/>
          <p:nvPr/>
        </p:nvSpPr>
        <p:spPr>
          <a:xfrm>
            <a:off x="1044605" y="1870625"/>
            <a:ext cx="3248100" cy="20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26" u="none" cap="none" strike="noStrike">
                <a:solidFill>
                  <a:srgbClr val="1E293B"/>
                </a:solidFill>
                <a:latin typeface="Inter"/>
                <a:ea typeface="Inter"/>
                <a:cs typeface="Inter"/>
                <a:sym typeface="Inter"/>
              </a:rPr>
              <a:t>Zero-Touch Velocity</a:t>
            </a:r>
            <a:endParaRPr sz="1237"/>
          </a:p>
        </p:txBody>
      </p:sp>
      <p:sp>
        <p:nvSpPr>
          <p:cNvPr id="344" name="Google Shape;344;p42"/>
          <p:cNvSpPr txBox="1"/>
          <p:nvPr/>
        </p:nvSpPr>
        <p:spPr>
          <a:xfrm>
            <a:off x="1044605" y="2114996"/>
            <a:ext cx="3093300" cy="5976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970" u="none" cap="none" strike="noStrike">
                <a:solidFill>
                  <a:srgbClr val="475569"/>
                </a:solidFill>
                <a:latin typeface="Inter"/>
                <a:ea typeface="Inter"/>
                <a:cs typeface="Inter"/>
                <a:sym typeface="Inter"/>
              </a:rPr>
              <a:t>Instant 24/7 processing drastically reduces Days Sales Outstanding (DSO) by clearing invoices in real-time.</a:t>
            </a:r>
            <a:endParaRPr sz="970"/>
          </a:p>
        </p:txBody>
      </p:sp>
      <p:pic>
        <p:nvPicPr>
          <p:cNvPr descr="image.png" id="345" name="Google Shape;345;p42"/>
          <p:cNvPicPr preferRelativeResize="0"/>
          <p:nvPr/>
        </p:nvPicPr>
        <p:blipFill rotWithShape="1">
          <a:blip r:embed="rId6">
            <a:alphaModFix/>
          </a:blip>
          <a:srcRect b="0" l="0" r="0" t="0"/>
          <a:stretch/>
        </p:blipFill>
        <p:spPr>
          <a:xfrm>
            <a:off x="646898" y="2935732"/>
            <a:ext cx="147299" cy="162914"/>
          </a:xfrm>
          <a:prstGeom prst="rect">
            <a:avLst/>
          </a:prstGeom>
          <a:noFill/>
          <a:ln>
            <a:noFill/>
          </a:ln>
        </p:spPr>
      </p:pic>
      <p:sp>
        <p:nvSpPr>
          <p:cNvPr id="346" name="Google Shape;346;p42"/>
          <p:cNvSpPr txBox="1"/>
          <p:nvPr/>
        </p:nvSpPr>
        <p:spPr>
          <a:xfrm>
            <a:off x="1044605" y="2821692"/>
            <a:ext cx="3248100" cy="20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26" u="none" cap="none" strike="noStrike">
                <a:solidFill>
                  <a:srgbClr val="1E293B"/>
                </a:solidFill>
                <a:latin typeface="Inter"/>
                <a:ea typeface="Inter"/>
                <a:cs typeface="Inter"/>
                <a:sym typeface="Inter"/>
              </a:rPr>
              <a:t>Precision</a:t>
            </a:r>
            <a:endParaRPr sz="1237"/>
          </a:p>
        </p:txBody>
      </p:sp>
      <p:sp>
        <p:nvSpPr>
          <p:cNvPr id="347" name="Google Shape;347;p42"/>
          <p:cNvSpPr txBox="1"/>
          <p:nvPr/>
        </p:nvSpPr>
        <p:spPr>
          <a:xfrm>
            <a:off x="1044605" y="3066064"/>
            <a:ext cx="3093300" cy="373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970" u="none" cap="none" strike="noStrike">
                <a:solidFill>
                  <a:srgbClr val="475569"/>
                </a:solidFill>
                <a:latin typeface="Inter"/>
                <a:ea typeface="Inter"/>
                <a:cs typeface="Inter"/>
                <a:sym typeface="Inter"/>
              </a:rPr>
              <a:t>Eliminates manual data-entry errors such as typos in invoice numbers or incorrect payment amounts.</a:t>
            </a:r>
            <a:endParaRPr sz="970"/>
          </a:p>
        </p:txBody>
      </p:sp>
      <p:pic>
        <p:nvPicPr>
          <p:cNvPr descr="image.png" id="348" name="Google Shape;348;p42"/>
          <p:cNvPicPr preferRelativeResize="0"/>
          <p:nvPr/>
        </p:nvPicPr>
        <p:blipFill rotWithShape="1">
          <a:blip r:embed="rId7">
            <a:alphaModFix/>
          </a:blip>
          <a:srcRect b="0" l="0" r="0" t="0"/>
          <a:stretch/>
        </p:blipFill>
        <p:spPr>
          <a:xfrm>
            <a:off x="646898" y="3662682"/>
            <a:ext cx="147299" cy="162914"/>
          </a:xfrm>
          <a:prstGeom prst="rect">
            <a:avLst/>
          </a:prstGeom>
          <a:noFill/>
          <a:ln>
            <a:noFill/>
          </a:ln>
        </p:spPr>
      </p:pic>
      <p:sp>
        <p:nvSpPr>
          <p:cNvPr id="349" name="Google Shape;349;p42"/>
          <p:cNvSpPr txBox="1"/>
          <p:nvPr/>
        </p:nvSpPr>
        <p:spPr>
          <a:xfrm>
            <a:off x="1044605" y="3548642"/>
            <a:ext cx="3248100" cy="204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26" u="none" cap="none" strike="noStrike">
                <a:solidFill>
                  <a:srgbClr val="1E293B"/>
                </a:solidFill>
                <a:latin typeface="Inter"/>
                <a:ea typeface="Inter"/>
                <a:cs typeface="Inter"/>
                <a:sym typeface="Inter"/>
              </a:rPr>
              <a:t>Scalability</a:t>
            </a:r>
            <a:endParaRPr sz="1237"/>
          </a:p>
        </p:txBody>
      </p:sp>
      <p:sp>
        <p:nvSpPr>
          <p:cNvPr id="350" name="Google Shape;350;p42"/>
          <p:cNvSpPr txBox="1"/>
          <p:nvPr/>
        </p:nvSpPr>
        <p:spPr>
          <a:xfrm>
            <a:off x="1044605" y="3793014"/>
            <a:ext cx="3093300" cy="373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970">
                <a:solidFill>
                  <a:srgbClr val="475569"/>
                </a:solidFill>
                <a:latin typeface="Inter"/>
                <a:ea typeface="Inter"/>
                <a:cs typeface="Inter"/>
                <a:sym typeface="Inter"/>
              </a:rPr>
              <a:t>Handles end-of-month volume spikes (e.g., 5,000+ checks) without needing overtime staff</a:t>
            </a:r>
            <a:endParaRPr sz="970"/>
          </a:p>
        </p:txBody>
      </p:sp>
      <p:pic>
        <p:nvPicPr>
          <p:cNvPr descr="image.png" id="351" name="Google Shape;351;p42"/>
          <p:cNvPicPr preferRelativeResize="0"/>
          <p:nvPr/>
        </p:nvPicPr>
        <p:blipFill rotWithShape="1">
          <a:blip r:embed="rId8">
            <a:alphaModFix/>
          </a:blip>
          <a:srcRect b="4104" l="0" r="0" t="0"/>
          <a:stretch/>
        </p:blipFill>
        <p:spPr>
          <a:xfrm>
            <a:off x="4550475" y="942025"/>
            <a:ext cx="4314876" cy="3390075"/>
          </a:xfrm>
          <a:prstGeom prst="rect">
            <a:avLst/>
          </a:prstGeom>
          <a:noFill/>
          <a:ln>
            <a:noFill/>
          </a:ln>
        </p:spPr>
      </p:pic>
      <p:sp>
        <p:nvSpPr>
          <p:cNvPr id="352" name="Google Shape;352;p42"/>
          <p:cNvSpPr txBox="1"/>
          <p:nvPr/>
        </p:nvSpPr>
        <p:spPr>
          <a:xfrm>
            <a:off x="4819604" y="1275989"/>
            <a:ext cx="3358500" cy="271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761" u="none" cap="none" strike="noStrike">
                <a:solidFill>
                  <a:srgbClr val="B45309"/>
                </a:solidFill>
                <a:latin typeface="Inter SemiBold"/>
                <a:ea typeface="Inter SemiBold"/>
                <a:cs typeface="Inter SemiBold"/>
                <a:sym typeface="Inter SemiBold"/>
              </a:rPr>
              <a:t>The Watch-Outs (Risks)</a:t>
            </a:r>
            <a:endParaRPr sz="1264"/>
          </a:p>
        </p:txBody>
      </p:sp>
      <p:pic>
        <p:nvPicPr>
          <p:cNvPr descr="image.png" id="353" name="Google Shape;353;p42"/>
          <p:cNvPicPr preferRelativeResize="0"/>
          <p:nvPr/>
        </p:nvPicPr>
        <p:blipFill rotWithShape="1">
          <a:blip r:embed="rId9">
            <a:alphaModFix/>
          </a:blip>
          <a:srcRect b="0" l="0" r="0" t="0"/>
          <a:stretch/>
        </p:blipFill>
        <p:spPr>
          <a:xfrm>
            <a:off x="4819610" y="1848985"/>
            <a:ext cx="358845" cy="390994"/>
          </a:xfrm>
          <a:prstGeom prst="rect">
            <a:avLst/>
          </a:prstGeom>
          <a:noFill/>
          <a:ln>
            <a:noFill/>
          </a:ln>
        </p:spPr>
      </p:pic>
      <p:pic>
        <p:nvPicPr>
          <p:cNvPr descr="image.png" id="354" name="Google Shape;354;p42"/>
          <p:cNvPicPr preferRelativeResize="0"/>
          <p:nvPr/>
        </p:nvPicPr>
        <p:blipFill rotWithShape="1">
          <a:blip r:embed="rId9">
            <a:alphaModFix/>
          </a:blip>
          <a:srcRect b="0" l="0" r="0" t="0"/>
          <a:stretch/>
        </p:blipFill>
        <p:spPr>
          <a:xfrm>
            <a:off x="4805385" y="2632617"/>
            <a:ext cx="358845" cy="390994"/>
          </a:xfrm>
          <a:prstGeom prst="rect">
            <a:avLst/>
          </a:prstGeom>
          <a:noFill/>
          <a:ln>
            <a:noFill/>
          </a:ln>
        </p:spPr>
      </p:pic>
      <p:pic>
        <p:nvPicPr>
          <p:cNvPr descr="image.png" id="355" name="Google Shape;355;p42"/>
          <p:cNvPicPr preferRelativeResize="0"/>
          <p:nvPr/>
        </p:nvPicPr>
        <p:blipFill rotWithShape="1">
          <a:blip r:embed="rId9">
            <a:alphaModFix/>
          </a:blip>
          <a:srcRect b="0" l="0" r="0" t="0"/>
          <a:stretch/>
        </p:blipFill>
        <p:spPr>
          <a:xfrm>
            <a:off x="4819610" y="3394000"/>
            <a:ext cx="358845" cy="390994"/>
          </a:xfrm>
          <a:prstGeom prst="rect">
            <a:avLst/>
          </a:prstGeom>
          <a:noFill/>
          <a:ln>
            <a:noFill/>
          </a:ln>
        </p:spPr>
      </p:pic>
      <p:pic>
        <p:nvPicPr>
          <p:cNvPr descr="image.png" id="356" name="Google Shape;356;p42"/>
          <p:cNvPicPr preferRelativeResize="0"/>
          <p:nvPr/>
        </p:nvPicPr>
        <p:blipFill rotWithShape="1">
          <a:blip r:embed="rId10">
            <a:alphaModFix/>
          </a:blip>
          <a:srcRect b="0" l="0" r="0" t="0"/>
          <a:stretch/>
        </p:blipFill>
        <p:spPr>
          <a:xfrm>
            <a:off x="4905584" y="1963025"/>
            <a:ext cx="186899" cy="162914"/>
          </a:xfrm>
          <a:prstGeom prst="rect">
            <a:avLst/>
          </a:prstGeom>
          <a:noFill/>
          <a:ln>
            <a:noFill/>
          </a:ln>
        </p:spPr>
      </p:pic>
      <p:sp>
        <p:nvSpPr>
          <p:cNvPr id="357" name="Google Shape;357;p42"/>
          <p:cNvSpPr txBox="1"/>
          <p:nvPr/>
        </p:nvSpPr>
        <p:spPr>
          <a:xfrm>
            <a:off x="5327977" y="1870637"/>
            <a:ext cx="3296700" cy="208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54" u="none" cap="none" strike="noStrike">
                <a:solidFill>
                  <a:srgbClr val="1E293B"/>
                </a:solidFill>
                <a:latin typeface="Inter"/>
                <a:ea typeface="Inter"/>
                <a:cs typeface="Inter"/>
                <a:sym typeface="Inter"/>
              </a:rPr>
              <a:t>Context Blindness</a:t>
            </a:r>
            <a:endParaRPr sz="1264"/>
          </a:p>
        </p:txBody>
      </p:sp>
      <p:sp>
        <p:nvSpPr>
          <p:cNvPr id="358" name="Google Shape;358;p42"/>
          <p:cNvSpPr txBox="1"/>
          <p:nvPr/>
        </p:nvSpPr>
        <p:spPr>
          <a:xfrm>
            <a:off x="5327977" y="2115008"/>
            <a:ext cx="3139500" cy="367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955" u="none" cap="none" strike="noStrike">
                <a:solidFill>
                  <a:srgbClr val="475569"/>
                </a:solidFill>
                <a:latin typeface="Inter"/>
                <a:ea typeface="Inter"/>
                <a:cs typeface="Inter"/>
                <a:sym typeface="Inter"/>
              </a:rPr>
              <a:t>AI struggles to judge intent, often failing to distinguish valid trade discounts from unauthorized short-pays.</a:t>
            </a:r>
            <a:endParaRPr sz="955"/>
          </a:p>
        </p:txBody>
      </p:sp>
      <p:pic>
        <p:nvPicPr>
          <p:cNvPr descr="image.png" id="359" name="Google Shape;359;p42"/>
          <p:cNvPicPr preferRelativeResize="0"/>
          <p:nvPr/>
        </p:nvPicPr>
        <p:blipFill rotWithShape="1">
          <a:blip r:embed="rId11">
            <a:alphaModFix/>
          </a:blip>
          <a:srcRect b="0" l="0" r="0" t="0"/>
          <a:stretch/>
        </p:blipFill>
        <p:spPr>
          <a:xfrm>
            <a:off x="4898835" y="2746657"/>
            <a:ext cx="171947" cy="162914"/>
          </a:xfrm>
          <a:prstGeom prst="rect">
            <a:avLst/>
          </a:prstGeom>
          <a:noFill/>
          <a:ln>
            <a:noFill/>
          </a:ln>
        </p:spPr>
      </p:pic>
      <p:sp>
        <p:nvSpPr>
          <p:cNvPr id="360" name="Google Shape;360;p42"/>
          <p:cNvSpPr txBox="1"/>
          <p:nvPr/>
        </p:nvSpPr>
        <p:spPr>
          <a:xfrm>
            <a:off x="5313752" y="2632310"/>
            <a:ext cx="3296700" cy="208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54" u="none" cap="none" strike="noStrike">
                <a:solidFill>
                  <a:srgbClr val="1E293B"/>
                </a:solidFill>
                <a:latin typeface="Inter"/>
                <a:ea typeface="Inter"/>
                <a:cs typeface="Inter"/>
                <a:sym typeface="Inter"/>
              </a:rPr>
              <a:t>Input Sensitivity</a:t>
            </a:r>
            <a:endParaRPr sz="1264"/>
          </a:p>
        </p:txBody>
      </p:sp>
      <p:sp>
        <p:nvSpPr>
          <p:cNvPr id="361" name="Google Shape;361;p42"/>
          <p:cNvSpPr txBox="1"/>
          <p:nvPr/>
        </p:nvSpPr>
        <p:spPr>
          <a:xfrm>
            <a:off x="5313752" y="2876682"/>
            <a:ext cx="3139500" cy="367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955" u="none" cap="none" strike="noStrike">
                <a:solidFill>
                  <a:srgbClr val="475569"/>
                </a:solidFill>
                <a:latin typeface="Inter"/>
                <a:ea typeface="Inter"/>
                <a:cs typeface="Inter"/>
                <a:sym typeface="Inter"/>
              </a:rPr>
              <a:t>Bad data in = Bad data out. Blurry lockbox scans or messy handwriting can cause automated failures.</a:t>
            </a:r>
            <a:endParaRPr sz="955"/>
          </a:p>
        </p:txBody>
      </p:sp>
      <p:pic>
        <p:nvPicPr>
          <p:cNvPr descr="image.png" id="362" name="Google Shape;362;p42"/>
          <p:cNvPicPr preferRelativeResize="0"/>
          <p:nvPr/>
        </p:nvPicPr>
        <p:blipFill rotWithShape="1">
          <a:blip r:embed="rId12">
            <a:alphaModFix/>
          </a:blip>
          <a:srcRect b="0" l="0" r="0" t="0"/>
          <a:stretch/>
        </p:blipFill>
        <p:spPr>
          <a:xfrm>
            <a:off x="4942963" y="3508040"/>
            <a:ext cx="112140" cy="162914"/>
          </a:xfrm>
          <a:prstGeom prst="rect">
            <a:avLst/>
          </a:prstGeom>
          <a:noFill/>
          <a:ln>
            <a:noFill/>
          </a:ln>
        </p:spPr>
      </p:pic>
      <p:sp>
        <p:nvSpPr>
          <p:cNvPr id="363" name="Google Shape;363;p42"/>
          <p:cNvSpPr txBox="1"/>
          <p:nvPr/>
        </p:nvSpPr>
        <p:spPr>
          <a:xfrm>
            <a:off x="5327977" y="3394000"/>
            <a:ext cx="3296700" cy="208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 sz="1354" u="none" cap="none" strike="noStrike">
                <a:solidFill>
                  <a:srgbClr val="1E293B"/>
                </a:solidFill>
                <a:latin typeface="Inter"/>
                <a:ea typeface="Inter"/>
                <a:cs typeface="Inter"/>
                <a:sym typeface="Inter"/>
              </a:rPr>
              <a:t>'Black Box' Audits</a:t>
            </a:r>
            <a:endParaRPr sz="1264"/>
          </a:p>
        </p:txBody>
      </p:sp>
      <p:sp>
        <p:nvSpPr>
          <p:cNvPr id="364" name="Google Shape;364;p42"/>
          <p:cNvSpPr txBox="1"/>
          <p:nvPr/>
        </p:nvSpPr>
        <p:spPr>
          <a:xfrm>
            <a:off x="5327975" y="3638375"/>
            <a:ext cx="3296700" cy="3675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b="0" i="0" lang="en" sz="955" u="none" cap="none" strike="noStrike">
                <a:solidFill>
                  <a:srgbClr val="475569"/>
                </a:solidFill>
                <a:latin typeface="Inter"/>
                <a:ea typeface="Inter"/>
                <a:cs typeface="Inter"/>
                <a:sym typeface="Inter"/>
              </a:rPr>
              <a:t>It is significantly harder to explain complex AI matching logic to external auditors than standard human notes.</a:t>
            </a:r>
            <a:endParaRPr sz="955"/>
          </a:p>
        </p:txBody>
      </p:sp>
      <p:sp>
        <p:nvSpPr>
          <p:cNvPr id="365" name="Google Shape;365;p42"/>
          <p:cNvSpPr/>
          <p:nvPr/>
        </p:nvSpPr>
        <p:spPr>
          <a:xfrm>
            <a:off x="302775" y="4431025"/>
            <a:ext cx="8554500" cy="523200"/>
          </a:xfrm>
          <a:prstGeom prst="rect">
            <a:avLst/>
          </a:prstGeom>
          <a:solidFill>
            <a:srgbClr val="FFFFFF"/>
          </a:solidFill>
          <a:ln cap="flat" cmpd="sng" w="19050">
            <a:solidFill>
              <a:srgbClr val="93C47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Nunito"/>
              <a:ea typeface="Nunito"/>
              <a:cs typeface="Nunito"/>
              <a:sym typeface="Nunito"/>
            </a:endParaRPr>
          </a:p>
        </p:txBody>
      </p:sp>
      <p:sp>
        <p:nvSpPr>
          <p:cNvPr id="366" name="Google Shape;366;p42"/>
          <p:cNvSpPr txBox="1"/>
          <p:nvPr/>
        </p:nvSpPr>
        <p:spPr>
          <a:xfrm>
            <a:off x="286725" y="4431025"/>
            <a:ext cx="8554500" cy="59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200">
                <a:latin typeface="Nunito"/>
                <a:ea typeface="Nunito"/>
                <a:cs typeface="Nunito"/>
                <a:sym typeface="Nunito"/>
              </a:rPr>
              <a:t>Strategic Implication: </a:t>
            </a:r>
            <a:r>
              <a:rPr lang="en" sz="1200">
                <a:latin typeface="Nunito"/>
                <a:ea typeface="Nunito"/>
                <a:cs typeface="Nunito"/>
                <a:sym typeface="Nunito"/>
              </a:rPr>
              <a:t>The AI handles </a:t>
            </a:r>
            <a:r>
              <a:rPr b="1" lang="en" sz="1200">
                <a:latin typeface="Nunito"/>
                <a:ea typeface="Nunito"/>
                <a:cs typeface="Nunito"/>
                <a:sym typeface="Nunito"/>
              </a:rPr>
              <a:t>Volume</a:t>
            </a:r>
            <a:r>
              <a:rPr lang="en" sz="1200">
                <a:latin typeface="Nunito"/>
                <a:ea typeface="Nunito"/>
                <a:cs typeface="Nunito"/>
                <a:sym typeface="Nunito"/>
              </a:rPr>
              <a:t> (Standard Transactions), freeing Humans to handle </a:t>
            </a:r>
            <a:r>
              <a:rPr b="1" lang="en" sz="1200">
                <a:latin typeface="Nunito"/>
                <a:ea typeface="Nunito"/>
                <a:cs typeface="Nunito"/>
                <a:sym typeface="Nunito"/>
              </a:rPr>
              <a:t>Value</a:t>
            </a:r>
            <a:r>
              <a:rPr lang="en" sz="1200">
                <a:latin typeface="Nunito"/>
                <a:ea typeface="Nunito"/>
                <a:cs typeface="Nunito"/>
                <a:sym typeface="Nunito"/>
              </a:rPr>
              <a:t> (Exceptions, Disputes, &amp; Relationships)." </a:t>
            </a:r>
            <a:r>
              <a:rPr b="1" lang="en" sz="1300" u="sng">
                <a:solidFill>
                  <a:schemeClr val="hlink"/>
                </a:solidFill>
                <a:latin typeface="Nunito"/>
                <a:ea typeface="Nunito"/>
                <a:cs typeface="Nunito"/>
                <a:sym typeface="Nunito"/>
                <a:hlinkClick r:id="rId13"/>
              </a:rPr>
              <a:t>Video Link</a:t>
            </a:r>
            <a:endParaRPr b="1" sz="1300">
              <a:latin typeface="Nunito"/>
              <a:ea typeface="Nunito"/>
              <a:cs typeface="Nunito"/>
              <a:sym typeface="Nuni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3"/>
          <p:cNvSpPr txBox="1"/>
          <p:nvPr>
            <p:ph type="title"/>
          </p:nvPr>
        </p:nvSpPr>
        <p:spPr>
          <a:xfrm>
            <a:off x="720000" y="2195100"/>
            <a:ext cx="4337700" cy="146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Disputes</a:t>
            </a:r>
            <a:endParaRPr/>
          </a:p>
        </p:txBody>
      </p:sp>
      <p:sp>
        <p:nvSpPr>
          <p:cNvPr id="372" name="Google Shape;372;p43"/>
          <p:cNvSpPr txBox="1"/>
          <p:nvPr>
            <p:ph idx="2" type="title"/>
          </p:nvPr>
        </p:nvSpPr>
        <p:spPr>
          <a:xfrm>
            <a:off x="720000" y="1178725"/>
            <a:ext cx="5067600" cy="100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373" name="Google Shape;373;p43"/>
          <p:cNvSpPr txBox="1"/>
          <p:nvPr>
            <p:ph idx="1" type="subTitle"/>
          </p:nvPr>
        </p:nvSpPr>
        <p:spPr>
          <a:xfrm>
            <a:off x="720000" y="3676775"/>
            <a:ext cx="5067600" cy="713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Mayank, Byron, Rhea</a:t>
            </a:r>
            <a:endParaRPr/>
          </a:p>
        </p:txBody>
      </p:sp>
      <p:cxnSp>
        <p:nvCxnSpPr>
          <p:cNvPr id="374" name="Google Shape;374;p43"/>
          <p:cNvCxnSpPr>
            <a:endCxn id="375"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375" name="Google Shape;375;p43"/>
          <p:cNvSpPr txBox="1"/>
          <p:nvPr/>
        </p:nvSpPr>
        <p:spPr>
          <a:xfrm>
            <a:off x="6331500" y="4630647"/>
            <a:ext cx="2585400" cy="47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Nunito"/>
              <a:ea typeface="Nunito"/>
              <a:cs typeface="Nunito"/>
              <a:sym typeface="Nunito"/>
            </a:endParaRPr>
          </a:p>
          <a:p>
            <a:pPr indent="0" lvl="0" marL="0" rtl="0" algn="r">
              <a:spcBef>
                <a:spcPts val="0"/>
              </a:spcBef>
              <a:spcAft>
                <a:spcPts val="0"/>
              </a:spcAft>
              <a:buNone/>
            </a:pPr>
            <a:r>
              <a:rPr lang="en" sz="1200">
                <a:solidFill>
                  <a:schemeClr val="dk1"/>
                </a:solidFill>
                <a:latin typeface="Nunito"/>
                <a:ea typeface="Nunito"/>
                <a:cs typeface="Nunito"/>
                <a:sym typeface="Nunito"/>
              </a:rPr>
              <a:t>Purdue University</a:t>
            </a:r>
            <a:endParaRPr sz="1200">
              <a:solidFill>
                <a:schemeClr val="dk1"/>
              </a:solidFill>
              <a:latin typeface="Nunito"/>
              <a:ea typeface="Nunito"/>
              <a:cs typeface="Nunito"/>
              <a:sym typeface="Nunito"/>
            </a:endParaRPr>
          </a:p>
          <a:p>
            <a:pPr indent="0" lvl="0" marL="0" rtl="0" algn="r">
              <a:spcBef>
                <a:spcPts val="0"/>
              </a:spcBef>
              <a:spcAft>
                <a:spcPts val="0"/>
              </a:spcAft>
              <a:buNone/>
            </a:pPr>
            <a:r>
              <a:t/>
            </a:r>
            <a:endParaRPr sz="1200">
              <a:solidFill>
                <a:schemeClr val="dk1"/>
              </a:solidFill>
              <a:latin typeface="Nunito"/>
              <a:ea typeface="Nunito"/>
              <a:cs typeface="Nunito"/>
              <a:sym typeface="Nunito"/>
            </a:endParaRPr>
          </a:p>
        </p:txBody>
      </p:sp>
      <p:pic>
        <p:nvPicPr>
          <p:cNvPr id="376" name="Google Shape;376;p43"/>
          <p:cNvPicPr preferRelativeResize="0"/>
          <p:nvPr/>
        </p:nvPicPr>
        <p:blipFill>
          <a:blip r:embed="rId3">
            <a:alphaModFix/>
          </a:blip>
          <a:stretch>
            <a:fillRect/>
          </a:stretch>
        </p:blipFill>
        <p:spPr>
          <a:xfrm>
            <a:off x="0" y="1"/>
            <a:ext cx="3335324" cy="35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44"/>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Current State and Agent Overview</a:t>
            </a:r>
            <a:endParaRPr sz="2600"/>
          </a:p>
        </p:txBody>
      </p:sp>
      <p:sp>
        <p:nvSpPr>
          <p:cNvPr id="382" name="Google Shape;382;p44"/>
          <p:cNvSpPr txBox="1"/>
          <p:nvPr>
            <p:ph type="title"/>
          </p:nvPr>
        </p:nvSpPr>
        <p:spPr>
          <a:xfrm>
            <a:off x="815004" y="2461493"/>
            <a:ext cx="28113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Human-Driven Process</a:t>
            </a:r>
            <a:endParaRPr sz="1818"/>
          </a:p>
        </p:txBody>
      </p:sp>
      <p:sp>
        <p:nvSpPr>
          <p:cNvPr id="383" name="Google Shape;383;p44"/>
          <p:cNvSpPr txBox="1"/>
          <p:nvPr>
            <p:ph idx="3" type="subTitle"/>
          </p:nvPr>
        </p:nvSpPr>
        <p:spPr>
          <a:xfrm>
            <a:off x="164000" y="2832650"/>
            <a:ext cx="3912900" cy="2246700"/>
          </a:xfrm>
          <a:prstGeom prst="rect">
            <a:avLst/>
          </a:prstGeom>
        </p:spPr>
        <p:txBody>
          <a:bodyPr anchorCtr="0" anchor="t" bIns="66525" lIns="66525" spcFirstLastPara="1" rIns="66525" wrap="square" tIns="66525">
            <a:noAutofit/>
          </a:bodyPr>
          <a:lstStyle/>
          <a:p>
            <a:pPr indent="0" lvl="0" marL="0" rtl="0" algn="l">
              <a:spcBef>
                <a:spcPts val="0"/>
              </a:spcBef>
              <a:spcAft>
                <a:spcPts val="0"/>
              </a:spcAft>
              <a:buNone/>
            </a:pPr>
            <a:r>
              <a:rPr lang="en" sz="1309"/>
              <a:t>L5 Step: Dispute Case Opening and Management</a:t>
            </a:r>
            <a:endParaRPr sz="1309"/>
          </a:p>
          <a:p>
            <a:pPr indent="-311757" lvl="0" marL="457200" rtl="0" algn="l">
              <a:spcBef>
                <a:spcPts val="0"/>
              </a:spcBef>
              <a:spcAft>
                <a:spcPts val="0"/>
              </a:spcAft>
              <a:buSzPts val="1310"/>
              <a:buChar char="●"/>
            </a:pPr>
            <a:r>
              <a:rPr lang="en" sz="1309"/>
              <a:t>Manually create dispute cases</a:t>
            </a:r>
            <a:endParaRPr sz="1309"/>
          </a:p>
          <a:p>
            <a:pPr indent="0" lvl="0" marL="457200" rtl="0" algn="l">
              <a:spcBef>
                <a:spcPts val="0"/>
              </a:spcBef>
              <a:spcAft>
                <a:spcPts val="0"/>
              </a:spcAft>
              <a:buNone/>
            </a:pPr>
            <a:r>
              <a:t/>
            </a:r>
            <a:endParaRPr sz="1309"/>
          </a:p>
          <a:p>
            <a:pPr indent="-311757" lvl="0" marL="457200" rtl="0" algn="l">
              <a:spcBef>
                <a:spcPts val="0"/>
              </a:spcBef>
              <a:spcAft>
                <a:spcPts val="0"/>
              </a:spcAft>
              <a:buSzPts val="1310"/>
              <a:buChar char="●"/>
            </a:pPr>
            <a:r>
              <a:rPr lang="en" sz="1309"/>
              <a:t>Human managers need to communicate with every individual dispute case</a:t>
            </a:r>
            <a:endParaRPr sz="1309"/>
          </a:p>
          <a:p>
            <a:pPr indent="-311757" lvl="1" marL="914400" rtl="0" algn="l">
              <a:spcBef>
                <a:spcPts val="0"/>
              </a:spcBef>
              <a:spcAft>
                <a:spcPts val="0"/>
              </a:spcAft>
              <a:buSzPts val="1310"/>
              <a:buChar char="○"/>
            </a:pPr>
            <a:r>
              <a:rPr lang="en" sz="1309"/>
              <a:t>Reduces workflow speed</a:t>
            </a:r>
            <a:endParaRPr sz="1309"/>
          </a:p>
          <a:p>
            <a:pPr indent="-311757" lvl="1" marL="914400" rtl="0" algn="l">
              <a:spcBef>
                <a:spcPts val="0"/>
              </a:spcBef>
              <a:spcAft>
                <a:spcPts val="0"/>
              </a:spcAft>
              <a:buSzPts val="1310"/>
              <a:buChar char="○"/>
            </a:pPr>
            <a:r>
              <a:rPr lang="en" sz="1309"/>
              <a:t>Higher costs for dispute management</a:t>
            </a:r>
            <a:endParaRPr sz="1309"/>
          </a:p>
          <a:p>
            <a:pPr indent="0" lvl="0" marL="0" rtl="0" algn="l">
              <a:spcBef>
                <a:spcPts val="0"/>
              </a:spcBef>
              <a:spcAft>
                <a:spcPts val="0"/>
              </a:spcAft>
              <a:buNone/>
            </a:pPr>
            <a:r>
              <a:t/>
            </a:r>
            <a:endParaRPr sz="1309"/>
          </a:p>
          <a:p>
            <a:pPr indent="-311757" lvl="0" marL="457200" rtl="0" algn="l">
              <a:spcBef>
                <a:spcPts val="0"/>
              </a:spcBef>
              <a:spcAft>
                <a:spcPts val="0"/>
              </a:spcAft>
              <a:buSzPts val="1310"/>
              <a:buChar char="●"/>
            </a:pPr>
            <a:r>
              <a:rPr lang="en" sz="1309"/>
              <a:t>Difficulty in tracking and resolving disputes immediately</a:t>
            </a:r>
            <a:endParaRPr sz="1309"/>
          </a:p>
          <a:p>
            <a:pPr indent="0" lvl="0" marL="0" rtl="0" algn="l">
              <a:spcBef>
                <a:spcPts val="0"/>
              </a:spcBef>
              <a:spcAft>
                <a:spcPts val="0"/>
              </a:spcAft>
              <a:buNone/>
            </a:pPr>
            <a:r>
              <a:t/>
            </a:r>
            <a:endParaRPr sz="1309"/>
          </a:p>
          <a:p>
            <a:pPr indent="0" lvl="0" marL="0" rtl="0" algn="l">
              <a:spcBef>
                <a:spcPts val="0"/>
              </a:spcBef>
              <a:spcAft>
                <a:spcPts val="0"/>
              </a:spcAft>
              <a:buNone/>
            </a:pPr>
            <a:r>
              <a:t/>
            </a:r>
            <a:endParaRPr sz="1309"/>
          </a:p>
        </p:txBody>
      </p:sp>
      <p:sp>
        <p:nvSpPr>
          <p:cNvPr id="384" name="Google Shape;384;p44"/>
          <p:cNvSpPr txBox="1"/>
          <p:nvPr>
            <p:ph type="title"/>
          </p:nvPr>
        </p:nvSpPr>
        <p:spPr>
          <a:xfrm>
            <a:off x="2567700" y="950188"/>
            <a:ext cx="40086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Dispute Resolution Agent</a:t>
            </a:r>
            <a:endParaRPr sz="1818"/>
          </a:p>
        </p:txBody>
      </p:sp>
      <p:sp>
        <p:nvSpPr>
          <p:cNvPr id="385" name="Google Shape;385;p44"/>
          <p:cNvSpPr txBox="1"/>
          <p:nvPr>
            <p:ph idx="3" type="subTitle"/>
          </p:nvPr>
        </p:nvSpPr>
        <p:spPr>
          <a:xfrm>
            <a:off x="472125" y="1344125"/>
            <a:ext cx="3832500" cy="896400"/>
          </a:xfrm>
          <a:prstGeom prst="rect">
            <a:avLst/>
          </a:prstGeom>
        </p:spPr>
        <p:txBody>
          <a:bodyPr anchorCtr="0" anchor="t" bIns="66525" lIns="66525" spcFirstLastPara="1" rIns="66525" wrap="square" tIns="66525">
            <a:noAutofit/>
          </a:bodyPr>
          <a:lstStyle/>
          <a:p>
            <a:pPr indent="-311150" lvl="0" marL="457200" rtl="0" algn="l">
              <a:lnSpc>
                <a:spcPct val="115000"/>
              </a:lnSpc>
              <a:spcBef>
                <a:spcPts val="0"/>
              </a:spcBef>
              <a:spcAft>
                <a:spcPts val="0"/>
              </a:spcAft>
              <a:buClr>
                <a:srgbClr val="000000"/>
              </a:buClr>
              <a:buSzPts val="1300"/>
              <a:buChar char="●"/>
            </a:pPr>
            <a:r>
              <a:rPr lang="en" sz="1300">
                <a:solidFill>
                  <a:srgbClr val="000000"/>
                </a:solidFill>
              </a:rPr>
              <a:t>Scan invoices and contracts for errors automatically </a:t>
            </a:r>
            <a:endParaRPr sz="1509"/>
          </a:p>
          <a:p>
            <a:pPr indent="-323850" lvl="0" marL="457200" rtl="0" algn="l">
              <a:lnSpc>
                <a:spcPct val="115000"/>
              </a:lnSpc>
              <a:spcBef>
                <a:spcPts val="0"/>
              </a:spcBef>
              <a:spcAft>
                <a:spcPts val="0"/>
              </a:spcAft>
              <a:buClr>
                <a:srgbClr val="000000"/>
              </a:buClr>
              <a:buSzPts val="1500"/>
              <a:buChar char="●"/>
            </a:pPr>
            <a:r>
              <a:rPr lang="en" sz="1300">
                <a:solidFill>
                  <a:srgbClr val="000000"/>
                </a:solidFill>
              </a:rPr>
              <a:t>Detects incorrect charges and suggest fixes (e.g. creation of credit memos )</a:t>
            </a:r>
            <a:endParaRPr sz="1509"/>
          </a:p>
          <a:p>
            <a:pPr indent="0" lvl="0" marL="0" rtl="0" algn="l">
              <a:spcBef>
                <a:spcPts val="0"/>
              </a:spcBef>
              <a:spcAft>
                <a:spcPts val="0"/>
              </a:spcAft>
              <a:buNone/>
            </a:pPr>
            <a:r>
              <a:t/>
            </a:r>
            <a:endParaRPr sz="1309"/>
          </a:p>
        </p:txBody>
      </p:sp>
      <p:pic>
        <p:nvPicPr>
          <p:cNvPr id="386" name="Google Shape;386;p44"/>
          <p:cNvPicPr preferRelativeResize="0"/>
          <p:nvPr/>
        </p:nvPicPr>
        <p:blipFill>
          <a:blip r:embed="rId3">
            <a:alphaModFix/>
          </a:blip>
          <a:stretch>
            <a:fillRect/>
          </a:stretch>
        </p:blipFill>
        <p:spPr>
          <a:xfrm>
            <a:off x="548325" y="5925"/>
            <a:ext cx="2321924" cy="248525"/>
          </a:xfrm>
          <a:prstGeom prst="rect">
            <a:avLst/>
          </a:prstGeom>
          <a:noFill/>
          <a:ln>
            <a:noFill/>
          </a:ln>
        </p:spPr>
      </p:pic>
      <p:sp>
        <p:nvSpPr>
          <p:cNvPr id="387" name="Google Shape;387;p44"/>
          <p:cNvSpPr txBox="1"/>
          <p:nvPr>
            <p:ph idx="2" type="title"/>
          </p:nvPr>
        </p:nvSpPr>
        <p:spPr>
          <a:xfrm>
            <a:off x="5216052" y="2457908"/>
            <a:ext cx="2547600" cy="413700"/>
          </a:xfrm>
          <a:prstGeom prst="rect">
            <a:avLst/>
          </a:prstGeom>
        </p:spPr>
        <p:txBody>
          <a:bodyPr anchorCtr="0" anchor="t" bIns="67675" lIns="67675" spcFirstLastPara="1" rIns="67675" wrap="square" tIns="67675">
            <a:noAutofit/>
          </a:bodyPr>
          <a:lstStyle/>
          <a:p>
            <a:pPr indent="0" lvl="0" marL="0" rtl="0" algn="ctr">
              <a:spcBef>
                <a:spcPts val="0"/>
              </a:spcBef>
              <a:spcAft>
                <a:spcPts val="0"/>
              </a:spcAft>
              <a:buNone/>
            </a:pPr>
            <a:r>
              <a:rPr lang="en" sz="1850"/>
              <a:t>AI-Driven Process</a:t>
            </a:r>
            <a:endParaRPr sz="1850"/>
          </a:p>
        </p:txBody>
      </p:sp>
      <p:sp>
        <p:nvSpPr>
          <p:cNvPr id="388" name="Google Shape;388;p44"/>
          <p:cNvSpPr txBox="1"/>
          <p:nvPr>
            <p:ph idx="1" type="subTitle"/>
          </p:nvPr>
        </p:nvSpPr>
        <p:spPr>
          <a:xfrm>
            <a:off x="4130650" y="2715600"/>
            <a:ext cx="4718400" cy="2176800"/>
          </a:xfrm>
          <a:prstGeom prst="rect">
            <a:avLst/>
          </a:prstGeom>
        </p:spPr>
        <p:txBody>
          <a:bodyPr anchorCtr="0" anchor="t" bIns="67675" lIns="67675" spcFirstLastPara="1" rIns="67675" wrap="square" tIns="67675">
            <a:noAutofit/>
          </a:bodyPr>
          <a:lstStyle/>
          <a:p>
            <a:pPr indent="-251757" lvl="0" marL="338415" rtl="0" algn="l">
              <a:lnSpc>
                <a:spcPct val="115000"/>
              </a:lnSpc>
              <a:spcBef>
                <a:spcPts val="888"/>
              </a:spcBef>
              <a:spcAft>
                <a:spcPts val="0"/>
              </a:spcAft>
              <a:buClr>
                <a:srgbClr val="000000"/>
              </a:buClr>
              <a:buSzPts val="1300"/>
              <a:buFont typeface="Arial"/>
              <a:buChar char="●"/>
            </a:pPr>
            <a:r>
              <a:rPr lang="en" sz="1300">
                <a:solidFill>
                  <a:srgbClr val="000000"/>
                </a:solidFill>
              </a:rPr>
              <a:t>Automated Case </a:t>
            </a:r>
            <a:r>
              <a:rPr lang="en" sz="1300">
                <a:solidFill>
                  <a:srgbClr val="000000"/>
                </a:solidFill>
              </a:rPr>
              <a:t>Analysis</a:t>
            </a:r>
            <a:r>
              <a:rPr lang="en" sz="1300">
                <a:solidFill>
                  <a:srgbClr val="000000"/>
                </a:solidFill>
              </a:rPr>
              <a:t> and Validation:</a:t>
            </a:r>
            <a:endParaRPr sz="1300">
              <a:solidFill>
                <a:srgbClr val="000000"/>
              </a:solidFill>
            </a:endParaRPr>
          </a:p>
          <a:p>
            <a:pPr indent="-251758" lvl="1" marL="676832" rtl="0" algn="l">
              <a:lnSpc>
                <a:spcPct val="115000"/>
              </a:lnSpc>
              <a:spcBef>
                <a:spcPts val="0"/>
              </a:spcBef>
              <a:spcAft>
                <a:spcPts val="0"/>
              </a:spcAft>
              <a:buClr>
                <a:srgbClr val="000000"/>
              </a:buClr>
              <a:buSzPts val="1300"/>
              <a:buFont typeface="Arial"/>
              <a:buChar char="○"/>
            </a:pPr>
            <a:r>
              <a:rPr lang="en" sz="1300">
                <a:solidFill>
                  <a:srgbClr val="000000"/>
                </a:solidFill>
              </a:rPr>
              <a:t>Determines</a:t>
            </a:r>
            <a:r>
              <a:rPr lang="en" sz="1300">
                <a:solidFill>
                  <a:srgbClr val="000000"/>
                </a:solidFill>
              </a:rPr>
              <a:t> the </a:t>
            </a:r>
            <a:r>
              <a:rPr lang="en" sz="1300">
                <a:solidFill>
                  <a:srgbClr val="000000"/>
                </a:solidFill>
              </a:rPr>
              <a:t>validity</a:t>
            </a:r>
            <a:r>
              <a:rPr lang="en" sz="1300">
                <a:solidFill>
                  <a:srgbClr val="000000"/>
                </a:solidFill>
              </a:rPr>
              <a:t> of cases itself</a:t>
            </a:r>
            <a:endParaRPr sz="1300">
              <a:solidFill>
                <a:srgbClr val="000000"/>
              </a:solidFill>
            </a:endParaRPr>
          </a:p>
          <a:p>
            <a:pPr indent="-251757" lvl="0" marL="338415" rtl="0" algn="l">
              <a:lnSpc>
                <a:spcPct val="115000"/>
              </a:lnSpc>
              <a:spcBef>
                <a:spcPts val="0"/>
              </a:spcBef>
              <a:spcAft>
                <a:spcPts val="0"/>
              </a:spcAft>
              <a:buClr>
                <a:srgbClr val="000000"/>
              </a:buClr>
              <a:buSzPts val="1300"/>
              <a:buFont typeface="Arial"/>
              <a:buChar char="●"/>
            </a:pPr>
            <a:r>
              <a:rPr lang="en" sz="1300">
                <a:solidFill>
                  <a:srgbClr val="000000"/>
                </a:solidFill>
              </a:rPr>
              <a:t>Key Issues are summarized for human reviewer</a:t>
            </a:r>
            <a:endParaRPr sz="1300">
              <a:solidFill>
                <a:srgbClr val="000000"/>
              </a:solidFill>
            </a:endParaRPr>
          </a:p>
          <a:p>
            <a:pPr indent="-251757" lvl="0" marL="338415" rtl="0" algn="l">
              <a:lnSpc>
                <a:spcPct val="115000"/>
              </a:lnSpc>
              <a:spcBef>
                <a:spcPts val="0"/>
              </a:spcBef>
              <a:spcAft>
                <a:spcPts val="0"/>
              </a:spcAft>
              <a:buClr>
                <a:srgbClr val="000000"/>
              </a:buClr>
              <a:buSzPts val="1300"/>
              <a:buFont typeface="Arial"/>
              <a:buChar char="●"/>
            </a:pPr>
            <a:r>
              <a:rPr lang="en" sz="1300">
                <a:solidFill>
                  <a:srgbClr val="000000"/>
                </a:solidFill>
              </a:rPr>
              <a:t>Proposes potential resolution options, reviewed by human</a:t>
            </a:r>
            <a:endParaRPr sz="1300">
              <a:solidFill>
                <a:srgbClr val="000000"/>
              </a:solidFill>
            </a:endParaRPr>
          </a:p>
          <a:p>
            <a:pPr indent="-251757" lvl="0" marL="338415" rtl="0" algn="l">
              <a:lnSpc>
                <a:spcPct val="115000"/>
              </a:lnSpc>
              <a:spcBef>
                <a:spcPts val="0"/>
              </a:spcBef>
              <a:spcAft>
                <a:spcPts val="0"/>
              </a:spcAft>
              <a:buClr>
                <a:srgbClr val="000000"/>
              </a:buClr>
              <a:buSzPts val="1300"/>
              <a:buFont typeface="Arial"/>
              <a:buChar char="●"/>
            </a:pPr>
            <a:r>
              <a:rPr lang="en" sz="1300">
                <a:solidFill>
                  <a:srgbClr val="000000"/>
                </a:solidFill>
              </a:rPr>
              <a:t>Provides a more streamlined dispute process, </a:t>
            </a:r>
            <a:r>
              <a:rPr lang="en" sz="1300">
                <a:solidFill>
                  <a:srgbClr val="000000"/>
                </a:solidFill>
              </a:rPr>
              <a:t>maintaining</a:t>
            </a:r>
            <a:r>
              <a:rPr lang="en" sz="1300">
                <a:solidFill>
                  <a:srgbClr val="000000"/>
                </a:solidFill>
              </a:rPr>
              <a:t> stable customer relations</a:t>
            </a:r>
            <a:br>
              <a:rPr lang="en" sz="1300">
                <a:solidFill>
                  <a:srgbClr val="000000"/>
                </a:solidFill>
              </a:rPr>
            </a:br>
            <a:endParaRPr sz="1300">
              <a:solidFill>
                <a:srgbClr val="000000"/>
              </a:solidFill>
            </a:endParaRPr>
          </a:p>
          <a:p>
            <a:pPr indent="0" lvl="0" marL="0" rtl="0" algn="l">
              <a:spcBef>
                <a:spcPts val="888"/>
              </a:spcBef>
              <a:spcAft>
                <a:spcPts val="0"/>
              </a:spcAft>
              <a:buNone/>
            </a:pPr>
            <a:r>
              <a:t/>
            </a:r>
            <a:endParaRPr sz="1300"/>
          </a:p>
        </p:txBody>
      </p:sp>
      <p:sp>
        <p:nvSpPr>
          <p:cNvPr id="389" name="Google Shape;389;p44"/>
          <p:cNvSpPr txBox="1"/>
          <p:nvPr/>
        </p:nvSpPr>
        <p:spPr>
          <a:xfrm>
            <a:off x="4282550" y="1356700"/>
            <a:ext cx="4150800" cy="1388100"/>
          </a:xfrm>
          <a:prstGeom prst="rect">
            <a:avLst/>
          </a:prstGeom>
          <a:noFill/>
          <a:ln>
            <a:noFill/>
          </a:ln>
        </p:spPr>
        <p:txBody>
          <a:bodyPr anchorCtr="0" anchor="t" bIns="91425" lIns="91425" spcFirstLastPara="1" rIns="91425" wrap="square" tIns="91425">
            <a:spAutoFit/>
          </a:bodyPr>
          <a:lstStyle/>
          <a:p>
            <a:pPr indent="-311150" lvl="0" marL="457200" rtl="0" algn="l">
              <a:spcBef>
                <a:spcPts val="0"/>
              </a:spcBef>
              <a:spcAft>
                <a:spcPts val="0"/>
              </a:spcAft>
              <a:buClr>
                <a:schemeClr val="dk1"/>
              </a:buClr>
              <a:buSzPts val="1300"/>
              <a:buFont typeface="Nunito"/>
              <a:buChar char="●"/>
            </a:pPr>
            <a:r>
              <a:rPr lang="en" sz="1300">
                <a:solidFill>
                  <a:schemeClr val="dk1"/>
                </a:solidFill>
                <a:latin typeface="Nunito"/>
                <a:ea typeface="Nunito"/>
                <a:cs typeface="Nunito"/>
                <a:sym typeface="Nunito"/>
              </a:rPr>
              <a:t>30% reduction in Dispute Management handling cost</a:t>
            </a:r>
            <a:endParaRPr sz="1309">
              <a:solidFill>
                <a:schemeClr val="dk1"/>
              </a:solidFill>
              <a:latin typeface="Nunito"/>
              <a:ea typeface="Nunito"/>
              <a:cs typeface="Nunito"/>
              <a:sym typeface="Nunito"/>
            </a:endParaRPr>
          </a:p>
          <a:p>
            <a:pPr indent="-311150" lvl="0" marL="457200" rtl="0" algn="l">
              <a:spcBef>
                <a:spcPts val="0"/>
              </a:spcBef>
              <a:spcAft>
                <a:spcPts val="0"/>
              </a:spcAft>
              <a:buClr>
                <a:schemeClr val="dk1"/>
              </a:buClr>
              <a:buSzPts val="1300"/>
              <a:buFont typeface="Nunito"/>
              <a:buChar char="●"/>
            </a:pPr>
            <a:r>
              <a:rPr lang="en" sz="1300">
                <a:solidFill>
                  <a:schemeClr val="dk1"/>
                </a:solidFill>
                <a:latin typeface="Nunito"/>
                <a:ea typeface="Nunito"/>
                <a:cs typeface="Nunito"/>
                <a:sym typeface="Nunito"/>
              </a:rPr>
              <a:t>5% reduction in customer churn attributable to invoice disputes</a:t>
            </a:r>
            <a:endParaRPr sz="1300">
              <a:solidFill>
                <a:schemeClr val="dk1"/>
              </a:solidFill>
              <a:latin typeface="Nunito"/>
              <a:ea typeface="Nunito"/>
              <a:cs typeface="Nunito"/>
              <a:sym typeface="Nunito"/>
            </a:endParaRPr>
          </a:p>
          <a:p>
            <a:pPr indent="0" lvl="0" marL="0" rtl="0" algn="l">
              <a:spcBef>
                <a:spcPts val="0"/>
              </a:spcBef>
              <a:spcAft>
                <a:spcPts val="0"/>
              </a:spcAft>
              <a:buNone/>
            </a:pPr>
            <a:r>
              <a:t/>
            </a:r>
            <a:endParaRPr sz="1309">
              <a:solidFill>
                <a:schemeClr val="dk1"/>
              </a:solidFill>
              <a:latin typeface="Nunito"/>
              <a:ea typeface="Nunito"/>
              <a:cs typeface="Nunito"/>
              <a:sym typeface="Nunito"/>
            </a:endParaRPr>
          </a:p>
          <a:p>
            <a:pPr indent="0" lvl="0" marL="0" rtl="0" algn="l">
              <a:spcBef>
                <a:spcPts val="0"/>
              </a:spcBef>
              <a:spcAft>
                <a:spcPts val="0"/>
              </a:spcAft>
              <a:buNone/>
            </a:pPr>
            <a:r>
              <a:t/>
            </a:r>
            <a:endParaRPr sz="1309">
              <a:solidFill>
                <a:schemeClr val="dk1"/>
              </a:solidFill>
              <a:latin typeface="Nunito"/>
              <a:ea typeface="Nunito"/>
              <a:cs typeface="Nunito"/>
              <a:sym typeface="Nuni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5"/>
          <p:cNvSpPr txBox="1"/>
          <p:nvPr>
            <p:ph type="title"/>
          </p:nvPr>
        </p:nvSpPr>
        <p:spPr>
          <a:xfrm>
            <a:off x="1121450" y="28650"/>
            <a:ext cx="6627900" cy="70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t>Dispute Resolution Agent</a:t>
            </a:r>
            <a:endParaRPr sz="3900"/>
          </a:p>
        </p:txBody>
      </p:sp>
      <p:sp>
        <p:nvSpPr>
          <p:cNvPr id="395" name="Google Shape;395;p45"/>
          <p:cNvSpPr txBox="1"/>
          <p:nvPr/>
        </p:nvSpPr>
        <p:spPr>
          <a:xfrm>
            <a:off x="688200" y="736050"/>
            <a:ext cx="3975000" cy="554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u="sng">
                <a:solidFill>
                  <a:schemeClr val="dk1"/>
                </a:solidFill>
                <a:latin typeface="Nunito"/>
                <a:ea typeface="Nunito"/>
                <a:cs typeface="Nunito"/>
                <a:sym typeface="Nunito"/>
              </a:rPr>
              <a:t>Dispute Case Open &amp; Management Workflow</a:t>
            </a:r>
            <a:endParaRPr b="1" u="sng">
              <a:solidFill>
                <a:schemeClr val="dk1"/>
              </a:solidFill>
              <a:latin typeface="Nunito"/>
              <a:ea typeface="Nunito"/>
              <a:cs typeface="Nunito"/>
              <a:sym typeface="Nunito"/>
            </a:endParaRPr>
          </a:p>
        </p:txBody>
      </p:sp>
      <p:pic>
        <p:nvPicPr>
          <p:cNvPr id="396" name="Google Shape;396;p45"/>
          <p:cNvPicPr preferRelativeResize="0"/>
          <p:nvPr/>
        </p:nvPicPr>
        <p:blipFill>
          <a:blip r:embed="rId3">
            <a:alphaModFix/>
          </a:blip>
          <a:stretch>
            <a:fillRect/>
          </a:stretch>
        </p:blipFill>
        <p:spPr>
          <a:xfrm>
            <a:off x="15800" y="1474500"/>
            <a:ext cx="9057721" cy="2313412"/>
          </a:xfrm>
          <a:prstGeom prst="rect">
            <a:avLst/>
          </a:prstGeom>
          <a:noFill/>
          <a:ln>
            <a:noFill/>
          </a:ln>
        </p:spPr>
      </p:pic>
      <p:sp>
        <p:nvSpPr>
          <p:cNvPr id="397" name="Google Shape;397;p45"/>
          <p:cNvSpPr/>
          <p:nvPr/>
        </p:nvSpPr>
        <p:spPr>
          <a:xfrm>
            <a:off x="1452150" y="3838650"/>
            <a:ext cx="3784500" cy="1305000"/>
          </a:xfrm>
          <a:prstGeom prst="wedgeRoundRectCallout">
            <a:avLst>
              <a:gd fmla="val -3416" name="adj1"/>
              <a:gd fmla="val -100492"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98450" lvl="0" marL="4572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Automatically reviews invoices and contracts</a:t>
            </a:r>
            <a:endParaRPr sz="1100">
              <a:solidFill>
                <a:schemeClr val="dk2"/>
              </a:solidFill>
              <a:latin typeface="Nunito"/>
              <a:ea typeface="Nunito"/>
              <a:cs typeface="Nunito"/>
              <a:sym typeface="Nunito"/>
            </a:endParaRPr>
          </a:p>
          <a:p>
            <a:pPr indent="-298450" lvl="1" marL="9144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replaces manual review</a:t>
            </a:r>
            <a:endParaRPr sz="1100">
              <a:solidFill>
                <a:schemeClr val="dk2"/>
              </a:solidFill>
            </a:endParaRPr>
          </a:p>
          <a:p>
            <a:pPr indent="-298450" lvl="0" marL="4572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Checks if customer complaints are justified</a:t>
            </a:r>
            <a:endParaRPr sz="1100">
              <a:solidFill>
                <a:schemeClr val="dk2"/>
              </a:solidFill>
              <a:latin typeface="Nunito"/>
              <a:ea typeface="Nunito"/>
              <a:cs typeface="Nunito"/>
              <a:sym typeface="Nunito"/>
            </a:endParaRPr>
          </a:p>
          <a:p>
            <a:pPr indent="-298450" lvl="1" marL="9144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supports faster decisions</a:t>
            </a:r>
            <a:endParaRPr sz="1100">
              <a:solidFill>
                <a:schemeClr val="dk2"/>
              </a:solidFill>
            </a:endParaRPr>
          </a:p>
          <a:p>
            <a:pPr indent="-298450" lvl="0" marL="4572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S</a:t>
            </a:r>
            <a:r>
              <a:rPr lang="en" sz="1100">
                <a:solidFill>
                  <a:schemeClr val="dk2"/>
                </a:solidFill>
                <a:latin typeface="Nunito"/>
                <a:ea typeface="Nunito"/>
                <a:cs typeface="Nunito"/>
                <a:sym typeface="Nunito"/>
              </a:rPr>
              <a:t>uggests or triggers corrections (e.g., credit memos)</a:t>
            </a:r>
            <a:endParaRPr b="1" sz="1100">
              <a:solidFill>
                <a:schemeClr val="dk2"/>
              </a:solidFill>
              <a:latin typeface="Nunito"/>
              <a:ea typeface="Nunito"/>
              <a:cs typeface="Nunito"/>
              <a:sym typeface="Nunito"/>
            </a:endParaRPr>
          </a:p>
          <a:p>
            <a:pPr indent="-298450" lvl="1" marL="914400" rtl="0" algn="l">
              <a:spcBef>
                <a:spcPts val="0"/>
              </a:spcBef>
              <a:spcAft>
                <a:spcPts val="0"/>
              </a:spcAft>
              <a:buClr>
                <a:schemeClr val="dk2"/>
              </a:buClr>
              <a:buSzPts val="1100"/>
              <a:buFont typeface="Nunito"/>
              <a:buChar char="○"/>
            </a:pPr>
            <a:r>
              <a:rPr lang="en" sz="1100">
                <a:solidFill>
                  <a:schemeClr val="dk2"/>
                </a:solidFill>
                <a:latin typeface="Nunito"/>
                <a:ea typeface="Nunito"/>
                <a:cs typeface="Nunito"/>
                <a:sym typeface="Nunito"/>
              </a:rPr>
              <a:t>reduces delays and back-and-forth</a:t>
            </a:r>
            <a:endParaRPr sz="1100">
              <a:solidFill>
                <a:schemeClr val="dk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46"/>
          <p:cNvSpPr txBox="1"/>
          <p:nvPr>
            <p:ph type="title"/>
          </p:nvPr>
        </p:nvSpPr>
        <p:spPr>
          <a:xfrm>
            <a:off x="720000" y="27920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The Balanced View: Value vs. Challenges</a:t>
            </a:r>
            <a:endParaRPr/>
          </a:p>
        </p:txBody>
      </p:sp>
      <p:pic>
        <p:nvPicPr>
          <p:cNvPr descr="image.png" id="403" name="Google Shape;403;p46"/>
          <p:cNvPicPr preferRelativeResize="0"/>
          <p:nvPr/>
        </p:nvPicPr>
        <p:blipFill rotWithShape="1">
          <a:blip r:embed="rId3">
            <a:alphaModFix/>
          </a:blip>
          <a:srcRect b="4104" l="0" r="0" t="0"/>
          <a:stretch/>
        </p:blipFill>
        <p:spPr>
          <a:xfrm>
            <a:off x="258950" y="1154450"/>
            <a:ext cx="4248975" cy="3871351"/>
          </a:xfrm>
          <a:prstGeom prst="rect">
            <a:avLst/>
          </a:prstGeom>
          <a:noFill/>
          <a:ln>
            <a:noFill/>
          </a:ln>
        </p:spPr>
      </p:pic>
      <p:sp>
        <p:nvSpPr>
          <p:cNvPr id="404" name="Google Shape;404;p46"/>
          <p:cNvSpPr txBox="1"/>
          <p:nvPr/>
        </p:nvSpPr>
        <p:spPr>
          <a:xfrm>
            <a:off x="532101" y="1535825"/>
            <a:ext cx="26340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047857"/>
                </a:solidFill>
                <a:latin typeface="Inter SemiBold"/>
                <a:ea typeface="Inter SemiBold"/>
                <a:cs typeface="Inter SemiBold"/>
                <a:sym typeface="Inter SemiBold"/>
              </a:rPr>
              <a:t>The Upside (Value)</a:t>
            </a:r>
            <a:endParaRPr sz="1800"/>
          </a:p>
        </p:txBody>
      </p:sp>
      <p:pic>
        <p:nvPicPr>
          <p:cNvPr descr="image.png" id="405" name="Google Shape;405;p46"/>
          <p:cNvPicPr preferRelativeResize="0"/>
          <p:nvPr/>
        </p:nvPicPr>
        <p:blipFill rotWithShape="1">
          <a:blip r:embed="rId4">
            <a:alphaModFix/>
          </a:blip>
          <a:srcRect b="0" l="0" r="0" t="0"/>
          <a:stretch/>
        </p:blipFill>
        <p:spPr>
          <a:xfrm>
            <a:off x="532098" y="2214893"/>
            <a:ext cx="364198" cy="446502"/>
          </a:xfrm>
          <a:prstGeom prst="rect">
            <a:avLst/>
          </a:prstGeom>
          <a:noFill/>
          <a:ln>
            <a:noFill/>
          </a:ln>
        </p:spPr>
      </p:pic>
      <p:pic>
        <p:nvPicPr>
          <p:cNvPr descr="image.png" id="406" name="Google Shape;406;p46"/>
          <p:cNvPicPr preferRelativeResize="0"/>
          <p:nvPr/>
        </p:nvPicPr>
        <p:blipFill rotWithShape="1">
          <a:blip r:embed="rId4">
            <a:alphaModFix/>
          </a:blip>
          <a:srcRect b="0" l="0" r="0" t="0"/>
          <a:stretch/>
        </p:blipFill>
        <p:spPr>
          <a:xfrm>
            <a:off x="532098" y="3203813"/>
            <a:ext cx="364198" cy="446502"/>
          </a:xfrm>
          <a:prstGeom prst="rect">
            <a:avLst/>
          </a:prstGeom>
          <a:noFill/>
          <a:ln>
            <a:noFill/>
          </a:ln>
        </p:spPr>
      </p:pic>
      <p:pic>
        <p:nvPicPr>
          <p:cNvPr descr="image.png" id="407" name="Google Shape;407;p46"/>
          <p:cNvPicPr preferRelativeResize="0"/>
          <p:nvPr/>
        </p:nvPicPr>
        <p:blipFill rotWithShape="1">
          <a:blip r:embed="rId4">
            <a:alphaModFix/>
          </a:blip>
          <a:srcRect b="0" l="0" r="0" t="0"/>
          <a:stretch/>
        </p:blipFill>
        <p:spPr>
          <a:xfrm>
            <a:off x="532098" y="4131133"/>
            <a:ext cx="364198" cy="446502"/>
          </a:xfrm>
          <a:prstGeom prst="rect">
            <a:avLst/>
          </a:prstGeom>
          <a:noFill/>
          <a:ln>
            <a:noFill/>
          </a:ln>
        </p:spPr>
      </p:pic>
      <p:pic>
        <p:nvPicPr>
          <p:cNvPr descr="image.png" id="408" name="Google Shape;408;p46"/>
          <p:cNvPicPr preferRelativeResize="0"/>
          <p:nvPr/>
        </p:nvPicPr>
        <p:blipFill rotWithShape="1">
          <a:blip r:embed="rId5">
            <a:alphaModFix/>
          </a:blip>
          <a:srcRect b="0" l="0" r="0" t="0"/>
          <a:stretch/>
        </p:blipFill>
        <p:spPr>
          <a:xfrm>
            <a:off x="645910" y="2345123"/>
            <a:ext cx="136574" cy="186043"/>
          </a:xfrm>
          <a:prstGeom prst="rect">
            <a:avLst/>
          </a:prstGeom>
          <a:noFill/>
          <a:ln>
            <a:noFill/>
          </a:ln>
        </p:spPr>
      </p:pic>
      <p:sp>
        <p:nvSpPr>
          <p:cNvPr id="409" name="Google Shape;409;p46"/>
          <p:cNvSpPr txBox="1"/>
          <p:nvPr/>
        </p:nvSpPr>
        <p:spPr>
          <a:xfrm>
            <a:off x="1048045" y="2214893"/>
            <a:ext cx="3346200" cy="41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300"/>
              <a:t>High-Volume Data Handling</a:t>
            </a:r>
            <a:endParaRPr b="1" sz="1300"/>
          </a:p>
          <a:p>
            <a:pPr indent="0" lvl="0" marL="0" marR="0" rtl="0" algn="l">
              <a:spcBef>
                <a:spcPts val="0"/>
              </a:spcBef>
              <a:spcAft>
                <a:spcPts val="0"/>
              </a:spcAft>
              <a:buNone/>
            </a:pPr>
            <a:r>
              <a:t/>
            </a:r>
            <a:endParaRPr b="1" sz="1366">
              <a:solidFill>
                <a:srgbClr val="1E293B"/>
              </a:solidFill>
              <a:latin typeface="Inter"/>
              <a:ea typeface="Inter"/>
              <a:cs typeface="Inter"/>
              <a:sym typeface="Inter"/>
            </a:endParaRPr>
          </a:p>
        </p:txBody>
      </p:sp>
      <p:sp>
        <p:nvSpPr>
          <p:cNvPr id="410" name="Google Shape;410;p46"/>
          <p:cNvSpPr txBox="1"/>
          <p:nvPr/>
        </p:nvSpPr>
        <p:spPr>
          <a:xfrm>
            <a:off x="1048045" y="2493957"/>
            <a:ext cx="31866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000">
                <a:solidFill>
                  <a:srgbClr val="475569"/>
                </a:solidFill>
                <a:latin typeface="Inter"/>
                <a:ea typeface="Inter"/>
                <a:cs typeface="Inter"/>
                <a:sym typeface="Inter"/>
              </a:rPr>
              <a:t>Efficient processing of large datasets reduces errors and accelerates dispute resolution.</a:t>
            </a:r>
            <a:endParaRPr sz="1000">
              <a:solidFill>
                <a:srgbClr val="475569"/>
              </a:solidFill>
              <a:latin typeface="Inter"/>
              <a:ea typeface="Inter"/>
              <a:cs typeface="Inter"/>
              <a:sym typeface="Inter"/>
            </a:endParaRPr>
          </a:p>
          <a:p>
            <a:pPr indent="0" lvl="0" marL="0" marR="0" rtl="0" algn="l">
              <a:lnSpc>
                <a:spcPct val="150000"/>
              </a:lnSpc>
              <a:spcBef>
                <a:spcPts val="1200"/>
              </a:spcBef>
              <a:spcAft>
                <a:spcPts val="0"/>
              </a:spcAft>
              <a:buNone/>
            </a:pPr>
            <a:r>
              <a:t/>
            </a:r>
            <a:endParaRPr sz="1000">
              <a:solidFill>
                <a:srgbClr val="475569"/>
              </a:solidFill>
              <a:latin typeface="Inter"/>
              <a:ea typeface="Inter"/>
              <a:cs typeface="Inter"/>
              <a:sym typeface="Inter"/>
            </a:endParaRPr>
          </a:p>
        </p:txBody>
      </p:sp>
      <p:pic>
        <p:nvPicPr>
          <p:cNvPr descr="image.png" id="411" name="Google Shape;411;p46"/>
          <p:cNvPicPr preferRelativeResize="0"/>
          <p:nvPr/>
        </p:nvPicPr>
        <p:blipFill rotWithShape="1">
          <a:blip r:embed="rId6">
            <a:alphaModFix/>
          </a:blip>
          <a:srcRect b="0" l="0" r="0" t="0"/>
          <a:stretch/>
        </p:blipFill>
        <p:spPr>
          <a:xfrm>
            <a:off x="638323" y="3334043"/>
            <a:ext cx="151749" cy="186043"/>
          </a:xfrm>
          <a:prstGeom prst="rect">
            <a:avLst/>
          </a:prstGeom>
          <a:noFill/>
          <a:ln>
            <a:noFill/>
          </a:ln>
        </p:spPr>
      </p:pic>
      <p:sp>
        <p:nvSpPr>
          <p:cNvPr id="412" name="Google Shape;412;p46"/>
          <p:cNvSpPr txBox="1"/>
          <p:nvPr/>
        </p:nvSpPr>
        <p:spPr>
          <a:xfrm>
            <a:off x="1048045" y="3203813"/>
            <a:ext cx="3346200" cy="410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 sz="1300"/>
              <a:t>Faster Dispute Resolution</a:t>
            </a:r>
            <a:endParaRPr b="1" sz="1300"/>
          </a:p>
          <a:p>
            <a:pPr indent="0" lvl="0" marL="0" marR="0" rtl="0" algn="l">
              <a:spcBef>
                <a:spcPts val="0"/>
              </a:spcBef>
              <a:spcAft>
                <a:spcPts val="0"/>
              </a:spcAft>
              <a:buNone/>
            </a:pPr>
            <a:r>
              <a:t/>
            </a:r>
            <a:endParaRPr b="1" sz="1366">
              <a:solidFill>
                <a:srgbClr val="1E293B"/>
              </a:solidFill>
              <a:latin typeface="Inter"/>
              <a:ea typeface="Inter"/>
              <a:cs typeface="Inter"/>
              <a:sym typeface="Inter"/>
            </a:endParaRPr>
          </a:p>
        </p:txBody>
      </p:sp>
      <p:sp>
        <p:nvSpPr>
          <p:cNvPr id="413" name="Google Shape;413;p46"/>
          <p:cNvSpPr txBox="1"/>
          <p:nvPr/>
        </p:nvSpPr>
        <p:spPr>
          <a:xfrm>
            <a:off x="1048045" y="3482877"/>
            <a:ext cx="31866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000">
                <a:solidFill>
                  <a:srgbClr val="475569"/>
                </a:solidFill>
                <a:latin typeface="Inter"/>
                <a:ea typeface="Inter"/>
                <a:cs typeface="Inter"/>
                <a:sym typeface="Inter"/>
              </a:rPr>
              <a:t>Real-time tracking of disputes improves accuracy and shortens resolution time.</a:t>
            </a:r>
            <a:endParaRPr sz="1000">
              <a:solidFill>
                <a:srgbClr val="475569"/>
              </a:solidFill>
              <a:latin typeface="Inter"/>
              <a:ea typeface="Inter"/>
              <a:cs typeface="Inter"/>
              <a:sym typeface="Inter"/>
            </a:endParaRPr>
          </a:p>
          <a:p>
            <a:pPr indent="0" lvl="0" marL="0" marR="0" rtl="0" algn="l">
              <a:lnSpc>
                <a:spcPct val="150000"/>
              </a:lnSpc>
              <a:spcBef>
                <a:spcPts val="1200"/>
              </a:spcBef>
              <a:spcAft>
                <a:spcPts val="0"/>
              </a:spcAft>
              <a:buNone/>
            </a:pPr>
            <a:r>
              <a:t/>
            </a:r>
            <a:endParaRPr sz="1000">
              <a:solidFill>
                <a:srgbClr val="475569"/>
              </a:solidFill>
              <a:latin typeface="Inter"/>
              <a:ea typeface="Inter"/>
              <a:cs typeface="Inter"/>
              <a:sym typeface="Inter"/>
            </a:endParaRPr>
          </a:p>
        </p:txBody>
      </p:sp>
      <p:pic>
        <p:nvPicPr>
          <p:cNvPr descr="image.png" id="414" name="Google Shape;414;p46"/>
          <p:cNvPicPr preferRelativeResize="0"/>
          <p:nvPr/>
        </p:nvPicPr>
        <p:blipFill rotWithShape="1">
          <a:blip r:embed="rId7">
            <a:alphaModFix/>
          </a:blip>
          <a:srcRect b="0" l="0" r="0" t="0"/>
          <a:stretch/>
        </p:blipFill>
        <p:spPr>
          <a:xfrm>
            <a:off x="638323" y="4261363"/>
            <a:ext cx="151749" cy="186043"/>
          </a:xfrm>
          <a:prstGeom prst="rect">
            <a:avLst/>
          </a:prstGeom>
          <a:noFill/>
          <a:ln>
            <a:noFill/>
          </a:ln>
        </p:spPr>
      </p:pic>
      <p:sp>
        <p:nvSpPr>
          <p:cNvPr id="415" name="Google Shape;415;p46"/>
          <p:cNvSpPr txBox="1"/>
          <p:nvPr/>
        </p:nvSpPr>
        <p:spPr>
          <a:xfrm>
            <a:off x="1048045" y="4131133"/>
            <a:ext cx="3346200" cy="200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300"/>
              <a:t>Stronger Customer Relations</a:t>
            </a:r>
            <a:endParaRPr b="1" sz="1366">
              <a:solidFill>
                <a:srgbClr val="1E293B"/>
              </a:solidFill>
              <a:latin typeface="Inter"/>
              <a:ea typeface="Inter"/>
              <a:cs typeface="Inter"/>
              <a:sym typeface="Inter"/>
            </a:endParaRPr>
          </a:p>
        </p:txBody>
      </p:sp>
      <p:sp>
        <p:nvSpPr>
          <p:cNvPr id="416" name="Google Shape;416;p46"/>
          <p:cNvSpPr txBox="1"/>
          <p:nvPr/>
        </p:nvSpPr>
        <p:spPr>
          <a:xfrm>
            <a:off x="1048045" y="4410197"/>
            <a:ext cx="3186600" cy="6618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rPr lang="en" sz="1000">
                <a:solidFill>
                  <a:srgbClr val="475569"/>
                </a:solidFill>
                <a:latin typeface="Inter"/>
                <a:ea typeface="Inter"/>
                <a:cs typeface="Inter"/>
                <a:sym typeface="Inter"/>
              </a:rPr>
              <a:t>More efficient and reduces the “back and forth” between customer and dispute management.</a:t>
            </a:r>
            <a:endParaRPr sz="1000">
              <a:solidFill>
                <a:srgbClr val="475569"/>
              </a:solidFill>
              <a:latin typeface="Inter"/>
              <a:ea typeface="Inter"/>
              <a:cs typeface="Inter"/>
              <a:sym typeface="Inter"/>
            </a:endParaRPr>
          </a:p>
          <a:p>
            <a:pPr indent="0" lvl="0" marL="0" marR="0" rtl="0" algn="l">
              <a:lnSpc>
                <a:spcPct val="150000"/>
              </a:lnSpc>
              <a:spcBef>
                <a:spcPts val="1200"/>
              </a:spcBef>
              <a:spcAft>
                <a:spcPts val="0"/>
              </a:spcAft>
              <a:buNone/>
            </a:pPr>
            <a:r>
              <a:t/>
            </a:r>
            <a:endParaRPr sz="1000">
              <a:solidFill>
                <a:srgbClr val="475569"/>
              </a:solidFill>
              <a:latin typeface="Inter"/>
              <a:ea typeface="Inter"/>
              <a:cs typeface="Inter"/>
              <a:sym typeface="Inter"/>
            </a:endParaRPr>
          </a:p>
        </p:txBody>
      </p:sp>
      <p:pic>
        <p:nvPicPr>
          <p:cNvPr descr="image.png" id="417" name="Google Shape;417;p46"/>
          <p:cNvPicPr preferRelativeResize="0"/>
          <p:nvPr/>
        </p:nvPicPr>
        <p:blipFill rotWithShape="1">
          <a:blip r:embed="rId8">
            <a:alphaModFix/>
          </a:blip>
          <a:srcRect b="4104" l="0" r="0" t="0"/>
          <a:stretch/>
        </p:blipFill>
        <p:spPr>
          <a:xfrm>
            <a:off x="4603400" y="1154450"/>
            <a:ext cx="4318275" cy="3871351"/>
          </a:xfrm>
          <a:prstGeom prst="rect">
            <a:avLst/>
          </a:prstGeom>
          <a:noFill/>
          <a:ln>
            <a:noFill/>
          </a:ln>
        </p:spPr>
      </p:pic>
      <p:sp>
        <p:nvSpPr>
          <p:cNvPr id="418" name="Google Shape;418;p46"/>
          <p:cNvSpPr txBox="1"/>
          <p:nvPr/>
        </p:nvSpPr>
        <p:spPr>
          <a:xfrm>
            <a:off x="4880998" y="1535825"/>
            <a:ext cx="3464100" cy="28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43" u="none" cap="none" strike="noStrike">
                <a:solidFill>
                  <a:srgbClr val="B45309"/>
                </a:solidFill>
                <a:latin typeface="Inter SemiBold"/>
                <a:ea typeface="Inter SemiBold"/>
                <a:cs typeface="Inter SemiBold"/>
                <a:sym typeface="Inter SemiBold"/>
              </a:rPr>
              <a:t>The Watch-Outs (Risks)</a:t>
            </a:r>
            <a:endParaRPr sz="1323"/>
          </a:p>
        </p:txBody>
      </p:sp>
      <p:pic>
        <p:nvPicPr>
          <p:cNvPr descr="image.png" id="419" name="Google Shape;419;p46"/>
          <p:cNvPicPr preferRelativeResize="0"/>
          <p:nvPr/>
        </p:nvPicPr>
        <p:blipFill rotWithShape="1">
          <a:blip r:embed="rId9">
            <a:alphaModFix/>
          </a:blip>
          <a:srcRect b="0" l="0" r="0" t="0"/>
          <a:stretch/>
        </p:blipFill>
        <p:spPr>
          <a:xfrm>
            <a:off x="4881005" y="2190168"/>
            <a:ext cx="370138" cy="446502"/>
          </a:xfrm>
          <a:prstGeom prst="rect">
            <a:avLst/>
          </a:prstGeom>
          <a:noFill/>
          <a:ln>
            <a:noFill/>
          </a:ln>
        </p:spPr>
      </p:pic>
      <p:pic>
        <p:nvPicPr>
          <p:cNvPr descr="image.png" id="420" name="Google Shape;420;p46"/>
          <p:cNvPicPr preferRelativeResize="0"/>
          <p:nvPr/>
        </p:nvPicPr>
        <p:blipFill rotWithShape="1">
          <a:blip r:embed="rId9">
            <a:alphaModFix/>
          </a:blip>
          <a:srcRect b="0" l="0" r="0" t="0"/>
          <a:stretch/>
        </p:blipFill>
        <p:spPr>
          <a:xfrm>
            <a:off x="4881005" y="3007237"/>
            <a:ext cx="370138" cy="446502"/>
          </a:xfrm>
          <a:prstGeom prst="rect">
            <a:avLst/>
          </a:prstGeom>
          <a:noFill/>
          <a:ln>
            <a:noFill/>
          </a:ln>
        </p:spPr>
      </p:pic>
      <p:pic>
        <p:nvPicPr>
          <p:cNvPr descr="image.png" id="421" name="Google Shape;421;p46"/>
          <p:cNvPicPr preferRelativeResize="0"/>
          <p:nvPr/>
        </p:nvPicPr>
        <p:blipFill rotWithShape="1">
          <a:blip r:embed="rId9">
            <a:alphaModFix/>
          </a:blip>
          <a:srcRect b="0" l="0" r="0" t="0"/>
          <a:stretch/>
        </p:blipFill>
        <p:spPr>
          <a:xfrm>
            <a:off x="4881005" y="3872957"/>
            <a:ext cx="370138" cy="446502"/>
          </a:xfrm>
          <a:prstGeom prst="rect">
            <a:avLst/>
          </a:prstGeom>
          <a:noFill/>
          <a:ln>
            <a:noFill/>
          </a:ln>
        </p:spPr>
      </p:pic>
      <p:pic>
        <p:nvPicPr>
          <p:cNvPr descr="image.png" id="422" name="Google Shape;422;p46"/>
          <p:cNvPicPr preferRelativeResize="0"/>
          <p:nvPr/>
        </p:nvPicPr>
        <p:blipFill rotWithShape="1">
          <a:blip r:embed="rId10">
            <a:alphaModFix/>
          </a:blip>
          <a:srcRect b="0" l="0" r="0" t="0"/>
          <a:stretch/>
        </p:blipFill>
        <p:spPr>
          <a:xfrm>
            <a:off x="4969684" y="2320398"/>
            <a:ext cx="192781" cy="186043"/>
          </a:xfrm>
          <a:prstGeom prst="rect">
            <a:avLst/>
          </a:prstGeom>
          <a:noFill/>
          <a:ln>
            <a:noFill/>
          </a:ln>
        </p:spPr>
      </p:pic>
      <p:sp>
        <p:nvSpPr>
          <p:cNvPr id="423" name="Google Shape;423;p46"/>
          <p:cNvSpPr txBox="1"/>
          <p:nvPr/>
        </p:nvSpPr>
        <p:spPr>
          <a:xfrm>
            <a:off x="5405370" y="2214893"/>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Agent Oversight</a:t>
            </a:r>
            <a:endParaRPr sz="1323"/>
          </a:p>
        </p:txBody>
      </p:sp>
      <p:sp>
        <p:nvSpPr>
          <p:cNvPr id="424" name="Google Shape;424;p46"/>
          <p:cNvSpPr txBox="1"/>
          <p:nvPr/>
        </p:nvSpPr>
        <p:spPr>
          <a:xfrm>
            <a:off x="5405370" y="2493957"/>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Agent may not be able to make the most effective decision for more complicated disputes.</a:t>
            </a:r>
            <a:endParaRPr sz="1000"/>
          </a:p>
        </p:txBody>
      </p:sp>
      <p:pic>
        <p:nvPicPr>
          <p:cNvPr descr="image.png" id="425" name="Google Shape;425;p46"/>
          <p:cNvPicPr preferRelativeResize="0"/>
          <p:nvPr/>
        </p:nvPicPr>
        <p:blipFill rotWithShape="1">
          <a:blip r:embed="rId11">
            <a:alphaModFix/>
          </a:blip>
          <a:srcRect b="0" l="0" r="0" t="0"/>
          <a:stretch/>
        </p:blipFill>
        <p:spPr>
          <a:xfrm>
            <a:off x="4977395" y="3137467"/>
            <a:ext cx="177359" cy="186043"/>
          </a:xfrm>
          <a:prstGeom prst="rect">
            <a:avLst/>
          </a:prstGeom>
          <a:noFill/>
          <a:ln>
            <a:noFill/>
          </a:ln>
        </p:spPr>
      </p:pic>
      <p:sp>
        <p:nvSpPr>
          <p:cNvPr id="426" name="Google Shape;426;p46"/>
          <p:cNvSpPr txBox="1"/>
          <p:nvPr/>
        </p:nvSpPr>
        <p:spPr>
          <a:xfrm>
            <a:off x="5427970" y="3121300"/>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Tracking &amp; Resolution Challenges</a:t>
            </a:r>
            <a:endParaRPr sz="1323"/>
          </a:p>
        </p:txBody>
      </p:sp>
      <p:sp>
        <p:nvSpPr>
          <p:cNvPr id="427" name="Google Shape;427;p46"/>
          <p:cNvSpPr txBox="1"/>
          <p:nvPr/>
        </p:nvSpPr>
        <p:spPr>
          <a:xfrm>
            <a:off x="5405370" y="3393226"/>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Difficulty managing multiple disputes at once can delay resolutions and reduce accuracy.</a:t>
            </a:r>
            <a:endParaRPr sz="1000"/>
          </a:p>
        </p:txBody>
      </p:sp>
      <p:pic>
        <p:nvPicPr>
          <p:cNvPr descr="image.png" id="428" name="Google Shape;428;p46"/>
          <p:cNvPicPr preferRelativeResize="0"/>
          <p:nvPr/>
        </p:nvPicPr>
        <p:blipFill rotWithShape="1">
          <a:blip r:embed="rId12">
            <a:alphaModFix/>
          </a:blip>
          <a:srcRect b="0" l="0" r="0" t="0"/>
          <a:stretch/>
        </p:blipFill>
        <p:spPr>
          <a:xfrm>
            <a:off x="5008240" y="4003187"/>
            <a:ext cx="115669" cy="186043"/>
          </a:xfrm>
          <a:prstGeom prst="rect">
            <a:avLst/>
          </a:prstGeom>
          <a:noFill/>
          <a:ln>
            <a:noFill/>
          </a:ln>
        </p:spPr>
      </p:pic>
      <p:sp>
        <p:nvSpPr>
          <p:cNvPr id="429" name="Google Shape;429;p46"/>
          <p:cNvSpPr txBox="1"/>
          <p:nvPr/>
        </p:nvSpPr>
        <p:spPr>
          <a:xfrm>
            <a:off x="5405370" y="3872957"/>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Limited Human Interaction</a:t>
            </a:r>
            <a:endParaRPr sz="1323"/>
          </a:p>
        </p:txBody>
      </p:sp>
      <p:sp>
        <p:nvSpPr>
          <p:cNvPr id="430" name="Google Shape;430;p46"/>
          <p:cNvSpPr txBox="1"/>
          <p:nvPr/>
        </p:nvSpPr>
        <p:spPr>
          <a:xfrm>
            <a:off x="5405370" y="4152021"/>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Some customers may prefer to have a more human-involved experience during dispute cases.</a:t>
            </a:r>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434" name="Shape 434"/>
        <p:cNvGrpSpPr/>
        <p:nvPr/>
      </p:nvGrpSpPr>
      <p:grpSpPr>
        <a:xfrm>
          <a:off x="0" y="0"/>
          <a:ext cx="0" cy="0"/>
          <a:chOff x="0" y="0"/>
          <a:chExt cx="0" cy="0"/>
        </a:xfrm>
      </p:grpSpPr>
      <p:sp>
        <p:nvSpPr>
          <p:cNvPr id="435" name="Google Shape;435;p47"/>
          <p:cNvSpPr txBox="1"/>
          <p:nvPr>
            <p:ph type="title"/>
          </p:nvPr>
        </p:nvSpPr>
        <p:spPr>
          <a:xfrm>
            <a:off x="1121450" y="28650"/>
            <a:ext cx="6627900" cy="7074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t>Contract Accounting</a:t>
            </a:r>
            <a:endParaRPr sz="3900"/>
          </a:p>
        </p:txBody>
      </p:sp>
      <p:sp>
        <p:nvSpPr>
          <p:cNvPr id="436" name="Google Shape;436;p47"/>
          <p:cNvSpPr txBox="1"/>
          <p:nvPr/>
        </p:nvSpPr>
        <p:spPr>
          <a:xfrm>
            <a:off x="1121450" y="2456100"/>
            <a:ext cx="3398700" cy="179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100">
                <a:solidFill>
                  <a:schemeClr val="dk1"/>
                </a:solidFill>
                <a:latin typeface="Nunito"/>
                <a:ea typeface="Nunito"/>
                <a:cs typeface="Nunito"/>
                <a:sym typeface="Nunito"/>
              </a:rPr>
              <a:t>Contract Accounting:</a:t>
            </a:r>
            <a:endParaRPr b="1" sz="1100">
              <a:solidFill>
                <a:schemeClr val="dk1"/>
              </a:solidFill>
              <a:latin typeface="Nunito"/>
              <a:ea typeface="Nunito"/>
              <a:cs typeface="Nunito"/>
              <a:sym typeface="Nunito"/>
            </a:endParaRPr>
          </a:p>
          <a:p>
            <a:pPr indent="0" lvl="0" marL="0" rtl="0" algn="l">
              <a:spcBef>
                <a:spcPts val="0"/>
              </a:spcBef>
              <a:spcAft>
                <a:spcPts val="0"/>
              </a:spcAft>
              <a:buNone/>
            </a:pPr>
            <a:r>
              <a:t/>
            </a:r>
            <a:endParaRPr b="1" sz="1100">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sz="1100">
                <a:solidFill>
                  <a:schemeClr val="dk1"/>
                </a:solidFill>
                <a:latin typeface="Nunito"/>
                <a:ea typeface="Nunito"/>
                <a:cs typeface="Nunito"/>
                <a:sym typeface="Nunito"/>
              </a:rPr>
              <a:t>Automatically matches payments to open invoices </a:t>
            </a:r>
            <a:endParaRPr sz="1100">
              <a:solidFill>
                <a:schemeClr val="dk1"/>
              </a:solidFill>
              <a:latin typeface="Nunito"/>
              <a:ea typeface="Nunito"/>
              <a:cs typeface="Nunito"/>
              <a:sym typeface="Nunito"/>
            </a:endParaRPr>
          </a:p>
          <a:p>
            <a:pPr indent="457200" lvl="0" marL="457200" rtl="0" algn="l">
              <a:spcBef>
                <a:spcPts val="0"/>
              </a:spcBef>
              <a:spcAft>
                <a:spcPts val="0"/>
              </a:spcAft>
              <a:buNone/>
            </a:pPr>
            <a:r>
              <a:rPr lang="en" sz="1100">
                <a:solidFill>
                  <a:schemeClr val="dk1"/>
                </a:solidFill>
                <a:latin typeface="Nunito"/>
                <a:ea typeface="Nunito"/>
                <a:cs typeface="Nunito"/>
                <a:sym typeface="Nunito"/>
              </a:rPr>
              <a:t>→ reduces manual work</a:t>
            </a:r>
            <a:br>
              <a:rPr lang="en" sz="1100">
                <a:solidFill>
                  <a:schemeClr val="dk1"/>
                </a:solidFill>
                <a:latin typeface="Nunito"/>
                <a:ea typeface="Nunito"/>
                <a:cs typeface="Nunito"/>
                <a:sym typeface="Nunito"/>
              </a:rPr>
            </a:br>
            <a:endParaRPr sz="1100">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sz="1100">
                <a:solidFill>
                  <a:schemeClr val="dk1"/>
                </a:solidFill>
                <a:latin typeface="Nunito"/>
                <a:ea typeface="Nunito"/>
                <a:cs typeface="Nunito"/>
                <a:sym typeface="Nunito"/>
              </a:rPr>
              <a:t>Detects underpayments or partial payments </a:t>
            </a:r>
            <a:endParaRPr sz="1100">
              <a:solidFill>
                <a:schemeClr val="dk1"/>
              </a:solidFill>
              <a:latin typeface="Nunito"/>
              <a:ea typeface="Nunito"/>
              <a:cs typeface="Nunito"/>
              <a:sym typeface="Nunito"/>
            </a:endParaRPr>
          </a:p>
          <a:p>
            <a:pPr indent="457200" lvl="0" marL="457200" rtl="0" algn="l">
              <a:spcBef>
                <a:spcPts val="0"/>
              </a:spcBef>
              <a:spcAft>
                <a:spcPts val="0"/>
              </a:spcAft>
              <a:buNone/>
            </a:pPr>
            <a:r>
              <a:rPr lang="en" sz="1100">
                <a:solidFill>
                  <a:schemeClr val="dk1"/>
                </a:solidFill>
                <a:latin typeface="Nunito"/>
                <a:ea typeface="Nunito"/>
                <a:cs typeface="Nunito"/>
                <a:sym typeface="Nunito"/>
              </a:rPr>
              <a:t>→ speeds up dispute resolution</a:t>
            </a:r>
            <a:br>
              <a:rPr lang="en" sz="1100">
                <a:solidFill>
                  <a:schemeClr val="dk1"/>
                </a:solidFill>
                <a:latin typeface="Nunito"/>
                <a:ea typeface="Nunito"/>
                <a:cs typeface="Nunito"/>
                <a:sym typeface="Nunito"/>
              </a:rPr>
            </a:br>
            <a:endParaRPr sz="1100">
              <a:solidFill>
                <a:schemeClr val="dk1"/>
              </a:solidFill>
              <a:latin typeface="Nunito"/>
              <a:ea typeface="Nunito"/>
              <a:cs typeface="Nunito"/>
              <a:sym typeface="Nunito"/>
            </a:endParaRPr>
          </a:p>
          <a:p>
            <a:pPr indent="-298450" lvl="0" marL="457200" rtl="0" algn="l">
              <a:spcBef>
                <a:spcPts val="0"/>
              </a:spcBef>
              <a:spcAft>
                <a:spcPts val="0"/>
              </a:spcAft>
              <a:buClr>
                <a:schemeClr val="dk1"/>
              </a:buClr>
              <a:buSzPts val="1100"/>
              <a:buFont typeface="Nunito"/>
              <a:buChar char="●"/>
            </a:pPr>
            <a:r>
              <a:rPr lang="en" sz="1100">
                <a:solidFill>
                  <a:schemeClr val="dk1"/>
                </a:solidFill>
                <a:latin typeface="Nunito"/>
                <a:ea typeface="Nunito"/>
                <a:cs typeface="Nunito"/>
                <a:sym typeface="Nunito"/>
              </a:rPr>
              <a:t>Clears accounts after corrections </a:t>
            </a:r>
            <a:endParaRPr sz="1100">
              <a:solidFill>
                <a:schemeClr val="dk1"/>
              </a:solidFill>
              <a:latin typeface="Nunito"/>
              <a:ea typeface="Nunito"/>
              <a:cs typeface="Nunito"/>
              <a:sym typeface="Nunito"/>
            </a:endParaRPr>
          </a:p>
          <a:p>
            <a:pPr indent="0" lvl="0" marL="914400" rtl="0" algn="l">
              <a:spcBef>
                <a:spcPts val="0"/>
              </a:spcBef>
              <a:spcAft>
                <a:spcPts val="0"/>
              </a:spcAft>
              <a:buNone/>
            </a:pPr>
            <a:r>
              <a:rPr lang="en" sz="1100">
                <a:solidFill>
                  <a:schemeClr val="dk1"/>
                </a:solidFill>
                <a:latin typeface="Nunito"/>
                <a:ea typeface="Nunito"/>
                <a:cs typeface="Nunito"/>
                <a:sym typeface="Nunito"/>
              </a:rPr>
              <a:t>→ ensures accurate financials</a:t>
            </a:r>
            <a:endParaRPr sz="1100">
              <a:solidFill>
                <a:schemeClr val="dk1"/>
              </a:solidFill>
              <a:latin typeface="Nunito"/>
              <a:ea typeface="Nunito"/>
              <a:cs typeface="Nunito"/>
              <a:sym typeface="Nunito"/>
            </a:endParaRPr>
          </a:p>
          <a:p>
            <a:pPr indent="0" lvl="0" marL="0" rtl="0" algn="l">
              <a:spcBef>
                <a:spcPts val="0"/>
              </a:spcBef>
              <a:spcAft>
                <a:spcPts val="0"/>
              </a:spcAft>
              <a:buNone/>
            </a:pPr>
            <a:r>
              <a:t/>
            </a:r>
            <a:endParaRPr sz="1100">
              <a:solidFill>
                <a:schemeClr val="dk1"/>
              </a:solidFill>
              <a:latin typeface="Nunito"/>
              <a:ea typeface="Nunito"/>
              <a:cs typeface="Nunito"/>
              <a:sym typeface="Nunito"/>
            </a:endParaRPr>
          </a:p>
          <a:p>
            <a:pPr indent="0" lvl="0" marL="0" rtl="0" algn="l">
              <a:spcBef>
                <a:spcPts val="0"/>
              </a:spcBef>
              <a:spcAft>
                <a:spcPts val="0"/>
              </a:spcAft>
              <a:buNone/>
            </a:pPr>
            <a:r>
              <a:t/>
            </a:r>
            <a:endParaRPr>
              <a:solidFill>
                <a:schemeClr val="dk1"/>
              </a:solidFill>
              <a:latin typeface="Nunito"/>
              <a:ea typeface="Nunito"/>
              <a:cs typeface="Nunito"/>
              <a:sym typeface="Nunito"/>
            </a:endParaRPr>
          </a:p>
        </p:txBody>
      </p:sp>
      <p:pic>
        <p:nvPicPr>
          <p:cNvPr id="437" name="Google Shape;437;p47"/>
          <p:cNvPicPr preferRelativeResize="0"/>
          <p:nvPr/>
        </p:nvPicPr>
        <p:blipFill>
          <a:blip r:embed="rId3">
            <a:alphaModFix/>
          </a:blip>
          <a:stretch>
            <a:fillRect/>
          </a:stretch>
        </p:blipFill>
        <p:spPr>
          <a:xfrm>
            <a:off x="6646925" y="87475"/>
            <a:ext cx="2377850" cy="4968551"/>
          </a:xfrm>
          <a:prstGeom prst="rect">
            <a:avLst/>
          </a:prstGeom>
          <a:noFill/>
          <a:ln>
            <a:noFill/>
          </a:ln>
        </p:spPr>
      </p:pic>
      <p:sp>
        <p:nvSpPr>
          <p:cNvPr id="438" name="Google Shape;438;p47"/>
          <p:cNvSpPr txBox="1"/>
          <p:nvPr>
            <p:ph idx="1" type="subTitle"/>
          </p:nvPr>
        </p:nvSpPr>
        <p:spPr>
          <a:xfrm>
            <a:off x="1121450" y="913063"/>
            <a:ext cx="3512100" cy="1167600"/>
          </a:xfrm>
          <a:prstGeom prst="rect">
            <a:avLst/>
          </a:prstGeom>
        </p:spPr>
        <p:txBody>
          <a:bodyPr anchorCtr="0" anchor="t" bIns="91425" lIns="91425" spcFirstLastPara="1" rIns="91425" wrap="square" tIns="91425">
            <a:noAutofit/>
          </a:bodyPr>
          <a:lstStyle/>
          <a:p>
            <a:pPr indent="0" lvl="0" marL="0" rtl="0" algn="l">
              <a:lnSpc>
                <a:spcPct val="100000"/>
              </a:lnSpc>
              <a:spcBef>
                <a:spcPts val="1200"/>
              </a:spcBef>
              <a:spcAft>
                <a:spcPts val="0"/>
              </a:spcAft>
              <a:buNone/>
            </a:pPr>
            <a:r>
              <a:rPr b="1" lang="en" sz="1100">
                <a:solidFill>
                  <a:srgbClr val="000000"/>
                </a:solidFill>
              </a:rPr>
              <a:t>Before (Manual Process):</a:t>
            </a:r>
            <a:endParaRPr b="1" sz="1100">
              <a:solidFill>
                <a:srgbClr val="000000"/>
              </a:solidFill>
            </a:endParaRPr>
          </a:p>
          <a:p>
            <a:pPr indent="-298450" lvl="0" marL="457200" rtl="0" algn="l">
              <a:lnSpc>
                <a:spcPct val="100000"/>
              </a:lnSpc>
              <a:spcBef>
                <a:spcPts val="1200"/>
              </a:spcBef>
              <a:spcAft>
                <a:spcPts val="0"/>
              </a:spcAft>
              <a:buClr>
                <a:srgbClr val="000000"/>
              </a:buClr>
              <a:buSzPts val="1100"/>
              <a:buFont typeface="Nunito"/>
              <a:buChar char="●"/>
            </a:pPr>
            <a:r>
              <a:rPr lang="en" sz="1100">
                <a:solidFill>
                  <a:srgbClr val="000000"/>
                </a:solidFill>
              </a:rPr>
              <a:t>Manually match payments to invoices</a:t>
            </a:r>
            <a:endParaRPr sz="1100">
              <a:solidFill>
                <a:srgbClr val="000000"/>
              </a:solidFill>
            </a:endParaRPr>
          </a:p>
          <a:p>
            <a:pPr indent="-298450" lvl="0" marL="457200" rtl="0" algn="l">
              <a:lnSpc>
                <a:spcPct val="100000"/>
              </a:lnSpc>
              <a:spcBef>
                <a:spcPts val="0"/>
              </a:spcBef>
              <a:spcAft>
                <a:spcPts val="0"/>
              </a:spcAft>
              <a:buClr>
                <a:srgbClr val="000000"/>
              </a:buClr>
              <a:buSzPts val="1100"/>
              <a:buFont typeface="Nunito"/>
              <a:buChar char="●"/>
            </a:pPr>
            <a:r>
              <a:rPr lang="en" sz="1100">
                <a:solidFill>
                  <a:srgbClr val="000000"/>
                </a:solidFill>
              </a:rPr>
              <a:t>Clear accounts after corrections</a:t>
            </a:r>
            <a:br>
              <a:rPr lang="en" sz="1100">
                <a:solidFill>
                  <a:srgbClr val="000000"/>
                </a:solidFill>
              </a:rPr>
            </a:br>
            <a:r>
              <a:rPr lang="en" sz="1100">
                <a:solidFill>
                  <a:srgbClr val="000000"/>
                </a:solidFill>
              </a:rPr>
              <a:t>Slow, error-prone, delays dispute closure</a:t>
            </a:r>
            <a:endParaRPr sz="1100">
              <a:solidFill>
                <a:srgbClr val="000000"/>
              </a:solidFill>
            </a:endParaRPr>
          </a:p>
          <a:p>
            <a:pPr indent="0" lvl="0" marL="457200" rtl="0" algn="l">
              <a:lnSpc>
                <a:spcPct val="100000"/>
              </a:lnSpc>
              <a:spcBef>
                <a:spcPts val="1200"/>
              </a:spcBef>
              <a:spcAft>
                <a:spcPts val="0"/>
              </a:spcAft>
              <a:buNone/>
            </a:pPr>
            <a:r>
              <a:t/>
            </a:r>
            <a:endParaRPr sz="1000">
              <a:solidFill>
                <a:srgbClr val="000000"/>
              </a:solidFill>
            </a:endParaRPr>
          </a:p>
          <a:p>
            <a:pPr indent="0" lvl="0" marL="0" rtl="0" algn="l">
              <a:spcBef>
                <a:spcPts val="1200"/>
              </a:spcBef>
              <a:spcAft>
                <a:spcPts val="1600"/>
              </a:spcAft>
              <a:buNone/>
            </a:pPr>
            <a:r>
              <a:t/>
            </a:r>
            <a:endParaRPr sz="1700"/>
          </a:p>
        </p:txBody>
      </p:sp>
      <p:sp>
        <p:nvSpPr>
          <p:cNvPr id="439" name="Google Shape;439;p47"/>
          <p:cNvSpPr txBox="1"/>
          <p:nvPr/>
        </p:nvSpPr>
        <p:spPr>
          <a:xfrm>
            <a:off x="5359425" y="87475"/>
            <a:ext cx="1207200" cy="1058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u="sng">
                <a:solidFill>
                  <a:schemeClr val="dk1"/>
                </a:solidFill>
                <a:latin typeface="Nunito"/>
                <a:ea typeface="Nunito"/>
                <a:cs typeface="Nunito"/>
                <a:sym typeface="Nunito"/>
              </a:rPr>
              <a:t>Contract Accounting Workflow</a:t>
            </a:r>
            <a:endParaRPr b="1" u="sng">
              <a:solidFill>
                <a:schemeClr val="dk1"/>
              </a:solidFill>
              <a:latin typeface="Nunito"/>
              <a:ea typeface="Nunito"/>
              <a:cs typeface="Nunito"/>
              <a:sym typeface="Nunito"/>
            </a:endParaRPr>
          </a:p>
          <a:p>
            <a:pPr indent="457200" lvl="0" marL="0" rtl="0" algn="l">
              <a:spcBef>
                <a:spcPts val="0"/>
              </a:spcBef>
              <a:spcAft>
                <a:spcPts val="0"/>
              </a:spcAft>
              <a:buNone/>
            </a:pPr>
            <a:r>
              <a:rPr b="1" lang="en">
                <a:solidFill>
                  <a:schemeClr val="dk1"/>
                </a:solidFill>
                <a:latin typeface="Nunito"/>
                <a:ea typeface="Nunito"/>
                <a:cs typeface="Nunito"/>
                <a:sym typeface="Nunito"/>
              </a:rPr>
              <a:t>     —&gt;</a:t>
            </a:r>
            <a:endParaRPr b="1">
              <a:solidFill>
                <a:schemeClr val="dk1"/>
              </a:solidFill>
              <a:latin typeface="Nunito"/>
              <a:ea typeface="Nunito"/>
              <a:cs typeface="Nunito"/>
              <a:sym typeface="Nuni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8"/>
          <p:cNvSpPr txBox="1"/>
          <p:nvPr>
            <p:ph type="title"/>
          </p:nvPr>
        </p:nvSpPr>
        <p:spPr>
          <a:xfrm>
            <a:off x="720000" y="2195100"/>
            <a:ext cx="4337700" cy="1466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Risk &amp; Revenue</a:t>
            </a:r>
            <a:endParaRPr/>
          </a:p>
        </p:txBody>
      </p:sp>
      <p:sp>
        <p:nvSpPr>
          <p:cNvPr id="445" name="Google Shape;445;p48"/>
          <p:cNvSpPr txBox="1"/>
          <p:nvPr>
            <p:ph idx="2" type="title"/>
          </p:nvPr>
        </p:nvSpPr>
        <p:spPr>
          <a:xfrm>
            <a:off x="720000" y="1178725"/>
            <a:ext cx="5067600" cy="1000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446" name="Google Shape;446;p48"/>
          <p:cNvSpPr txBox="1"/>
          <p:nvPr>
            <p:ph idx="1" type="subTitle"/>
          </p:nvPr>
        </p:nvSpPr>
        <p:spPr>
          <a:xfrm>
            <a:off x="720000" y="3676775"/>
            <a:ext cx="5067600" cy="713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Allison, Prabhu, Tanvi</a:t>
            </a:r>
            <a:endParaRPr/>
          </a:p>
        </p:txBody>
      </p:sp>
      <p:cxnSp>
        <p:nvCxnSpPr>
          <p:cNvPr id="447" name="Google Shape;447;p48"/>
          <p:cNvCxnSpPr>
            <a:endCxn id="448" idx="1"/>
          </p:cNvCxnSpPr>
          <p:nvPr/>
        </p:nvCxnSpPr>
        <p:spPr>
          <a:xfrm>
            <a:off x="-331800" y="4868547"/>
            <a:ext cx="6663300" cy="0"/>
          </a:xfrm>
          <a:prstGeom prst="straightConnector1">
            <a:avLst/>
          </a:prstGeom>
          <a:noFill/>
          <a:ln cap="flat" cmpd="sng" w="19050">
            <a:solidFill>
              <a:schemeClr val="dk1"/>
            </a:solidFill>
            <a:prstDash val="solid"/>
            <a:round/>
            <a:headEnd len="med" w="med" type="none"/>
            <a:tailEnd len="med" w="med" type="none"/>
          </a:ln>
        </p:spPr>
      </p:cxnSp>
      <p:sp>
        <p:nvSpPr>
          <p:cNvPr id="448" name="Google Shape;448;p48"/>
          <p:cNvSpPr txBox="1"/>
          <p:nvPr/>
        </p:nvSpPr>
        <p:spPr>
          <a:xfrm>
            <a:off x="6331500" y="4630647"/>
            <a:ext cx="2585400" cy="4758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r>
              <a:t/>
            </a:r>
            <a:endParaRPr sz="1200">
              <a:solidFill>
                <a:schemeClr val="dk1"/>
              </a:solidFill>
              <a:latin typeface="Nunito"/>
              <a:ea typeface="Nunito"/>
              <a:cs typeface="Nunito"/>
              <a:sym typeface="Nunito"/>
            </a:endParaRPr>
          </a:p>
          <a:p>
            <a:pPr indent="0" lvl="0" marL="0" rtl="0" algn="r">
              <a:spcBef>
                <a:spcPts val="0"/>
              </a:spcBef>
              <a:spcAft>
                <a:spcPts val="0"/>
              </a:spcAft>
              <a:buNone/>
            </a:pPr>
            <a:r>
              <a:rPr lang="en" sz="1200">
                <a:solidFill>
                  <a:schemeClr val="dk1"/>
                </a:solidFill>
                <a:latin typeface="Nunito"/>
                <a:ea typeface="Nunito"/>
                <a:cs typeface="Nunito"/>
                <a:sym typeface="Nunito"/>
              </a:rPr>
              <a:t>Purdue University</a:t>
            </a:r>
            <a:endParaRPr sz="1200">
              <a:solidFill>
                <a:schemeClr val="dk1"/>
              </a:solidFill>
              <a:latin typeface="Nunito"/>
              <a:ea typeface="Nunito"/>
              <a:cs typeface="Nunito"/>
              <a:sym typeface="Nunito"/>
            </a:endParaRPr>
          </a:p>
          <a:p>
            <a:pPr indent="0" lvl="0" marL="0" rtl="0" algn="r">
              <a:spcBef>
                <a:spcPts val="0"/>
              </a:spcBef>
              <a:spcAft>
                <a:spcPts val="0"/>
              </a:spcAft>
              <a:buNone/>
            </a:pPr>
            <a:r>
              <a:t/>
            </a:r>
            <a:endParaRPr sz="1200">
              <a:solidFill>
                <a:schemeClr val="dk1"/>
              </a:solidFill>
              <a:latin typeface="Nunito"/>
              <a:ea typeface="Nunito"/>
              <a:cs typeface="Nunito"/>
              <a:sym typeface="Nunito"/>
            </a:endParaRPr>
          </a:p>
        </p:txBody>
      </p:sp>
      <p:pic>
        <p:nvPicPr>
          <p:cNvPr id="449" name="Google Shape;449;p48"/>
          <p:cNvPicPr preferRelativeResize="0"/>
          <p:nvPr/>
        </p:nvPicPr>
        <p:blipFill>
          <a:blip r:embed="rId3">
            <a:alphaModFix/>
          </a:blip>
          <a:stretch>
            <a:fillRect/>
          </a:stretch>
        </p:blipFill>
        <p:spPr>
          <a:xfrm>
            <a:off x="0" y="1"/>
            <a:ext cx="3335324" cy="357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49"/>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Current State and Agent Overview</a:t>
            </a:r>
            <a:endParaRPr sz="2600"/>
          </a:p>
        </p:txBody>
      </p:sp>
      <p:sp>
        <p:nvSpPr>
          <p:cNvPr id="455" name="Google Shape;455;p49"/>
          <p:cNvSpPr txBox="1"/>
          <p:nvPr>
            <p:ph type="title"/>
          </p:nvPr>
        </p:nvSpPr>
        <p:spPr>
          <a:xfrm>
            <a:off x="832979" y="2169743"/>
            <a:ext cx="28113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Human-Driven Process</a:t>
            </a:r>
            <a:endParaRPr sz="1818"/>
          </a:p>
        </p:txBody>
      </p:sp>
      <p:sp>
        <p:nvSpPr>
          <p:cNvPr id="456" name="Google Shape;456;p49"/>
          <p:cNvSpPr txBox="1"/>
          <p:nvPr>
            <p:ph idx="3" type="subTitle"/>
          </p:nvPr>
        </p:nvSpPr>
        <p:spPr>
          <a:xfrm>
            <a:off x="490099" y="2540900"/>
            <a:ext cx="3658500" cy="2246700"/>
          </a:xfrm>
          <a:prstGeom prst="rect">
            <a:avLst/>
          </a:prstGeom>
        </p:spPr>
        <p:txBody>
          <a:bodyPr anchorCtr="0" anchor="t" bIns="66525" lIns="66525" spcFirstLastPara="1" rIns="66525" wrap="square" tIns="66525">
            <a:noAutofit/>
          </a:bodyPr>
          <a:lstStyle/>
          <a:p>
            <a:pPr indent="0" lvl="0" marL="0" rtl="0" algn="l">
              <a:spcBef>
                <a:spcPts val="0"/>
              </a:spcBef>
              <a:spcAft>
                <a:spcPts val="0"/>
              </a:spcAft>
              <a:buNone/>
            </a:pPr>
            <a:r>
              <a:rPr lang="en" sz="1309"/>
              <a:t>L5 Step: Bad Debt Reserves and Allowances</a:t>
            </a:r>
            <a:endParaRPr sz="1309"/>
          </a:p>
          <a:p>
            <a:pPr indent="-311757" lvl="0" marL="457200" rtl="0" algn="l">
              <a:spcBef>
                <a:spcPts val="0"/>
              </a:spcBef>
              <a:spcAft>
                <a:spcPts val="0"/>
              </a:spcAft>
              <a:buSzPts val="1310"/>
              <a:buChar char="●"/>
            </a:pPr>
            <a:r>
              <a:rPr lang="en" sz="1309"/>
              <a:t>Manual review and validation of valuations assumptions and supporting data </a:t>
            </a:r>
            <a:endParaRPr sz="1309"/>
          </a:p>
          <a:p>
            <a:pPr indent="-311757" lvl="0" marL="457200" rtl="0" algn="l">
              <a:spcBef>
                <a:spcPts val="0"/>
              </a:spcBef>
              <a:spcAft>
                <a:spcPts val="0"/>
              </a:spcAft>
              <a:buSzPts val="1310"/>
              <a:buChar char="●"/>
            </a:pPr>
            <a:r>
              <a:rPr lang="en" sz="1309"/>
              <a:t>Manual analysis of </a:t>
            </a:r>
            <a:r>
              <a:rPr lang="en" sz="1309"/>
              <a:t>delinquent</a:t>
            </a:r>
            <a:r>
              <a:rPr lang="en" sz="1309"/>
              <a:t> accounts to access recovery eligibility</a:t>
            </a:r>
            <a:endParaRPr sz="1309"/>
          </a:p>
          <a:p>
            <a:pPr indent="0" lvl="0" marL="0" rtl="0" algn="l">
              <a:spcBef>
                <a:spcPts val="0"/>
              </a:spcBef>
              <a:spcAft>
                <a:spcPts val="0"/>
              </a:spcAft>
              <a:buNone/>
            </a:pPr>
            <a:r>
              <a:t/>
            </a:r>
            <a:endParaRPr sz="1309"/>
          </a:p>
          <a:p>
            <a:pPr indent="0" lvl="0" marL="0" rtl="0" algn="l">
              <a:spcBef>
                <a:spcPts val="0"/>
              </a:spcBef>
              <a:spcAft>
                <a:spcPts val="0"/>
              </a:spcAft>
              <a:buNone/>
            </a:pPr>
            <a:r>
              <a:rPr lang="en" sz="1309"/>
              <a:t>L5 Step: Dispute Management and KPIs</a:t>
            </a:r>
            <a:endParaRPr sz="1309"/>
          </a:p>
          <a:p>
            <a:pPr indent="-311757" lvl="0" marL="457200" rtl="0" algn="l">
              <a:spcBef>
                <a:spcPts val="0"/>
              </a:spcBef>
              <a:spcAft>
                <a:spcPts val="0"/>
              </a:spcAft>
              <a:buSzPts val="1310"/>
              <a:buChar char="●"/>
            </a:pPr>
            <a:r>
              <a:rPr lang="en" sz="1309"/>
              <a:t>Manual analysis of overdue and unresolved disputes </a:t>
            </a:r>
            <a:endParaRPr sz="1309"/>
          </a:p>
          <a:p>
            <a:pPr indent="-311757" lvl="0" marL="457200" rtl="0" algn="l">
              <a:spcBef>
                <a:spcPts val="0"/>
              </a:spcBef>
              <a:spcAft>
                <a:spcPts val="0"/>
              </a:spcAft>
              <a:buSzPts val="1310"/>
              <a:buChar char="●"/>
            </a:pPr>
            <a:r>
              <a:rPr lang="en" sz="1309"/>
              <a:t>Review disputes reports and open disputes</a:t>
            </a:r>
            <a:endParaRPr sz="1309"/>
          </a:p>
          <a:p>
            <a:pPr indent="0" lvl="0" marL="0" rtl="0" algn="l">
              <a:spcBef>
                <a:spcPts val="0"/>
              </a:spcBef>
              <a:spcAft>
                <a:spcPts val="0"/>
              </a:spcAft>
              <a:buNone/>
            </a:pPr>
            <a:r>
              <a:t/>
            </a:r>
            <a:endParaRPr sz="1309"/>
          </a:p>
        </p:txBody>
      </p:sp>
      <p:sp>
        <p:nvSpPr>
          <p:cNvPr id="457" name="Google Shape;457;p49"/>
          <p:cNvSpPr txBox="1"/>
          <p:nvPr>
            <p:ph type="title"/>
          </p:nvPr>
        </p:nvSpPr>
        <p:spPr>
          <a:xfrm>
            <a:off x="1935500" y="814063"/>
            <a:ext cx="4008600" cy="406500"/>
          </a:xfrm>
          <a:prstGeom prst="rect">
            <a:avLst/>
          </a:prstGeom>
        </p:spPr>
        <p:txBody>
          <a:bodyPr anchorCtr="0" anchor="t" bIns="66525" lIns="66525" spcFirstLastPara="1" rIns="66525" wrap="square" tIns="66525">
            <a:noAutofit/>
          </a:bodyPr>
          <a:lstStyle/>
          <a:p>
            <a:pPr indent="0" lvl="0" marL="0" rtl="0" algn="ctr">
              <a:spcBef>
                <a:spcPts val="0"/>
              </a:spcBef>
              <a:spcAft>
                <a:spcPts val="0"/>
              </a:spcAft>
              <a:buNone/>
            </a:pPr>
            <a:r>
              <a:rPr lang="en" sz="1818"/>
              <a:t>Behavioral Insights Agent</a:t>
            </a:r>
            <a:endParaRPr sz="1818"/>
          </a:p>
        </p:txBody>
      </p:sp>
      <p:sp>
        <p:nvSpPr>
          <p:cNvPr id="458" name="Google Shape;458;p49"/>
          <p:cNvSpPr txBox="1"/>
          <p:nvPr>
            <p:ph idx="3" type="subTitle"/>
          </p:nvPr>
        </p:nvSpPr>
        <p:spPr>
          <a:xfrm>
            <a:off x="526250" y="1262200"/>
            <a:ext cx="3832500" cy="946800"/>
          </a:xfrm>
          <a:prstGeom prst="rect">
            <a:avLst/>
          </a:prstGeom>
        </p:spPr>
        <p:txBody>
          <a:bodyPr anchorCtr="0" anchor="t" bIns="66525" lIns="66525" spcFirstLastPara="1" rIns="66525" wrap="square" tIns="66525">
            <a:noAutofit/>
          </a:bodyPr>
          <a:lstStyle/>
          <a:p>
            <a:pPr indent="-311757" lvl="0" marL="457200" rtl="0" algn="l">
              <a:spcBef>
                <a:spcPts val="0"/>
              </a:spcBef>
              <a:spcAft>
                <a:spcPts val="0"/>
              </a:spcAft>
              <a:buSzPts val="1310"/>
              <a:buChar char="●"/>
            </a:pPr>
            <a:r>
              <a:rPr lang="en" sz="1309"/>
              <a:t>Predict customer payment risk using behavioral </a:t>
            </a:r>
            <a:r>
              <a:rPr lang="en" sz="1309"/>
              <a:t>patterns</a:t>
            </a:r>
            <a:r>
              <a:rPr lang="en" sz="1309"/>
              <a:t> </a:t>
            </a:r>
            <a:endParaRPr sz="1309"/>
          </a:p>
          <a:p>
            <a:pPr indent="-311757" lvl="0" marL="457200" rtl="0" algn="l">
              <a:spcBef>
                <a:spcPts val="0"/>
              </a:spcBef>
              <a:spcAft>
                <a:spcPts val="0"/>
              </a:spcAft>
              <a:buSzPts val="1310"/>
              <a:buChar char="●"/>
            </a:pPr>
            <a:r>
              <a:rPr lang="en" sz="1309"/>
              <a:t>Identify accounts likely to pay late, default, or require early intervention</a:t>
            </a:r>
            <a:endParaRPr sz="1309"/>
          </a:p>
          <a:p>
            <a:pPr indent="0" lvl="0" marL="0" rtl="0" algn="l">
              <a:spcBef>
                <a:spcPts val="0"/>
              </a:spcBef>
              <a:spcAft>
                <a:spcPts val="0"/>
              </a:spcAft>
              <a:buNone/>
            </a:pPr>
            <a:r>
              <a:t/>
            </a:r>
            <a:endParaRPr sz="1309"/>
          </a:p>
        </p:txBody>
      </p:sp>
      <p:sp>
        <p:nvSpPr>
          <p:cNvPr id="459" name="Google Shape;459;p49"/>
          <p:cNvSpPr txBox="1"/>
          <p:nvPr>
            <p:ph idx="2" type="title"/>
          </p:nvPr>
        </p:nvSpPr>
        <p:spPr>
          <a:xfrm>
            <a:off x="5234027" y="2166158"/>
            <a:ext cx="2547600" cy="413700"/>
          </a:xfrm>
          <a:prstGeom prst="rect">
            <a:avLst/>
          </a:prstGeom>
        </p:spPr>
        <p:txBody>
          <a:bodyPr anchorCtr="0" anchor="t" bIns="67675" lIns="67675" spcFirstLastPara="1" rIns="67675" wrap="square" tIns="67675">
            <a:noAutofit/>
          </a:bodyPr>
          <a:lstStyle/>
          <a:p>
            <a:pPr indent="0" lvl="0" marL="0" rtl="0" algn="ctr">
              <a:spcBef>
                <a:spcPts val="0"/>
              </a:spcBef>
              <a:spcAft>
                <a:spcPts val="0"/>
              </a:spcAft>
              <a:buNone/>
            </a:pPr>
            <a:r>
              <a:rPr lang="en" sz="1850"/>
              <a:t>AI-Driven Process</a:t>
            </a:r>
            <a:endParaRPr sz="1850"/>
          </a:p>
        </p:txBody>
      </p:sp>
      <p:sp>
        <p:nvSpPr>
          <p:cNvPr id="460" name="Google Shape;460;p49"/>
          <p:cNvSpPr txBox="1"/>
          <p:nvPr>
            <p:ph idx="1" type="subTitle"/>
          </p:nvPr>
        </p:nvSpPr>
        <p:spPr>
          <a:xfrm>
            <a:off x="4425600" y="2423850"/>
            <a:ext cx="4718400" cy="2176800"/>
          </a:xfrm>
          <a:prstGeom prst="rect">
            <a:avLst/>
          </a:prstGeom>
        </p:spPr>
        <p:txBody>
          <a:bodyPr anchorCtr="0" anchor="t" bIns="67675" lIns="67675" spcFirstLastPara="1" rIns="67675" wrap="square" tIns="67675">
            <a:noAutofit/>
          </a:bodyPr>
          <a:lstStyle/>
          <a:p>
            <a:pPr indent="-251757" lvl="0" marL="338415" rtl="0" algn="l">
              <a:lnSpc>
                <a:spcPct val="100000"/>
              </a:lnSpc>
              <a:spcBef>
                <a:spcPts val="888"/>
              </a:spcBef>
              <a:spcAft>
                <a:spcPts val="0"/>
              </a:spcAft>
              <a:buClr>
                <a:srgbClr val="000000"/>
              </a:buClr>
              <a:buSzPts val="1300"/>
              <a:buFont typeface="Arial"/>
              <a:buChar char="●"/>
            </a:pPr>
            <a:r>
              <a:rPr lang="en" sz="1300">
                <a:solidFill>
                  <a:srgbClr val="000000"/>
                </a:solidFill>
              </a:rPr>
              <a:t>Behavioral Risk Scoring:</a:t>
            </a:r>
            <a:endParaRPr sz="1300">
              <a:solidFill>
                <a:srgbClr val="000000"/>
              </a:solidFill>
            </a:endParaRPr>
          </a:p>
          <a:p>
            <a:pPr indent="0" lvl="0" marL="338415" rtl="0" algn="l">
              <a:lnSpc>
                <a:spcPct val="100000"/>
              </a:lnSpc>
              <a:spcBef>
                <a:spcPts val="888"/>
              </a:spcBef>
              <a:spcAft>
                <a:spcPts val="0"/>
              </a:spcAft>
              <a:buNone/>
            </a:pPr>
            <a:r>
              <a:rPr lang="en" sz="1300">
                <a:solidFill>
                  <a:srgbClr val="000000"/>
                </a:solidFill>
              </a:rPr>
              <a:t>Analyzes historical invoice, payment, and customer behavior</a:t>
            </a:r>
            <a:endParaRPr sz="1300">
              <a:solidFill>
                <a:srgbClr val="000000"/>
              </a:solidFill>
            </a:endParaRPr>
          </a:p>
          <a:p>
            <a:pPr indent="-251757" lvl="0" marL="338415" rtl="0" algn="l">
              <a:lnSpc>
                <a:spcPct val="100000"/>
              </a:lnSpc>
              <a:spcBef>
                <a:spcPts val="888"/>
              </a:spcBef>
              <a:spcAft>
                <a:spcPts val="0"/>
              </a:spcAft>
              <a:buClr>
                <a:srgbClr val="000000"/>
              </a:buClr>
              <a:buSzPts val="1300"/>
              <a:buFont typeface="Arial"/>
              <a:buChar char="●"/>
            </a:pPr>
            <a:r>
              <a:rPr lang="en" sz="1300">
                <a:solidFill>
                  <a:srgbClr val="000000"/>
                </a:solidFill>
              </a:rPr>
              <a:t>Predictive Risk Awareness:</a:t>
            </a:r>
            <a:endParaRPr sz="1300">
              <a:solidFill>
                <a:srgbClr val="000000"/>
              </a:solidFill>
            </a:endParaRPr>
          </a:p>
          <a:p>
            <a:pPr indent="0" lvl="0" marL="338415" rtl="0" algn="l">
              <a:lnSpc>
                <a:spcPct val="100000"/>
              </a:lnSpc>
              <a:spcBef>
                <a:spcPts val="888"/>
              </a:spcBef>
              <a:spcAft>
                <a:spcPts val="0"/>
              </a:spcAft>
              <a:buNone/>
            </a:pPr>
            <a:r>
              <a:rPr lang="en" sz="1300">
                <a:solidFill>
                  <a:srgbClr val="000000"/>
                </a:solidFill>
              </a:rPr>
              <a:t>Flags high-</a:t>
            </a:r>
            <a:r>
              <a:rPr lang="en" sz="1300">
                <a:solidFill>
                  <a:srgbClr val="000000"/>
                </a:solidFill>
              </a:rPr>
              <a:t>risk</a:t>
            </a:r>
            <a:r>
              <a:rPr lang="en" sz="1300">
                <a:solidFill>
                  <a:srgbClr val="000000"/>
                </a:solidFill>
              </a:rPr>
              <a:t> accounts before missed payments occur</a:t>
            </a:r>
            <a:endParaRPr sz="1300">
              <a:solidFill>
                <a:srgbClr val="000000"/>
              </a:solidFill>
            </a:endParaRPr>
          </a:p>
          <a:p>
            <a:pPr indent="-251757" lvl="0" marL="338415" rtl="0" algn="l">
              <a:lnSpc>
                <a:spcPct val="100000"/>
              </a:lnSpc>
              <a:spcBef>
                <a:spcPts val="888"/>
              </a:spcBef>
              <a:spcAft>
                <a:spcPts val="0"/>
              </a:spcAft>
              <a:buClr>
                <a:srgbClr val="000000"/>
              </a:buClr>
              <a:buSzPts val="1300"/>
              <a:buFont typeface="Arial"/>
              <a:buChar char="●"/>
            </a:pPr>
            <a:r>
              <a:rPr lang="en" sz="1300">
                <a:solidFill>
                  <a:srgbClr val="000000"/>
                </a:solidFill>
              </a:rPr>
              <a:t>Collections</a:t>
            </a:r>
            <a:r>
              <a:rPr lang="en" sz="1300">
                <a:solidFill>
                  <a:srgbClr val="000000"/>
                </a:solidFill>
              </a:rPr>
              <a:t> Prioritization:</a:t>
            </a:r>
            <a:endParaRPr sz="1300">
              <a:solidFill>
                <a:srgbClr val="000000"/>
              </a:solidFill>
            </a:endParaRPr>
          </a:p>
          <a:p>
            <a:pPr indent="0" lvl="0" marL="338415" rtl="0" algn="l">
              <a:lnSpc>
                <a:spcPct val="100000"/>
              </a:lnSpc>
              <a:spcBef>
                <a:spcPts val="888"/>
              </a:spcBef>
              <a:spcAft>
                <a:spcPts val="0"/>
              </a:spcAft>
              <a:buNone/>
            </a:pPr>
            <a:r>
              <a:rPr lang="en" sz="1300">
                <a:solidFill>
                  <a:srgbClr val="000000"/>
                </a:solidFill>
              </a:rPr>
              <a:t>Recommends account prioritization for outreach and dispute review</a:t>
            </a:r>
            <a:endParaRPr sz="1300">
              <a:solidFill>
                <a:srgbClr val="000000"/>
              </a:solidFill>
            </a:endParaRPr>
          </a:p>
          <a:p>
            <a:pPr indent="0" lvl="0" marL="0" rtl="0" algn="l">
              <a:lnSpc>
                <a:spcPct val="100000"/>
              </a:lnSpc>
              <a:spcBef>
                <a:spcPts val="888"/>
              </a:spcBef>
              <a:spcAft>
                <a:spcPts val="0"/>
              </a:spcAft>
              <a:buNone/>
            </a:pPr>
            <a:r>
              <a:t/>
            </a:r>
            <a:endParaRPr sz="1300">
              <a:solidFill>
                <a:srgbClr val="000000"/>
              </a:solidFill>
            </a:endParaRPr>
          </a:p>
          <a:p>
            <a:pPr indent="0" lvl="0" marL="0" rtl="0" algn="l">
              <a:lnSpc>
                <a:spcPct val="100000"/>
              </a:lnSpc>
              <a:spcBef>
                <a:spcPts val="888"/>
              </a:spcBef>
              <a:spcAft>
                <a:spcPts val="0"/>
              </a:spcAft>
              <a:buNone/>
            </a:pPr>
            <a:r>
              <a:t/>
            </a:r>
            <a:endParaRPr sz="1300"/>
          </a:p>
        </p:txBody>
      </p:sp>
      <p:sp>
        <p:nvSpPr>
          <p:cNvPr id="461" name="Google Shape;461;p49"/>
          <p:cNvSpPr txBox="1"/>
          <p:nvPr/>
        </p:nvSpPr>
        <p:spPr>
          <a:xfrm>
            <a:off x="4358750" y="1220575"/>
            <a:ext cx="4150800" cy="990900"/>
          </a:xfrm>
          <a:prstGeom prst="rect">
            <a:avLst/>
          </a:prstGeom>
          <a:noFill/>
          <a:ln>
            <a:noFill/>
          </a:ln>
        </p:spPr>
        <p:txBody>
          <a:bodyPr anchorCtr="0" anchor="t" bIns="91425" lIns="91425" spcFirstLastPara="1" rIns="91425" wrap="square" tIns="91425">
            <a:spAutoFit/>
          </a:bodyPr>
          <a:lstStyle/>
          <a:p>
            <a:pPr indent="-311757" lvl="0" marL="457200" rtl="0" algn="l">
              <a:spcBef>
                <a:spcPts val="0"/>
              </a:spcBef>
              <a:spcAft>
                <a:spcPts val="0"/>
              </a:spcAft>
              <a:buClr>
                <a:schemeClr val="dk1"/>
              </a:buClr>
              <a:buSzPts val="1310"/>
              <a:buFont typeface="Nunito"/>
              <a:buChar char="●"/>
            </a:pPr>
            <a:r>
              <a:rPr lang="en" sz="1309">
                <a:solidFill>
                  <a:schemeClr val="dk1"/>
                </a:solidFill>
                <a:latin typeface="Nunito"/>
                <a:ea typeface="Nunito"/>
                <a:cs typeface="Nunito"/>
                <a:sym typeface="Nunito"/>
              </a:rPr>
              <a:t>Enables proactive collections prioritization and reserve planning</a:t>
            </a:r>
            <a:endParaRPr sz="1309">
              <a:solidFill>
                <a:schemeClr val="dk1"/>
              </a:solidFill>
              <a:latin typeface="Nunito"/>
              <a:ea typeface="Nunito"/>
              <a:cs typeface="Nunito"/>
              <a:sym typeface="Nunito"/>
            </a:endParaRPr>
          </a:p>
          <a:p>
            <a:pPr indent="-311757" lvl="0" marL="457200" rtl="0" algn="l">
              <a:spcBef>
                <a:spcPts val="0"/>
              </a:spcBef>
              <a:spcAft>
                <a:spcPts val="0"/>
              </a:spcAft>
              <a:buClr>
                <a:schemeClr val="dk1"/>
              </a:buClr>
              <a:buSzPts val="1310"/>
              <a:buFont typeface="Nunito"/>
              <a:buChar char="●"/>
            </a:pPr>
            <a:r>
              <a:rPr lang="en" sz="1309">
                <a:solidFill>
                  <a:schemeClr val="dk1"/>
                </a:solidFill>
                <a:latin typeface="Nunito"/>
                <a:ea typeface="Nunito"/>
                <a:cs typeface="Nunito"/>
                <a:sym typeface="Nunito"/>
              </a:rPr>
              <a:t>5% reduction in </a:t>
            </a:r>
            <a:r>
              <a:rPr lang="en" sz="1309">
                <a:solidFill>
                  <a:schemeClr val="dk1"/>
                </a:solidFill>
                <a:latin typeface="Nunito"/>
                <a:ea typeface="Nunito"/>
                <a:cs typeface="Nunito"/>
                <a:sym typeface="Nunito"/>
              </a:rPr>
              <a:t>uncollectible</a:t>
            </a:r>
            <a:r>
              <a:rPr lang="en" sz="1309">
                <a:solidFill>
                  <a:schemeClr val="dk1"/>
                </a:solidFill>
                <a:latin typeface="Nunito"/>
                <a:ea typeface="Nunito"/>
                <a:cs typeface="Nunito"/>
                <a:sym typeface="Nunito"/>
              </a:rPr>
              <a:t> AR write-offs</a:t>
            </a:r>
            <a:endParaRPr sz="1309">
              <a:solidFill>
                <a:schemeClr val="dk1"/>
              </a:solidFill>
              <a:latin typeface="Nunito"/>
              <a:ea typeface="Nunito"/>
              <a:cs typeface="Nunito"/>
              <a:sym typeface="Nunito"/>
            </a:endParaRPr>
          </a:p>
          <a:p>
            <a:pPr indent="0" lvl="0" marL="0" rtl="0" algn="l">
              <a:spcBef>
                <a:spcPts val="0"/>
              </a:spcBef>
              <a:spcAft>
                <a:spcPts val="0"/>
              </a:spcAft>
              <a:buNone/>
            </a:pPr>
            <a:r>
              <a:t/>
            </a:r>
            <a:endParaRPr sz="1309">
              <a:solidFill>
                <a:schemeClr val="dk1"/>
              </a:solidFill>
              <a:latin typeface="Nunito"/>
              <a:ea typeface="Nunito"/>
              <a:cs typeface="Nunito"/>
              <a:sym typeface="Nuni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50"/>
          <p:cNvSpPr txBox="1"/>
          <p:nvPr/>
        </p:nvSpPr>
        <p:spPr>
          <a:xfrm>
            <a:off x="319450" y="962625"/>
            <a:ext cx="8710500" cy="4044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100"/>
              <a:t>Business context:</a:t>
            </a:r>
            <a:endParaRPr b="1" sz="1100"/>
          </a:p>
          <a:p>
            <a:pPr indent="-298450" lvl="0" marL="457200" rtl="0" algn="l">
              <a:lnSpc>
                <a:spcPct val="115000"/>
              </a:lnSpc>
              <a:spcBef>
                <a:spcPts val="1200"/>
              </a:spcBef>
              <a:spcAft>
                <a:spcPts val="0"/>
              </a:spcAft>
              <a:buSzPts val="1100"/>
              <a:buChar char="●"/>
            </a:pPr>
            <a:r>
              <a:rPr lang="en" sz="1100"/>
              <a:t>Month-end close requires establishing an allowance for doubtful accounts (AFDA) for open trade receivables to support accurate financial reporting and compliance.</a:t>
            </a:r>
            <a:endParaRPr sz="1100"/>
          </a:p>
          <a:p>
            <a:pPr indent="0" lvl="0" marL="0" rtl="0" algn="l">
              <a:lnSpc>
                <a:spcPct val="115000"/>
              </a:lnSpc>
              <a:spcBef>
                <a:spcPts val="1200"/>
              </a:spcBef>
              <a:spcAft>
                <a:spcPts val="0"/>
              </a:spcAft>
              <a:buNone/>
            </a:pPr>
            <a:r>
              <a:rPr b="1" lang="en" sz="1100"/>
              <a:t>Key issues observed:</a:t>
            </a:r>
            <a:endParaRPr b="1" sz="1100"/>
          </a:p>
          <a:p>
            <a:pPr indent="-298450" lvl="0" marL="457200" rtl="0" algn="l">
              <a:lnSpc>
                <a:spcPct val="115000"/>
              </a:lnSpc>
              <a:spcBef>
                <a:spcPts val="1200"/>
              </a:spcBef>
              <a:spcAft>
                <a:spcPts val="0"/>
              </a:spcAft>
              <a:buSzPts val="1100"/>
              <a:buChar char="●"/>
            </a:pPr>
            <a:r>
              <a:rPr lang="en" sz="1100"/>
              <a:t>The reserve approach is largely dependent on aging buckets and manual work overlays, resulting in inconsistent outcomes across regions and reviewers.</a:t>
            </a:r>
            <a:endParaRPr sz="1100"/>
          </a:p>
          <a:p>
            <a:pPr indent="-298450" lvl="0" marL="457200" rtl="0" algn="l">
              <a:lnSpc>
                <a:spcPct val="115000"/>
              </a:lnSpc>
              <a:spcBef>
                <a:spcPts val="0"/>
              </a:spcBef>
              <a:spcAft>
                <a:spcPts val="0"/>
              </a:spcAft>
              <a:buSzPts val="1100"/>
              <a:buChar char="●"/>
            </a:pPr>
            <a:r>
              <a:rPr lang="en" sz="1100"/>
              <a:t>Leading indicators (payment performance, dispute and deduction posture, credit terms adherence) are not consistently incorporated, limiting early risk identification.</a:t>
            </a:r>
            <a:endParaRPr sz="1100"/>
          </a:p>
          <a:p>
            <a:pPr indent="-298450" lvl="0" marL="457200" rtl="0" algn="l">
              <a:lnSpc>
                <a:spcPct val="115000"/>
              </a:lnSpc>
              <a:spcBef>
                <a:spcPts val="0"/>
              </a:spcBef>
              <a:spcAft>
                <a:spcPts val="0"/>
              </a:spcAft>
              <a:buSzPts val="1100"/>
              <a:buChar char="●"/>
            </a:pPr>
            <a:r>
              <a:rPr lang="en" sz="1100"/>
              <a:t>When the reserve changes from one month to the next, it is hard to explain the change quickly (to leadership or auditors) because there is no consistent, standard way to show like accounts, root cause or key factors caused it (aging shift, payment deterioration, dispute increase, write offs, etc.) or if the supporting evidence was captured against it.</a:t>
            </a:r>
            <a:endParaRPr sz="1100"/>
          </a:p>
          <a:p>
            <a:pPr indent="0" lvl="0" marL="0" rtl="0" algn="l">
              <a:lnSpc>
                <a:spcPct val="115000"/>
              </a:lnSpc>
              <a:spcBef>
                <a:spcPts val="1200"/>
              </a:spcBef>
              <a:spcAft>
                <a:spcPts val="0"/>
              </a:spcAft>
              <a:buNone/>
            </a:pPr>
            <a:r>
              <a:rPr b="1" lang="en" sz="1100"/>
              <a:t>Objective:</a:t>
            </a:r>
            <a:endParaRPr b="1" sz="1100"/>
          </a:p>
          <a:p>
            <a:pPr indent="-298450" lvl="0" marL="457200" rtl="0" algn="l">
              <a:lnSpc>
                <a:spcPct val="115000"/>
              </a:lnSpc>
              <a:spcBef>
                <a:spcPts val="1200"/>
              </a:spcBef>
              <a:spcAft>
                <a:spcPts val="0"/>
              </a:spcAft>
              <a:buSzPts val="1100"/>
              <a:buChar char="●"/>
            </a:pPr>
            <a:r>
              <a:rPr lang="en" sz="1100"/>
              <a:t>A repeatable, policy-aligned approach that combines aging, collections behavior, and dispute signals into a consistent risk segmentation and reserve recommendation.</a:t>
            </a:r>
            <a:endParaRPr sz="1100"/>
          </a:p>
          <a:p>
            <a:pPr indent="-298450" lvl="0" marL="457200" rtl="0" algn="l">
              <a:lnSpc>
                <a:spcPct val="115000"/>
              </a:lnSpc>
              <a:spcBef>
                <a:spcPts val="0"/>
              </a:spcBef>
              <a:spcAft>
                <a:spcPts val="0"/>
              </a:spcAft>
              <a:buSzPts val="1100"/>
              <a:buChar char="●"/>
            </a:pPr>
            <a:r>
              <a:rPr lang="en" sz="1100"/>
              <a:t>Standard outputs for leadership and audit. Driver-based reserve bridge, ranked exceptions, and clear rationale for changes vs prior close.</a:t>
            </a:r>
            <a:endParaRPr b="1" sz="1100"/>
          </a:p>
        </p:txBody>
      </p:sp>
      <p:sp>
        <p:nvSpPr>
          <p:cNvPr id="467" name="Google Shape;467;p50"/>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Overview and Objective: Executive Bad Debt Reserves and Allowances</a:t>
            </a:r>
            <a:endParaRPr sz="26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51"/>
          <p:cNvSpPr txBox="1"/>
          <p:nvPr>
            <p:ph idx="4" type="title"/>
          </p:nvPr>
        </p:nvSpPr>
        <p:spPr>
          <a:xfrm>
            <a:off x="101950" y="1794475"/>
            <a:ext cx="7704000" cy="571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3000">
                <a:solidFill>
                  <a:srgbClr val="000000"/>
                </a:solidFill>
              </a:rPr>
              <a:t>Behavioral Insights Agent: Enablement for Bad Debt Reserves and Allowances</a:t>
            </a:r>
            <a:endParaRPr sz="3000"/>
          </a:p>
        </p:txBody>
      </p:sp>
      <p:pic>
        <p:nvPicPr>
          <p:cNvPr id="473" name="Google Shape;473;p51"/>
          <p:cNvPicPr preferRelativeResize="0"/>
          <p:nvPr/>
        </p:nvPicPr>
        <p:blipFill rotWithShape="1">
          <a:blip r:embed="rId3">
            <a:alphaModFix/>
          </a:blip>
          <a:srcRect b="35999" l="1450" r="568" t="23547"/>
          <a:stretch/>
        </p:blipFill>
        <p:spPr>
          <a:xfrm>
            <a:off x="101950" y="1507600"/>
            <a:ext cx="8837600" cy="2028550"/>
          </a:xfrm>
          <a:prstGeom prst="rect">
            <a:avLst/>
          </a:prstGeom>
          <a:noFill/>
          <a:ln>
            <a:noFill/>
          </a:ln>
        </p:spPr>
      </p:pic>
      <p:sp>
        <p:nvSpPr>
          <p:cNvPr id="474" name="Google Shape;474;p51"/>
          <p:cNvSpPr/>
          <p:nvPr/>
        </p:nvSpPr>
        <p:spPr>
          <a:xfrm>
            <a:off x="1452145" y="3614725"/>
            <a:ext cx="3768900" cy="1018800"/>
          </a:xfrm>
          <a:prstGeom prst="wedgeRoundRectCallout">
            <a:avLst>
              <a:gd fmla="val -882" name="adj1"/>
              <a:gd fmla="val -83824"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Auto-builds valuation proposal package</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Pre-checks master data and policy rules, flags issues</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Recommends approve or revise with rationale</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Auto-approve within tolerance thresholds</a:t>
            </a:r>
            <a:endParaRPr sz="1100">
              <a:solidFill>
                <a:srgbClr val="FFFFFF"/>
              </a:solidFill>
            </a:endParaRPr>
          </a:p>
        </p:txBody>
      </p:sp>
      <p:sp>
        <p:nvSpPr>
          <p:cNvPr id="475" name="Google Shape;475;p51"/>
          <p:cNvSpPr txBox="1"/>
          <p:nvPr>
            <p:ph idx="4" type="title"/>
          </p:nvPr>
        </p:nvSpPr>
        <p:spPr>
          <a:xfrm>
            <a:off x="677500" y="95225"/>
            <a:ext cx="7248300" cy="1333800"/>
          </a:xfrm>
          <a:prstGeom prst="rect">
            <a:avLst/>
          </a:prstGeom>
        </p:spPr>
        <p:txBody>
          <a:bodyPr anchorCtr="0" anchor="ctr" bIns="91425" lIns="91425" spcFirstLastPara="1" rIns="91425" wrap="square" tIns="91425">
            <a:noAutofit/>
          </a:bodyPr>
          <a:lstStyle/>
          <a:p>
            <a:pPr indent="0" lvl="0" marL="0" rtl="0" algn="l">
              <a:lnSpc>
                <a:spcPct val="115000"/>
              </a:lnSpc>
              <a:spcBef>
                <a:spcPts val="0"/>
              </a:spcBef>
              <a:spcAft>
                <a:spcPts val="1200"/>
              </a:spcAft>
              <a:buNone/>
            </a:pPr>
            <a:r>
              <a:rPr lang="en" sz="2600">
                <a:solidFill>
                  <a:srgbClr val="000000"/>
                </a:solidFill>
              </a:rPr>
              <a:t>Behavioral Insights Agent: Enablement for Bad Debt Reserves and Allowances</a:t>
            </a:r>
            <a:endParaRPr sz="2600"/>
          </a:p>
        </p:txBody>
      </p:sp>
      <p:sp>
        <p:nvSpPr>
          <p:cNvPr id="476" name="Google Shape;476;p51"/>
          <p:cNvSpPr/>
          <p:nvPr/>
        </p:nvSpPr>
        <p:spPr>
          <a:xfrm>
            <a:off x="5375100" y="3789295"/>
            <a:ext cx="3768900" cy="1018800"/>
          </a:xfrm>
          <a:prstGeom prst="wedgeRoundRectCallout">
            <a:avLst>
              <a:gd fmla="val 7973" name="adj1"/>
              <a:gd fmla="val -90079" name="adj2"/>
              <a:gd fmla="val 0" name="adj3"/>
            </a:avLst>
          </a:prstGeom>
          <a:solidFill>
            <a:srgbClr val="9900FF"/>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Analyzes drivers (aging, disputes, payment behavior)</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Flags anomalies and identifies reversals with rationale</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Recommends next actions and builds a worklist</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Adds explainability for each recommendation</a:t>
            </a:r>
            <a:endParaRPr sz="11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52"/>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Behavioral Insights Agent: </a:t>
            </a:r>
            <a:r>
              <a:rPr lang="en" sz="2600"/>
              <a:t>Executive Bad Debt Reserves and Allowances</a:t>
            </a:r>
            <a:endParaRPr sz="2600"/>
          </a:p>
        </p:txBody>
      </p:sp>
      <p:sp>
        <p:nvSpPr>
          <p:cNvPr id="482" name="Google Shape;482;p52"/>
          <p:cNvSpPr txBox="1"/>
          <p:nvPr/>
        </p:nvSpPr>
        <p:spPr>
          <a:xfrm>
            <a:off x="319450" y="962625"/>
            <a:ext cx="4246500" cy="40683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Purpose: </a:t>
            </a:r>
            <a:r>
              <a:rPr lang="en" sz="1100"/>
              <a:t>Improve allowance and reserve decision quality by adding behavior-based risk segmentation and explainable drivers to the reserve review cycle.</a:t>
            </a:r>
            <a:endParaRPr sz="1100"/>
          </a:p>
          <a:p>
            <a:pPr indent="0" lvl="0" marL="0" rtl="0" algn="l">
              <a:lnSpc>
                <a:spcPct val="115000"/>
              </a:lnSpc>
              <a:spcBef>
                <a:spcPts val="1400"/>
              </a:spcBef>
              <a:spcAft>
                <a:spcPts val="0"/>
              </a:spcAft>
              <a:buNone/>
            </a:pPr>
            <a:r>
              <a:rPr b="1" lang="en" sz="1300"/>
              <a:t>What the agent does: </a:t>
            </a:r>
            <a:r>
              <a:rPr lang="en" sz="1100"/>
              <a:t>Predicts payment risk for contract accounts using historical customer behavior and explains the main factors driving that risk.</a:t>
            </a:r>
            <a:endParaRPr sz="1100"/>
          </a:p>
          <a:p>
            <a:pPr indent="0" lvl="0" marL="0" rtl="0" algn="l">
              <a:lnSpc>
                <a:spcPct val="115000"/>
              </a:lnSpc>
              <a:spcBef>
                <a:spcPts val="1400"/>
              </a:spcBef>
              <a:spcAft>
                <a:spcPts val="0"/>
              </a:spcAft>
              <a:buNone/>
            </a:pPr>
            <a:r>
              <a:rPr b="1" lang="en" sz="1300"/>
              <a:t>Outputs (what users get)</a:t>
            </a:r>
            <a:endParaRPr b="1" sz="1300"/>
          </a:p>
          <a:p>
            <a:pPr indent="-298450" lvl="0" marL="457200" rtl="0" algn="l">
              <a:lnSpc>
                <a:spcPct val="115000"/>
              </a:lnSpc>
              <a:spcBef>
                <a:spcPts val="1200"/>
              </a:spcBef>
              <a:spcAft>
                <a:spcPts val="0"/>
              </a:spcAft>
              <a:buSzPts val="1100"/>
              <a:buChar char="●"/>
            </a:pPr>
            <a:r>
              <a:rPr lang="en" sz="1100"/>
              <a:t>Risk score (0-100 style) for contract accounts</a:t>
            </a:r>
            <a:endParaRPr sz="1100"/>
          </a:p>
          <a:p>
            <a:pPr indent="-298450" lvl="0" marL="457200" rtl="0" algn="l">
              <a:lnSpc>
                <a:spcPct val="115000"/>
              </a:lnSpc>
              <a:spcBef>
                <a:spcPts val="0"/>
              </a:spcBef>
              <a:spcAft>
                <a:spcPts val="0"/>
              </a:spcAft>
              <a:buSzPts val="1100"/>
              <a:buChar char="●"/>
            </a:pPr>
            <a:r>
              <a:rPr lang="en" sz="1100"/>
              <a:t>Explainability (top drivers of risk)</a:t>
            </a:r>
            <a:endParaRPr sz="1100"/>
          </a:p>
          <a:p>
            <a:pPr indent="-298450" lvl="0" marL="457200" rtl="0" algn="l">
              <a:lnSpc>
                <a:spcPct val="115000"/>
              </a:lnSpc>
              <a:spcBef>
                <a:spcPts val="0"/>
              </a:spcBef>
              <a:spcAft>
                <a:spcPts val="0"/>
              </a:spcAft>
              <a:buSzPts val="1100"/>
              <a:buChar char="●"/>
            </a:pPr>
            <a:r>
              <a:rPr lang="en" sz="1100"/>
              <a:t>Risk segments (Low, Medium, High) to support reserve stratification</a:t>
            </a:r>
            <a:endParaRPr sz="1100"/>
          </a:p>
          <a:p>
            <a:pPr indent="0" lvl="0" marL="0" rtl="0" algn="l">
              <a:lnSpc>
                <a:spcPct val="115000"/>
              </a:lnSpc>
              <a:spcBef>
                <a:spcPts val="1400"/>
              </a:spcBef>
              <a:spcAft>
                <a:spcPts val="0"/>
              </a:spcAft>
              <a:buNone/>
            </a:pPr>
            <a:r>
              <a:rPr b="1" lang="en" sz="1300"/>
              <a:t>Where it fits in the process (L5 placement)</a:t>
            </a:r>
            <a:endParaRPr b="1" sz="1300"/>
          </a:p>
          <a:p>
            <a:pPr indent="-298450" lvl="0" marL="457200" rtl="0" algn="l">
              <a:lnSpc>
                <a:spcPct val="115000"/>
              </a:lnSpc>
              <a:spcBef>
                <a:spcPts val="1200"/>
              </a:spcBef>
              <a:spcAft>
                <a:spcPts val="0"/>
              </a:spcAft>
              <a:buSzPts val="1100"/>
              <a:buChar char="●"/>
            </a:pPr>
            <a:r>
              <a:rPr lang="en" sz="1100"/>
              <a:t>Execute Bad Debt Reserves and Allowances</a:t>
            </a:r>
            <a:endParaRPr sz="1100"/>
          </a:p>
          <a:p>
            <a:pPr indent="-298450" lvl="0" marL="457200" rtl="0" algn="l">
              <a:lnSpc>
                <a:spcPct val="115000"/>
              </a:lnSpc>
              <a:spcBef>
                <a:spcPts val="0"/>
              </a:spcBef>
              <a:spcAft>
                <a:spcPts val="0"/>
              </a:spcAft>
              <a:buSzPts val="1100"/>
              <a:buChar char="●"/>
            </a:pPr>
            <a:r>
              <a:rPr lang="en" sz="1100"/>
              <a:t>Used during reserve review cycles and when new open items or risk changes require reassessment</a:t>
            </a:r>
            <a:endParaRPr sz="1100"/>
          </a:p>
        </p:txBody>
      </p:sp>
      <p:sp>
        <p:nvSpPr>
          <p:cNvPr id="483" name="Google Shape;483;p52"/>
          <p:cNvSpPr txBox="1"/>
          <p:nvPr/>
        </p:nvSpPr>
        <p:spPr>
          <a:xfrm>
            <a:off x="4700925" y="1325925"/>
            <a:ext cx="4246500" cy="33417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Process change (Before vs After):</a:t>
            </a:r>
            <a:endParaRPr b="1" sz="1300"/>
          </a:p>
          <a:p>
            <a:pPr indent="0" lvl="0" marL="0" rtl="0" algn="l">
              <a:lnSpc>
                <a:spcPct val="115000"/>
              </a:lnSpc>
              <a:spcBef>
                <a:spcPts val="1200"/>
              </a:spcBef>
              <a:spcAft>
                <a:spcPts val="0"/>
              </a:spcAft>
              <a:buNone/>
            </a:pPr>
            <a:r>
              <a:rPr b="1" lang="en" sz="1100"/>
              <a:t>Before</a:t>
            </a:r>
            <a:endParaRPr b="1" sz="1100"/>
          </a:p>
          <a:p>
            <a:pPr indent="-298450" lvl="0" marL="457200" rtl="0" algn="l">
              <a:lnSpc>
                <a:spcPct val="115000"/>
              </a:lnSpc>
              <a:spcBef>
                <a:spcPts val="1200"/>
              </a:spcBef>
              <a:spcAft>
                <a:spcPts val="0"/>
              </a:spcAft>
              <a:buSzPts val="1100"/>
              <a:buChar char="●"/>
            </a:pPr>
            <a:r>
              <a:rPr lang="en" sz="1100"/>
              <a:t>Allowance and reserve segmentation relies mainly on aging buckets, overdue amount, and manual judgment</a:t>
            </a:r>
            <a:endParaRPr sz="1100"/>
          </a:p>
          <a:p>
            <a:pPr indent="-298450" lvl="0" marL="457200" rtl="0" algn="l">
              <a:lnSpc>
                <a:spcPct val="115000"/>
              </a:lnSpc>
              <a:spcBef>
                <a:spcPts val="0"/>
              </a:spcBef>
              <a:spcAft>
                <a:spcPts val="0"/>
              </a:spcAft>
              <a:buSzPts val="1100"/>
              <a:buChar char="●"/>
            </a:pPr>
            <a:r>
              <a:rPr lang="en" sz="1100"/>
              <a:t>High effort to identify true-risk accounts, inconsistent rationale across reviewers</a:t>
            </a:r>
            <a:endParaRPr sz="1100"/>
          </a:p>
          <a:p>
            <a:pPr indent="0" lvl="0" marL="0" rtl="0" algn="l">
              <a:lnSpc>
                <a:spcPct val="115000"/>
              </a:lnSpc>
              <a:spcBef>
                <a:spcPts val="1200"/>
              </a:spcBef>
              <a:spcAft>
                <a:spcPts val="0"/>
              </a:spcAft>
              <a:buNone/>
            </a:pPr>
            <a:r>
              <a:rPr b="1" lang="en" sz="1100"/>
              <a:t>After</a:t>
            </a:r>
            <a:endParaRPr b="1" sz="1100"/>
          </a:p>
          <a:p>
            <a:pPr indent="-298450" lvl="0" marL="457200" rtl="0" algn="l">
              <a:lnSpc>
                <a:spcPct val="115000"/>
              </a:lnSpc>
              <a:spcBef>
                <a:spcPts val="1200"/>
              </a:spcBef>
              <a:spcAft>
                <a:spcPts val="0"/>
              </a:spcAft>
              <a:buSzPts val="1100"/>
              <a:buChar char="●"/>
            </a:pPr>
            <a:r>
              <a:rPr lang="en" sz="1100"/>
              <a:t>Risk scoring becomes a first-class input for reserve segmentation (alongside aging and exposure)</a:t>
            </a:r>
            <a:endParaRPr sz="1100"/>
          </a:p>
          <a:p>
            <a:pPr indent="-298450" lvl="0" marL="457200" rtl="0" algn="l">
              <a:lnSpc>
                <a:spcPct val="115000"/>
              </a:lnSpc>
              <a:spcBef>
                <a:spcPts val="0"/>
              </a:spcBef>
              <a:spcAft>
                <a:spcPts val="0"/>
              </a:spcAft>
              <a:buSzPts val="1100"/>
              <a:buChar char="●"/>
            </a:pPr>
            <a:r>
              <a:rPr lang="en" sz="1100"/>
              <a:t>Explainability supports defensible reserve rationale and faster review</a:t>
            </a:r>
            <a:endParaRPr sz="1100"/>
          </a:p>
          <a:p>
            <a:pPr indent="-298450" lvl="0" marL="457200" rtl="0" algn="l">
              <a:lnSpc>
                <a:spcPct val="115000"/>
              </a:lnSpc>
              <a:spcBef>
                <a:spcPts val="0"/>
              </a:spcBef>
              <a:spcAft>
                <a:spcPts val="0"/>
              </a:spcAft>
              <a:buSzPts val="1100"/>
              <a:buChar char="●"/>
            </a:pPr>
            <a:r>
              <a:rPr lang="en" sz="1100"/>
              <a:t>More consistent segmentation, reduced manual triage, targeted focus on highest-risk accounts</a:t>
            </a:r>
            <a:endParaRPr sz="1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53"/>
          <p:cNvSpPr txBox="1"/>
          <p:nvPr>
            <p:ph type="title"/>
          </p:nvPr>
        </p:nvSpPr>
        <p:spPr>
          <a:xfrm>
            <a:off x="1291314" y="2203402"/>
            <a:ext cx="2742600" cy="558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
        <p:nvSpPr>
          <p:cNvPr id="489" name="Google Shape;489;p53"/>
          <p:cNvSpPr txBox="1"/>
          <p:nvPr>
            <p:ph idx="3" type="subTitle"/>
          </p:nvPr>
        </p:nvSpPr>
        <p:spPr>
          <a:xfrm>
            <a:off x="1291312" y="2786250"/>
            <a:ext cx="2742600" cy="1010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add w</a:t>
            </a:r>
            <a:endParaRPr/>
          </a:p>
        </p:txBody>
      </p:sp>
      <p:sp>
        <p:nvSpPr>
          <p:cNvPr id="490" name="Google Shape;490;p53"/>
          <p:cNvSpPr txBox="1"/>
          <p:nvPr>
            <p:ph idx="4" type="title"/>
          </p:nvPr>
        </p:nvSpPr>
        <p:spPr>
          <a:xfrm>
            <a:off x="478475" y="38200"/>
            <a:ext cx="7704000" cy="1135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900"/>
              <a:t>Behavioral Insights Agent: </a:t>
            </a:r>
            <a:r>
              <a:rPr lang="en" sz="2900"/>
              <a:t>Review</a:t>
            </a:r>
            <a:r>
              <a:rPr lang="en" sz="2900"/>
              <a:t> Dispute Management Performance and KPIs</a:t>
            </a:r>
            <a:endParaRPr sz="2900"/>
          </a:p>
        </p:txBody>
      </p:sp>
      <p:pic>
        <p:nvPicPr>
          <p:cNvPr id="491" name="Google Shape;491;p53"/>
          <p:cNvPicPr preferRelativeResize="0"/>
          <p:nvPr/>
        </p:nvPicPr>
        <p:blipFill>
          <a:blip r:embed="rId3">
            <a:alphaModFix/>
          </a:blip>
          <a:stretch>
            <a:fillRect/>
          </a:stretch>
        </p:blipFill>
        <p:spPr>
          <a:xfrm>
            <a:off x="163600" y="1279825"/>
            <a:ext cx="8816798" cy="2111600"/>
          </a:xfrm>
          <a:prstGeom prst="rect">
            <a:avLst/>
          </a:prstGeom>
          <a:noFill/>
          <a:ln>
            <a:noFill/>
          </a:ln>
        </p:spPr>
      </p:pic>
      <p:sp>
        <p:nvSpPr>
          <p:cNvPr id="492" name="Google Shape;492;p53"/>
          <p:cNvSpPr/>
          <p:nvPr/>
        </p:nvSpPr>
        <p:spPr>
          <a:xfrm>
            <a:off x="478470" y="3595100"/>
            <a:ext cx="3768900" cy="1018800"/>
          </a:xfrm>
          <a:prstGeom prst="wedgeRoundRectCallout">
            <a:avLst>
              <a:gd fmla="val -882" name="adj1"/>
              <a:gd fmla="val -83824" name="adj2"/>
              <a:gd fmla="val 0" name="adj3"/>
            </a:avLst>
          </a:prstGeom>
          <a:solidFill>
            <a:srgbClr val="9900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241300" lvl="0" marL="228600" marR="0" rtl="0" algn="l">
              <a:lnSpc>
                <a:spcPct val="115000"/>
              </a:lnSpc>
              <a:spcBef>
                <a:spcPts val="0"/>
              </a:spcBef>
              <a:spcAft>
                <a:spcPts val="0"/>
              </a:spcAft>
              <a:buClr>
                <a:schemeClr val="dk2"/>
              </a:buClr>
              <a:buSzPts val="1100"/>
              <a:buChar char="●"/>
            </a:pPr>
            <a:r>
              <a:rPr lang="en" sz="1100">
                <a:solidFill>
                  <a:schemeClr val="dk2"/>
                </a:solidFill>
              </a:rPr>
              <a:t>Ingests dispute reporting data</a:t>
            </a:r>
            <a:endParaRPr sz="1100">
              <a:solidFill>
                <a:schemeClr val="dk2"/>
              </a:solidFill>
            </a:endParaRPr>
          </a:p>
          <a:p>
            <a:pPr indent="-241300" lvl="0" marL="228600" marR="0" rtl="0" algn="l">
              <a:lnSpc>
                <a:spcPct val="115000"/>
              </a:lnSpc>
              <a:spcBef>
                <a:spcPts val="0"/>
              </a:spcBef>
              <a:spcAft>
                <a:spcPts val="0"/>
              </a:spcAft>
              <a:buClr>
                <a:schemeClr val="dk2"/>
              </a:buClr>
              <a:buSzPts val="1100"/>
              <a:buChar char="●"/>
            </a:pPr>
            <a:r>
              <a:rPr lang="en" sz="1100">
                <a:solidFill>
                  <a:schemeClr val="dk2"/>
                </a:solidFill>
              </a:rPr>
              <a:t>Explains key risk drivers (age, amount, etc)</a:t>
            </a:r>
            <a:endParaRPr sz="1100">
              <a:solidFill>
                <a:schemeClr val="dk2"/>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Segments open disputes by risk level</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Recommends risk-based prioritization for downstream monitoring and action</a:t>
            </a:r>
            <a:endParaRPr sz="1100">
              <a:solidFill>
                <a:srgbClr val="FFFFFF"/>
              </a:solidFill>
            </a:endParaRPr>
          </a:p>
        </p:txBody>
      </p:sp>
      <p:sp>
        <p:nvSpPr>
          <p:cNvPr id="493" name="Google Shape;493;p53"/>
          <p:cNvSpPr/>
          <p:nvPr/>
        </p:nvSpPr>
        <p:spPr>
          <a:xfrm>
            <a:off x="5286775" y="3730395"/>
            <a:ext cx="3768900" cy="1018800"/>
          </a:xfrm>
          <a:prstGeom prst="wedgeRoundRectCallout">
            <a:avLst>
              <a:gd fmla="val 7973" name="adj1"/>
              <a:gd fmla="val -90079" name="adj2"/>
              <a:gd fmla="val 0" name="adj3"/>
            </a:avLst>
          </a:prstGeom>
          <a:solidFill>
            <a:srgbClr val="9900FF"/>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Evaluates processing delays in the context of risk</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Flags high-risk disputes with extended cycle times</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Quantifies potential cash and write-off impact</a:t>
            </a:r>
            <a:endParaRPr sz="1100">
              <a:solidFill>
                <a:srgbClr val="FFFFFF"/>
              </a:solidFill>
            </a:endParaRPr>
          </a:p>
          <a:p>
            <a:pPr indent="-241300" lvl="0" marL="228600" marR="0" rtl="0" algn="l">
              <a:lnSpc>
                <a:spcPct val="115000"/>
              </a:lnSpc>
              <a:spcBef>
                <a:spcPts val="0"/>
              </a:spcBef>
              <a:spcAft>
                <a:spcPts val="0"/>
              </a:spcAft>
              <a:buClr>
                <a:srgbClr val="FFFFFF"/>
              </a:buClr>
              <a:buSzPts val="1100"/>
              <a:buChar char="●"/>
            </a:pPr>
            <a:r>
              <a:rPr lang="en" sz="1100">
                <a:solidFill>
                  <a:srgbClr val="FFFFFF"/>
                </a:solidFill>
              </a:rPr>
              <a:t>Provides</a:t>
            </a:r>
            <a:r>
              <a:rPr lang="en" sz="1100">
                <a:solidFill>
                  <a:srgbClr val="FFFFFF"/>
                </a:solidFill>
              </a:rPr>
              <a:t> KPI reviews with risk-weighted insights and explanations</a:t>
            </a:r>
            <a:endParaRPr sz="1100">
              <a:solidFill>
                <a:srgbClr val="FFFFFF"/>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54"/>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Behavioral Insights Agent: Review Dispute Management Performance and KPIs</a:t>
            </a:r>
            <a:endParaRPr sz="2600"/>
          </a:p>
        </p:txBody>
      </p:sp>
      <p:sp>
        <p:nvSpPr>
          <p:cNvPr id="499" name="Google Shape;499;p54"/>
          <p:cNvSpPr txBox="1"/>
          <p:nvPr/>
        </p:nvSpPr>
        <p:spPr>
          <a:xfrm>
            <a:off x="223500" y="1299350"/>
            <a:ext cx="4441200" cy="27882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sz="1300"/>
              <a:t>Purpose</a:t>
            </a:r>
            <a:br>
              <a:rPr b="1" lang="en" sz="1100"/>
            </a:br>
            <a:r>
              <a:rPr lang="en" sz="1100"/>
              <a:t>Bring early risk intelligence into dispute performance monitoring so leaders can reduce dispute backlog, shorten cycle times, and prevent disputes from turning into delinquency or write-offs.</a:t>
            </a:r>
            <a:endParaRPr sz="1100"/>
          </a:p>
          <a:p>
            <a:pPr indent="0" lvl="0" marL="0" rtl="0" algn="l">
              <a:lnSpc>
                <a:spcPct val="115000"/>
              </a:lnSpc>
              <a:spcBef>
                <a:spcPts val="1200"/>
              </a:spcBef>
              <a:spcAft>
                <a:spcPts val="0"/>
              </a:spcAft>
              <a:buNone/>
            </a:pPr>
            <a:r>
              <a:t/>
            </a:r>
            <a:endParaRPr sz="1100"/>
          </a:p>
          <a:p>
            <a:pPr indent="0" lvl="0" marL="0" rtl="0" algn="l">
              <a:lnSpc>
                <a:spcPct val="115000"/>
              </a:lnSpc>
              <a:spcBef>
                <a:spcPts val="1200"/>
              </a:spcBef>
              <a:spcAft>
                <a:spcPts val="0"/>
              </a:spcAft>
              <a:buNone/>
            </a:pPr>
            <a:r>
              <a:rPr b="1" lang="en" sz="1100"/>
              <a:t>Where it fits in the process (L5 placement)</a:t>
            </a:r>
            <a:endParaRPr b="1" sz="1100"/>
          </a:p>
          <a:p>
            <a:pPr indent="-298450" lvl="0" marL="457200" rtl="0" algn="l">
              <a:lnSpc>
                <a:spcPct val="115000"/>
              </a:lnSpc>
              <a:spcBef>
                <a:spcPts val="1200"/>
              </a:spcBef>
              <a:spcAft>
                <a:spcPts val="0"/>
              </a:spcAft>
              <a:buSzPts val="1100"/>
              <a:buChar char="●"/>
            </a:pPr>
            <a:r>
              <a:rPr lang="en" sz="1100"/>
              <a:t>Immediately after “Dispute Management Reporting”</a:t>
            </a:r>
            <a:endParaRPr sz="1100"/>
          </a:p>
          <a:p>
            <a:pPr indent="-298450" lvl="0" marL="457200" rtl="0" algn="l">
              <a:lnSpc>
                <a:spcPct val="115000"/>
              </a:lnSpc>
              <a:spcBef>
                <a:spcPts val="0"/>
              </a:spcBef>
              <a:spcAft>
                <a:spcPts val="0"/>
              </a:spcAft>
              <a:buSzPts val="1100"/>
              <a:buChar char="●"/>
            </a:pPr>
            <a:r>
              <a:rPr lang="en" sz="1100"/>
              <a:t>Between “Monitor Processing Days of Open Disputes” and “Dispute Metrics &amp; Performance KPIs Reviewed”</a:t>
            </a:r>
            <a:endParaRPr sz="1100"/>
          </a:p>
          <a:p>
            <a:pPr indent="0" lvl="0" marL="457200" rtl="0" algn="l">
              <a:lnSpc>
                <a:spcPct val="115000"/>
              </a:lnSpc>
              <a:spcBef>
                <a:spcPts val="1200"/>
              </a:spcBef>
              <a:spcAft>
                <a:spcPts val="1200"/>
              </a:spcAft>
              <a:buNone/>
            </a:pPr>
            <a:r>
              <a:t/>
            </a:r>
            <a:endParaRPr b="1" sz="1300"/>
          </a:p>
        </p:txBody>
      </p:sp>
      <p:sp>
        <p:nvSpPr>
          <p:cNvPr id="500" name="Google Shape;500;p54"/>
          <p:cNvSpPr txBox="1"/>
          <p:nvPr/>
        </p:nvSpPr>
        <p:spPr>
          <a:xfrm>
            <a:off x="4819550" y="962625"/>
            <a:ext cx="4031100" cy="37311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t>Process change (Before vs After):</a:t>
            </a:r>
            <a:endParaRPr b="1" sz="1300"/>
          </a:p>
          <a:p>
            <a:pPr indent="0" lvl="0" marL="0" rtl="0" algn="l">
              <a:lnSpc>
                <a:spcPct val="115000"/>
              </a:lnSpc>
              <a:spcBef>
                <a:spcPts val="1200"/>
              </a:spcBef>
              <a:spcAft>
                <a:spcPts val="0"/>
              </a:spcAft>
              <a:buNone/>
            </a:pPr>
            <a:r>
              <a:rPr b="1" lang="en" sz="1100"/>
              <a:t>Before: </a:t>
            </a:r>
            <a:endParaRPr sz="1100"/>
          </a:p>
          <a:p>
            <a:pPr indent="-298450" lvl="0" marL="457200" rtl="0" algn="l">
              <a:lnSpc>
                <a:spcPct val="115000"/>
              </a:lnSpc>
              <a:spcBef>
                <a:spcPts val="1200"/>
              </a:spcBef>
              <a:spcAft>
                <a:spcPts val="0"/>
              </a:spcAft>
              <a:buSzPts val="1100"/>
              <a:buChar char="●"/>
            </a:pPr>
            <a:r>
              <a:rPr lang="en" sz="1100"/>
              <a:t>KPI reviews look mainly at </a:t>
            </a:r>
            <a:r>
              <a:rPr b="1" lang="en" sz="1100"/>
              <a:t>overall numbers</a:t>
            </a:r>
            <a:r>
              <a:rPr lang="en" sz="1100"/>
              <a:t> like backlog, aging</a:t>
            </a:r>
            <a:endParaRPr sz="1100"/>
          </a:p>
          <a:p>
            <a:pPr indent="-298450" lvl="0" marL="457200" rtl="0" algn="l">
              <a:lnSpc>
                <a:spcPct val="115000"/>
              </a:lnSpc>
              <a:spcBef>
                <a:spcPts val="0"/>
              </a:spcBef>
              <a:spcAft>
                <a:spcPts val="0"/>
              </a:spcAft>
              <a:buSzPts val="1100"/>
              <a:buChar char="●"/>
            </a:pPr>
            <a:r>
              <a:rPr lang="en" sz="1100"/>
              <a:t>Performance is reviewed </a:t>
            </a:r>
            <a:r>
              <a:rPr b="1" lang="en" sz="1100"/>
              <a:t>after issues have already happened</a:t>
            </a:r>
            <a:r>
              <a:rPr lang="en" sz="1100"/>
              <a:t>, with little early warning</a:t>
            </a:r>
            <a:endParaRPr sz="1100"/>
          </a:p>
          <a:p>
            <a:pPr indent="-298450" lvl="0" marL="457200" rtl="0" algn="l">
              <a:lnSpc>
                <a:spcPct val="115000"/>
              </a:lnSpc>
              <a:spcBef>
                <a:spcPts val="0"/>
              </a:spcBef>
              <a:spcAft>
                <a:spcPts val="0"/>
              </a:spcAft>
              <a:buSzPts val="1100"/>
              <a:buChar char="●"/>
            </a:pPr>
            <a:r>
              <a:rPr lang="en" sz="1100"/>
              <a:t>Causes of issues are identified </a:t>
            </a:r>
            <a:r>
              <a:rPr b="1" lang="en" sz="1100"/>
              <a:t>manually</a:t>
            </a:r>
            <a:r>
              <a:rPr lang="en" sz="1100"/>
              <a:t>, based on judgment and past experience</a:t>
            </a:r>
            <a:endParaRPr sz="1100"/>
          </a:p>
          <a:p>
            <a:pPr indent="-298450" lvl="0" marL="457200" rtl="0" algn="l">
              <a:lnSpc>
                <a:spcPct val="115000"/>
              </a:lnSpc>
              <a:spcBef>
                <a:spcPts val="0"/>
              </a:spcBef>
              <a:spcAft>
                <a:spcPts val="0"/>
              </a:spcAft>
              <a:buSzPts val="1100"/>
              <a:buChar char="●"/>
            </a:pPr>
            <a:r>
              <a:rPr lang="en" sz="1100"/>
              <a:t>Root causes inferred manually, often based on </a:t>
            </a:r>
            <a:r>
              <a:rPr b="1" lang="en" sz="1100"/>
              <a:t>experience or intuition</a:t>
            </a:r>
            <a:endParaRPr sz="1100"/>
          </a:p>
          <a:p>
            <a:pPr indent="0" lvl="0" marL="0" rtl="0" algn="l">
              <a:lnSpc>
                <a:spcPct val="115000"/>
              </a:lnSpc>
              <a:spcBef>
                <a:spcPts val="1200"/>
              </a:spcBef>
              <a:spcAft>
                <a:spcPts val="0"/>
              </a:spcAft>
              <a:buNone/>
            </a:pPr>
            <a:r>
              <a:rPr b="1" lang="en" sz="1100"/>
              <a:t>After: </a:t>
            </a:r>
            <a:endParaRPr sz="1100"/>
          </a:p>
          <a:p>
            <a:pPr indent="-298450" lvl="0" marL="457200" rtl="0" algn="l">
              <a:lnSpc>
                <a:spcPct val="115000"/>
              </a:lnSpc>
              <a:spcBef>
                <a:spcPts val="1200"/>
              </a:spcBef>
              <a:spcAft>
                <a:spcPts val="0"/>
              </a:spcAft>
              <a:buSzPts val="1100"/>
              <a:buChar char="●"/>
            </a:pPr>
            <a:r>
              <a:rPr lang="en" sz="1100"/>
              <a:t>Faster escalation of high-risk disputes</a:t>
            </a:r>
            <a:endParaRPr sz="1100"/>
          </a:p>
          <a:p>
            <a:pPr indent="-298450" lvl="0" marL="457200" rtl="0" algn="l">
              <a:lnSpc>
                <a:spcPct val="115000"/>
              </a:lnSpc>
              <a:spcBef>
                <a:spcPts val="0"/>
              </a:spcBef>
              <a:spcAft>
                <a:spcPts val="0"/>
              </a:spcAft>
              <a:buSzPts val="1100"/>
              <a:buChar char="●"/>
            </a:pPr>
            <a:r>
              <a:rPr lang="en" sz="1100"/>
              <a:t>Clearer rationale for prioritization using explainability</a:t>
            </a:r>
            <a:endParaRPr sz="1100"/>
          </a:p>
          <a:p>
            <a:pPr indent="-298450" lvl="0" marL="457200" rtl="0" algn="l">
              <a:lnSpc>
                <a:spcPct val="115000"/>
              </a:lnSpc>
              <a:spcBef>
                <a:spcPts val="0"/>
              </a:spcBef>
              <a:spcAft>
                <a:spcPts val="0"/>
              </a:spcAft>
              <a:buSzPts val="1100"/>
              <a:buChar char="●"/>
            </a:pPr>
            <a:r>
              <a:rPr lang="en" sz="1100"/>
              <a:t>Better linkage between dispute handling and downstream cash outcomes</a:t>
            </a:r>
            <a:endParaRPr sz="1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p55"/>
          <p:cNvSpPr txBox="1"/>
          <p:nvPr>
            <p:ph idx="4" type="title"/>
          </p:nvPr>
        </p:nvSpPr>
        <p:spPr>
          <a:xfrm>
            <a:off x="720000" y="279200"/>
            <a:ext cx="77040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3000"/>
              <a:t>The Balanced View: Value vs. Challenges</a:t>
            </a:r>
            <a:endParaRPr/>
          </a:p>
        </p:txBody>
      </p:sp>
      <p:pic>
        <p:nvPicPr>
          <p:cNvPr descr="image.png" id="506" name="Google Shape;506;p55"/>
          <p:cNvPicPr preferRelativeResize="0"/>
          <p:nvPr/>
        </p:nvPicPr>
        <p:blipFill rotWithShape="1">
          <a:blip r:embed="rId3">
            <a:alphaModFix/>
          </a:blip>
          <a:srcRect b="4104" l="0" r="0" t="0"/>
          <a:stretch/>
        </p:blipFill>
        <p:spPr>
          <a:xfrm>
            <a:off x="258950" y="1154450"/>
            <a:ext cx="4248975" cy="3871351"/>
          </a:xfrm>
          <a:prstGeom prst="rect">
            <a:avLst/>
          </a:prstGeom>
          <a:noFill/>
          <a:ln>
            <a:noFill/>
          </a:ln>
        </p:spPr>
      </p:pic>
      <p:sp>
        <p:nvSpPr>
          <p:cNvPr id="507" name="Google Shape;507;p55"/>
          <p:cNvSpPr txBox="1"/>
          <p:nvPr/>
        </p:nvSpPr>
        <p:spPr>
          <a:xfrm>
            <a:off x="532101" y="1535825"/>
            <a:ext cx="26340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00" u="none" cap="none" strike="noStrike">
                <a:solidFill>
                  <a:srgbClr val="047857"/>
                </a:solidFill>
                <a:latin typeface="Inter SemiBold"/>
                <a:ea typeface="Inter SemiBold"/>
                <a:cs typeface="Inter SemiBold"/>
                <a:sym typeface="Inter SemiBold"/>
              </a:rPr>
              <a:t>The Upside (Value)</a:t>
            </a:r>
            <a:endParaRPr sz="1800"/>
          </a:p>
        </p:txBody>
      </p:sp>
      <p:pic>
        <p:nvPicPr>
          <p:cNvPr descr="image.png" id="508" name="Google Shape;508;p55"/>
          <p:cNvPicPr preferRelativeResize="0"/>
          <p:nvPr/>
        </p:nvPicPr>
        <p:blipFill rotWithShape="1">
          <a:blip r:embed="rId4">
            <a:alphaModFix/>
          </a:blip>
          <a:srcRect b="0" l="0" r="0" t="0"/>
          <a:stretch/>
        </p:blipFill>
        <p:spPr>
          <a:xfrm>
            <a:off x="532098" y="2214893"/>
            <a:ext cx="364198" cy="446502"/>
          </a:xfrm>
          <a:prstGeom prst="rect">
            <a:avLst/>
          </a:prstGeom>
          <a:noFill/>
          <a:ln>
            <a:noFill/>
          </a:ln>
        </p:spPr>
      </p:pic>
      <p:pic>
        <p:nvPicPr>
          <p:cNvPr descr="image.png" id="509" name="Google Shape;509;p55"/>
          <p:cNvPicPr preferRelativeResize="0"/>
          <p:nvPr/>
        </p:nvPicPr>
        <p:blipFill rotWithShape="1">
          <a:blip r:embed="rId4">
            <a:alphaModFix/>
          </a:blip>
          <a:srcRect b="0" l="0" r="0" t="0"/>
          <a:stretch/>
        </p:blipFill>
        <p:spPr>
          <a:xfrm>
            <a:off x="532098" y="3203813"/>
            <a:ext cx="364198" cy="446502"/>
          </a:xfrm>
          <a:prstGeom prst="rect">
            <a:avLst/>
          </a:prstGeom>
          <a:noFill/>
          <a:ln>
            <a:noFill/>
          </a:ln>
        </p:spPr>
      </p:pic>
      <p:pic>
        <p:nvPicPr>
          <p:cNvPr descr="image.png" id="510" name="Google Shape;510;p55"/>
          <p:cNvPicPr preferRelativeResize="0"/>
          <p:nvPr/>
        </p:nvPicPr>
        <p:blipFill rotWithShape="1">
          <a:blip r:embed="rId4">
            <a:alphaModFix/>
          </a:blip>
          <a:srcRect b="0" l="0" r="0" t="0"/>
          <a:stretch/>
        </p:blipFill>
        <p:spPr>
          <a:xfrm>
            <a:off x="532098" y="4131133"/>
            <a:ext cx="364198" cy="446502"/>
          </a:xfrm>
          <a:prstGeom prst="rect">
            <a:avLst/>
          </a:prstGeom>
          <a:noFill/>
          <a:ln>
            <a:noFill/>
          </a:ln>
        </p:spPr>
      </p:pic>
      <p:pic>
        <p:nvPicPr>
          <p:cNvPr descr="image.png" id="511" name="Google Shape;511;p55"/>
          <p:cNvPicPr preferRelativeResize="0"/>
          <p:nvPr/>
        </p:nvPicPr>
        <p:blipFill rotWithShape="1">
          <a:blip r:embed="rId5">
            <a:alphaModFix/>
          </a:blip>
          <a:srcRect b="0" l="0" r="0" t="0"/>
          <a:stretch/>
        </p:blipFill>
        <p:spPr>
          <a:xfrm>
            <a:off x="645910" y="2345123"/>
            <a:ext cx="136574" cy="186043"/>
          </a:xfrm>
          <a:prstGeom prst="rect">
            <a:avLst/>
          </a:prstGeom>
          <a:noFill/>
          <a:ln>
            <a:noFill/>
          </a:ln>
        </p:spPr>
      </p:pic>
      <p:sp>
        <p:nvSpPr>
          <p:cNvPr id="512" name="Google Shape;512;p55"/>
          <p:cNvSpPr txBox="1"/>
          <p:nvPr/>
        </p:nvSpPr>
        <p:spPr>
          <a:xfrm>
            <a:off x="1048045" y="2214893"/>
            <a:ext cx="3346200" cy="21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366">
                <a:solidFill>
                  <a:srgbClr val="1E293B"/>
                </a:solidFill>
                <a:latin typeface="Inter"/>
                <a:ea typeface="Inter"/>
                <a:cs typeface="Inter"/>
                <a:sym typeface="Inter"/>
              </a:rPr>
              <a:t>Predictive Risk Identification</a:t>
            </a:r>
            <a:endParaRPr sz="1275"/>
          </a:p>
        </p:txBody>
      </p:sp>
      <p:sp>
        <p:nvSpPr>
          <p:cNvPr id="513" name="Google Shape;513;p55"/>
          <p:cNvSpPr txBox="1"/>
          <p:nvPr/>
        </p:nvSpPr>
        <p:spPr>
          <a:xfrm>
            <a:off x="1048045" y="2493957"/>
            <a:ext cx="31866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Predicts payment risk early, allowing intervention before balances become uncollectible.</a:t>
            </a:r>
            <a:endParaRPr sz="1000"/>
          </a:p>
        </p:txBody>
      </p:sp>
      <p:pic>
        <p:nvPicPr>
          <p:cNvPr descr="image.png" id="514" name="Google Shape;514;p55"/>
          <p:cNvPicPr preferRelativeResize="0"/>
          <p:nvPr/>
        </p:nvPicPr>
        <p:blipFill rotWithShape="1">
          <a:blip r:embed="rId6">
            <a:alphaModFix/>
          </a:blip>
          <a:srcRect b="0" l="0" r="0" t="0"/>
          <a:stretch/>
        </p:blipFill>
        <p:spPr>
          <a:xfrm>
            <a:off x="638323" y="3334043"/>
            <a:ext cx="151749" cy="186043"/>
          </a:xfrm>
          <a:prstGeom prst="rect">
            <a:avLst/>
          </a:prstGeom>
          <a:noFill/>
          <a:ln>
            <a:noFill/>
          </a:ln>
        </p:spPr>
      </p:pic>
      <p:sp>
        <p:nvSpPr>
          <p:cNvPr id="515" name="Google Shape;515;p55"/>
          <p:cNvSpPr txBox="1"/>
          <p:nvPr/>
        </p:nvSpPr>
        <p:spPr>
          <a:xfrm>
            <a:off x="1048045" y="3203813"/>
            <a:ext cx="3346200" cy="21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366">
                <a:solidFill>
                  <a:srgbClr val="1E293B"/>
                </a:solidFill>
                <a:latin typeface="Inter"/>
                <a:ea typeface="Inter"/>
                <a:cs typeface="Inter"/>
                <a:sym typeface="Inter"/>
              </a:rPr>
              <a:t>Focused Collection Effort</a:t>
            </a:r>
            <a:endParaRPr sz="1275"/>
          </a:p>
        </p:txBody>
      </p:sp>
      <p:sp>
        <p:nvSpPr>
          <p:cNvPr id="516" name="Google Shape;516;p55"/>
          <p:cNvSpPr txBox="1"/>
          <p:nvPr/>
        </p:nvSpPr>
        <p:spPr>
          <a:xfrm>
            <a:off x="1048045" y="3482877"/>
            <a:ext cx="31866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Directs analysts and collections time to the highest risk, </a:t>
            </a:r>
            <a:r>
              <a:rPr lang="en" sz="1000">
                <a:solidFill>
                  <a:srgbClr val="475569"/>
                </a:solidFill>
                <a:latin typeface="Inter"/>
                <a:ea typeface="Inter"/>
                <a:cs typeface="Inter"/>
                <a:sym typeface="Inter"/>
              </a:rPr>
              <a:t>highest</a:t>
            </a:r>
            <a:r>
              <a:rPr lang="en" sz="1000">
                <a:solidFill>
                  <a:srgbClr val="475569"/>
                </a:solidFill>
                <a:latin typeface="Inter"/>
                <a:ea typeface="Inter"/>
                <a:cs typeface="Inter"/>
                <a:sym typeface="Inter"/>
              </a:rPr>
              <a:t> impact accounts.</a:t>
            </a:r>
            <a:endParaRPr sz="1000"/>
          </a:p>
        </p:txBody>
      </p:sp>
      <p:pic>
        <p:nvPicPr>
          <p:cNvPr descr="image.png" id="517" name="Google Shape;517;p55"/>
          <p:cNvPicPr preferRelativeResize="0"/>
          <p:nvPr/>
        </p:nvPicPr>
        <p:blipFill rotWithShape="1">
          <a:blip r:embed="rId7">
            <a:alphaModFix/>
          </a:blip>
          <a:srcRect b="0" l="0" r="0" t="0"/>
          <a:stretch/>
        </p:blipFill>
        <p:spPr>
          <a:xfrm>
            <a:off x="638323" y="4261363"/>
            <a:ext cx="151749" cy="186043"/>
          </a:xfrm>
          <a:prstGeom prst="rect">
            <a:avLst/>
          </a:prstGeom>
          <a:noFill/>
          <a:ln>
            <a:noFill/>
          </a:ln>
        </p:spPr>
      </p:pic>
      <p:sp>
        <p:nvSpPr>
          <p:cNvPr id="518" name="Google Shape;518;p55"/>
          <p:cNvSpPr txBox="1"/>
          <p:nvPr/>
        </p:nvSpPr>
        <p:spPr>
          <a:xfrm>
            <a:off x="1048045" y="4131133"/>
            <a:ext cx="3346200" cy="210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366">
                <a:solidFill>
                  <a:srgbClr val="1E293B"/>
                </a:solidFill>
                <a:latin typeface="Inter"/>
                <a:ea typeface="Inter"/>
                <a:cs typeface="Inter"/>
                <a:sym typeface="Inter"/>
              </a:rPr>
              <a:t>Improved Financial Planning</a:t>
            </a:r>
            <a:endParaRPr sz="1275"/>
          </a:p>
        </p:txBody>
      </p:sp>
      <p:sp>
        <p:nvSpPr>
          <p:cNvPr id="519" name="Google Shape;519;p55"/>
          <p:cNvSpPr txBox="1"/>
          <p:nvPr/>
        </p:nvSpPr>
        <p:spPr>
          <a:xfrm>
            <a:off x="1048045" y="4410197"/>
            <a:ext cx="31866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Supports more accurate reserve estimates and stable cash-flow forecasting.</a:t>
            </a:r>
            <a:endParaRPr sz="1000"/>
          </a:p>
        </p:txBody>
      </p:sp>
      <p:pic>
        <p:nvPicPr>
          <p:cNvPr descr="image.png" id="520" name="Google Shape;520;p55"/>
          <p:cNvPicPr preferRelativeResize="0"/>
          <p:nvPr/>
        </p:nvPicPr>
        <p:blipFill rotWithShape="1">
          <a:blip r:embed="rId8">
            <a:alphaModFix/>
          </a:blip>
          <a:srcRect b="4104" l="0" r="0" t="0"/>
          <a:stretch/>
        </p:blipFill>
        <p:spPr>
          <a:xfrm>
            <a:off x="4603400" y="1154450"/>
            <a:ext cx="4318275" cy="3871351"/>
          </a:xfrm>
          <a:prstGeom prst="rect">
            <a:avLst/>
          </a:prstGeom>
          <a:noFill/>
          <a:ln>
            <a:noFill/>
          </a:ln>
        </p:spPr>
      </p:pic>
      <p:sp>
        <p:nvSpPr>
          <p:cNvPr id="521" name="Google Shape;521;p55"/>
          <p:cNvSpPr txBox="1"/>
          <p:nvPr/>
        </p:nvSpPr>
        <p:spPr>
          <a:xfrm>
            <a:off x="4880998" y="1535825"/>
            <a:ext cx="3464100" cy="283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 sz="1843" u="none" cap="none" strike="noStrike">
                <a:solidFill>
                  <a:srgbClr val="B45309"/>
                </a:solidFill>
                <a:latin typeface="Inter SemiBold"/>
                <a:ea typeface="Inter SemiBold"/>
                <a:cs typeface="Inter SemiBold"/>
                <a:sym typeface="Inter SemiBold"/>
              </a:rPr>
              <a:t>The Watch-Outs (Risks)</a:t>
            </a:r>
            <a:endParaRPr sz="1323"/>
          </a:p>
        </p:txBody>
      </p:sp>
      <p:pic>
        <p:nvPicPr>
          <p:cNvPr descr="image.png" id="522" name="Google Shape;522;p55"/>
          <p:cNvPicPr preferRelativeResize="0"/>
          <p:nvPr/>
        </p:nvPicPr>
        <p:blipFill rotWithShape="1">
          <a:blip r:embed="rId9">
            <a:alphaModFix/>
          </a:blip>
          <a:srcRect b="0" l="0" r="0" t="0"/>
          <a:stretch/>
        </p:blipFill>
        <p:spPr>
          <a:xfrm>
            <a:off x="4881005" y="2190168"/>
            <a:ext cx="370138" cy="446502"/>
          </a:xfrm>
          <a:prstGeom prst="rect">
            <a:avLst/>
          </a:prstGeom>
          <a:noFill/>
          <a:ln>
            <a:noFill/>
          </a:ln>
        </p:spPr>
      </p:pic>
      <p:pic>
        <p:nvPicPr>
          <p:cNvPr descr="image.png" id="523" name="Google Shape;523;p55"/>
          <p:cNvPicPr preferRelativeResize="0"/>
          <p:nvPr/>
        </p:nvPicPr>
        <p:blipFill rotWithShape="1">
          <a:blip r:embed="rId9">
            <a:alphaModFix/>
          </a:blip>
          <a:srcRect b="0" l="0" r="0" t="0"/>
          <a:stretch/>
        </p:blipFill>
        <p:spPr>
          <a:xfrm>
            <a:off x="4881005" y="3007237"/>
            <a:ext cx="370138" cy="446502"/>
          </a:xfrm>
          <a:prstGeom prst="rect">
            <a:avLst/>
          </a:prstGeom>
          <a:noFill/>
          <a:ln>
            <a:noFill/>
          </a:ln>
        </p:spPr>
      </p:pic>
      <p:pic>
        <p:nvPicPr>
          <p:cNvPr descr="image.png" id="524" name="Google Shape;524;p55"/>
          <p:cNvPicPr preferRelativeResize="0"/>
          <p:nvPr/>
        </p:nvPicPr>
        <p:blipFill rotWithShape="1">
          <a:blip r:embed="rId9">
            <a:alphaModFix/>
          </a:blip>
          <a:srcRect b="0" l="0" r="0" t="0"/>
          <a:stretch/>
        </p:blipFill>
        <p:spPr>
          <a:xfrm>
            <a:off x="4881005" y="3872957"/>
            <a:ext cx="370138" cy="446502"/>
          </a:xfrm>
          <a:prstGeom prst="rect">
            <a:avLst/>
          </a:prstGeom>
          <a:noFill/>
          <a:ln>
            <a:noFill/>
          </a:ln>
        </p:spPr>
      </p:pic>
      <p:pic>
        <p:nvPicPr>
          <p:cNvPr descr="image.png" id="525" name="Google Shape;525;p55"/>
          <p:cNvPicPr preferRelativeResize="0"/>
          <p:nvPr/>
        </p:nvPicPr>
        <p:blipFill rotWithShape="1">
          <a:blip r:embed="rId10">
            <a:alphaModFix/>
          </a:blip>
          <a:srcRect b="0" l="0" r="0" t="0"/>
          <a:stretch/>
        </p:blipFill>
        <p:spPr>
          <a:xfrm>
            <a:off x="4969684" y="2320398"/>
            <a:ext cx="192781" cy="186043"/>
          </a:xfrm>
          <a:prstGeom prst="rect">
            <a:avLst/>
          </a:prstGeom>
          <a:noFill/>
          <a:ln>
            <a:noFill/>
          </a:ln>
        </p:spPr>
      </p:pic>
      <p:sp>
        <p:nvSpPr>
          <p:cNvPr id="526" name="Google Shape;526;p55"/>
          <p:cNvSpPr txBox="1"/>
          <p:nvPr/>
        </p:nvSpPr>
        <p:spPr>
          <a:xfrm>
            <a:off x="5405370" y="2214893"/>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Not Fully Automated</a:t>
            </a:r>
            <a:endParaRPr sz="1323"/>
          </a:p>
        </p:txBody>
      </p:sp>
      <p:sp>
        <p:nvSpPr>
          <p:cNvPr id="527" name="Google Shape;527;p55"/>
          <p:cNvSpPr txBox="1"/>
          <p:nvPr/>
        </p:nvSpPr>
        <p:spPr>
          <a:xfrm>
            <a:off x="5405370" y="2493957"/>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Requires human judgement and action. AI supports decisions but does not execute them.</a:t>
            </a:r>
            <a:endParaRPr sz="1000"/>
          </a:p>
        </p:txBody>
      </p:sp>
      <p:pic>
        <p:nvPicPr>
          <p:cNvPr descr="image.png" id="528" name="Google Shape;528;p55"/>
          <p:cNvPicPr preferRelativeResize="0"/>
          <p:nvPr/>
        </p:nvPicPr>
        <p:blipFill rotWithShape="1">
          <a:blip r:embed="rId11">
            <a:alphaModFix/>
          </a:blip>
          <a:srcRect b="0" l="0" r="0" t="0"/>
          <a:stretch/>
        </p:blipFill>
        <p:spPr>
          <a:xfrm>
            <a:off x="4977395" y="3137467"/>
            <a:ext cx="177359" cy="186043"/>
          </a:xfrm>
          <a:prstGeom prst="rect">
            <a:avLst/>
          </a:prstGeom>
          <a:noFill/>
          <a:ln>
            <a:noFill/>
          </a:ln>
        </p:spPr>
      </p:pic>
      <p:sp>
        <p:nvSpPr>
          <p:cNvPr id="529" name="Google Shape;529;p55"/>
          <p:cNvSpPr txBox="1"/>
          <p:nvPr/>
        </p:nvSpPr>
        <p:spPr>
          <a:xfrm>
            <a:off x="5405370" y="3006887"/>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Data Quality Dependency</a:t>
            </a:r>
            <a:endParaRPr sz="1323"/>
          </a:p>
        </p:txBody>
      </p:sp>
      <p:sp>
        <p:nvSpPr>
          <p:cNvPr id="530" name="Google Shape;530;p55"/>
          <p:cNvSpPr txBox="1"/>
          <p:nvPr/>
        </p:nvSpPr>
        <p:spPr>
          <a:xfrm>
            <a:off x="5405370" y="3285951"/>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Effectiveness depends on clean and complete historical payment data.</a:t>
            </a:r>
            <a:endParaRPr sz="1000"/>
          </a:p>
        </p:txBody>
      </p:sp>
      <p:pic>
        <p:nvPicPr>
          <p:cNvPr descr="image.png" id="531" name="Google Shape;531;p55"/>
          <p:cNvPicPr preferRelativeResize="0"/>
          <p:nvPr/>
        </p:nvPicPr>
        <p:blipFill rotWithShape="1">
          <a:blip r:embed="rId12">
            <a:alphaModFix/>
          </a:blip>
          <a:srcRect b="0" l="0" r="0" t="0"/>
          <a:stretch/>
        </p:blipFill>
        <p:spPr>
          <a:xfrm>
            <a:off x="5008240" y="4003187"/>
            <a:ext cx="115669" cy="186043"/>
          </a:xfrm>
          <a:prstGeom prst="rect">
            <a:avLst/>
          </a:prstGeom>
          <a:noFill/>
          <a:ln>
            <a:noFill/>
          </a:ln>
        </p:spPr>
      </p:pic>
      <p:sp>
        <p:nvSpPr>
          <p:cNvPr id="532" name="Google Shape;532;p55"/>
          <p:cNvSpPr txBox="1"/>
          <p:nvPr/>
        </p:nvSpPr>
        <p:spPr>
          <a:xfrm>
            <a:off x="5405370" y="3872957"/>
            <a:ext cx="3400500" cy="218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 sz="1418">
                <a:solidFill>
                  <a:srgbClr val="1E293B"/>
                </a:solidFill>
                <a:latin typeface="Inter"/>
                <a:ea typeface="Inter"/>
                <a:cs typeface="Inter"/>
                <a:sym typeface="Inter"/>
              </a:rPr>
              <a:t>Adoption and Trust Risk</a:t>
            </a:r>
            <a:endParaRPr sz="1323"/>
          </a:p>
        </p:txBody>
      </p:sp>
      <p:sp>
        <p:nvSpPr>
          <p:cNvPr id="533" name="Google Shape;533;p55"/>
          <p:cNvSpPr txBox="1"/>
          <p:nvPr/>
        </p:nvSpPr>
        <p:spPr>
          <a:xfrm>
            <a:off x="5405370" y="4152021"/>
            <a:ext cx="3238500" cy="384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None/>
            </a:pPr>
            <a:r>
              <a:rPr lang="en" sz="1000">
                <a:solidFill>
                  <a:srgbClr val="475569"/>
                </a:solidFill>
                <a:latin typeface="Inter"/>
                <a:ea typeface="Inter"/>
                <a:cs typeface="Inter"/>
                <a:sym typeface="Inter"/>
              </a:rPr>
              <a:t>Benefits rely on user adoption and confidence in AI outputs.</a:t>
            </a:r>
            <a:endParaRPr sz="10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7" name="Shape 537"/>
        <p:cNvGrpSpPr/>
        <p:nvPr/>
      </p:nvGrpSpPr>
      <p:grpSpPr>
        <a:xfrm>
          <a:off x="0" y="0"/>
          <a:ext cx="0" cy="0"/>
          <a:chOff x="0" y="0"/>
          <a:chExt cx="0" cy="0"/>
        </a:xfrm>
      </p:grpSpPr>
      <p:sp>
        <p:nvSpPr>
          <p:cNvPr id="538" name="Google Shape;538;p56"/>
          <p:cNvSpPr txBox="1"/>
          <p:nvPr>
            <p:ph type="title"/>
          </p:nvPr>
        </p:nvSpPr>
        <p:spPr>
          <a:xfrm>
            <a:off x="1320325" y="1307100"/>
            <a:ext cx="7110600" cy="25293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t>Q&amp;A</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2" name="Shape 542"/>
        <p:cNvGrpSpPr/>
        <p:nvPr/>
      </p:nvGrpSpPr>
      <p:grpSpPr>
        <a:xfrm>
          <a:off x="0" y="0"/>
          <a:ext cx="0" cy="0"/>
          <a:chOff x="0" y="0"/>
          <a:chExt cx="0" cy="0"/>
        </a:xfrm>
      </p:grpSpPr>
      <p:sp>
        <p:nvSpPr>
          <p:cNvPr id="543" name="Google Shape;543;p57"/>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Incorrect Credits </a:t>
            </a:r>
            <a:r>
              <a:rPr lang="en" sz="2600"/>
              <a:t>Agent</a:t>
            </a:r>
            <a:endParaRPr sz="2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47" name="Shape 547"/>
        <p:cNvGrpSpPr/>
        <p:nvPr/>
      </p:nvGrpSpPr>
      <p:grpSpPr>
        <a:xfrm>
          <a:off x="0" y="0"/>
          <a:ext cx="0" cy="0"/>
          <a:chOff x="0" y="0"/>
          <a:chExt cx="0" cy="0"/>
        </a:xfrm>
      </p:grpSpPr>
      <p:sp>
        <p:nvSpPr>
          <p:cNvPr id="548" name="Google Shape;548;p58"/>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Executive Bad Debt Reserves and Allowances</a:t>
            </a:r>
            <a:endParaRPr sz="2600"/>
          </a:p>
        </p:txBody>
      </p:sp>
      <p:sp>
        <p:nvSpPr>
          <p:cNvPr id="549" name="Google Shape;549;p58"/>
          <p:cNvSpPr txBox="1"/>
          <p:nvPr/>
        </p:nvSpPr>
        <p:spPr>
          <a:xfrm>
            <a:off x="1144800" y="1488925"/>
            <a:ext cx="5876100" cy="3387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0"/>
              </a:spcBef>
              <a:spcAft>
                <a:spcPts val="1200"/>
              </a:spcAft>
              <a:buNone/>
            </a:pPr>
            <a:r>
              <a:t/>
            </a:r>
            <a:endParaRPr sz="1000">
              <a:latin typeface="Nunito"/>
              <a:ea typeface="Nunito"/>
              <a:cs typeface="Nunito"/>
              <a:sym typeface="Nunito"/>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3" name="Shape 553"/>
        <p:cNvGrpSpPr/>
        <p:nvPr/>
      </p:nvGrpSpPr>
      <p:grpSpPr>
        <a:xfrm>
          <a:off x="0" y="0"/>
          <a:ext cx="0" cy="0"/>
          <a:chOff x="0" y="0"/>
          <a:chExt cx="0" cy="0"/>
        </a:xfrm>
      </p:grpSpPr>
      <p:sp>
        <p:nvSpPr>
          <p:cNvPr id="554" name="Google Shape;554;p59"/>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Review Dispute Management Performance and KPIs</a:t>
            </a:r>
            <a:endParaRPr sz="26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58" name="Shape 558"/>
        <p:cNvGrpSpPr/>
        <p:nvPr/>
      </p:nvGrpSpPr>
      <p:grpSpPr>
        <a:xfrm>
          <a:off x="0" y="0"/>
          <a:ext cx="0" cy="0"/>
          <a:chOff x="0" y="0"/>
          <a:chExt cx="0" cy="0"/>
        </a:xfrm>
      </p:grpSpPr>
      <p:sp>
        <p:nvSpPr>
          <p:cNvPr id="559" name="Google Shape;559;p60"/>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Revenue Assurance</a:t>
            </a:r>
            <a:endParaRPr sz="26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63" name="Shape 563"/>
        <p:cNvGrpSpPr/>
        <p:nvPr/>
      </p:nvGrpSpPr>
      <p:grpSpPr>
        <a:xfrm>
          <a:off x="0" y="0"/>
          <a:ext cx="0" cy="0"/>
          <a:chOff x="0" y="0"/>
          <a:chExt cx="0" cy="0"/>
        </a:xfrm>
      </p:grpSpPr>
      <p:sp>
        <p:nvSpPr>
          <p:cNvPr id="564" name="Google Shape;564;p61"/>
          <p:cNvSpPr txBox="1"/>
          <p:nvPr>
            <p:ph idx="4" type="title"/>
          </p:nvPr>
        </p:nvSpPr>
        <p:spPr>
          <a:xfrm>
            <a:off x="720000" y="180225"/>
            <a:ext cx="7230600" cy="57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600"/>
              <a:t>Annexure:</a:t>
            </a:r>
            <a:endParaRPr sz="2600"/>
          </a:p>
        </p:txBody>
      </p:sp>
      <p:pic>
        <p:nvPicPr>
          <p:cNvPr id="565" name="Google Shape;565;p61"/>
          <p:cNvPicPr preferRelativeResize="0"/>
          <p:nvPr/>
        </p:nvPicPr>
        <p:blipFill rotWithShape="1">
          <a:blip r:embed="rId3">
            <a:alphaModFix/>
          </a:blip>
          <a:srcRect b="852" l="1399" r="2084" t="2219"/>
          <a:stretch/>
        </p:blipFill>
        <p:spPr>
          <a:xfrm>
            <a:off x="720000" y="890000"/>
            <a:ext cx="3316600" cy="3681549"/>
          </a:xfrm>
          <a:prstGeom prst="rect">
            <a:avLst/>
          </a:prstGeom>
          <a:noFill/>
          <a:ln>
            <a:noFill/>
          </a:ln>
        </p:spPr>
      </p:pic>
      <p:sp>
        <p:nvSpPr>
          <p:cNvPr id="566" name="Google Shape;566;p61"/>
          <p:cNvSpPr txBox="1"/>
          <p:nvPr/>
        </p:nvSpPr>
        <p:spPr>
          <a:xfrm>
            <a:off x="806300" y="4490125"/>
            <a:ext cx="3980700" cy="26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Nunito"/>
                <a:ea typeface="Nunito"/>
                <a:cs typeface="Nunito"/>
                <a:sym typeface="Nunito"/>
              </a:rPr>
              <a:t>Process Flow of Behavioral Insights Agent</a:t>
            </a:r>
            <a:endParaRPr sz="1300">
              <a:solidFill>
                <a:schemeClr val="dk1"/>
              </a:solidFill>
              <a:latin typeface="Nunito"/>
              <a:ea typeface="Nunito"/>
              <a:cs typeface="Nunito"/>
              <a:sym typeface="Nunito"/>
            </a:endParaRPr>
          </a:p>
        </p:txBody>
      </p:sp>
      <p:sp>
        <p:nvSpPr>
          <p:cNvPr id="567" name="Google Shape;567;p61"/>
          <p:cNvSpPr txBox="1"/>
          <p:nvPr/>
        </p:nvSpPr>
        <p:spPr>
          <a:xfrm>
            <a:off x="4682175" y="1119000"/>
            <a:ext cx="3000000" cy="3509400"/>
          </a:xfrm>
          <a:prstGeom prst="rect">
            <a:avLst/>
          </a:prstGeom>
          <a:noFill/>
          <a:ln>
            <a:noFill/>
          </a:ln>
        </p:spPr>
        <p:txBody>
          <a:bodyPr anchorCtr="0" anchor="t" bIns="91425" lIns="91425" spcFirstLastPara="1" rIns="91425" wrap="square" tIns="91425">
            <a:spAutoFit/>
          </a:bodyPr>
          <a:lstStyle/>
          <a:p>
            <a:pPr indent="-298450" lvl="0" marL="457200" rtl="0" algn="l">
              <a:spcBef>
                <a:spcPts val="1200"/>
              </a:spcBef>
              <a:spcAft>
                <a:spcPts val="0"/>
              </a:spcAft>
              <a:buSzPts val="1100"/>
              <a:buChar char="●"/>
            </a:pPr>
            <a:r>
              <a:rPr lang="en" sz="1100">
                <a:latin typeface="Nunito"/>
                <a:ea typeface="Nunito"/>
                <a:cs typeface="Nunito"/>
                <a:sym typeface="Nunito"/>
              </a:rPr>
              <a:t>Behavioral Insights is triggered by a review cycle or new open items, running a </a:t>
            </a:r>
            <a:r>
              <a:rPr b="1" lang="en" sz="1100">
                <a:latin typeface="Nunito"/>
                <a:ea typeface="Nunito"/>
                <a:cs typeface="Nunito"/>
                <a:sym typeface="Nunito"/>
              </a:rPr>
              <a:t>scoring process</a:t>
            </a:r>
            <a:r>
              <a:rPr lang="en" sz="1100">
                <a:latin typeface="Nunito"/>
                <a:ea typeface="Nunito"/>
                <a:cs typeface="Nunito"/>
                <a:sym typeface="Nunito"/>
              </a:rPr>
              <a:t> to produce a </a:t>
            </a:r>
            <a:r>
              <a:rPr b="1" lang="en" sz="1100">
                <a:latin typeface="Nunito"/>
                <a:ea typeface="Nunito"/>
                <a:cs typeface="Nunito"/>
                <a:sym typeface="Nunito"/>
              </a:rPr>
              <a:t>prioritized risk list</a:t>
            </a:r>
            <a:r>
              <a:rPr lang="en" sz="1100">
                <a:latin typeface="Nunito"/>
                <a:ea typeface="Nunito"/>
                <a:cs typeface="Nunito"/>
                <a:sym typeface="Nunito"/>
              </a:rPr>
              <a:t> with </a:t>
            </a:r>
            <a:r>
              <a:rPr b="1" lang="en" sz="1100">
                <a:latin typeface="Nunito"/>
                <a:ea typeface="Nunito"/>
                <a:cs typeface="Nunito"/>
                <a:sym typeface="Nunito"/>
              </a:rPr>
              <a:t>key drivers</a:t>
            </a:r>
            <a:r>
              <a:rPr lang="en" sz="1100">
                <a:latin typeface="Nunito"/>
                <a:ea typeface="Nunito"/>
                <a:cs typeface="Nunito"/>
                <a:sym typeface="Nunito"/>
              </a:rPr>
              <a:t> </a:t>
            </a:r>
            <a:endParaRPr sz="1100">
              <a:latin typeface="Nunito"/>
              <a:ea typeface="Nunito"/>
              <a:cs typeface="Nunito"/>
              <a:sym typeface="Nunito"/>
            </a:endParaRPr>
          </a:p>
          <a:p>
            <a:pPr indent="0" lvl="0" marL="457200" rtl="0" algn="l">
              <a:spcBef>
                <a:spcPts val="1200"/>
              </a:spcBef>
              <a:spcAft>
                <a:spcPts val="0"/>
              </a:spcAft>
              <a:buNone/>
            </a:pPr>
            <a:r>
              <a:t/>
            </a:r>
            <a:endParaRPr sz="1100">
              <a:latin typeface="Nunito"/>
              <a:ea typeface="Nunito"/>
              <a:cs typeface="Nunito"/>
              <a:sym typeface="Nunito"/>
            </a:endParaRPr>
          </a:p>
          <a:p>
            <a:pPr indent="-298450" lvl="0" marL="457200" rtl="0" algn="l">
              <a:spcBef>
                <a:spcPts val="1200"/>
              </a:spcBef>
              <a:spcAft>
                <a:spcPts val="0"/>
              </a:spcAft>
              <a:buSzPts val="1100"/>
              <a:buChar char="●"/>
            </a:pPr>
            <a:r>
              <a:rPr lang="en" sz="1100">
                <a:latin typeface="Nunito"/>
                <a:ea typeface="Nunito"/>
                <a:cs typeface="Nunito"/>
                <a:sym typeface="Nunito"/>
              </a:rPr>
              <a:t>The collector reviews the list, acts on </a:t>
            </a:r>
            <a:r>
              <a:rPr b="1" lang="en" sz="1100">
                <a:latin typeface="Nunito"/>
                <a:ea typeface="Nunito"/>
                <a:cs typeface="Nunito"/>
                <a:sym typeface="Nunito"/>
              </a:rPr>
              <a:t>high-risk items </a:t>
            </a:r>
            <a:r>
              <a:rPr lang="en" sz="1100">
                <a:latin typeface="Nunito"/>
                <a:ea typeface="Nunito"/>
                <a:cs typeface="Nunito"/>
                <a:sym typeface="Nunito"/>
              </a:rPr>
              <a:t>(choosing and executing a strategy in SAP), and records outcomes. </a:t>
            </a:r>
            <a:r>
              <a:rPr b="1" lang="en" sz="1100">
                <a:latin typeface="Nunito"/>
                <a:ea typeface="Nunito"/>
                <a:cs typeface="Nunito"/>
                <a:sym typeface="Nunito"/>
              </a:rPr>
              <a:t>Resolved</a:t>
            </a:r>
            <a:r>
              <a:rPr lang="en" sz="1100">
                <a:latin typeface="Nunito"/>
                <a:ea typeface="Nunito"/>
                <a:cs typeface="Nunito"/>
                <a:sym typeface="Nunito"/>
              </a:rPr>
              <a:t> or </a:t>
            </a:r>
            <a:r>
              <a:rPr b="1" lang="en" sz="1100">
                <a:latin typeface="Nunito"/>
                <a:ea typeface="Nunito"/>
                <a:cs typeface="Nunito"/>
                <a:sym typeface="Nunito"/>
              </a:rPr>
              <a:t>paid items</a:t>
            </a:r>
            <a:r>
              <a:rPr lang="en" sz="1100">
                <a:latin typeface="Nunito"/>
                <a:ea typeface="Nunito"/>
                <a:cs typeface="Nunito"/>
                <a:sym typeface="Nunito"/>
              </a:rPr>
              <a:t> are cleared and </a:t>
            </a:r>
            <a:r>
              <a:rPr b="1" lang="en" sz="1100">
                <a:latin typeface="Nunito"/>
                <a:ea typeface="Nunito"/>
                <a:cs typeface="Nunito"/>
                <a:sym typeface="Nunito"/>
              </a:rPr>
              <a:t>KPIs are reported</a:t>
            </a:r>
            <a:endParaRPr sz="1100">
              <a:latin typeface="Nunito"/>
              <a:ea typeface="Nunito"/>
              <a:cs typeface="Nunito"/>
              <a:sym typeface="Nunito"/>
            </a:endParaRPr>
          </a:p>
          <a:p>
            <a:pPr indent="0" lvl="0" marL="457200" rtl="0" algn="l">
              <a:spcBef>
                <a:spcPts val="1200"/>
              </a:spcBef>
              <a:spcAft>
                <a:spcPts val="0"/>
              </a:spcAft>
              <a:buNone/>
            </a:pPr>
            <a:r>
              <a:t/>
            </a:r>
            <a:endParaRPr sz="1100">
              <a:latin typeface="Nunito"/>
              <a:ea typeface="Nunito"/>
              <a:cs typeface="Nunito"/>
              <a:sym typeface="Nunito"/>
            </a:endParaRPr>
          </a:p>
          <a:p>
            <a:pPr indent="-298450" lvl="0" marL="457200" rtl="0" algn="l">
              <a:spcBef>
                <a:spcPts val="1200"/>
              </a:spcBef>
              <a:spcAft>
                <a:spcPts val="0"/>
              </a:spcAft>
              <a:buSzPts val="1100"/>
              <a:buChar char="●"/>
            </a:pPr>
            <a:r>
              <a:rPr b="1" lang="en" sz="1100">
                <a:latin typeface="Nunito"/>
                <a:ea typeface="Nunito"/>
                <a:cs typeface="Nunito"/>
                <a:sym typeface="Nunito"/>
              </a:rPr>
              <a:t>Unresolved cases are escalated</a:t>
            </a:r>
            <a:r>
              <a:rPr lang="en" sz="1100">
                <a:latin typeface="Nunito"/>
                <a:ea typeface="Nunito"/>
                <a:cs typeface="Nunito"/>
                <a:sym typeface="Nunito"/>
              </a:rPr>
              <a:t> or the </a:t>
            </a:r>
            <a:r>
              <a:rPr b="1" lang="en" sz="1100">
                <a:latin typeface="Nunito"/>
                <a:ea typeface="Nunito"/>
                <a:cs typeface="Nunito"/>
                <a:sym typeface="Nunito"/>
              </a:rPr>
              <a:t>strategy </a:t>
            </a:r>
            <a:r>
              <a:rPr lang="en" sz="1100">
                <a:latin typeface="Nunito"/>
                <a:ea typeface="Nunito"/>
                <a:cs typeface="Nunito"/>
                <a:sym typeface="Nunito"/>
              </a:rPr>
              <a:t>is</a:t>
            </a:r>
            <a:r>
              <a:rPr b="1" lang="en" sz="1100">
                <a:latin typeface="Nunito"/>
                <a:ea typeface="Nunito"/>
                <a:cs typeface="Nunito"/>
                <a:sym typeface="Nunito"/>
              </a:rPr>
              <a:t> adjusted</a:t>
            </a:r>
            <a:r>
              <a:rPr lang="en" sz="1100">
                <a:latin typeface="Nunito"/>
                <a:ea typeface="Nunito"/>
                <a:cs typeface="Nunito"/>
                <a:sym typeface="Nunito"/>
              </a:rPr>
              <a:t>, and </a:t>
            </a:r>
            <a:r>
              <a:rPr b="1" lang="en" sz="1100">
                <a:latin typeface="Nunito"/>
                <a:ea typeface="Nunito"/>
                <a:cs typeface="Nunito"/>
                <a:sym typeface="Nunito"/>
              </a:rPr>
              <a:t>scoring is rerun </a:t>
            </a:r>
            <a:r>
              <a:rPr lang="en" sz="1100">
                <a:latin typeface="Nunito"/>
                <a:ea typeface="Nunito"/>
                <a:cs typeface="Nunito"/>
                <a:sym typeface="Nunito"/>
              </a:rPr>
              <a:t>in a loop for </a:t>
            </a:r>
            <a:r>
              <a:rPr b="1" lang="en" sz="1100">
                <a:latin typeface="Nunito"/>
                <a:ea typeface="Nunito"/>
                <a:cs typeface="Nunito"/>
                <a:sym typeface="Nunito"/>
              </a:rPr>
              <a:t>subsequent review cycles</a:t>
            </a:r>
            <a:r>
              <a:rPr lang="en" sz="1100">
                <a:latin typeface="Nunito"/>
                <a:ea typeface="Nunito"/>
                <a:cs typeface="Nunito"/>
                <a:sym typeface="Nunito"/>
              </a:rPr>
              <a:t>.</a:t>
            </a:r>
            <a:endParaRPr sz="1100">
              <a:latin typeface="Nunito"/>
              <a:ea typeface="Nunito"/>
              <a:cs typeface="Nunito"/>
              <a:sym typeface="Nunito"/>
            </a:endParaRPr>
          </a:p>
        </p:txBody>
      </p:sp>
      <p:sp>
        <p:nvSpPr>
          <p:cNvPr id="568" name="Google Shape;568;p61"/>
          <p:cNvSpPr txBox="1"/>
          <p:nvPr/>
        </p:nvSpPr>
        <p:spPr>
          <a:xfrm>
            <a:off x="4950600" y="505100"/>
            <a:ext cx="3000000" cy="384900"/>
          </a:xfrm>
          <a:prstGeom prst="rect">
            <a:avLst/>
          </a:prstGeom>
          <a:noFill/>
          <a:ln>
            <a:noFill/>
          </a:ln>
        </p:spPr>
        <p:txBody>
          <a:bodyPr anchorCtr="0" anchor="t" bIns="91425" lIns="91425" spcFirstLastPara="1" rIns="91425" wrap="square" tIns="91425">
            <a:spAutoFit/>
          </a:bodyPr>
          <a:lstStyle/>
          <a:p>
            <a:pPr indent="0" lvl="0" marL="0" rtl="0" algn="l">
              <a:spcBef>
                <a:spcPts val="1200"/>
              </a:spcBef>
              <a:spcAft>
                <a:spcPts val="1200"/>
              </a:spcAft>
              <a:buNone/>
            </a:pPr>
            <a:r>
              <a:rPr b="1" lang="en" sz="1300">
                <a:latin typeface="Nunito"/>
                <a:ea typeface="Nunito"/>
                <a:cs typeface="Nunito"/>
                <a:sym typeface="Nunito"/>
              </a:rPr>
              <a:t>Process Overview:</a:t>
            </a:r>
            <a:endParaRPr b="1" sz="1300">
              <a:latin typeface="Nunito"/>
              <a:ea typeface="Nunito"/>
              <a:cs typeface="Nunito"/>
              <a:sym typeface="Nuni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Elegant Lines Pitch Deck by Slidesgo">
  <a:themeElements>
    <a:clrScheme name="Simple Light">
      <a:dk1>
        <a:srgbClr val="302926"/>
      </a:dk1>
      <a:lt1>
        <a:srgbClr val="E7E7E7"/>
      </a:lt1>
      <a:dk2>
        <a:srgbClr val="FFFFFF"/>
      </a:dk2>
      <a:lt2>
        <a:srgbClr val="FFFFFF"/>
      </a:lt2>
      <a:accent1>
        <a:srgbClr val="FFFFFF"/>
      </a:accent1>
      <a:accent2>
        <a:srgbClr val="FFFFFF"/>
      </a:accent2>
      <a:accent3>
        <a:srgbClr val="FFFFFF"/>
      </a:accent3>
      <a:accent4>
        <a:srgbClr val="FFFFFF"/>
      </a:accent4>
      <a:accent5>
        <a:srgbClr val="FFFFFF"/>
      </a:accent5>
      <a:accent6>
        <a:srgbClr val="FFFFFF"/>
      </a:accent6>
      <a:hlink>
        <a:srgbClr val="302926"/>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