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6858000" cy="9144000"/>
  <p:embeddedFontLst>
    <p:embeddedFont>
      <p:font typeface="Abril Fatface" panose="02000503000000020003" pitchFamily="2" charset="77"/>
      <p:regular r:id="rId48"/>
    </p:embeddedFont>
    <p:embeddedFont>
      <p:font typeface="Inter" panose="02000503000000020004" pitchFamily="2" charset="0"/>
      <p:regular r:id="rId49"/>
      <p:bold r:id="rId50"/>
      <p:italic r:id="rId51"/>
      <p:boldItalic r:id="rId52"/>
    </p:embeddedFont>
    <p:embeddedFont>
      <p:font typeface="Inter SemiBold" panose="02000503000000020004" pitchFamily="2" charset="0"/>
      <p:regular r:id="rId53"/>
      <p:bold r:id="rId54"/>
      <p:italic r:id="rId55"/>
      <p:boldItalic r:id="rId56"/>
    </p:embeddedFont>
    <p:embeddedFont>
      <p:font typeface="Nunito" pitchFamily="2" charset="77"/>
      <p:regular r:id="rId57"/>
      <p:bold r:id="rId58"/>
      <p:italic r:id="rId59"/>
      <p:boldItalic r:id="rId60"/>
    </p:embeddedFont>
    <p:embeddedFont>
      <p:font typeface="Playfair Display" panose="00000500000000000000" pitchFamily="2" charset="77"/>
      <p:regular r:id="rId61"/>
      <p:bold r:id="rId62"/>
      <p:italic r:id="rId63"/>
      <p:boldItalic r:id="rId64"/>
    </p:embeddedFont>
    <p:embeddedFont>
      <p:font typeface="PT Sans" panose="020B0503020203020204" pitchFamily="34" charset="77"/>
      <p:regular r:id="rId65"/>
      <p:bold r:id="rId66"/>
      <p:italic r:id="rId67"/>
      <p:boldItalic r:id="rId68"/>
    </p:embeddedFont>
    <p:embeddedFont>
      <p:font typeface="Roboto Condensed Light" panose="02000000000000000000" pitchFamily="2" charset="0"/>
      <p:regular r:id="rId69"/>
      <p:italic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E45F03-7887-4A33-982F-1909526AA1A9}">
  <a:tblStyle styleId="{F4E45F03-7887-4A33-982F-1909526AA1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0"/>
  </p:normalViewPr>
  <p:slideViewPr>
    <p:cSldViewPr snapToGrid="0">
      <p:cViewPr varScale="1">
        <p:scale>
          <a:sx n="142" d="100"/>
          <a:sy n="142" d="100"/>
        </p:scale>
        <p:origin x="6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63" Type="http://schemas.openxmlformats.org/officeDocument/2006/relationships/font" Target="fonts/font16.fntdata"/><Relationship Id="rId68" Type="http://schemas.openxmlformats.org/officeDocument/2006/relationships/font" Target="fonts/font2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66" Type="http://schemas.openxmlformats.org/officeDocument/2006/relationships/font" Target="fonts/font19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font" Target="fonts/font17.fntdata"/><Relationship Id="rId69" Type="http://schemas.openxmlformats.org/officeDocument/2006/relationships/font" Target="fonts/font22.fntdata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2.fntdata"/><Relationship Id="rId67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62" Type="http://schemas.openxmlformats.org/officeDocument/2006/relationships/font" Target="fonts/font15.fntdata"/><Relationship Id="rId70" Type="http://schemas.openxmlformats.org/officeDocument/2006/relationships/font" Target="fonts/font23.fntdata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font" Target="fonts/font18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na prabhu Sana" userId="9ce700ea-1810-4462-ab36-dec9325c035e" providerId="ADAL" clId="{7F8A51BB-DF7A-5C03-A6B7-03326D5C008F}"/>
    <pc:docChg chg="modSld">
      <pc:chgData name="Ramana prabhu Sana" userId="9ce700ea-1810-4462-ab36-dec9325c035e" providerId="ADAL" clId="{7F8A51BB-DF7A-5C03-A6B7-03326D5C008F}" dt="2026-02-11T21:07:27.059" v="2" actId="20577"/>
      <pc:docMkLst>
        <pc:docMk/>
      </pc:docMkLst>
      <pc:sldChg chg="modSp mod">
        <pc:chgData name="Ramana prabhu Sana" userId="9ce700ea-1810-4462-ab36-dec9325c035e" providerId="ADAL" clId="{7F8A51BB-DF7A-5C03-A6B7-03326D5C008F}" dt="2026-02-11T21:07:27.059" v="2" actId="20577"/>
        <pc:sldMkLst>
          <pc:docMk/>
          <pc:sldMk cId="0" sldId="286"/>
        </pc:sldMkLst>
        <pc:spChg chg="mod">
          <ac:chgData name="Ramana prabhu Sana" userId="9ce700ea-1810-4462-ab36-dec9325c035e" providerId="ADAL" clId="{7F8A51BB-DF7A-5C03-A6B7-03326D5C008F}" dt="2026-02-11T21:07:27.059" v="2" actId="20577"/>
          <ac:spMkLst>
            <pc:docMk/>
            <pc:sldMk cId="0" sldId="286"/>
            <ac:spMk id="5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f080b61eb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f080b61eb8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b4cf37d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b4cf37d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https://youtu.be/16fHuTti6hM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6caf0f05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6caf0f05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6caf0f054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c6caf0f054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6caf0f054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c6caf0f054_2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6caf0f054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c6caf0f054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6caf0f054_2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c6caf0f054_2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6caf0f054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c6caf0f054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6caf0f054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c6caf0f054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6caf0f054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c6caf0f054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72a637007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c72a637007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48dfc0c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b48dfc0c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9d4f14c22_4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b9d4f14c22_4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Sources, how to increase confidence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the “yellow” box is doing, how is it working, why is it beneficial - examples (different scenarios), why the agent rejects/accepts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vs after process L5 process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L5 with the agents in them, what will the future L5 look like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9d4f14c22_4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9d4f14c22_4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b9d4f14c22_4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b9d4f14c22_4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9d4f14c22_4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9d4f14c22_4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9d4f14c22_4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b9d4f14c22_4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9d4f14c22_4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b9d4f14c22_4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b9d4f14c22_4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b9d4f14c22_4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7ad55844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b7ad55844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b3e7e9877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b3e7e9877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a17b599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ba17b599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https://youtu.be/16fHuTti6hM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7ae5bb3d7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b7ae5bb3d7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Before State (Manual Process):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Accountants review invoices and contracts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Decide if disputes are valid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Apply orrections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Slow and error-prone</a:t>
            </a:r>
            <a:endParaRPr sz="100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8e7be02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b8e7be02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7ae5bb3d7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b7ae5bb3d7_2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b3e7e9877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b3e7e9877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b9d4f14c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b9d4f14c2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human-driven process you are using human judgement for both.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bf63df2e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bf63df2e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c72a637007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c72a637007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b7b639edb8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b7b639edb8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b7ae5bb3d7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b7ae5bb3d7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c6caf0f05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c6caf0f05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c6caf0f05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c6caf0f05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b7b639edb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b7b639edb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b7ae5bb3d7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b7ae5bb3d7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b66398bc6d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b66398bc6d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b4a6e0627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b4a6e0627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b48c82c97a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b48c82c97a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b7aad840e8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b7aad840e8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b7aad840e8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b7aad840e8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7aad840e8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b7aad840e8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b66398bc6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b66398bc6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c6caf0f05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c6caf0f05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243963" y="-93373"/>
            <a:ext cx="855913" cy="260023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flipH="1">
            <a:off x="7919140" y="-278604"/>
            <a:ext cx="1383960" cy="932103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7564905" y="-93375"/>
            <a:ext cx="1730072" cy="204458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13100" y="1481055"/>
            <a:ext cx="6816600" cy="24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13100" y="3995538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rot="784685">
            <a:off x="-181759" y="-821217"/>
            <a:ext cx="1244983" cy="329652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 rot="1783285" flipH="1">
            <a:off x="-385508" y="-1243295"/>
            <a:ext cx="1031077" cy="3132372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143200" y="-478825"/>
            <a:ext cx="1214376" cy="4636445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 rot="-1055101">
            <a:off x="-960243" y="-611114"/>
            <a:ext cx="1615770" cy="1821365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/>
          <p:nvPr/>
        </p:nvSpPr>
        <p:spPr>
          <a:xfrm rot="10800000" flipH="1">
            <a:off x="7641225" y="-691372"/>
            <a:ext cx="1756619" cy="207607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 flipH="1">
            <a:off x="8145456" y="-66021"/>
            <a:ext cx="1756619" cy="232279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 rot="-1794915">
            <a:off x="-1502546" y="-638410"/>
            <a:ext cx="2293282" cy="2585085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8555291" y="-912025"/>
            <a:ext cx="1031060" cy="3132321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7852681" y="-293879"/>
            <a:ext cx="2074359" cy="2202022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1291314" y="220340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 idx="2"/>
          </p:nvPr>
        </p:nvSpPr>
        <p:spPr>
          <a:xfrm>
            <a:off x="5110086" y="220340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5110088" y="2786250"/>
            <a:ext cx="27426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3"/>
          </p:nvPr>
        </p:nvSpPr>
        <p:spPr>
          <a:xfrm>
            <a:off x="1291312" y="2786250"/>
            <a:ext cx="27426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 idx="4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 rot="-1236882">
            <a:off x="-992836" y="-201404"/>
            <a:ext cx="2374143" cy="280590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"/>
          <p:cNvSpPr/>
          <p:nvPr/>
        </p:nvSpPr>
        <p:spPr>
          <a:xfrm rot="-2700000">
            <a:off x="-1671654" y="-637784"/>
            <a:ext cx="2293212" cy="2585006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6"/>
          <p:cNvSpPr/>
          <p:nvPr/>
        </p:nvSpPr>
        <p:spPr>
          <a:xfrm rot="1315565" flipH="1">
            <a:off x="7821221" y="-111650"/>
            <a:ext cx="2374167" cy="2805933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 flipH="1">
            <a:off x="-243963" y="-245773"/>
            <a:ext cx="855913" cy="260023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7"/>
          <p:cNvSpPr/>
          <p:nvPr/>
        </p:nvSpPr>
        <p:spPr>
          <a:xfrm flipH="1">
            <a:off x="8071540" y="-278604"/>
            <a:ext cx="1383960" cy="932103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7"/>
          <p:cNvSpPr/>
          <p:nvPr/>
        </p:nvSpPr>
        <p:spPr>
          <a:xfrm flipH="1">
            <a:off x="7717305" y="-93375"/>
            <a:ext cx="1730072" cy="204458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720000" y="1650200"/>
            <a:ext cx="3876000" cy="23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 rot="-3419928">
            <a:off x="-1702337" y="601789"/>
            <a:ext cx="2807434" cy="1193427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8"/>
          <p:cNvSpPr/>
          <p:nvPr/>
        </p:nvSpPr>
        <p:spPr>
          <a:xfrm rot="1401600" flipH="1">
            <a:off x="8049665" y="111206"/>
            <a:ext cx="2374221" cy="280599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8"/>
          <p:cNvSpPr/>
          <p:nvPr/>
        </p:nvSpPr>
        <p:spPr>
          <a:xfrm rot="-836192">
            <a:off x="-1327580" y="-192083"/>
            <a:ext cx="2334065" cy="2880761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896900" y="1307100"/>
            <a:ext cx="6534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 rot="880749">
            <a:off x="-109876" y="-360103"/>
            <a:ext cx="1253609" cy="3696848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9"/>
          <p:cNvSpPr/>
          <p:nvPr/>
        </p:nvSpPr>
        <p:spPr>
          <a:xfrm rot="1966325" flipH="1">
            <a:off x="-97652" y="-885201"/>
            <a:ext cx="1064941" cy="3438159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8448000" y="-771525"/>
            <a:ext cx="1214376" cy="400264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20000" y="1240186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41550" y="2221513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 flipH="1">
            <a:off x="-331799" y="-846185"/>
            <a:ext cx="855913" cy="3527545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0"/>
          <p:cNvSpPr/>
          <p:nvPr/>
        </p:nvSpPr>
        <p:spPr>
          <a:xfrm rot="894957" flipH="1">
            <a:off x="8570322" y="26143"/>
            <a:ext cx="1383968" cy="1264504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0"/>
          <p:cNvSpPr/>
          <p:nvPr/>
        </p:nvSpPr>
        <p:spPr>
          <a:xfrm rot="894957" flipH="1">
            <a:off x="8014872" y="-268356"/>
            <a:ext cx="1730081" cy="277377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3245625" y="1913850"/>
            <a:ext cx="50505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 rot="1103675">
            <a:off x="274406" y="-611819"/>
            <a:ext cx="1245021" cy="318126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1"/>
          <p:cNvSpPr/>
          <p:nvPr/>
        </p:nvSpPr>
        <p:spPr>
          <a:xfrm flipH="1">
            <a:off x="-878080" y="-1048117"/>
            <a:ext cx="2074359" cy="2202022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1"/>
          <p:cNvSpPr/>
          <p:nvPr/>
        </p:nvSpPr>
        <p:spPr>
          <a:xfrm rot="1884779">
            <a:off x="7986089" y="-765133"/>
            <a:ext cx="2074380" cy="2202044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87300"/>
            <a:ext cx="6576000" cy="21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ONE_COLUMN_TEXT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 rot="-784685" flipH="1">
            <a:off x="7733575" y="-897417"/>
            <a:ext cx="1244983" cy="329652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3"/>
          <p:cNvSpPr/>
          <p:nvPr/>
        </p:nvSpPr>
        <p:spPr>
          <a:xfrm rot="-1783285">
            <a:off x="7922631" y="-1395695"/>
            <a:ext cx="1031077" cy="3132372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3"/>
          <p:cNvSpPr/>
          <p:nvPr/>
        </p:nvSpPr>
        <p:spPr>
          <a:xfrm flipH="1">
            <a:off x="-331801" y="-1681325"/>
            <a:ext cx="1214376" cy="400264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243700" y="1478750"/>
            <a:ext cx="3180300" cy="30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 flipH="1">
            <a:off x="-243963" y="-169573"/>
            <a:ext cx="855913" cy="260023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4"/>
          <p:cNvSpPr/>
          <p:nvPr/>
        </p:nvSpPr>
        <p:spPr>
          <a:xfrm flipH="1">
            <a:off x="7919140" y="-278604"/>
            <a:ext cx="1383960" cy="932103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4"/>
          <p:cNvSpPr/>
          <p:nvPr/>
        </p:nvSpPr>
        <p:spPr>
          <a:xfrm flipH="1">
            <a:off x="7564905" y="-93375"/>
            <a:ext cx="1730072" cy="204458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1497800" y="1489792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2"/>
          </p:nvPr>
        </p:nvSpPr>
        <p:spPr>
          <a:xfrm>
            <a:off x="1497800" y="2119128"/>
            <a:ext cx="24861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 hasCustomPrompt="1"/>
          </p:nvPr>
        </p:nvSpPr>
        <p:spPr>
          <a:xfrm>
            <a:off x="720000" y="1458160"/>
            <a:ext cx="7989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3"/>
          </p:nvPr>
        </p:nvSpPr>
        <p:spPr>
          <a:xfrm>
            <a:off x="1497800" y="3288764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4"/>
          </p:nvPr>
        </p:nvSpPr>
        <p:spPr>
          <a:xfrm>
            <a:off x="1497800" y="3918099"/>
            <a:ext cx="24861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title" idx="5" hasCustomPrompt="1"/>
          </p:nvPr>
        </p:nvSpPr>
        <p:spPr>
          <a:xfrm>
            <a:off x="720000" y="3257135"/>
            <a:ext cx="7989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86" name="Google Shape;86;p14"/>
          <p:cNvSpPr txBox="1">
            <a:spLocks noGrp="1"/>
          </p:cNvSpPr>
          <p:nvPr>
            <p:ph type="subTitle" idx="6"/>
          </p:nvPr>
        </p:nvSpPr>
        <p:spPr>
          <a:xfrm>
            <a:off x="5944800" y="1489792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7"/>
          </p:nvPr>
        </p:nvSpPr>
        <p:spPr>
          <a:xfrm>
            <a:off x="5944800" y="2119127"/>
            <a:ext cx="24861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 idx="8" hasCustomPrompt="1"/>
          </p:nvPr>
        </p:nvSpPr>
        <p:spPr>
          <a:xfrm>
            <a:off x="4986065" y="1458160"/>
            <a:ext cx="989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9"/>
          </p:nvPr>
        </p:nvSpPr>
        <p:spPr>
          <a:xfrm>
            <a:off x="5944800" y="3288772"/>
            <a:ext cx="21561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ubTitle" idx="13"/>
          </p:nvPr>
        </p:nvSpPr>
        <p:spPr>
          <a:xfrm>
            <a:off x="5944800" y="3918099"/>
            <a:ext cx="24861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14" hasCustomPrompt="1"/>
          </p:nvPr>
        </p:nvSpPr>
        <p:spPr>
          <a:xfrm>
            <a:off x="4986065" y="3257135"/>
            <a:ext cx="989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title" idx="15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 rot="-784685" flipH="1">
            <a:off x="7733586" y="-364017"/>
            <a:ext cx="1244983" cy="329652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5"/>
          <p:cNvSpPr/>
          <p:nvPr/>
        </p:nvSpPr>
        <p:spPr>
          <a:xfrm rot="-1783285">
            <a:off x="8151242" y="-786095"/>
            <a:ext cx="1031077" cy="3132372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 flipH="1">
            <a:off x="-408376" y="-174026"/>
            <a:ext cx="1214376" cy="4128522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1407300" y="1189100"/>
            <a:ext cx="63294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1"/>
          </p:nvPr>
        </p:nvSpPr>
        <p:spPr>
          <a:xfrm>
            <a:off x="2008950" y="3153500"/>
            <a:ext cx="51261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 rot="-1532380">
            <a:off x="-984785" y="25045"/>
            <a:ext cx="2462769" cy="3479258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-1747850" y="-340664"/>
            <a:ext cx="2293271" cy="3283712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/>
          <p:nvPr/>
        </p:nvSpPr>
        <p:spPr>
          <a:xfrm rot="1315565" flipH="1">
            <a:off x="7997421" y="-481925"/>
            <a:ext cx="2374167" cy="2805933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4070700" y="311566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173970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 rot="-455257" flipH="1">
            <a:off x="7806607" y="-318267"/>
            <a:ext cx="1246880" cy="4103824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7"/>
          <p:cNvSpPr/>
          <p:nvPr/>
        </p:nvSpPr>
        <p:spPr>
          <a:xfrm rot="-1538068">
            <a:off x="8279381" y="-585154"/>
            <a:ext cx="1048448" cy="3401387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7"/>
          <p:cNvSpPr/>
          <p:nvPr/>
        </p:nvSpPr>
        <p:spPr>
          <a:xfrm rot="654765" flipH="1">
            <a:off x="-453981" y="-1416413"/>
            <a:ext cx="1214384" cy="4002644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4572000" y="1303638"/>
            <a:ext cx="3293700" cy="208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1"/>
          </p:nvPr>
        </p:nvSpPr>
        <p:spPr>
          <a:xfrm>
            <a:off x="4572000" y="3292363"/>
            <a:ext cx="34914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 rot="2539665" flipH="1">
            <a:off x="7952801" y="67183"/>
            <a:ext cx="1899215" cy="944427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8"/>
          <p:cNvSpPr/>
          <p:nvPr/>
        </p:nvSpPr>
        <p:spPr>
          <a:xfrm rot="-1669522" flipH="1">
            <a:off x="-1115619" y="-369656"/>
            <a:ext cx="2074389" cy="2202054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8"/>
          <p:cNvSpPr/>
          <p:nvPr/>
        </p:nvSpPr>
        <p:spPr>
          <a:xfrm rot="-1532380">
            <a:off x="-1606285" y="-643205"/>
            <a:ext cx="2462769" cy="3479258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subTitle" idx="1"/>
          </p:nvPr>
        </p:nvSpPr>
        <p:spPr>
          <a:xfrm>
            <a:off x="720000" y="2215050"/>
            <a:ext cx="25755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 rot="2539665" flipH="1">
            <a:off x="7952801" y="67183"/>
            <a:ext cx="1899215" cy="944427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9"/>
          <p:cNvSpPr/>
          <p:nvPr/>
        </p:nvSpPr>
        <p:spPr>
          <a:xfrm rot="-1669522" flipH="1">
            <a:off x="-1115619" y="-369656"/>
            <a:ext cx="2074389" cy="2202054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9"/>
          <p:cNvSpPr/>
          <p:nvPr/>
        </p:nvSpPr>
        <p:spPr>
          <a:xfrm rot="-1532380">
            <a:off x="-1606285" y="-643205"/>
            <a:ext cx="2462769" cy="3479258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719900" y="1533450"/>
            <a:ext cx="7704000" cy="30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 rot="1236882" flipH="1">
            <a:off x="7680459" y="103396"/>
            <a:ext cx="2374143" cy="280590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0"/>
          <p:cNvSpPr/>
          <p:nvPr/>
        </p:nvSpPr>
        <p:spPr>
          <a:xfrm flipH="1">
            <a:off x="8516333" y="-485412"/>
            <a:ext cx="2293271" cy="2585072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0"/>
          <p:cNvSpPr/>
          <p:nvPr/>
        </p:nvSpPr>
        <p:spPr>
          <a:xfrm rot="-1315565">
            <a:off x="-1005022" y="-481925"/>
            <a:ext cx="2374167" cy="2805933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720000" y="3312975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720000" y="37185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title" idx="2"/>
          </p:nvPr>
        </p:nvSpPr>
        <p:spPr>
          <a:xfrm>
            <a:off x="3484419" y="1875613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3"/>
          </p:nvPr>
        </p:nvSpPr>
        <p:spPr>
          <a:xfrm>
            <a:off x="3484421" y="226978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title" idx="4"/>
          </p:nvPr>
        </p:nvSpPr>
        <p:spPr>
          <a:xfrm>
            <a:off x="6255596" y="3335775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5"/>
          </p:nvPr>
        </p:nvSpPr>
        <p:spPr>
          <a:xfrm>
            <a:off x="6255599" y="37185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title" idx="6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 flipH="1">
            <a:off x="8252620" y="-928356"/>
            <a:ext cx="1245003" cy="3181217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1"/>
          <p:cNvSpPr/>
          <p:nvPr/>
        </p:nvSpPr>
        <p:spPr>
          <a:xfrm rot="-844789">
            <a:off x="8256274" y="-340789"/>
            <a:ext cx="1031065" cy="343335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-263905" y="-1215306"/>
            <a:ext cx="1245003" cy="3181217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1323370" y="129759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1"/>
          </p:nvPr>
        </p:nvSpPr>
        <p:spPr>
          <a:xfrm>
            <a:off x="1323370" y="1749106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title" idx="2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title" idx="3"/>
          </p:nvPr>
        </p:nvSpPr>
        <p:spPr>
          <a:xfrm>
            <a:off x="1323370" y="2422722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4"/>
          </p:nvPr>
        </p:nvSpPr>
        <p:spPr>
          <a:xfrm>
            <a:off x="1323370" y="2874231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title" idx="5"/>
          </p:nvPr>
        </p:nvSpPr>
        <p:spPr>
          <a:xfrm>
            <a:off x="1323370" y="354784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6"/>
          </p:nvPr>
        </p:nvSpPr>
        <p:spPr>
          <a:xfrm>
            <a:off x="1323370" y="3999356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2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 rot="-240488">
            <a:off x="-424134" y="-626662"/>
            <a:ext cx="1244966" cy="3296515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2"/>
          <p:cNvSpPr/>
          <p:nvPr/>
        </p:nvSpPr>
        <p:spPr>
          <a:xfrm rot="758190" flipH="1">
            <a:off x="-566166" y="-1075222"/>
            <a:ext cx="1031062" cy="3132328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8371800" y="-466725"/>
            <a:ext cx="1214376" cy="400264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868975" y="1708013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1"/>
          </p:nvPr>
        </p:nvSpPr>
        <p:spPr>
          <a:xfrm>
            <a:off x="830575" y="2630725"/>
            <a:ext cx="22521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title" idx="2"/>
          </p:nvPr>
        </p:nvSpPr>
        <p:spPr>
          <a:xfrm>
            <a:off x="3484350" y="1708013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3"/>
          </p:nvPr>
        </p:nvSpPr>
        <p:spPr>
          <a:xfrm>
            <a:off x="3445950" y="2630725"/>
            <a:ext cx="22521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title" idx="4"/>
          </p:nvPr>
        </p:nvSpPr>
        <p:spPr>
          <a:xfrm>
            <a:off x="6099725" y="1708013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subTitle" idx="5"/>
          </p:nvPr>
        </p:nvSpPr>
        <p:spPr>
          <a:xfrm>
            <a:off x="6061325" y="2630725"/>
            <a:ext cx="22521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title" idx="6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/>
          <p:nvPr/>
        </p:nvSpPr>
        <p:spPr>
          <a:xfrm rot="784685">
            <a:off x="-410359" y="-897417"/>
            <a:ext cx="1244983" cy="329652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3"/>
          <p:cNvSpPr/>
          <p:nvPr/>
        </p:nvSpPr>
        <p:spPr>
          <a:xfrm rot="1783285" flipH="1">
            <a:off x="-385508" y="-1395695"/>
            <a:ext cx="1031077" cy="3132372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8448000" y="-771525"/>
            <a:ext cx="1214376" cy="400264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713100" y="1559953"/>
            <a:ext cx="2311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subTitle" idx="1"/>
          </p:nvPr>
        </p:nvSpPr>
        <p:spPr>
          <a:xfrm>
            <a:off x="1046700" y="1994078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title" idx="2"/>
          </p:nvPr>
        </p:nvSpPr>
        <p:spPr>
          <a:xfrm>
            <a:off x="6112200" y="1559953"/>
            <a:ext cx="2311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subTitle" idx="3"/>
          </p:nvPr>
        </p:nvSpPr>
        <p:spPr>
          <a:xfrm>
            <a:off x="6112200" y="1994078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title" idx="4"/>
          </p:nvPr>
        </p:nvSpPr>
        <p:spPr>
          <a:xfrm>
            <a:off x="713100" y="2994163"/>
            <a:ext cx="2311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subTitle" idx="5"/>
          </p:nvPr>
        </p:nvSpPr>
        <p:spPr>
          <a:xfrm>
            <a:off x="1046700" y="3428288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title" idx="6"/>
          </p:nvPr>
        </p:nvSpPr>
        <p:spPr>
          <a:xfrm>
            <a:off x="6112200" y="2994163"/>
            <a:ext cx="2311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7"/>
          </p:nvPr>
        </p:nvSpPr>
        <p:spPr>
          <a:xfrm>
            <a:off x="6112200" y="3428288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title" idx="8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/>
          <p:nvPr/>
        </p:nvSpPr>
        <p:spPr>
          <a:xfrm rot="784685">
            <a:off x="-257959" y="-897417"/>
            <a:ext cx="1244983" cy="329652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4"/>
          <p:cNvSpPr/>
          <p:nvPr/>
        </p:nvSpPr>
        <p:spPr>
          <a:xfrm rot="1783285" flipH="1">
            <a:off x="-461708" y="-1319495"/>
            <a:ext cx="1031077" cy="3132372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4"/>
          <p:cNvSpPr/>
          <p:nvPr/>
        </p:nvSpPr>
        <p:spPr>
          <a:xfrm rot="-593063">
            <a:off x="8066979" y="-555017"/>
            <a:ext cx="1214363" cy="4636379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title"/>
          </p:nvPr>
        </p:nvSpPr>
        <p:spPr>
          <a:xfrm>
            <a:off x="1872622" y="1618250"/>
            <a:ext cx="197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4" name="Google Shape;174;p24"/>
          <p:cNvSpPr txBox="1">
            <a:spLocks noGrp="1"/>
          </p:cNvSpPr>
          <p:nvPr>
            <p:ph type="subTitle" idx="1"/>
          </p:nvPr>
        </p:nvSpPr>
        <p:spPr>
          <a:xfrm>
            <a:off x="1872622" y="20654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 idx="2"/>
          </p:nvPr>
        </p:nvSpPr>
        <p:spPr>
          <a:xfrm>
            <a:off x="5893580" y="1618250"/>
            <a:ext cx="197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3"/>
          </p:nvPr>
        </p:nvSpPr>
        <p:spPr>
          <a:xfrm>
            <a:off x="5893576" y="20654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title" idx="4"/>
          </p:nvPr>
        </p:nvSpPr>
        <p:spPr>
          <a:xfrm>
            <a:off x="1872622" y="3051650"/>
            <a:ext cx="197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subTitle" idx="5"/>
          </p:nvPr>
        </p:nvSpPr>
        <p:spPr>
          <a:xfrm>
            <a:off x="1872622" y="34988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title" idx="6"/>
          </p:nvPr>
        </p:nvSpPr>
        <p:spPr>
          <a:xfrm>
            <a:off x="5893580" y="3051650"/>
            <a:ext cx="197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subTitle" idx="7"/>
          </p:nvPr>
        </p:nvSpPr>
        <p:spPr>
          <a:xfrm>
            <a:off x="5893576" y="34988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title" idx="8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/>
          <p:nvPr/>
        </p:nvSpPr>
        <p:spPr>
          <a:xfrm flipH="1">
            <a:off x="7692880" y="-288986"/>
            <a:ext cx="2374159" cy="2805923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5"/>
          <p:cNvSpPr/>
          <p:nvPr/>
        </p:nvSpPr>
        <p:spPr>
          <a:xfrm rot="-2700000" flipH="1">
            <a:off x="8364443" y="-538691"/>
            <a:ext cx="1031034" cy="3132241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5"/>
          <p:cNvSpPr/>
          <p:nvPr/>
        </p:nvSpPr>
        <p:spPr>
          <a:xfrm rot="-236223">
            <a:off x="-431802" y="-749425"/>
            <a:ext cx="1244962" cy="3296496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5"/>
          <p:cNvSpPr txBox="1">
            <a:spLocks noGrp="1"/>
          </p:cNvSpPr>
          <p:nvPr>
            <p:ph type="title" idx="2"/>
          </p:nvPr>
        </p:nvSpPr>
        <p:spPr>
          <a:xfrm>
            <a:off x="1286050" y="129759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8" name="Google Shape;188;p25"/>
          <p:cNvSpPr txBox="1">
            <a:spLocks noGrp="1"/>
          </p:cNvSpPr>
          <p:nvPr>
            <p:ph type="subTitle" idx="1"/>
          </p:nvPr>
        </p:nvSpPr>
        <p:spPr>
          <a:xfrm>
            <a:off x="1286050" y="1749106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5"/>
          <p:cNvSpPr txBox="1">
            <a:spLocks noGrp="1"/>
          </p:cNvSpPr>
          <p:nvPr>
            <p:ph type="title" idx="3"/>
          </p:nvPr>
        </p:nvSpPr>
        <p:spPr>
          <a:xfrm>
            <a:off x="1286050" y="2422722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subTitle" idx="4"/>
          </p:nvPr>
        </p:nvSpPr>
        <p:spPr>
          <a:xfrm>
            <a:off x="1286050" y="2874231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5"/>
          <p:cNvSpPr txBox="1">
            <a:spLocks noGrp="1"/>
          </p:cNvSpPr>
          <p:nvPr>
            <p:ph type="title" idx="5"/>
          </p:nvPr>
        </p:nvSpPr>
        <p:spPr>
          <a:xfrm>
            <a:off x="1286050" y="354784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2" name="Google Shape;192;p25"/>
          <p:cNvSpPr txBox="1">
            <a:spLocks noGrp="1"/>
          </p:cNvSpPr>
          <p:nvPr>
            <p:ph type="subTitle" idx="6"/>
          </p:nvPr>
        </p:nvSpPr>
        <p:spPr>
          <a:xfrm>
            <a:off x="1286050" y="3999356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title" idx="7"/>
          </p:nvPr>
        </p:nvSpPr>
        <p:spPr>
          <a:xfrm>
            <a:off x="5682650" y="129759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" name="Google Shape;194;p25"/>
          <p:cNvSpPr txBox="1">
            <a:spLocks noGrp="1"/>
          </p:cNvSpPr>
          <p:nvPr>
            <p:ph type="subTitle" idx="8"/>
          </p:nvPr>
        </p:nvSpPr>
        <p:spPr>
          <a:xfrm>
            <a:off x="5682650" y="1749106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title" idx="9"/>
          </p:nvPr>
        </p:nvSpPr>
        <p:spPr>
          <a:xfrm>
            <a:off x="5682650" y="2422722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subTitle" idx="13"/>
          </p:nvPr>
        </p:nvSpPr>
        <p:spPr>
          <a:xfrm>
            <a:off x="5682650" y="2874231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title" idx="14"/>
          </p:nvPr>
        </p:nvSpPr>
        <p:spPr>
          <a:xfrm>
            <a:off x="5682650" y="354784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ubTitle" idx="15"/>
          </p:nvPr>
        </p:nvSpPr>
        <p:spPr>
          <a:xfrm>
            <a:off x="5682650" y="3999356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1" name="Google Shape;201;p26"/>
          <p:cNvSpPr txBox="1">
            <a:spLocks noGrp="1"/>
          </p:cNvSpPr>
          <p:nvPr>
            <p:ph type="subTitle" idx="1"/>
          </p:nvPr>
        </p:nvSpPr>
        <p:spPr>
          <a:xfrm>
            <a:off x="2223600" y="123482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2" name="Google Shape;202;p26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54311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3" name="Google Shape;203;p26"/>
          <p:cNvSpPr txBox="1">
            <a:spLocks noGrp="1"/>
          </p:cNvSpPr>
          <p:nvPr>
            <p:ph type="subTitle" idx="3"/>
          </p:nvPr>
        </p:nvSpPr>
        <p:spPr>
          <a:xfrm>
            <a:off x="2223600" y="2554644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5" name="Google Shape;205;p26"/>
          <p:cNvSpPr txBox="1">
            <a:spLocks noGrp="1"/>
          </p:cNvSpPr>
          <p:nvPr>
            <p:ph type="subTitle" idx="5"/>
          </p:nvPr>
        </p:nvSpPr>
        <p:spPr>
          <a:xfrm>
            <a:off x="2223600" y="3874463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6" name="Google Shape;206;p26"/>
          <p:cNvSpPr/>
          <p:nvPr/>
        </p:nvSpPr>
        <p:spPr>
          <a:xfrm rot="-1103675" flipH="1">
            <a:off x="8084800" y="-611819"/>
            <a:ext cx="1245021" cy="318126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6"/>
          <p:cNvSpPr/>
          <p:nvPr/>
        </p:nvSpPr>
        <p:spPr>
          <a:xfrm>
            <a:off x="8322223" y="-561604"/>
            <a:ext cx="2074359" cy="2202022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6"/>
          <p:cNvSpPr/>
          <p:nvPr/>
        </p:nvSpPr>
        <p:spPr>
          <a:xfrm rot="1040920" flipH="1">
            <a:off x="-826208" y="-506959"/>
            <a:ext cx="2074408" cy="2202074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7"/>
          <p:cNvSpPr/>
          <p:nvPr/>
        </p:nvSpPr>
        <p:spPr>
          <a:xfrm flipH="1">
            <a:off x="7692880" y="-288986"/>
            <a:ext cx="2374159" cy="2805923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7"/>
          <p:cNvSpPr/>
          <p:nvPr/>
        </p:nvSpPr>
        <p:spPr>
          <a:xfrm rot="-2700000" flipH="1">
            <a:off x="8364443" y="-538691"/>
            <a:ext cx="1031034" cy="3132241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7"/>
          <p:cNvSpPr/>
          <p:nvPr/>
        </p:nvSpPr>
        <p:spPr>
          <a:xfrm rot="-236223">
            <a:off x="-431802" y="-749425"/>
            <a:ext cx="1244962" cy="3296496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/>
          <p:nvPr/>
        </p:nvSpPr>
        <p:spPr>
          <a:xfrm flipH="1">
            <a:off x="7874419" y="-137976"/>
            <a:ext cx="2481131" cy="294392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8"/>
          <p:cNvSpPr/>
          <p:nvPr/>
        </p:nvSpPr>
        <p:spPr>
          <a:xfrm rot="2700000">
            <a:off x="94776" y="-643730"/>
            <a:ext cx="1031034" cy="3132241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8576741" y="-658300"/>
            <a:ext cx="1031060" cy="3132321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title"/>
          </p:nvPr>
        </p:nvSpPr>
        <p:spPr>
          <a:xfrm>
            <a:off x="720000" y="375287"/>
            <a:ext cx="42948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subTitle" idx="1"/>
          </p:nvPr>
        </p:nvSpPr>
        <p:spPr>
          <a:xfrm>
            <a:off x="713100" y="1394019"/>
            <a:ext cx="3434700" cy="14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/>
          <p:nvPr/>
        </p:nvSpPr>
        <p:spPr>
          <a:xfrm>
            <a:off x="720000" y="2966252"/>
            <a:ext cx="3772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 This presentation template was created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including icons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&amp; images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>
              <a:solidFill>
                <a:schemeClr val="dk1"/>
              </a:solidFill>
              <a:highlight>
                <a:srgbClr val="DFDEFC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hyperlink" Target="https://purdue0-my.sharepoint.com/:v:/g/personal/toyeleke_purdue_edu/IQABzFAO0BioSqabnswUbQaIAbuQnZWLfRvsSeAi0OzlfCM?e=4gPedE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>
            <a:spLocks noGrp="1"/>
          </p:cNvSpPr>
          <p:nvPr>
            <p:ph type="ctrTitle"/>
          </p:nvPr>
        </p:nvSpPr>
        <p:spPr>
          <a:xfrm>
            <a:off x="713100" y="1481055"/>
            <a:ext cx="6816600" cy="24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- Ralph Lauren</a:t>
            </a:r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1"/>
          </p:nvPr>
        </p:nvSpPr>
        <p:spPr>
          <a:xfrm>
            <a:off x="713100" y="3995538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GenAI in Receivables Management</a:t>
            </a:r>
            <a:endParaRPr/>
          </a:p>
        </p:txBody>
      </p:sp>
      <p:cxnSp>
        <p:nvCxnSpPr>
          <p:cNvPr id="228" name="Google Shape;228;p30"/>
          <p:cNvCxnSpPr>
            <a:endCxn id="229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" name="Google Shape;229;p30"/>
          <p:cNvSpPr txBox="1">
            <a:spLocks noGrp="1"/>
          </p:cNvSpPr>
          <p:nvPr>
            <p:ph type="subTitle" idx="1"/>
          </p:nvPr>
        </p:nvSpPr>
        <p:spPr>
          <a:xfrm>
            <a:off x="6331500" y="4630647"/>
            <a:ext cx="2585400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Purdue University</a:t>
            </a:r>
            <a:endParaRPr sz="1200"/>
          </a:p>
        </p:txBody>
      </p:sp>
      <p:pic>
        <p:nvPicPr>
          <p:cNvPr id="230" name="Google Shape;2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781" y="400600"/>
            <a:ext cx="4445246" cy="47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>
            <a:spLocks noGrp="1"/>
          </p:cNvSpPr>
          <p:nvPr>
            <p:ph type="title" idx="15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36" name="Google Shape;236;p31"/>
          <p:cNvSpPr txBox="1">
            <a:spLocks noGrp="1"/>
          </p:cNvSpPr>
          <p:nvPr>
            <p:ph type="subTitle" idx="1"/>
          </p:nvPr>
        </p:nvSpPr>
        <p:spPr>
          <a:xfrm>
            <a:off x="1497800" y="1489792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 Ledger</a:t>
            </a:r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subTitle" idx="2"/>
          </p:nvPr>
        </p:nvSpPr>
        <p:spPr>
          <a:xfrm>
            <a:off x="1497800" y="2119128"/>
            <a:ext cx="24861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Accounts Receivable Agent &amp; Accounts Receivable</a:t>
            </a:r>
            <a:endParaRPr/>
          </a:p>
        </p:txBody>
      </p:sp>
      <p:sp>
        <p:nvSpPr>
          <p:cNvPr id="238" name="Google Shape;238;p31"/>
          <p:cNvSpPr txBox="1">
            <a:spLocks noGrp="1"/>
          </p:cNvSpPr>
          <p:nvPr>
            <p:ph type="title"/>
          </p:nvPr>
        </p:nvSpPr>
        <p:spPr>
          <a:xfrm>
            <a:off x="720000" y="1458160"/>
            <a:ext cx="7989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3"/>
          </p:nvPr>
        </p:nvSpPr>
        <p:spPr>
          <a:xfrm>
            <a:off x="1497800" y="3288764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&amp; Revenue</a:t>
            </a:r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subTitle" idx="4"/>
          </p:nvPr>
        </p:nvSpPr>
        <p:spPr>
          <a:xfrm>
            <a:off x="1497800" y="3918099"/>
            <a:ext cx="24861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Behavioral Insights &amp; Agent for Incorrect Credits</a:t>
            </a:r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title" idx="5"/>
          </p:nvPr>
        </p:nvSpPr>
        <p:spPr>
          <a:xfrm>
            <a:off x="720000" y="3257135"/>
            <a:ext cx="7989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6"/>
          </p:nvPr>
        </p:nvSpPr>
        <p:spPr>
          <a:xfrm>
            <a:off x="5944800" y="1489792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Disputes</a:t>
            </a:r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7"/>
          </p:nvPr>
        </p:nvSpPr>
        <p:spPr>
          <a:xfrm>
            <a:off x="5944800" y="2119127"/>
            <a:ext cx="24861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Dispute Resolution Agent &amp; Contract Accounting </a:t>
            </a:r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title" idx="8"/>
          </p:nvPr>
        </p:nvSpPr>
        <p:spPr>
          <a:xfrm>
            <a:off x="4986065" y="1458160"/>
            <a:ext cx="989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cxnSp>
        <p:nvCxnSpPr>
          <p:cNvPr id="245" name="Google Shape;245;p31"/>
          <p:cNvCxnSpPr>
            <a:endCxn id="246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31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7" name="Google Shape;2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6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>
            <a:spLocks noGrp="1"/>
          </p:cNvSpPr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 Ledger</a:t>
            </a:r>
            <a:endParaRPr/>
          </a:p>
        </p:txBody>
      </p:sp>
      <p:sp>
        <p:nvSpPr>
          <p:cNvPr id="253" name="Google Shape;253;p32"/>
          <p:cNvSpPr txBox="1">
            <a:spLocks noGrp="1"/>
          </p:cNvSpPr>
          <p:nvPr>
            <p:ph type="title" idx="2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subTitle" idx="1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Saandiya, Tolu, Parth</a:t>
            </a:r>
            <a:endParaRPr/>
          </a:p>
        </p:txBody>
      </p:sp>
      <p:cxnSp>
        <p:nvCxnSpPr>
          <p:cNvPr id="255" name="Google Shape;255;p32"/>
          <p:cNvCxnSpPr>
            <a:endCxn id="256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" name="Google Shape;256;p32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7" name="Google Shape;2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Current State and Agent Overview</a:t>
            </a:r>
            <a:endParaRPr sz="2600"/>
          </a:p>
        </p:txBody>
      </p:sp>
      <p:sp>
        <p:nvSpPr>
          <p:cNvPr id="263" name="Google Shape;263;p33"/>
          <p:cNvSpPr txBox="1">
            <a:spLocks noGrp="1"/>
          </p:cNvSpPr>
          <p:nvPr>
            <p:ph type="title"/>
          </p:nvPr>
        </p:nvSpPr>
        <p:spPr>
          <a:xfrm>
            <a:off x="815004" y="2461493"/>
            <a:ext cx="2811300" cy="4065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Human-Driven Process</a:t>
            </a:r>
            <a:endParaRPr sz="1818"/>
          </a:p>
        </p:txBody>
      </p:sp>
      <p:sp>
        <p:nvSpPr>
          <p:cNvPr id="264" name="Google Shape;264;p33"/>
          <p:cNvSpPr txBox="1">
            <a:spLocks noGrp="1"/>
          </p:cNvSpPr>
          <p:nvPr>
            <p:ph type="subTitle" idx="3"/>
          </p:nvPr>
        </p:nvSpPr>
        <p:spPr>
          <a:xfrm>
            <a:off x="472133" y="2832647"/>
            <a:ext cx="3388800" cy="22467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L5 Step: Apply incoming payments to open receivables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Payments received (ACH / Wire / Cash / Check)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AR accountants manually need to:</a:t>
            </a:r>
            <a:endParaRPr sz="1309"/>
          </a:p>
          <a:p>
            <a:pPr marL="914400" lvl="1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Investigate remittance data</a:t>
            </a:r>
            <a:endParaRPr sz="1309"/>
          </a:p>
          <a:p>
            <a:pPr marL="914400" lvl="1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Match payments to invoices</a:t>
            </a:r>
            <a:endParaRPr sz="1309"/>
          </a:p>
          <a:p>
            <a:pPr marL="914400" lvl="1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Clear invoices or flag issues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Lot of high-volume repetitive work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Major </a:t>
            </a:r>
            <a:r>
              <a:rPr lang="en" sz="1309" u="sng"/>
              <a:t>processing bottleneck</a:t>
            </a:r>
            <a:endParaRPr sz="1309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</p:txBody>
      </p:sp>
      <p:sp>
        <p:nvSpPr>
          <p:cNvPr id="265" name="Google Shape;265;p33"/>
          <p:cNvSpPr txBox="1">
            <a:spLocks noGrp="1"/>
          </p:cNvSpPr>
          <p:nvPr>
            <p:ph type="title"/>
          </p:nvPr>
        </p:nvSpPr>
        <p:spPr>
          <a:xfrm>
            <a:off x="2567700" y="950188"/>
            <a:ext cx="4008600" cy="4065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SAP Cash Application (AR Agent)</a:t>
            </a:r>
            <a:endParaRPr sz="1818"/>
          </a:p>
        </p:txBody>
      </p:sp>
      <p:sp>
        <p:nvSpPr>
          <p:cNvPr id="266" name="Google Shape;266;p33"/>
          <p:cNvSpPr txBox="1">
            <a:spLocks noGrp="1"/>
          </p:cNvSpPr>
          <p:nvPr>
            <p:ph type="subTitle" idx="3"/>
          </p:nvPr>
        </p:nvSpPr>
        <p:spPr>
          <a:xfrm>
            <a:off x="570775" y="1402700"/>
            <a:ext cx="3832500" cy="8964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Automatically match incoming payments to open invoices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Read bank statements + remittance data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</p:txBody>
      </p:sp>
      <p:pic>
        <p:nvPicPr>
          <p:cNvPr id="267" name="Google Shape;26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25" y="5925"/>
            <a:ext cx="2321924" cy="24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3"/>
          <p:cNvSpPr txBox="1">
            <a:spLocks noGrp="1"/>
          </p:cNvSpPr>
          <p:nvPr>
            <p:ph type="title" idx="2"/>
          </p:nvPr>
        </p:nvSpPr>
        <p:spPr>
          <a:xfrm>
            <a:off x="5216052" y="2457908"/>
            <a:ext cx="2547600" cy="413700"/>
          </a:xfrm>
          <a:prstGeom prst="rect">
            <a:avLst/>
          </a:prstGeom>
        </p:spPr>
        <p:txBody>
          <a:bodyPr spcFirstLastPara="1" wrap="square" lIns="67675" tIns="67675" rIns="67675" bIns="676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AI-Driven Process</a:t>
            </a:r>
            <a:endParaRPr sz="1850"/>
          </a:p>
        </p:txBody>
      </p:sp>
      <p:sp>
        <p:nvSpPr>
          <p:cNvPr id="269" name="Google Shape;269;p33"/>
          <p:cNvSpPr txBox="1">
            <a:spLocks noGrp="1"/>
          </p:cNvSpPr>
          <p:nvPr>
            <p:ph type="subTitle" idx="1"/>
          </p:nvPr>
        </p:nvSpPr>
        <p:spPr>
          <a:xfrm>
            <a:off x="4130650" y="2715600"/>
            <a:ext cx="4718400" cy="2176800"/>
          </a:xfrm>
          <a:prstGeom prst="rect">
            <a:avLst/>
          </a:prstGeom>
        </p:spPr>
        <p:txBody>
          <a:bodyPr spcFirstLastPara="1" wrap="square" lIns="67675" tIns="67675" rIns="67675" bIns="67675" anchor="t" anchorCtr="0">
            <a:noAutofit/>
          </a:bodyPr>
          <a:lstStyle/>
          <a:p>
            <a:pPr marL="338415" lvl="0" indent="-251757" algn="l" rtl="0">
              <a:lnSpc>
                <a:spcPct val="115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Autonomous Matching:</a:t>
            </a:r>
            <a:br>
              <a:rPr lang="en" sz="1300">
                <a:solidFill>
                  <a:srgbClr val="000000"/>
                </a:solidFill>
              </a:rPr>
            </a:br>
            <a:r>
              <a:rPr lang="en" sz="1300">
                <a:solidFill>
                  <a:srgbClr val="000000"/>
                </a:solidFill>
              </a:rPr>
              <a:t>AI scans bank statements and remittance data to propose invoice matches</a:t>
            </a:r>
            <a:endParaRPr sz="1300">
              <a:solidFill>
                <a:srgbClr val="000000"/>
              </a:solidFill>
            </a:endParaRPr>
          </a:p>
          <a:p>
            <a:pPr marL="338415" lvl="0" indent="-25175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rgbClr val="000000"/>
                </a:solidFill>
              </a:rPr>
              <a:t>Confidence Scoring:</a:t>
            </a:r>
            <a:endParaRPr sz="1300">
              <a:solidFill>
                <a:srgbClr val="000000"/>
              </a:solidFill>
            </a:endParaRPr>
          </a:p>
          <a:p>
            <a:pPr marL="676832" lvl="1" indent="-25175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</a:rPr>
              <a:t>High confidence → Auto-clearing</a:t>
            </a:r>
            <a:endParaRPr sz="1300">
              <a:solidFill>
                <a:srgbClr val="000000"/>
              </a:solidFill>
            </a:endParaRPr>
          </a:p>
          <a:p>
            <a:pPr marL="676832" lvl="1" indent="-25175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</a:rPr>
              <a:t>Medium confidence → AI recommendation</a:t>
            </a:r>
            <a:endParaRPr sz="1300">
              <a:solidFill>
                <a:srgbClr val="000000"/>
              </a:solidFill>
            </a:endParaRPr>
          </a:p>
          <a:p>
            <a:pPr marL="338415" lvl="0" indent="-25175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Predictive Risk Awareness:</a:t>
            </a:r>
            <a:br>
              <a:rPr lang="en" sz="1300">
                <a:solidFill>
                  <a:srgbClr val="000000"/>
                </a:solidFill>
              </a:rPr>
            </a:br>
            <a:r>
              <a:rPr lang="en" sz="1300">
                <a:solidFill>
                  <a:srgbClr val="000000"/>
                </a:solidFill>
              </a:rPr>
              <a:t>AI highlights which payments or exceptions need urgent attention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888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270" name="Google Shape;270;p33"/>
          <p:cNvSpPr txBox="1"/>
          <p:nvPr/>
        </p:nvSpPr>
        <p:spPr>
          <a:xfrm>
            <a:off x="4282550" y="1356700"/>
            <a:ext cx="4150800" cy="11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Nunito"/>
              <a:buChar char="●"/>
            </a:pPr>
            <a:r>
              <a:rPr lang="en" sz="1309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Uses reinforced learning from accountants' actions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Nunito"/>
              <a:buChar char="●"/>
            </a:pPr>
            <a:r>
              <a:rPr lang="en" sz="1309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75% reduction in effort analyzing and reconciling open AR items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Cash App Automation Logic</a:t>
            </a:r>
            <a:endParaRPr/>
          </a:p>
        </p:txBody>
      </p:sp>
      <p:pic>
        <p:nvPicPr>
          <p:cNvPr id="276" name="Google Shape;276;p34" title="loiocf5e47989d1a437cb024cfd7f65076f0_Low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9361"/>
            <a:ext cx="9143998" cy="3831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5" title="loioe4a3db9ca48c4a458525e6468b1f460e_Low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053" y="61600"/>
            <a:ext cx="750419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The "Exception" Logic – Handling the Unknown</a:t>
            </a:r>
            <a:endParaRPr/>
          </a:p>
        </p:txBody>
      </p:sp>
      <p:pic>
        <p:nvPicPr>
          <p:cNvPr id="287" name="Google Shape;287;p36" title="loioe4a3db9ca48c4a458525e6468b1f460e_LowRes.png"/>
          <p:cNvPicPr preferRelativeResize="0"/>
          <p:nvPr/>
        </p:nvPicPr>
        <p:blipFill rotWithShape="1">
          <a:blip r:embed="rId3">
            <a:alphaModFix/>
          </a:blip>
          <a:srcRect b="59206"/>
          <a:stretch/>
        </p:blipFill>
        <p:spPr>
          <a:xfrm>
            <a:off x="652550" y="1586625"/>
            <a:ext cx="7504200" cy="20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The "Exception" Logic – Handling the Unknown</a:t>
            </a:r>
            <a:endParaRPr sz="2600"/>
          </a:p>
        </p:txBody>
      </p:sp>
      <p:sp>
        <p:nvSpPr>
          <p:cNvPr id="293" name="Google Shape;293;p37"/>
          <p:cNvSpPr txBox="1">
            <a:spLocks noGrp="1"/>
          </p:cNvSpPr>
          <p:nvPr>
            <p:ph type="body" idx="1"/>
          </p:nvPr>
        </p:nvSpPr>
        <p:spPr>
          <a:xfrm>
            <a:off x="720000" y="1093027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</a:rPr>
              <a:t>Goal:</a:t>
            </a:r>
            <a:r>
              <a:rPr lang="en" sz="1300">
                <a:solidFill>
                  <a:srgbClr val="000000"/>
                </a:solidFill>
              </a:rPr>
              <a:t> Build trust by explaining how the system handles uncertainty and protects data integrity.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 b="1">
                <a:solidFill>
                  <a:srgbClr val="000000"/>
                </a:solidFill>
              </a:rPr>
              <a:t>Scenario:</a:t>
            </a:r>
            <a:r>
              <a:rPr lang="en" sz="1300">
                <a:solidFill>
                  <a:srgbClr val="000000"/>
                </a:solidFill>
              </a:rPr>
              <a:t> The inference job returns an </a:t>
            </a:r>
            <a:r>
              <a:rPr lang="en" sz="1300" b="1">
                <a:solidFill>
                  <a:srgbClr val="000000"/>
                </a:solidFill>
              </a:rPr>
              <a:t>Invalid Proposal (Status 10)</a:t>
            </a:r>
            <a:r>
              <a:rPr lang="en" sz="1300">
                <a:solidFill>
                  <a:srgbClr val="000000"/>
                </a:solidFill>
              </a:rPr>
              <a:t> or </a:t>
            </a:r>
            <a:r>
              <a:rPr lang="en" sz="1300" b="1">
                <a:solidFill>
                  <a:srgbClr val="000000"/>
                </a:solidFill>
              </a:rPr>
              <a:t>ML Not Called (Initial)</a:t>
            </a:r>
            <a:r>
              <a:rPr lang="en" sz="1300">
                <a:solidFill>
                  <a:srgbClr val="000000"/>
                </a:solidFill>
              </a:rPr>
              <a:t> because the polling was incomplete or data was insufficient.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 b="1">
                <a:solidFill>
                  <a:srgbClr val="000000"/>
                </a:solidFill>
              </a:rPr>
              <a:t>Inference Outcome:</a:t>
            </a:r>
            <a:endParaRPr sz="1300" b="1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Action:</a:t>
            </a:r>
            <a:r>
              <a:rPr lang="en" sz="1300">
                <a:solidFill>
                  <a:srgbClr val="000000"/>
                </a:solidFill>
              </a:rPr>
              <a:t> No change is applied to the bank statement items. The items remain in the standard processing queue for manual handling.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Automation Level:</a:t>
            </a:r>
            <a:r>
              <a:rPr lang="en" sz="1300">
                <a:solidFill>
                  <a:srgbClr val="000000"/>
                </a:solidFill>
              </a:rPr>
              <a:t> </a:t>
            </a:r>
            <a:r>
              <a:rPr lang="en" sz="1300" b="1">
                <a:solidFill>
                  <a:srgbClr val="000000"/>
                </a:solidFill>
              </a:rPr>
              <a:t>Manual.</a:t>
            </a:r>
            <a:r>
              <a:rPr lang="en" sz="1300">
                <a:solidFill>
                  <a:srgbClr val="000000"/>
                </a:solidFill>
              </a:rPr>
              <a:t> The agent identifies that it cannot help and steps aside to prevent errors.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The "Control" Factor:</a:t>
            </a:r>
            <a:r>
              <a:rPr lang="en" sz="1300">
                <a:solidFill>
                  <a:srgbClr val="000000"/>
                </a:solidFill>
              </a:rPr>
              <a:t> The system is "fail-safe." If the confidence doesn't meet your minimum criteria, it defaults back to your current proven manual processes.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 b="1">
                <a:solidFill>
                  <a:srgbClr val="000000"/>
                </a:solidFill>
              </a:rPr>
              <a:t>Business Value:</a:t>
            </a:r>
            <a:endParaRPr sz="1300" b="1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Zero Risk:</a:t>
            </a:r>
            <a:r>
              <a:rPr lang="en" sz="1300">
                <a:solidFill>
                  <a:srgbClr val="000000"/>
                </a:solidFill>
              </a:rPr>
              <a:t> The AI will never "guess" and mispost a payment.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Continuous Learning:</a:t>
            </a:r>
            <a:r>
              <a:rPr lang="en" sz="1300">
                <a:solidFill>
                  <a:srgbClr val="000000"/>
                </a:solidFill>
              </a:rPr>
              <a:t> These exceptions are captured for the next </a:t>
            </a:r>
            <a:r>
              <a:rPr lang="en" sz="1300" b="1">
                <a:solidFill>
                  <a:srgbClr val="000000"/>
                </a:solidFill>
              </a:rPr>
              <a:t>Training Data Extraction</a:t>
            </a:r>
            <a:r>
              <a:rPr lang="en" sz="1300">
                <a:solidFill>
                  <a:srgbClr val="000000"/>
                </a:solidFill>
              </a:rPr>
              <a:t>, making the model smarter for the next run.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"NO" Logic – Intelligent Suggestions</a:t>
            </a:r>
            <a:endParaRPr/>
          </a:p>
        </p:txBody>
      </p:sp>
      <p:pic>
        <p:nvPicPr>
          <p:cNvPr id="299" name="Google Shape;299;p38" title="loioe4a3db9ca48c4a458525e6468b1f460e_LowRes.png"/>
          <p:cNvPicPr preferRelativeResize="0"/>
          <p:nvPr/>
        </p:nvPicPr>
        <p:blipFill rotWithShape="1">
          <a:blip r:embed="rId3">
            <a:alphaModFix/>
          </a:blip>
          <a:srcRect t="38122" b="14548"/>
          <a:stretch/>
        </p:blipFill>
        <p:spPr>
          <a:xfrm>
            <a:off x="633650" y="1733450"/>
            <a:ext cx="7504200" cy="243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>
            <a:spLocks noGrp="1"/>
          </p:cNvSpPr>
          <p:nvPr>
            <p:ph type="title"/>
          </p:nvPr>
        </p:nvSpPr>
        <p:spPr>
          <a:xfrm>
            <a:off x="720000" y="6655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"NO" Logic – Intelligent Suggestions</a:t>
            </a:r>
            <a:endParaRPr sz="3000"/>
          </a:p>
        </p:txBody>
      </p:sp>
      <p:sp>
        <p:nvSpPr>
          <p:cNvPr id="305" name="Google Shape;305;p39"/>
          <p:cNvSpPr txBox="1">
            <a:spLocks noGrp="1"/>
          </p:cNvSpPr>
          <p:nvPr>
            <p:ph type="body" idx="1"/>
          </p:nvPr>
        </p:nvSpPr>
        <p:spPr>
          <a:xfrm>
            <a:off x="720000" y="1092648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</a:rPr>
              <a:t>Goal:</a:t>
            </a:r>
            <a:r>
              <a:rPr lang="en" sz="1300">
                <a:solidFill>
                  <a:srgbClr val="000000"/>
                </a:solidFill>
              </a:rPr>
              <a:t> Show how the agent assists humans even when it can’t fully automate, acting as a "Co-Pilot" for the Accountant.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 b="1">
                <a:solidFill>
                  <a:srgbClr val="000000"/>
                </a:solidFill>
              </a:rPr>
              <a:t>Scenario:</a:t>
            </a:r>
            <a:r>
              <a:rPr lang="en" sz="1300">
                <a:solidFill>
                  <a:srgbClr val="000000"/>
                </a:solidFill>
              </a:rPr>
              <a:t> The ML model creates a valid proposal, but the confidence score falls between your </a:t>
            </a:r>
            <a:r>
              <a:rPr lang="en" sz="1300" b="1">
                <a:solidFill>
                  <a:srgbClr val="000000"/>
                </a:solidFill>
              </a:rPr>
              <a:t>Proposal Threshold </a:t>
            </a:r>
            <a:r>
              <a:rPr lang="en" sz="1300">
                <a:solidFill>
                  <a:srgbClr val="000000"/>
                </a:solidFill>
              </a:rPr>
              <a:t>and </a:t>
            </a:r>
            <a:r>
              <a:rPr lang="en" sz="1300" b="1">
                <a:solidFill>
                  <a:srgbClr val="000000"/>
                </a:solidFill>
              </a:rPr>
              <a:t>Automatic Threshold</a:t>
            </a:r>
            <a:r>
              <a:rPr lang="en" sz="1300">
                <a:solidFill>
                  <a:srgbClr val="000000"/>
                </a:solidFill>
              </a:rPr>
              <a:t>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 b="1">
                <a:solidFill>
                  <a:srgbClr val="000000"/>
                </a:solidFill>
              </a:rPr>
              <a:t>Inference Outcome:</a:t>
            </a:r>
            <a:endParaRPr sz="1300" b="1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Action:</a:t>
            </a:r>
            <a:r>
              <a:rPr lang="en" sz="1300">
                <a:solidFill>
                  <a:srgbClr val="000000"/>
                </a:solidFill>
              </a:rPr>
              <a:t> The agent generates an "Confirm Proposal." This is presented to the Accountant in the </a:t>
            </a:r>
            <a:r>
              <a:rPr lang="en" sz="1300">
                <a:solidFill>
                  <a:srgbClr val="188038"/>
                </a:solidFill>
              </a:rPr>
              <a:t>FEBAN</a:t>
            </a:r>
            <a:r>
              <a:rPr lang="en" sz="1300">
                <a:solidFill>
                  <a:srgbClr val="000000"/>
                </a:solidFill>
              </a:rPr>
              <a:t> or </a:t>
            </a:r>
            <a:r>
              <a:rPr lang="en" sz="1300">
                <a:solidFill>
                  <a:srgbClr val="188038"/>
                </a:solidFill>
              </a:rPr>
              <a:t>Reprocess Bank Statement Items</a:t>
            </a:r>
            <a:r>
              <a:rPr lang="en" sz="1300">
                <a:solidFill>
                  <a:srgbClr val="000000"/>
                </a:solidFill>
              </a:rPr>
              <a:t> app.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Automation Level:</a:t>
            </a:r>
            <a:r>
              <a:rPr lang="en" sz="1300">
                <a:solidFill>
                  <a:srgbClr val="000000"/>
                </a:solidFill>
              </a:rPr>
              <a:t> </a:t>
            </a:r>
            <a:r>
              <a:rPr lang="en" sz="1300" b="1">
                <a:solidFill>
                  <a:srgbClr val="000000"/>
                </a:solidFill>
              </a:rPr>
              <a:t>Hybrid (Human-in-the-loop).</a:t>
            </a:r>
            <a:r>
              <a:rPr lang="en" sz="1300">
                <a:solidFill>
                  <a:srgbClr val="000000"/>
                </a:solidFill>
              </a:rPr>
              <a:t> The agent does the "searching," and the human does the "approving."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The "Control" Factor:</a:t>
            </a:r>
            <a:r>
              <a:rPr lang="en" sz="1300">
                <a:solidFill>
                  <a:srgbClr val="000000"/>
                </a:solidFill>
              </a:rPr>
              <a:t> The human remains the final decision-maker. The agent simply presents the most likely matches, saving the accountant from manual searching.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 b="1">
                <a:solidFill>
                  <a:srgbClr val="000000"/>
                </a:solidFill>
              </a:rPr>
              <a:t>Business Value:</a:t>
            </a:r>
            <a:endParaRPr sz="1300" b="1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</a:rPr>
              <a:t>Reduces "Account Receivable matching effort" by up to </a:t>
            </a:r>
            <a:r>
              <a:rPr lang="en" sz="1300" b="1">
                <a:solidFill>
                  <a:srgbClr val="000000"/>
                </a:solidFill>
              </a:rPr>
              <a:t>71%</a:t>
            </a:r>
            <a:r>
              <a:rPr lang="en" sz="1300">
                <a:solidFill>
                  <a:srgbClr val="000000"/>
                </a:solidFill>
              </a:rPr>
              <a:t>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○"/>
            </a:pPr>
            <a:r>
              <a:rPr lang="en" sz="1300">
                <a:solidFill>
                  <a:srgbClr val="000000"/>
                </a:solidFill>
              </a:rPr>
              <a:t>Ensures accuracy by leveraging human judgment for borderline cases.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>
            <a:spLocks noGrp="1"/>
          </p:cNvSpPr>
          <p:nvPr>
            <p:ph type="title"/>
          </p:nvPr>
        </p:nvSpPr>
        <p:spPr>
          <a:xfrm>
            <a:off x="123150" y="113500"/>
            <a:ext cx="86862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The "YES" Logic – High-Confidence Automation</a:t>
            </a:r>
            <a:endParaRPr sz="2900"/>
          </a:p>
        </p:txBody>
      </p:sp>
      <p:sp>
        <p:nvSpPr>
          <p:cNvPr id="311" name="Google Shape;311;p40"/>
          <p:cNvSpPr txBox="1">
            <a:spLocks noGrp="1"/>
          </p:cNvSpPr>
          <p:nvPr>
            <p:ph type="body" idx="1"/>
          </p:nvPr>
        </p:nvSpPr>
        <p:spPr>
          <a:xfrm>
            <a:off x="720000" y="742127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</a:rPr>
              <a:t>Goal:</a:t>
            </a:r>
            <a:r>
              <a:rPr lang="en" sz="1300">
                <a:solidFill>
                  <a:srgbClr val="000000"/>
                </a:solidFill>
              </a:rPr>
              <a:t> Demonstrate the "Golden Path" where the agent delivers immediate ROI through hands-free processing.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 b="1">
                <a:solidFill>
                  <a:srgbClr val="000000"/>
                </a:solidFill>
              </a:rPr>
              <a:t>Scenario:</a:t>
            </a:r>
            <a:r>
              <a:rPr lang="en" sz="1300">
                <a:solidFill>
                  <a:srgbClr val="000000"/>
                </a:solidFill>
              </a:rPr>
              <a:t> The ML model identifies a valid item or account proposal with a prediction rate that exceeds your defined </a:t>
            </a:r>
            <a:r>
              <a:rPr lang="en" sz="1300" b="1">
                <a:solidFill>
                  <a:srgbClr val="000000"/>
                </a:solidFill>
              </a:rPr>
              <a:t>Automatic Threshold</a:t>
            </a:r>
            <a:r>
              <a:rPr lang="en" sz="1300">
                <a:solidFill>
                  <a:srgbClr val="000000"/>
                </a:solidFill>
              </a:rPr>
              <a:t>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 b="1">
                <a:solidFill>
                  <a:srgbClr val="000000"/>
                </a:solidFill>
              </a:rPr>
              <a:t>Inference Outcome:</a:t>
            </a:r>
            <a:endParaRPr sz="1300" b="1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Action:</a:t>
            </a:r>
            <a:r>
              <a:rPr lang="en" sz="1300">
                <a:solidFill>
                  <a:srgbClr val="000000"/>
                </a:solidFill>
              </a:rPr>
              <a:t> The system automatically matches the bank statement item to the open receivable.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Automation Level:</a:t>
            </a:r>
            <a:r>
              <a:rPr lang="en" sz="1300">
                <a:solidFill>
                  <a:srgbClr val="000000"/>
                </a:solidFill>
              </a:rPr>
              <a:t> </a:t>
            </a:r>
            <a:r>
              <a:rPr lang="en" sz="1300" b="1">
                <a:solidFill>
                  <a:srgbClr val="000000"/>
                </a:solidFill>
              </a:rPr>
              <a:t>100% Fully Automated.</a:t>
            </a:r>
            <a:r>
              <a:rPr lang="en" sz="1300">
                <a:solidFill>
                  <a:srgbClr val="000000"/>
                </a:solidFill>
              </a:rPr>
              <a:t> No human intervention is required.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The "Control" Factor:</a:t>
            </a:r>
            <a:r>
              <a:rPr lang="en" sz="1300">
                <a:solidFill>
                  <a:srgbClr val="000000"/>
                </a:solidFill>
              </a:rPr>
              <a:t> You define the "Automatic Threshold" (e.g., 90%). The agent only pulls the trigger when it is as certain as a human expert.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 b="1">
                <a:solidFill>
                  <a:srgbClr val="000000"/>
                </a:solidFill>
              </a:rPr>
              <a:t>Business Value:</a:t>
            </a:r>
            <a:endParaRPr sz="1300" b="1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○"/>
            </a:pPr>
            <a:r>
              <a:rPr lang="en" sz="1300">
                <a:solidFill>
                  <a:srgbClr val="000000"/>
                </a:solidFill>
              </a:rPr>
              <a:t>0.5% reduction in Days Sales Outstanding (DSO).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○"/>
            </a:pPr>
            <a:r>
              <a:rPr lang="en" sz="1300">
                <a:solidFill>
                  <a:srgbClr val="000000"/>
                </a:solidFill>
              </a:rPr>
              <a:t>Eliminates 30-90% of routine manual matching labor.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300"/>
          </a:p>
        </p:txBody>
      </p:sp>
      <p:pic>
        <p:nvPicPr>
          <p:cNvPr id="312" name="Google Shape;312;p40" title="loioe4a3db9ca48c4a458525e6468b1f460e_LowRes.png"/>
          <p:cNvPicPr preferRelativeResize="0"/>
          <p:nvPr/>
        </p:nvPicPr>
        <p:blipFill rotWithShape="1">
          <a:blip r:embed="rId3">
            <a:alphaModFix/>
          </a:blip>
          <a:srcRect t="84438"/>
          <a:stretch/>
        </p:blipFill>
        <p:spPr>
          <a:xfrm>
            <a:off x="613675" y="4343100"/>
            <a:ext cx="7504200" cy="80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1"/>
          <p:cNvSpPr txBox="1">
            <a:spLocks noGrp="1"/>
          </p:cNvSpPr>
          <p:nvPr>
            <p:ph type="title"/>
          </p:nvPr>
        </p:nvSpPr>
        <p:spPr>
          <a:xfrm>
            <a:off x="462900" y="107250"/>
            <a:ext cx="79611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example - ACH/Wire/EFT</a:t>
            </a:r>
            <a:endParaRPr/>
          </a:p>
        </p:txBody>
      </p:sp>
      <p:sp>
        <p:nvSpPr>
          <p:cNvPr id="318" name="Google Shape;318;p41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/>
              <a:t>Before:</a:t>
            </a:r>
            <a:endParaRPr b="1"/>
          </a:p>
        </p:txBody>
      </p:sp>
      <p:pic>
        <p:nvPicPr>
          <p:cNvPr id="319" name="Google Shape;319;p41" title="Screenshot 2026-01-21 at 10.50.50 PM.jpg"/>
          <p:cNvPicPr preferRelativeResize="0"/>
          <p:nvPr/>
        </p:nvPicPr>
        <p:blipFill rotWithShape="1">
          <a:blip r:embed="rId3">
            <a:alphaModFix/>
          </a:blip>
          <a:srcRect l="2476" t="4824" r="7140" b="8557"/>
          <a:stretch/>
        </p:blipFill>
        <p:spPr>
          <a:xfrm>
            <a:off x="36797" y="1721401"/>
            <a:ext cx="9070423" cy="283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2"/>
          <p:cNvSpPr txBox="1">
            <a:spLocks noGrp="1"/>
          </p:cNvSpPr>
          <p:nvPr>
            <p:ph type="title"/>
          </p:nvPr>
        </p:nvSpPr>
        <p:spPr>
          <a:xfrm>
            <a:off x="462900" y="107250"/>
            <a:ext cx="79611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example - ACH/Wire/EFT</a:t>
            </a:r>
            <a:endParaRPr/>
          </a:p>
        </p:txBody>
      </p:sp>
      <p:sp>
        <p:nvSpPr>
          <p:cNvPr id="325" name="Google Shape;325;p42"/>
          <p:cNvSpPr txBox="1">
            <a:spLocks noGrp="1"/>
          </p:cNvSpPr>
          <p:nvPr>
            <p:ph type="body" idx="1"/>
          </p:nvPr>
        </p:nvSpPr>
        <p:spPr>
          <a:xfrm>
            <a:off x="283925" y="6790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/>
              <a:t>After:</a:t>
            </a:r>
            <a:endParaRPr b="1"/>
          </a:p>
        </p:txBody>
      </p:sp>
      <p:pic>
        <p:nvPicPr>
          <p:cNvPr id="326" name="Google Shape;326;p42" title="SAP Cash App L5-ACH _ EFT _ Wire Payment.drawio-2.png"/>
          <p:cNvPicPr preferRelativeResize="0"/>
          <p:nvPr/>
        </p:nvPicPr>
        <p:blipFill rotWithShape="1">
          <a:blip r:embed="rId3">
            <a:alphaModFix/>
          </a:blip>
          <a:srcRect l="4514" t="35497" r="1234" b="3822"/>
          <a:stretch/>
        </p:blipFill>
        <p:spPr>
          <a:xfrm>
            <a:off x="-2700" y="1273825"/>
            <a:ext cx="9144003" cy="3457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"/>
          <p:cNvSpPr txBox="1">
            <a:spLocks noGrp="1"/>
          </p:cNvSpPr>
          <p:nvPr>
            <p:ph type="title" idx="4"/>
          </p:nvPr>
        </p:nvSpPr>
        <p:spPr>
          <a:xfrm>
            <a:off x="730950" y="180213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Automation Logic &amp; Decision Thresholds</a:t>
            </a:r>
            <a:endParaRPr sz="2600"/>
          </a:p>
        </p:txBody>
      </p:sp>
      <p:pic>
        <p:nvPicPr>
          <p:cNvPr id="332" name="Google Shape;33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126752" cy="22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3"/>
          <p:cNvPicPr preferRelativeResize="0"/>
          <p:nvPr/>
        </p:nvPicPr>
        <p:blipFill rotWithShape="1">
          <a:blip r:embed="rId4">
            <a:alphaModFix/>
          </a:blip>
          <a:srcRect t="11622" b="25955"/>
          <a:stretch/>
        </p:blipFill>
        <p:spPr>
          <a:xfrm>
            <a:off x="338525" y="1138600"/>
            <a:ext cx="8050648" cy="33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 txBox="1">
            <a:spLocks noGrp="1"/>
          </p:cNvSpPr>
          <p:nvPr>
            <p:ph type="title"/>
          </p:nvPr>
        </p:nvSpPr>
        <p:spPr>
          <a:xfrm>
            <a:off x="452116" y="8465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Accounts Receivable Agent: Enablement for Cash Application (ACH/EFT/Wire)</a:t>
            </a:r>
            <a:endParaRPr sz="2600"/>
          </a:p>
        </p:txBody>
      </p:sp>
      <p:pic>
        <p:nvPicPr>
          <p:cNvPr id="339" name="Google Shape;339;p44" title="Screenshot 2026-01-21 at 10.50.50 PM.jpg"/>
          <p:cNvPicPr preferRelativeResize="0"/>
          <p:nvPr/>
        </p:nvPicPr>
        <p:blipFill rotWithShape="1">
          <a:blip r:embed="rId3">
            <a:alphaModFix/>
          </a:blip>
          <a:srcRect l="2476" t="4824" r="7140" b="8557"/>
          <a:stretch/>
        </p:blipFill>
        <p:spPr>
          <a:xfrm>
            <a:off x="36797" y="831626"/>
            <a:ext cx="9070423" cy="28394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4"/>
          <p:cNvSpPr/>
          <p:nvPr/>
        </p:nvSpPr>
        <p:spPr>
          <a:xfrm>
            <a:off x="357200" y="2857500"/>
            <a:ext cx="3863700" cy="2242200"/>
          </a:xfrm>
          <a:prstGeom prst="wedgeRoundRectCallout">
            <a:avLst>
              <a:gd name="adj1" fmla="val -695"/>
              <a:gd name="adj2" fmla="val -58408"/>
              <a:gd name="adj3" fmla="val 0"/>
            </a:avLst>
          </a:prstGeom>
          <a:solidFill>
            <a:srgbClr val="FF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AI scans bank statements to link unidentified payments to open invoices.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Executes autonomous matching using a &gt;90% confidence threshold for immediate ledger posting in S/4HANA.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Incoming payments matches automatically between 30% and 90%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Utilizes the base Accounts Receivable Agent to reduce uncollectable write-offs through faster clearing.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41" name="Google Shape;341;p44"/>
          <p:cNvSpPr/>
          <p:nvPr/>
        </p:nvSpPr>
        <p:spPr>
          <a:xfrm>
            <a:off x="5476875" y="3403200"/>
            <a:ext cx="3532200" cy="1712700"/>
          </a:xfrm>
          <a:prstGeom prst="wedgeRoundRectCallout">
            <a:avLst>
              <a:gd name="adj1" fmla="val -62373"/>
              <a:gd name="adj2" fmla="val -45191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en" sz="900">
                <a:solidFill>
                  <a:schemeClr val="dk2"/>
                </a:solidFill>
              </a:rPr>
              <a:t>Automatically flags anomalies and unidentified sources, routing them to the AR Accountant with a generated rationale.</a:t>
            </a:r>
            <a:endParaRPr sz="900">
              <a:solidFill>
                <a:schemeClr val="dk2"/>
              </a:solidFill>
            </a:endParaRPr>
          </a:p>
          <a:p>
            <a:pPr marL="1143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en" sz="900">
                <a:solidFill>
                  <a:schemeClr val="dk2"/>
                </a:solidFill>
              </a:rPr>
              <a:t>Analyzes historical payment behavior to forecast risks and prioritize the collections worklist.</a:t>
            </a:r>
            <a:endParaRPr sz="900">
              <a:solidFill>
                <a:schemeClr val="dk2"/>
              </a:solidFill>
            </a:endParaRPr>
          </a:p>
          <a:p>
            <a:pPr marL="1143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en" sz="900">
                <a:solidFill>
                  <a:schemeClr val="dk2"/>
                </a:solidFill>
              </a:rPr>
              <a:t>Enables natural language queries for quick reports and recommendations on complex unidentified payments.</a:t>
            </a:r>
            <a:endParaRPr sz="900">
              <a:solidFill>
                <a:schemeClr val="dk2"/>
              </a:solidFill>
            </a:endParaRPr>
          </a:p>
          <a:p>
            <a:pPr marL="1143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en" sz="900">
                <a:solidFill>
                  <a:schemeClr val="dk2"/>
                </a:solidFill>
              </a:rPr>
              <a:t>Shifts the AR Accountant role from "Data Entry/Searcher" to "High-Level Reviewer" by automating 90% of investigation effort.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5"/>
          <p:cNvSpPr txBox="1">
            <a:spLocks noGrp="1"/>
          </p:cNvSpPr>
          <p:nvPr>
            <p:ph type="title"/>
          </p:nvPr>
        </p:nvSpPr>
        <p:spPr>
          <a:xfrm>
            <a:off x="446300" y="723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SAP Cash Application: Enablement for DTC &amp; Bank Reconciliation</a:t>
            </a:r>
            <a:endParaRPr sz="2600"/>
          </a:p>
        </p:txBody>
      </p:sp>
      <p:pic>
        <p:nvPicPr>
          <p:cNvPr id="347" name="Google Shape;347;p45" title="Screenshot 2026-01-21 at 11.19.28 PM.jpg"/>
          <p:cNvPicPr preferRelativeResize="0"/>
          <p:nvPr/>
        </p:nvPicPr>
        <p:blipFill rotWithShape="1">
          <a:blip r:embed="rId3">
            <a:alphaModFix/>
          </a:blip>
          <a:srcRect t="14944"/>
          <a:stretch/>
        </p:blipFill>
        <p:spPr>
          <a:xfrm>
            <a:off x="163350" y="941550"/>
            <a:ext cx="8065801" cy="40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5"/>
          <p:cNvSpPr/>
          <p:nvPr/>
        </p:nvSpPr>
        <p:spPr>
          <a:xfrm>
            <a:off x="5288025" y="405075"/>
            <a:ext cx="3755400" cy="1839300"/>
          </a:xfrm>
          <a:prstGeom prst="wedgeRoundRectCallout">
            <a:avLst>
              <a:gd name="adj1" fmla="val -59329"/>
              <a:gd name="adj2" fmla="val 61905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Leverages </a:t>
            </a:r>
            <a:r>
              <a:rPr lang="en" sz="1100" b="1">
                <a:solidFill>
                  <a:schemeClr val="dk2"/>
                </a:solidFill>
              </a:rPr>
              <a:t>SAP Cash Application (Premium)</a:t>
            </a:r>
            <a:r>
              <a:rPr lang="en" sz="1100">
                <a:solidFill>
                  <a:schemeClr val="dk2"/>
                </a:solidFill>
              </a:rPr>
              <a:t> to automate matching between bank statement items and POS records.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Uses machine learning to increase the rate of successful auto-matches, minimizing "manual investigation" for reconciliations.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records reconciliation accuracy and baseline values to measure program success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49" name="Google Shape;349;p45"/>
          <p:cNvSpPr/>
          <p:nvPr/>
        </p:nvSpPr>
        <p:spPr>
          <a:xfrm>
            <a:off x="218125" y="2244375"/>
            <a:ext cx="3755400" cy="1839300"/>
          </a:xfrm>
          <a:prstGeom prst="wedgeRoundRectCallout">
            <a:avLst>
              <a:gd name="adj1" fmla="val 24655"/>
              <a:gd name="adj2" fmla="val 57739"/>
              <a:gd name="adj3" fmla="val 0"/>
            </a:avLst>
          </a:prstGeom>
          <a:solidFill>
            <a:srgbClr val="FF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identifies errors in POS data and suggests corrective actions (e.g., repeating POS Inbound).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Shifts the </a:t>
            </a:r>
            <a:r>
              <a:rPr lang="en" sz="1100" b="1">
                <a:solidFill>
                  <a:schemeClr val="dk2"/>
                </a:solidFill>
              </a:rPr>
              <a:t>Cash Management Specialist</a:t>
            </a:r>
            <a:r>
              <a:rPr lang="en" sz="1100">
                <a:solidFill>
                  <a:schemeClr val="dk2"/>
                </a:solidFill>
              </a:rPr>
              <a:t> role from searching for discrepancies to remediating errors proposed by AI.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Uses conversational search for navigational assistance in resolving electronic document errors.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6"/>
          <p:cNvSpPr txBox="1">
            <a:spLocks noGrp="1"/>
          </p:cNvSpPr>
          <p:nvPr>
            <p:ph type="title"/>
          </p:nvPr>
        </p:nvSpPr>
        <p:spPr>
          <a:xfrm>
            <a:off x="325850" y="723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AR Agent: Enablement for Direct Debit</a:t>
            </a:r>
            <a:endParaRPr sz="2500"/>
          </a:p>
        </p:txBody>
      </p:sp>
      <p:pic>
        <p:nvPicPr>
          <p:cNvPr id="355" name="Google Shape;355;p46" title="Screenshot 2026-01-21 at 11.27.28 P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13029"/>
            <a:ext cx="8839200" cy="25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6"/>
          <p:cNvSpPr/>
          <p:nvPr/>
        </p:nvSpPr>
        <p:spPr>
          <a:xfrm>
            <a:off x="3229725" y="722550"/>
            <a:ext cx="3978900" cy="2036400"/>
          </a:xfrm>
          <a:prstGeom prst="wedgeRoundRectCallout">
            <a:avLst>
              <a:gd name="adj1" fmla="val 52910"/>
              <a:gd name="adj2" fmla="val 69893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creates payment proposals based on open item maturity and customer payment terms.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Pre-scans the proposal to identify blocks or SEPA mandate issues before the run.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Self-schedules payment runs based on bank processing windows and liquidity needs.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Shifts the AR Accountant from manually adjusting lines to approving a finalized AI-vetted run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435350" y="614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SAP Cash Application: Enablement for Lockbox</a:t>
            </a:r>
            <a:endParaRPr sz="2500"/>
          </a:p>
        </p:txBody>
      </p:sp>
      <p:pic>
        <p:nvPicPr>
          <p:cNvPr id="362" name="Google Shape;362;p47" title="Screenshot 2026-01-21 at 11.32.20 P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27150"/>
            <a:ext cx="8839201" cy="3195831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7"/>
          <p:cNvSpPr/>
          <p:nvPr/>
        </p:nvSpPr>
        <p:spPr>
          <a:xfrm>
            <a:off x="1696950" y="536425"/>
            <a:ext cx="3978900" cy="2036400"/>
          </a:xfrm>
          <a:prstGeom prst="wedgeRoundRectCallout">
            <a:avLst>
              <a:gd name="adj1" fmla="val 52910"/>
              <a:gd name="adj2" fmla="val 69893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Leverages </a:t>
            </a:r>
            <a:r>
              <a:rPr lang="en" sz="1100" b="1">
                <a:solidFill>
                  <a:schemeClr val="dk2"/>
                </a:solidFill>
              </a:rPr>
              <a:t>SAP Cash Application (Premium)</a:t>
            </a:r>
            <a:r>
              <a:rPr lang="en" sz="1100">
                <a:solidFill>
                  <a:schemeClr val="dk2"/>
                </a:solidFill>
              </a:rPr>
              <a:t> to clear and recommend matches for high-volume Lockbox files.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posts matches that meet a high confidence score, bypassing manual entry for standard transactions.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integrates with external bank files to resolve unapplied cash via behavioral insights.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identifies uncollectable risks within the clearing process to flag disputes earlier.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8"/>
          <p:cNvSpPr txBox="1">
            <a:spLocks noGrp="1"/>
          </p:cNvSpPr>
          <p:nvPr>
            <p:ph type="title"/>
          </p:nvPr>
        </p:nvSpPr>
        <p:spPr>
          <a:xfrm>
            <a:off x="501025" y="833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Accounts Receivable Agent: Enablement for Customer Down Payments</a:t>
            </a:r>
            <a:endParaRPr sz="2500"/>
          </a:p>
        </p:txBody>
      </p:sp>
      <p:pic>
        <p:nvPicPr>
          <p:cNvPr id="369" name="Google Shape;369;p48" title="Screenshot 2026-01-22 at 12.40.56 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5425"/>
            <a:ext cx="8839199" cy="264040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8"/>
          <p:cNvSpPr/>
          <p:nvPr/>
        </p:nvSpPr>
        <p:spPr>
          <a:xfrm>
            <a:off x="501025" y="3175000"/>
            <a:ext cx="3779700" cy="1707900"/>
          </a:xfrm>
          <a:prstGeom prst="wedgeRoundRectCallout">
            <a:avLst>
              <a:gd name="adj1" fmla="val 47974"/>
              <a:gd name="adj2" fmla="val -87180"/>
              <a:gd name="adj3" fmla="val 0"/>
            </a:avLst>
          </a:prstGeom>
          <a:solidFill>
            <a:srgbClr val="FF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AI automatically links down payments to customer orders to generate consolidated invoices without manual intervention.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validates master data and policy rules to ensure accurate invoice generation.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Compresses the sales lifecycle time by automating the complex link between orders and payments.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71" name="Google Shape;371;p48"/>
          <p:cNvSpPr/>
          <p:nvPr/>
        </p:nvSpPr>
        <p:spPr>
          <a:xfrm>
            <a:off x="4835675" y="3250775"/>
            <a:ext cx="3779700" cy="1707900"/>
          </a:xfrm>
          <a:prstGeom prst="wedgeRoundRectCallout">
            <a:avLst>
              <a:gd name="adj1" fmla="val -16887"/>
              <a:gd name="adj2" fmla="val -92258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Leverages SAP Cash Application to autonomously clear down payments against incoming bank statements.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Forecasts the risk of late or missing payments to prioritize reconciliation tasks for the AR Accountant.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captures reconciliation baseline values to track project success and ROI. 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9"/>
          <p:cNvSpPr txBox="1">
            <a:spLocks noGrp="1"/>
          </p:cNvSpPr>
          <p:nvPr>
            <p:ph type="body" idx="1"/>
          </p:nvPr>
        </p:nvSpPr>
        <p:spPr>
          <a:xfrm>
            <a:off x="720000" y="1650200"/>
            <a:ext cx="3876000" cy="23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49"/>
          <p:cNvSpPr txBox="1">
            <a:spLocks noGrp="1"/>
          </p:cNvSpPr>
          <p:nvPr>
            <p:ph type="title"/>
          </p:nvPr>
        </p:nvSpPr>
        <p:spPr>
          <a:xfrm>
            <a:off x="358700" y="9855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Accounts Receivable Agent: Enablement for Credit / Payment Card</a:t>
            </a:r>
            <a:endParaRPr sz="2500"/>
          </a:p>
        </p:txBody>
      </p:sp>
      <p:pic>
        <p:nvPicPr>
          <p:cNvPr id="378" name="Google Shape;378;p49" title="Screenshot 2026-01-22 at 12.44.52 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5" y="863121"/>
            <a:ext cx="9144000" cy="378930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9"/>
          <p:cNvSpPr/>
          <p:nvPr/>
        </p:nvSpPr>
        <p:spPr>
          <a:xfrm>
            <a:off x="566725" y="1171475"/>
            <a:ext cx="3779700" cy="1707900"/>
          </a:xfrm>
          <a:prstGeom prst="wedgeRoundRectCallout">
            <a:avLst>
              <a:gd name="adj1" fmla="val 84470"/>
              <a:gd name="adj2" fmla="val -28206"/>
              <a:gd name="adj3" fmla="val 0"/>
            </a:avLst>
          </a:prstGeom>
          <a:solidFill>
            <a:srgbClr val="FF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Uses the AR Agent to autonomously match and clear credit card documents against contract accounts.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Automates repetitive administrative clearing tasks, significantly reducing manual effort for the AR Accountant.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Works directly within the business context to ensure real-time ledger updates for cleared items.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80" name="Google Shape;380;p49"/>
          <p:cNvSpPr/>
          <p:nvPr/>
        </p:nvSpPr>
        <p:spPr>
          <a:xfrm>
            <a:off x="720000" y="3305300"/>
            <a:ext cx="3779700" cy="1707900"/>
          </a:xfrm>
          <a:prstGeom prst="wedgeRoundRectCallout">
            <a:avLst>
              <a:gd name="adj1" fmla="val 66802"/>
              <a:gd name="adj2" fmla="val -19167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identifies successful vs. failed settlements and suggests the correct posting logic, including fee calculations.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Forecasts settlement failures based on historical bank response codes to prioritize remediation.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Provides a natural language interface for the AR Administrator to investigate settlement errors via the Joule copilot.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0"/>
          <p:cNvSpPr txBox="1">
            <a:spLocks noGrp="1"/>
          </p:cNvSpPr>
          <p:nvPr>
            <p:ph type="title"/>
          </p:nvPr>
        </p:nvSpPr>
        <p:spPr>
          <a:xfrm>
            <a:off x="468175" y="1161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Accounts Receivable Agent: Enablement for Cash &amp; Checks Processing</a:t>
            </a:r>
            <a:endParaRPr sz="2500"/>
          </a:p>
        </p:txBody>
      </p:sp>
      <p:pic>
        <p:nvPicPr>
          <p:cNvPr id="386" name="Google Shape;386;p50" title="Screenshot 2026-01-22 at 12.50.34 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40325"/>
            <a:ext cx="8839198" cy="2293054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0"/>
          <p:cNvSpPr/>
          <p:nvPr/>
        </p:nvSpPr>
        <p:spPr>
          <a:xfrm>
            <a:off x="720000" y="2956025"/>
            <a:ext cx="3944100" cy="2057100"/>
          </a:xfrm>
          <a:prstGeom prst="wedgeRoundRectCallout">
            <a:avLst>
              <a:gd name="adj1" fmla="val 99407"/>
              <a:gd name="adj2" fmla="val -48935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Replaces "Manual Clearing" by recommending and executing proposed matches for accounts receivable.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posts matches that fall within tolerance thresholds, bypassing the AR Accountant role.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identifies uncollectable risks during the clearing process to flag disputes early.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Provides navigational assistance through Joule to resolve any matching errors that require manual review.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1"/>
          <p:cNvSpPr txBox="1">
            <a:spLocks noGrp="1"/>
          </p:cNvSpPr>
          <p:nvPr>
            <p:ph type="title"/>
          </p:nvPr>
        </p:nvSpPr>
        <p:spPr>
          <a:xfrm>
            <a:off x="720000" y="13395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Balanced View: Value vs. Challenges</a:t>
            </a:r>
            <a:endParaRPr/>
          </a:p>
        </p:txBody>
      </p:sp>
      <p:pic>
        <p:nvPicPr>
          <p:cNvPr id="393" name="Google Shape;393;p51" descr="image.png"/>
          <p:cNvPicPr preferRelativeResize="0"/>
          <p:nvPr/>
        </p:nvPicPr>
        <p:blipFill rotWithShape="1">
          <a:blip r:embed="rId3">
            <a:alphaModFix/>
          </a:blip>
          <a:srcRect b="4104"/>
          <a:stretch/>
        </p:blipFill>
        <p:spPr>
          <a:xfrm>
            <a:off x="278650" y="942013"/>
            <a:ext cx="4124375" cy="33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1"/>
          <p:cNvSpPr txBox="1"/>
          <p:nvPr/>
        </p:nvSpPr>
        <p:spPr>
          <a:xfrm>
            <a:off x="543791" y="1275976"/>
            <a:ext cx="2556600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47" b="0" i="0" u="none" strike="noStrike" cap="none">
                <a:solidFill>
                  <a:srgbClr val="0478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Upside (Value)</a:t>
            </a:r>
            <a:endParaRPr sz="1747"/>
          </a:p>
        </p:txBody>
      </p:sp>
      <p:pic>
        <p:nvPicPr>
          <p:cNvPr id="395" name="Google Shape;395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788" y="1870625"/>
            <a:ext cx="353518" cy="39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788" y="2821692"/>
            <a:ext cx="353518" cy="39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788" y="3548642"/>
            <a:ext cx="353518" cy="39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5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4263" y="1984665"/>
            <a:ext cx="132569" cy="162914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1"/>
          <p:cNvSpPr txBox="1"/>
          <p:nvPr/>
        </p:nvSpPr>
        <p:spPr>
          <a:xfrm>
            <a:off x="1044605" y="1870625"/>
            <a:ext cx="3248100" cy="2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6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Zero-Touch Velocity</a:t>
            </a:r>
            <a:endParaRPr sz="1237"/>
          </a:p>
        </p:txBody>
      </p:sp>
      <p:sp>
        <p:nvSpPr>
          <p:cNvPr id="400" name="Google Shape;400;p51"/>
          <p:cNvSpPr txBox="1"/>
          <p:nvPr/>
        </p:nvSpPr>
        <p:spPr>
          <a:xfrm>
            <a:off x="1044605" y="2114996"/>
            <a:ext cx="30933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 24/7 processing drastically reduces Days Sales Outstanding (DSO) by clearing invoices in real-time.</a:t>
            </a:r>
            <a:endParaRPr sz="970"/>
          </a:p>
        </p:txBody>
      </p:sp>
      <p:pic>
        <p:nvPicPr>
          <p:cNvPr id="401" name="Google Shape;401;p5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898" y="2935732"/>
            <a:ext cx="147299" cy="16291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1"/>
          <p:cNvSpPr txBox="1"/>
          <p:nvPr/>
        </p:nvSpPr>
        <p:spPr>
          <a:xfrm>
            <a:off x="1044605" y="2821692"/>
            <a:ext cx="3248100" cy="2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6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Precision</a:t>
            </a:r>
            <a:endParaRPr sz="1237"/>
          </a:p>
        </p:txBody>
      </p:sp>
      <p:sp>
        <p:nvSpPr>
          <p:cNvPr id="403" name="Google Shape;403;p51"/>
          <p:cNvSpPr txBox="1"/>
          <p:nvPr/>
        </p:nvSpPr>
        <p:spPr>
          <a:xfrm>
            <a:off x="1044605" y="3066064"/>
            <a:ext cx="30933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Eliminates manual data-entry errors such as typos in invoice numbers or incorrect payment amounts.</a:t>
            </a:r>
            <a:endParaRPr sz="970"/>
          </a:p>
        </p:txBody>
      </p:sp>
      <p:pic>
        <p:nvPicPr>
          <p:cNvPr id="404" name="Google Shape;404;p5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6898" y="3662682"/>
            <a:ext cx="147299" cy="16291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1"/>
          <p:cNvSpPr txBox="1"/>
          <p:nvPr/>
        </p:nvSpPr>
        <p:spPr>
          <a:xfrm>
            <a:off x="1044605" y="3548642"/>
            <a:ext cx="3248100" cy="2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6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Scalability</a:t>
            </a:r>
            <a:endParaRPr sz="1237"/>
          </a:p>
        </p:txBody>
      </p:sp>
      <p:sp>
        <p:nvSpPr>
          <p:cNvPr id="406" name="Google Shape;406;p51"/>
          <p:cNvSpPr txBox="1"/>
          <p:nvPr/>
        </p:nvSpPr>
        <p:spPr>
          <a:xfrm>
            <a:off x="1044605" y="3793014"/>
            <a:ext cx="30933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Handles end-of-month volume spikes (e.g., 5,000+ checks) without needing overtime staff</a:t>
            </a:r>
            <a:endParaRPr sz="970"/>
          </a:p>
        </p:txBody>
      </p:sp>
      <p:pic>
        <p:nvPicPr>
          <p:cNvPr id="407" name="Google Shape;407;p51" descr="image.png"/>
          <p:cNvPicPr preferRelativeResize="0"/>
          <p:nvPr/>
        </p:nvPicPr>
        <p:blipFill rotWithShape="1">
          <a:blip r:embed="rId8">
            <a:alphaModFix/>
          </a:blip>
          <a:srcRect b="4104"/>
          <a:stretch/>
        </p:blipFill>
        <p:spPr>
          <a:xfrm>
            <a:off x="4550475" y="942025"/>
            <a:ext cx="4314876" cy="33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1"/>
          <p:cNvSpPr txBox="1"/>
          <p:nvPr/>
        </p:nvSpPr>
        <p:spPr>
          <a:xfrm>
            <a:off x="4819604" y="1275989"/>
            <a:ext cx="3358500" cy="2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1" b="0" i="0" u="none" strike="noStrike" cap="none">
                <a:solidFill>
                  <a:srgbClr val="B4530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Watch-Outs (Risks)</a:t>
            </a:r>
            <a:endParaRPr sz="1264"/>
          </a:p>
        </p:txBody>
      </p:sp>
      <p:pic>
        <p:nvPicPr>
          <p:cNvPr id="409" name="Google Shape;409;p5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19610" y="1848985"/>
            <a:ext cx="358845" cy="39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05385" y="2632617"/>
            <a:ext cx="358845" cy="39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19610" y="3394000"/>
            <a:ext cx="358845" cy="39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05584" y="1963025"/>
            <a:ext cx="186899" cy="162914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1"/>
          <p:cNvSpPr txBox="1"/>
          <p:nvPr/>
        </p:nvSpPr>
        <p:spPr>
          <a:xfrm>
            <a:off x="5327977" y="1870637"/>
            <a:ext cx="3296700" cy="2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Context Blindness</a:t>
            </a:r>
            <a:endParaRPr sz="1264"/>
          </a:p>
        </p:txBody>
      </p:sp>
      <p:sp>
        <p:nvSpPr>
          <p:cNvPr id="414" name="Google Shape;414;p51"/>
          <p:cNvSpPr txBox="1"/>
          <p:nvPr/>
        </p:nvSpPr>
        <p:spPr>
          <a:xfrm>
            <a:off x="5327977" y="2115008"/>
            <a:ext cx="31395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 struggles to judge intent, often failing to distinguish valid trade discounts from unauthorized short-pays.</a:t>
            </a:r>
            <a:endParaRPr sz="955"/>
          </a:p>
        </p:txBody>
      </p:sp>
      <p:pic>
        <p:nvPicPr>
          <p:cNvPr id="415" name="Google Shape;415;p5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98835" y="2746657"/>
            <a:ext cx="171947" cy="162914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1"/>
          <p:cNvSpPr txBox="1"/>
          <p:nvPr/>
        </p:nvSpPr>
        <p:spPr>
          <a:xfrm>
            <a:off x="5313752" y="2632310"/>
            <a:ext cx="3296700" cy="2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Input Sensitivity</a:t>
            </a:r>
            <a:endParaRPr sz="1264"/>
          </a:p>
        </p:txBody>
      </p:sp>
      <p:sp>
        <p:nvSpPr>
          <p:cNvPr id="417" name="Google Shape;417;p51"/>
          <p:cNvSpPr txBox="1"/>
          <p:nvPr/>
        </p:nvSpPr>
        <p:spPr>
          <a:xfrm>
            <a:off x="5313752" y="2876682"/>
            <a:ext cx="31395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Bad data in = Bad data out. Blurry lockbox scans or messy handwriting can cause automated failures.</a:t>
            </a:r>
            <a:endParaRPr sz="955"/>
          </a:p>
        </p:txBody>
      </p:sp>
      <p:pic>
        <p:nvPicPr>
          <p:cNvPr id="418" name="Google Shape;418;p5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942963" y="3508040"/>
            <a:ext cx="112140" cy="162914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1"/>
          <p:cNvSpPr txBox="1"/>
          <p:nvPr/>
        </p:nvSpPr>
        <p:spPr>
          <a:xfrm>
            <a:off x="5327977" y="3394000"/>
            <a:ext cx="3296700" cy="2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'Black Box' Audits</a:t>
            </a:r>
            <a:endParaRPr sz="1264"/>
          </a:p>
        </p:txBody>
      </p:sp>
      <p:sp>
        <p:nvSpPr>
          <p:cNvPr id="420" name="Google Shape;420;p51"/>
          <p:cNvSpPr txBox="1"/>
          <p:nvPr/>
        </p:nvSpPr>
        <p:spPr>
          <a:xfrm>
            <a:off x="5327975" y="3638375"/>
            <a:ext cx="32967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is significantly harder to explain complex AI matching logic to external auditors than standard human notes.</a:t>
            </a:r>
            <a:endParaRPr sz="955"/>
          </a:p>
        </p:txBody>
      </p:sp>
      <p:sp>
        <p:nvSpPr>
          <p:cNvPr id="421" name="Google Shape;421;p51"/>
          <p:cNvSpPr/>
          <p:nvPr/>
        </p:nvSpPr>
        <p:spPr>
          <a:xfrm>
            <a:off x="302775" y="4431025"/>
            <a:ext cx="8554500" cy="523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2" name="Google Shape;422;p51"/>
          <p:cNvSpPr txBox="1"/>
          <p:nvPr/>
        </p:nvSpPr>
        <p:spPr>
          <a:xfrm>
            <a:off x="286725" y="4431025"/>
            <a:ext cx="8554500" cy="5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Nunito"/>
                <a:ea typeface="Nunito"/>
                <a:cs typeface="Nunito"/>
                <a:sym typeface="Nunito"/>
              </a:rPr>
              <a:t>Strategic Implication: 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The AI handles </a:t>
            </a:r>
            <a:r>
              <a:rPr lang="en" sz="1200" b="1">
                <a:latin typeface="Nunito"/>
                <a:ea typeface="Nunito"/>
                <a:cs typeface="Nunito"/>
                <a:sym typeface="Nunito"/>
              </a:rPr>
              <a:t>Volume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(Standard Transactions), freeing Humans to handle </a:t>
            </a:r>
            <a:r>
              <a:rPr lang="en" sz="1200" b="1">
                <a:latin typeface="Nunito"/>
                <a:ea typeface="Nunito"/>
                <a:cs typeface="Nunito"/>
                <a:sym typeface="Nunito"/>
              </a:rPr>
              <a:t>Value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(Exceptions, Disputes, &amp; Relationships)." </a:t>
            </a:r>
            <a:r>
              <a:rPr lang="en" sz="1300" b="1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13"/>
              </a:rPr>
              <a:t>Video Link</a:t>
            </a:r>
            <a:endParaRPr sz="1300"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>
            <a:spLocks noGrp="1"/>
          </p:cNvSpPr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Disputes</a:t>
            </a:r>
            <a:endParaRPr/>
          </a:p>
        </p:txBody>
      </p:sp>
      <p:sp>
        <p:nvSpPr>
          <p:cNvPr id="428" name="Google Shape;428;p52"/>
          <p:cNvSpPr txBox="1">
            <a:spLocks noGrp="1"/>
          </p:cNvSpPr>
          <p:nvPr>
            <p:ph type="title" idx="2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429" name="Google Shape;429;p52"/>
          <p:cNvSpPr txBox="1">
            <a:spLocks noGrp="1"/>
          </p:cNvSpPr>
          <p:nvPr>
            <p:ph type="subTitle" idx="1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Mayank, Byron, Rhea</a:t>
            </a:r>
            <a:endParaRPr/>
          </a:p>
        </p:txBody>
      </p:sp>
      <p:cxnSp>
        <p:nvCxnSpPr>
          <p:cNvPr id="430" name="Google Shape;430;p52"/>
          <p:cNvCxnSpPr>
            <a:endCxn id="431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1" name="Google Shape;431;p52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32" name="Google Shape;43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3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Current State and Agent Overview</a:t>
            </a:r>
            <a:endParaRPr sz="2600"/>
          </a:p>
        </p:txBody>
      </p:sp>
      <p:sp>
        <p:nvSpPr>
          <p:cNvPr id="438" name="Google Shape;438;p53"/>
          <p:cNvSpPr txBox="1">
            <a:spLocks noGrp="1"/>
          </p:cNvSpPr>
          <p:nvPr>
            <p:ph type="title"/>
          </p:nvPr>
        </p:nvSpPr>
        <p:spPr>
          <a:xfrm>
            <a:off x="815004" y="2461493"/>
            <a:ext cx="2811300" cy="4065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Human-Driven Process</a:t>
            </a:r>
            <a:endParaRPr sz="1818"/>
          </a:p>
        </p:txBody>
      </p:sp>
      <p:sp>
        <p:nvSpPr>
          <p:cNvPr id="439" name="Google Shape;439;p53"/>
          <p:cNvSpPr txBox="1">
            <a:spLocks noGrp="1"/>
          </p:cNvSpPr>
          <p:nvPr>
            <p:ph type="subTitle" idx="3"/>
          </p:nvPr>
        </p:nvSpPr>
        <p:spPr>
          <a:xfrm>
            <a:off x="164000" y="2832650"/>
            <a:ext cx="3912900" cy="22467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L5 Step: Dispute Case Opening and Management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Manually create dispute cases</a:t>
            </a:r>
            <a:endParaRPr sz="1309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Human managers need to communicate with every individual dispute case</a:t>
            </a:r>
            <a:endParaRPr sz="1309"/>
          </a:p>
          <a:p>
            <a:pPr marL="914400" lvl="1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Reduces workflow speed</a:t>
            </a:r>
            <a:endParaRPr sz="1309"/>
          </a:p>
          <a:p>
            <a:pPr marL="914400" lvl="1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Higher costs for dispute management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Difficulty in tracking and resolving disputes immediately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</p:txBody>
      </p:sp>
      <p:sp>
        <p:nvSpPr>
          <p:cNvPr id="440" name="Google Shape;440;p53"/>
          <p:cNvSpPr txBox="1">
            <a:spLocks noGrp="1"/>
          </p:cNvSpPr>
          <p:nvPr>
            <p:ph type="title"/>
          </p:nvPr>
        </p:nvSpPr>
        <p:spPr>
          <a:xfrm>
            <a:off x="2567700" y="950188"/>
            <a:ext cx="4008600" cy="4065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Dispute Resolution Agent</a:t>
            </a:r>
            <a:endParaRPr sz="1818"/>
          </a:p>
        </p:txBody>
      </p:sp>
      <p:sp>
        <p:nvSpPr>
          <p:cNvPr id="441" name="Google Shape;441;p53"/>
          <p:cNvSpPr txBox="1">
            <a:spLocks noGrp="1"/>
          </p:cNvSpPr>
          <p:nvPr>
            <p:ph type="subTitle" idx="3"/>
          </p:nvPr>
        </p:nvSpPr>
        <p:spPr>
          <a:xfrm>
            <a:off x="472125" y="1344125"/>
            <a:ext cx="3832500" cy="8964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Scan invoices and contracts for errors automatically </a:t>
            </a:r>
            <a:endParaRPr sz="1509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300">
                <a:solidFill>
                  <a:srgbClr val="000000"/>
                </a:solidFill>
              </a:rPr>
              <a:t>Detects incorrect charges and suggest fixes (e.g. creation of credit memos )</a:t>
            </a:r>
            <a:endParaRPr sz="15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</p:txBody>
      </p:sp>
      <p:pic>
        <p:nvPicPr>
          <p:cNvPr id="442" name="Google Shape;44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25" y="5925"/>
            <a:ext cx="2321924" cy="24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3"/>
          <p:cNvSpPr txBox="1">
            <a:spLocks noGrp="1"/>
          </p:cNvSpPr>
          <p:nvPr>
            <p:ph type="title" idx="2"/>
          </p:nvPr>
        </p:nvSpPr>
        <p:spPr>
          <a:xfrm>
            <a:off x="5216052" y="2457908"/>
            <a:ext cx="2547600" cy="413700"/>
          </a:xfrm>
          <a:prstGeom prst="rect">
            <a:avLst/>
          </a:prstGeom>
        </p:spPr>
        <p:txBody>
          <a:bodyPr spcFirstLastPara="1" wrap="square" lIns="67675" tIns="67675" rIns="67675" bIns="676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AI-Driven Process</a:t>
            </a:r>
            <a:endParaRPr sz="1850"/>
          </a:p>
        </p:txBody>
      </p:sp>
      <p:sp>
        <p:nvSpPr>
          <p:cNvPr id="444" name="Google Shape;444;p53"/>
          <p:cNvSpPr txBox="1">
            <a:spLocks noGrp="1"/>
          </p:cNvSpPr>
          <p:nvPr>
            <p:ph type="subTitle" idx="1"/>
          </p:nvPr>
        </p:nvSpPr>
        <p:spPr>
          <a:xfrm>
            <a:off x="4130650" y="2715600"/>
            <a:ext cx="4718400" cy="2176800"/>
          </a:xfrm>
          <a:prstGeom prst="rect">
            <a:avLst/>
          </a:prstGeom>
        </p:spPr>
        <p:txBody>
          <a:bodyPr spcFirstLastPara="1" wrap="square" lIns="67675" tIns="67675" rIns="67675" bIns="67675" anchor="t" anchorCtr="0">
            <a:noAutofit/>
          </a:bodyPr>
          <a:lstStyle/>
          <a:p>
            <a:pPr marL="338415" lvl="0" indent="-251757" algn="l" rtl="0">
              <a:lnSpc>
                <a:spcPct val="115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Automated Case Analysis and Validation:</a:t>
            </a:r>
            <a:endParaRPr sz="1300">
              <a:solidFill>
                <a:srgbClr val="000000"/>
              </a:solidFill>
            </a:endParaRPr>
          </a:p>
          <a:p>
            <a:pPr marL="676832" lvl="1" indent="-25175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</a:rPr>
              <a:t>Determines the validity of cases itself</a:t>
            </a:r>
            <a:endParaRPr sz="1300">
              <a:solidFill>
                <a:srgbClr val="000000"/>
              </a:solidFill>
            </a:endParaRPr>
          </a:p>
          <a:p>
            <a:pPr marL="338415" lvl="0" indent="-25175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Key Issues are summarized for human reviewer</a:t>
            </a:r>
            <a:endParaRPr sz="1300">
              <a:solidFill>
                <a:srgbClr val="000000"/>
              </a:solidFill>
            </a:endParaRPr>
          </a:p>
          <a:p>
            <a:pPr marL="338415" lvl="0" indent="-25175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Proposes potential resolution options, reviewed by human</a:t>
            </a:r>
            <a:endParaRPr sz="1300">
              <a:solidFill>
                <a:srgbClr val="000000"/>
              </a:solidFill>
            </a:endParaRPr>
          </a:p>
          <a:p>
            <a:pPr marL="338415" lvl="0" indent="-25175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Provides a more streamlined dispute process, maintaining stable customer relations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888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445" name="Google Shape;445;p53"/>
          <p:cNvSpPr txBox="1"/>
          <p:nvPr/>
        </p:nvSpPr>
        <p:spPr>
          <a:xfrm>
            <a:off x="4282550" y="1356700"/>
            <a:ext cx="4150800" cy="1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30% reduction in Dispute Management handling cost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5% reduction in customer churn attributable to invoice disputes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4"/>
          <p:cNvSpPr txBox="1">
            <a:spLocks noGrp="1"/>
          </p:cNvSpPr>
          <p:nvPr>
            <p:ph type="title"/>
          </p:nvPr>
        </p:nvSpPr>
        <p:spPr>
          <a:xfrm>
            <a:off x="1121450" y="28650"/>
            <a:ext cx="6627900" cy="7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/>
              <a:t>Dispute Resolution Agent</a:t>
            </a:r>
            <a:endParaRPr sz="3900"/>
          </a:p>
        </p:txBody>
      </p:sp>
      <p:sp>
        <p:nvSpPr>
          <p:cNvPr id="451" name="Google Shape;451;p54"/>
          <p:cNvSpPr txBox="1"/>
          <p:nvPr/>
        </p:nvSpPr>
        <p:spPr>
          <a:xfrm>
            <a:off x="688200" y="736050"/>
            <a:ext cx="3975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Dispute Case Open &amp; Management Workflow</a:t>
            </a:r>
            <a:endParaRPr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52" name="Google Shape;45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0" y="1474500"/>
            <a:ext cx="9057721" cy="2313412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4"/>
          <p:cNvSpPr/>
          <p:nvPr/>
        </p:nvSpPr>
        <p:spPr>
          <a:xfrm>
            <a:off x="1452150" y="3838650"/>
            <a:ext cx="3784500" cy="1305000"/>
          </a:xfrm>
          <a:prstGeom prst="wedgeRoundRectCallout">
            <a:avLst>
              <a:gd name="adj1" fmla="val -3416"/>
              <a:gd name="adj2" fmla="val -100492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Automatically reviews invoices and contracts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replaces manual review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Checks if customer complaints are justified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supports faster decisions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Suggests or triggers corrections (e.g., credit memos)</a:t>
            </a:r>
            <a:endParaRPr sz="11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reduces delays and back-and-forth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5"/>
          <p:cNvSpPr txBox="1">
            <a:spLocks noGrp="1"/>
          </p:cNvSpPr>
          <p:nvPr>
            <p:ph type="title"/>
          </p:nvPr>
        </p:nvSpPr>
        <p:spPr>
          <a:xfrm>
            <a:off x="720000" y="2792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Balanced View: Value vs. Challenges</a:t>
            </a:r>
            <a:endParaRPr/>
          </a:p>
        </p:txBody>
      </p:sp>
      <p:pic>
        <p:nvPicPr>
          <p:cNvPr id="459" name="Google Shape;459;p55" descr="image.png"/>
          <p:cNvPicPr preferRelativeResize="0"/>
          <p:nvPr/>
        </p:nvPicPr>
        <p:blipFill rotWithShape="1">
          <a:blip r:embed="rId3">
            <a:alphaModFix/>
          </a:blip>
          <a:srcRect b="4104"/>
          <a:stretch/>
        </p:blipFill>
        <p:spPr>
          <a:xfrm>
            <a:off x="258950" y="1154450"/>
            <a:ext cx="4248975" cy="3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55"/>
          <p:cNvSpPr txBox="1"/>
          <p:nvPr/>
        </p:nvSpPr>
        <p:spPr>
          <a:xfrm>
            <a:off x="532101" y="1535825"/>
            <a:ext cx="263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rgbClr val="0478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Upside (Value)</a:t>
            </a:r>
            <a:endParaRPr sz="1800"/>
          </a:p>
        </p:txBody>
      </p:sp>
      <p:pic>
        <p:nvPicPr>
          <p:cNvPr id="461" name="Google Shape;461;p5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098" y="221489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5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098" y="320381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098" y="413113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910" y="2345123"/>
            <a:ext cx="136574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5"/>
          <p:cNvSpPr txBox="1"/>
          <p:nvPr/>
        </p:nvSpPr>
        <p:spPr>
          <a:xfrm>
            <a:off x="1048045" y="2214893"/>
            <a:ext cx="3346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High-Volume Data Handling</a:t>
            </a:r>
            <a:endParaRPr sz="1300"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6" b="1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55"/>
          <p:cNvSpPr txBox="1"/>
          <p:nvPr/>
        </p:nvSpPr>
        <p:spPr>
          <a:xfrm>
            <a:off x="1048045" y="2493957"/>
            <a:ext cx="31866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Efficient processing of large datasets reduces errors and accelerates dispute resolution.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67" name="Google Shape;467;p5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323" y="3334043"/>
            <a:ext cx="15174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55"/>
          <p:cNvSpPr txBox="1"/>
          <p:nvPr/>
        </p:nvSpPr>
        <p:spPr>
          <a:xfrm>
            <a:off x="1048045" y="3203813"/>
            <a:ext cx="3346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Faster Dispute Resolution</a:t>
            </a:r>
            <a:endParaRPr sz="1300"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6" b="1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" name="Google Shape;469;p55"/>
          <p:cNvSpPr txBox="1"/>
          <p:nvPr/>
        </p:nvSpPr>
        <p:spPr>
          <a:xfrm>
            <a:off x="1048045" y="3482877"/>
            <a:ext cx="31866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Real-time tracking of disputes improves accuracy and shortens resolution time.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0" name="Google Shape;470;p5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323" y="4261363"/>
            <a:ext cx="15174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5"/>
          <p:cNvSpPr txBox="1"/>
          <p:nvPr/>
        </p:nvSpPr>
        <p:spPr>
          <a:xfrm>
            <a:off x="1048045" y="4131133"/>
            <a:ext cx="3346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Stronger Customer Relations</a:t>
            </a:r>
            <a:endParaRPr sz="1366" b="1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2" name="Google Shape;472;p55"/>
          <p:cNvSpPr txBox="1"/>
          <p:nvPr/>
        </p:nvSpPr>
        <p:spPr>
          <a:xfrm>
            <a:off x="1048045" y="4410197"/>
            <a:ext cx="31866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More efficient and reduces the “back and forth” between customer and dispute management.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3" name="Google Shape;473;p55" descr="image.png"/>
          <p:cNvPicPr preferRelativeResize="0"/>
          <p:nvPr/>
        </p:nvPicPr>
        <p:blipFill rotWithShape="1">
          <a:blip r:embed="rId8">
            <a:alphaModFix/>
          </a:blip>
          <a:srcRect b="4104"/>
          <a:stretch/>
        </p:blipFill>
        <p:spPr>
          <a:xfrm>
            <a:off x="4603400" y="1154450"/>
            <a:ext cx="4318275" cy="3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5"/>
          <p:cNvSpPr txBox="1"/>
          <p:nvPr/>
        </p:nvSpPr>
        <p:spPr>
          <a:xfrm>
            <a:off x="4880998" y="1535825"/>
            <a:ext cx="346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43" b="0" i="0" u="none" strike="noStrike" cap="none">
                <a:solidFill>
                  <a:srgbClr val="B4530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Watch-Outs (Risks)</a:t>
            </a:r>
            <a:endParaRPr sz="1323"/>
          </a:p>
        </p:txBody>
      </p:sp>
      <p:pic>
        <p:nvPicPr>
          <p:cNvPr id="475" name="Google Shape;475;p5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81005" y="2190168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81005" y="3007237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81005" y="3872957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69684" y="2320398"/>
            <a:ext cx="192781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5"/>
          <p:cNvSpPr txBox="1"/>
          <p:nvPr/>
        </p:nvSpPr>
        <p:spPr>
          <a:xfrm>
            <a:off x="5405370" y="2214893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Agent Oversight</a:t>
            </a:r>
            <a:endParaRPr sz="1323"/>
          </a:p>
        </p:txBody>
      </p:sp>
      <p:sp>
        <p:nvSpPr>
          <p:cNvPr id="480" name="Google Shape;480;p55"/>
          <p:cNvSpPr txBox="1"/>
          <p:nvPr/>
        </p:nvSpPr>
        <p:spPr>
          <a:xfrm>
            <a:off x="5405370" y="2493957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Agent may not be able to make the most effective decision for more complicated disputes.</a:t>
            </a:r>
            <a:endParaRPr sz="1000"/>
          </a:p>
        </p:txBody>
      </p:sp>
      <p:pic>
        <p:nvPicPr>
          <p:cNvPr id="481" name="Google Shape;481;p5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77395" y="3137467"/>
            <a:ext cx="17735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5"/>
          <p:cNvSpPr txBox="1"/>
          <p:nvPr/>
        </p:nvSpPr>
        <p:spPr>
          <a:xfrm>
            <a:off x="5427970" y="3121300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Tracking &amp; Resolution Challenges</a:t>
            </a:r>
            <a:endParaRPr sz="1323"/>
          </a:p>
        </p:txBody>
      </p:sp>
      <p:sp>
        <p:nvSpPr>
          <p:cNvPr id="483" name="Google Shape;483;p55"/>
          <p:cNvSpPr txBox="1"/>
          <p:nvPr/>
        </p:nvSpPr>
        <p:spPr>
          <a:xfrm>
            <a:off x="5405370" y="3393226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Difficulty managing multiple disputes at once can delay resolutions and reduce accuracy.</a:t>
            </a:r>
            <a:endParaRPr sz="1000"/>
          </a:p>
        </p:txBody>
      </p:sp>
      <p:pic>
        <p:nvPicPr>
          <p:cNvPr id="484" name="Google Shape;484;p5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08240" y="4003187"/>
            <a:ext cx="11566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55"/>
          <p:cNvSpPr txBox="1"/>
          <p:nvPr/>
        </p:nvSpPr>
        <p:spPr>
          <a:xfrm>
            <a:off x="5405370" y="3872957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Limited Human Interaction</a:t>
            </a:r>
            <a:endParaRPr sz="1323"/>
          </a:p>
        </p:txBody>
      </p:sp>
      <p:sp>
        <p:nvSpPr>
          <p:cNvPr id="486" name="Google Shape;486;p55"/>
          <p:cNvSpPr txBox="1"/>
          <p:nvPr/>
        </p:nvSpPr>
        <p:spPr>
          <a:xfrm>
            <a:off x="5405370" y="4152021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Some customers may prefer to have a more human-involved experience during dispute cases.</a:t>
            </a: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6"/>
          <p:cNvSpPr txBox="1">
            <a:spLocks noGrp="1"/>
          </p:cNvSpPr>
          <p:nvPr>
            <p:ph type="title"/>
          </p:nvPr>
        </p:nvSpPr>
        <p:spPr>
          <a:xfrm>
            <a:off x="1121450" y="28650"/>
            <a:ext cx="6627900" cy="7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/>
              <a:t>Contract Accounting</a:t>
            </a:r>
            <a:endParaRPr sz="3900"/>
          </a:p>
        </p:txBody>
      </p:sp>
      <p:sp>
        <p:nvSpPr>
          <p:cNvPr id="492" name="Google Shape;492;p56"/>
          <p:cNvSpPr txBox="1"/>
          <p:nvPr/>
        </p:nvSpPr>
        <p:spPr>
          <a:xfrm>
            <a:off x="1121450" y="2456100"/>
            <a:ext cx="3398700" cy="17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Contract Accounting:</a:t>
            </a:r>
            <a:endParaRPr sz="11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Automatically matches payments to open invoices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 reduces manual work</a:t>
            </a:r>
            <a:b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Detects underpayments or partial payments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 speeds up dispute resolution</a:t>
            </a:r>
            <a:b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Clears accounts after corrections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 ensures accurate financials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93" name="Google Shape;49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6925" y="87475"/>
            <a:ext cx="2377850" cy="4968551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6"/>
          <p:cNvSpPr txBox="1">
            <a:spLocks noGrp="1"/>
          </p:cNvSpPr>
          <p:nvPr>
            <p:ph type="subTitle" idx="1"/>
          </p:nvPr>
        </p:nvSpPr>
        <p:spPr>
          <a:xfrm>
            <a:off x="1121450" y="913063"/>
            <a:ext cx="3512100" cy="11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0000"/>
                </a:solidFill>
              </a:rPr>
              <a:t>Before (Manual Process):</a:t>
            </a:r>
            <a:endParaRPr sz="1100" b="1">
              <a:solidFill>
                <a:srgbClr val="000000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Manually match payments to invoices</a:t>
            </a:r>
            <a:endParaRPr sz="1100">
              <a:solidFill>
                <a:srgbClr val="000000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Clear accounts after corrections</a:t>
            </a:r>
            <a:br>
              <a:rPr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Slow, error-prone, delays dispute closure</a:t>
            </a:r>
            <a:endParaRPr sz="11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  <p:sp>
        <p:nvSpPr>
          <p:cNvPr id="495" name="Google Shape;495;p56"/>
          <p:cNvSpPr txBox="1"/>
          <p:nvPr/>
        </p:nvSpPr>
        <p:spPr>
          <a:xfrm>
            <a:off x="5359425" y="87475"/>
            <a:ext cx="12072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Contract Accounting Workflow</a:t>
            </a:r>
            <a:endParaRPr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—&gt;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7"/>
          <p:cNvSpPr txBox="1">
            <a:spLocks noGrp="1"/>
          </p:cNvSpPr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&amp; Revenue</a:t>
            </a:r>
            <a:endParaRPr/>
          </a:p>
        </p:txBody>
      </p:sp>
      <p:sp>
        <p:nvSpPr>
          <p:cNvPr id="501" name="Google Shape;501;p57"/>
          <p:cNvSpPr txBox="1">
            <a:spLocks noGrp="1"/>
          </p:cNvSpPr>
          <p:nvPr>
            <p:ph type="title" idx="2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502" name="Google Shape;502;p57"/>
          <p:cNvSpPr txBox="1">
            <a:spLocks noGrp="1"/>
          </p:cNvSpPr>
          <p:nvPr>
            <p:ph type="subTitle" idx="1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Allison, Prabhu, Tanvi</a:t>
            </a:r>
            <a:endParaRPr/>
          </a:p>
        </p:txBody>
      </p:sp>
      <p:cxnSp>
        <p:nvCxnSpPr>
          <p:cNvPr id="503" name="Google Shape;503;p57"/>
          <p:cNvCxnSpPr>
            <a:endCxn id="504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4" name="Google Shape;504;p57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05" name="Google Shape;50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8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Current State and Agent Overview</a:t>
            </a:r>
            <a:endParaRPr sz="2600"/>
          </a:p>
        </p:txBody>
      </p:sp>
      <p:sp>
        <p:nvSpPr>
          <p:cNvPr id="511" name="Google Shape;511;p58"/>
          <p:cNvSpPr txBox="1">
            <a:spLocks noGrp="1"/>
          </p:cNvSpPr>
          <p:nvPr>
            <p:ph type="title"/>
          </p:nvPr>
        </p:nvSpPr>
        <p:spPr>
          <a:xfrm>
            <a:off x="832979" y="2169743"/>
            <a:ext cx="2811300" cy="4065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Human-Driven Process</a:t>
            </a:r>
            <a:endParaRPr sz="1818"/>
          </a:p>
        </p:txBody>
      </p:sp>
      <p:sp>
        <p:nvSpPr>
          <p:cNvPr id="512" name="Google Shape;512;p58"/>
          <p:cNvSpPr txBox="1">
            <a:spLocks noGrp="1"/>
          </p:cNvSpPr>
          <p:nvPr>
            <p:ph type="subTitle" idx="3"/>
          </p:nvPr>
        </p:nvSpPr>
        <p:spPr>
          <a:xfrm>
            <a:off x="490099" y="2540900"/>
            <a:ext cx="3658500" cy="22467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L5 Step: Bad Debt Reserves and Allowances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Manual review and validation of valuations assumptions and supporting data 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Manual analysis of delinquent accounts to access recovery eligibility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L5 Step: Dispute Management and KPIs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Manual analysis of overdue and unresolved disputes 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Review disputes reports and open disputes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</p:txBody>
      </p:sp>
      <p:sp>
        <p:nvSpPr>
          <p:cNvPr id="513" name="Google Shape;513;p58"/>
          <p:cNvSpPr txBox="1">
            <a:spLocks noGrp="1"/>
          </p:cNvSpPr>
          <p:nvPr>
            <p:ph type="title"/>
          </p:nvPr>
        </p:nvSpPr>
        <p:spPr>
          <a:xfrm>
            <a:off x="1935500" y="814063"/>
            <a:ext cx="4008600" cy="4065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Behavioral Insights Agent</a:t>
            </a:r>
            <a:endParaRPr sz="1818"/>
          </a:p>
        </p:txBody>
      </p:sp>
      <p:sp>
        <p:nvSpPr>
          <p:cNvPr id="514" name="Google Shape;514;p58"/>
          <p:cNvSpPr txBox="1">
            <a:spLocks noGrp="1"/>
          </p:cNvSpPr>
          <p:nvPr>
            <p:ph type="subTitle" idx="3"/>
          </p:nvPr>
        </p:nvSpPr>
        <p:spPr>
          <a:xfrm>
            <a:off x="526250" y="1262200"/>
            <a:ext cx="3832500" cy="9468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Predict customer payment risk using behavioral patterns 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Identify accounts likely to pay late, default, or require early intervention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</p:txBody>
      </p:sp>
      <p:sp>
        <p:nvSpPr>
          <p:cNvPr id="515" name="Google Shape;515;p58"/>
          <p:cNvSpPr txBox="1">
            <a:spLocks noGrp="1"/>
          </p:cNvSpPr>
          <p:nvPr>
            <p:ph type="title" idx="2"/>
          </p:nvPr>
        </p:nvSpPr>
        <p:spPr>
          <a:xfrm>
            <a:off x="5234027" y="2166158"/>
            <a:ext cx="2547600" cy="413700"/>
          </a:xfrm>
          <a:prstGeom prst="rect">
            <a:avLst/>
          </a:prstGeom>
        </p:spPr>
        <p:txBody>
          <a:bodyPr spcFirstLastPara="1" wrap="square" lIns="67675" tIns="67675" rIns="67675" bIns="676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AI-Driven Process</a:t>
            </a:r>
            <a:endParaRPr sz="1850"/>
          </a:p>
        </p:txBody>
      </p:sp>
      <p:sp>
        <p:nvSpPr>
          <p:cNvPr id="516" name="Google Shape;516;p58"/>
          <p:cNvSpPr txBox="1">
            <a:spLocks noGrp="1"/>
          </p:cNvSpPr>
          <p:nvPr>
            <p:ph type="subTitle" idx="1"/>
          </p:nvPr>
        </p:nvSpPr>
        <p:spPr>
          <a:xfrm>
            <a:off x="4425600" y="2423850"/>
            <a:ext cx="4718400" cy="2176800"/>
          </a:xfrm>
          <a:prstGeom prst="rect">
            <a:avLst/>
          </a:prstGeom>
        </p:spPr>
        <p:txBody>
          <a:bodyPr spcFirstLastPara="1" wrap="square" lIns="67675" tIns="67675" rIns="67675" bIns="67675" anchor="t" anchorCtr="0">
            <a:noAutofit/>
          </a:bodyPr>
          <a:lstStyle/>
          <a:p>
            <a:pPr marL="338415" lvl="0" indent="-251757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Behavioral Risk Scoring:</a:t>
            </a:r>
            <a:endParaRPr sz="1300">
              <a:solidFill>
                <a:srgbClr val="000000"/>
              </a:solidFill>
            </a:endParaRPr>
          </a:p>
          <a:p>
            <a:pPr marL="338415" lvl="0" indent="0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Analyzes historical invoice, payment, and customer behavior</a:t>
            </a:r>
            <a:endParaRPr sz="1300">
              <a:solidFill>
                <a:srgbClr val="000000"/>
              </a:solidFill>
            </a:endParaRPr>
          </a:p>
          <a:p>
            <a:pPr marL="338415" lvl="0" indent="-251757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Predictive Risk Awareness:</a:t>
            </a:r>
            <a:endParaRPr sz="1300">
              <a:solidFill>
                <a:srgbClr val="000000"/>
              </a:solidFill>
            </a:endParaRPr>
          </a:p>
          <a:p>
            <a:pPr marL="338415" lvl="0" indent="0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Flags high-risk accounts before missed payments occur</a:t>
            </a:r>
            <a:endParaRPr sz="1300">
              <a:solidFill>
                <a:srgbClr val="000000"/>
              </a:solidFill>
            </a:endParaRPr>
          </a:p>
          <a:p>
            <a:pPr marL="338415" lvl="0" indent="-251757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Collections Prioritization:</a:t>
            </a:r>
            <a:endParaRPr sz="1300">
              <a:solidFill>
                <a:srgbClr val="000000"/>
              </a:solidFill>
            </a:endParaRPr>
          </a:p>
          <a:p>
            <a:pPr marL="338415" lvl="0" indent="0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Recommends account prioritization for outreach and dispute review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517" name="Google Shape;517;p58"/>
          <p:cNvSpPr txBox="1"/>
          <p:nvPr/>
        </p:nvSpPr>
        <p:spPr>
          <a:xfrm>
            <a:off x="4358750" y="1220575"/>
            <a:ext cx="4150800" cy="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Nunito"/>
              <a:buChar char="●"/>
            </a:pPr>
            <a:r>
              <a:rPr lang="en" sz="1309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Enables proactive collections prioritization and reserve planning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Nunito"/>
              <a:buChar char="●"/>
            </a:pPr>
            <a:r>
              <a:rPr lang="en" sz="1309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5% reduction in uncollectible AR write-offs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9"/>
          <p:cNvSpPr txBox="1"/>
          <p:nvPr/>
        </p:nvSpPr>
        <p:spPr>
          <a:xfrm>
            <a:off x="319450" y="962625"/>
            <a:ext cx="8710500" cy="2876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Context: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Month-end close requires an Allowance for Doubtful Accounts (AFDA) estimate that is timely, defensible, and audit-ready.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Current challenges: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Reserve methodology remains aging-led, with significant analyst overlays and reviewer-to-reviewer variability.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Payment performance and dispute posture are not consistently translated into a repeatable risk segmentation.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Reserve movement explanations are time-consuming due to non-standard driver attribution and evidence capture.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Objective: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Standardize reserve stratification and driver attribution using policy-aligned thresholds, risk segmentation, and exception-based review.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Produce an evidence-backed reserve proposal package that supports leadership review and audit response.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523" name="Google Shape;523;p59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Overview and Objective: Executive Bad Debt Reserves and Allowances</a:t>
            </a:r>
            <a:endParaRPr sz="2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0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Behavioral Insights Agent: Executive Bad Debt Reserves and Allowances</a:t>
            </a:r>
            <a:endParaRPr sz="2600"/>
          </a:p>
        </p:txBody>
      </p:sp>
      <p:sp>
        <p:nvSpPr>
          <p:cNvPr id="529" name="Google Shape;529;p60"/>
          <p:cNvSpPr txBox="1"/>
          <p:nvPr/>
        </p:nvSpPr>
        <p:spPr>
          <a:xfrm>
            <a:off x="364867" y="837728"/>
            <a:ext cx="8400600" cy="410032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Purpose: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Improve consistency and speed of reserve estimation by converting broad manual review into risk-segmented, explainable decision support.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What the agent does: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Generates risk scores and risk segments for receivables collectability.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Prioritizes the review population by materiality and risk, with explainability for each recommendation.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Key inputs: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Exposure and aging, payment behavior history, dispute and deduction posture, policy thresholds, and decision history.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Outputs: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Risk-segmented reserve view (Low, Medium, High).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Reserve proposal package with key drivers versus prior close.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Ranked exception worklist requiring review.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Placement in the L5 </a:t>
            </a:r>
            <a:r>
              <a:rPr lang="en" sz="1100" b="1">
                <a:solidFill>
                  <a:schemeClr val="dk1"/>
                </a:solidFill>
              </a:rPr>
              <a:t>workflow:</a:t>
            </a:r>
            <a:r>
              <a:rPr lang="en" sz="1100" b="1" dirty="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Embedded </a:t>
            </a:r>
            <a:r>
              <a:rPr lang="en" sz="1100" dirty="0">
                <a:solidFill>
                  <a:schemeClr val="dk1"/>
                </a:solidFill>
              </a:rPr>
              <a:t>during month-end reserve review, prior to approval and posting activities.</a:t>
            </a:r>
            <a:endParaRPr sz="13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1"/>
          <p:cNvSpPr txBox="1">
            <a:spLocks noGrp="1"/>
          </p:cNvSpPr>
          <p:nvPr>
            <p:ph type="title" idx="4"/>
          </p:nvPr>
        </p:nvSpPr>
        <p:spPr>
          <a:xfrm>
            <a:off x="368775" y="95225"/>
            <a:ext cx="8112900" cy="133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 b="0"/>
              <a:t>Enablement for Bad Debt Reserves and Allowances</a:t>
            </a:r>
            <a:endParaRPr sz="2600"/>
          </a:p>
        </p:txBody>
      </p:sp>
      <p:sp>
        <p:nvSpPr>
          <p:cNvPr id="535" name="Google Shape;535;p61"/>
          <p:cNvSpPr txBox="1">
            <a:spLocks noGrp="1"/>
          </p:cNvSpPr>
          <p:nvPr>
            <p:ph type="title" idx="4"/>
          </p:nvPr>
        </p:nvSpPr>
        <p:spPr>
          <a:xfrm>
            <a:off x="101950" y="179447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Behavioral Insights Agent: Enablement for Bad Debt Reserves and Allowances</a:t>
            </a:r>
            <a:endParaRPr sz="3000"/>
          </a:p>
        </p:txBody>
      </p:sp>
      <p:pic>
        <p:nvPicPr>
          <p:cNvPr id="536" name="Google Shape;536;p61"/>
          <p:cNvPicPr preferRelativeResize="0"/>
          <p:nvPr/>
        </p:nvPicPr>
        <p:blipFill rotWithShape="1">
          <a:blip r:embed="rId3">
            <a:alphaModFix/>
          </a:blip>
          <a:srcRect l="1450" t="23547" r="568" b="35999"/>
          <a:stretch/>
        </p:blipFill>
        <p:spPr>
          <a:xfrm>
            <a:off x="101950" y="1507600"/>
            <a:ext cx="8837600" cy="202855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61"/>
          <p:cNvSpPr/>
          <p:nvPr/>
        </p:nvSpPr>
        <p:spPr>
          <a:xfrm>
            <a:off x="1452145" y="3614725"/>
            <a:ext cx="3768900" cy="1018800"/>
          </a:xfrm>
          <a:prstGeom prst="wedgeRoundRectCallout">
            <a:avLst>
              <a:gd name="adj1" fmla="val -882"/>
              <a:gd name="adj2" fmla="val -83824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</a:rPr>
              <a:t>Proposal automation:</a:t>
            </a:r>
            <a:endParaRPr sz="1100" b="1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Auto-builds valuation proposal package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Pre-checks master data and policy rules, flags issues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Recommends approve or revise with rationale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Auto-approve within tolerance thresholds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538" name="Google Shape;538;p61"/>
          <p:cNvSpPr/>
          <p:nvPr/>
        </p:nvSpPr>
        <p:spPr>
          <a:xfrm>
            <a:off x="5375100" y="3789295"/>
            <a:ext cx="3768900" cy="1018800"/>
          </a:xfrm>
          <a:prstGeom prst="wedgeRoundRectCallout">
            <a:avLst>
              <a:gd name="adj1" fmla="val 7973"/>
              <a:gd name="adj2" fmla="val -90079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</a:rPr>
              <a:t>Decision support:</a:t>
            </a:r>
            <a:endParaRPr sz="1100" b="1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Analyzes drivers (aging, disputes, payment behavior)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Flags anomalies and identifies reversals with rationale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Recommends next actions and builds a worklist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Adds explainability for each recommendation</a:t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2"/>
          <p:cNvSpPr txBox="1"/>
          <p:nvPr/>
        </p:nvSpPr>
        <p:spPr>
          <a:xfrm>
            <a:off x="4746350" y="962634"/>
            <a:ext cx="4246500" cy="206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What routes into the </a:t>
            </a:r>
            <a:r>
              <a:rPr lang="en" sz="1100" b="1">
                <a:solidFill>
                  <a:srgbClr val="FF0000"/>
                </a:solidFill>
              </a:rPr>
              <a:t>Red Box</a:t>
            </a:r>
            <a:r>
              <a:rPr lang="en" sz="1100" b="1">
                <a:solidFill>
                  <a:schemeClr val="dk1"/>
                </a:solidFill>
              </a:rPr>
              <a:t> (exceptions):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Reserve movement outside tolerance (absolute or percent).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Exposure above materiality threshold.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readiness or policy eligibility failures (missing master data, cut-off issues, rule conflicts).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Anomaly conditions (reversals, abrupt bucket migration, conflicting indicators).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Any override request.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544" name="Google Shape;544;p62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0"/>
              <a:t>L5 Bad Debt Reserves and Allowances: Significance of Red Box</a:t>
            </a:r>
            <a:endParaRPr sz="2600"/>
          </a:p>
        </p:txBody>
      </p:sp>
      <p:sp>
        <p:nvSpPr>
          <p:cNvPr id="545" name="Google Shape;545;p62"/>
          <p:cNvSpPr txBox="1"/>
          <p:nvPr/>
        </p:nvSpPr>
        <p:spPr>
          <a:xfrm>
            <a:off x="319450" y="962625"/>
            <a:ext cx="4246500" cy="3695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What the </a:t>
            </a:r>
            <a:r>
              <a:rPr lang="en" sz="1100" b="1">
                <a:solidFill>
                  <a:srgbClr val="FF0000"/>
                </a:solidFill>
              </a:rPr>
              <a:t>Red Box</a:t>
            </a:r>
            <a:r>
              <a:rPr lang="en" sz="1100" b="1">
                <a:solidFill>
                  <a:schemeClr val="dk1"/>
                </a:solidFill>
              </a:rPr>
              <a:t> represents: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controlled approval node where reserve recommendations become governed accounting outcomes, with segregation of duties and audit traceability.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Why it is retained: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Reserve movements can be financially material and require explicit decision ownership.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Enforces policy adherence through tolerance thresholds and escalation rules.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Ensures audit defensibility through documented rationale and evidence references.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Enables judgment-based review for edge cases that scoring cannot fully contextualize.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546" name="Google Shape;546;p62"/>
          <p:cNvSpPr txBox="1"/>
          <p:nvPr/>
        </p:nvSpPr>
        <p:spPr>
          <a:xfrm>
            <a:off x="4746350" y="3371625"/>
            <a:ext cx="4246500" cy="1286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What the </a:t>
            </a:r>
            <a:r>
              <a:rPr lang="en" sz="1100" b="1">
                <a:solidFill>
                  <a:srgbClr val="FF0000"/>
                </a:solidFill>
              </a:rPr>
              <a:t>Red Box</a:t>
            </a:r>
            <a:r>
              <a:rPr lang="en" sz="1100" b="1">
                <a:solidFill>
                  <a:schemeClr val="dk1"/>
                </a:solidFill>
              </a:rPr>
              <a:t> produces: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Approve, adjust, defer, or escalate decision.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Mandatory rationale and evidence references logged.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Audit-ready decision trail (who, what, why, when, based on which inputs).</a:t>
            </a: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3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0803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600" b="0"/>
              <a:t>Future-state L5 flow: Without vs With agent</a:t>
            </a:r>
            <a:endParaRPr sz="2600" b="0"/>
          </a:p>
        </p:txBody>
      </p:sp>
      <p:sp>
        <p:nvSpPr>
          <p:cNvPr id="552" name="Google Shape;552;p63"/>
          <p:cNvSpPr txBox="1"/>
          <p:nvPr/>
        </p:nvSpPr>
        <p:spPr>
          <a:xfrm>
            <a:off x="416950" y="3531200"/>
            <a:ext cx="8310000" cy="89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Net shift: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Move from full-population manual review to threshold-driven exception governance, while preserving approvals and audit defensibility</a:t>
            </a:r>
            <a:endParaRPr sz="1100" b="1">
              <a:solidFill>
                <a:schemeClr val="dk1"/>
              </a:solidFill>
            </a:endParaRPr>
          </a:p>
        </p:txBody>
      </p:sp>
      <p:graphicFrame>
        <p:nvGraphicFramePr>
          <p:cNvPr id="553" name="Google Shape;553;p63"/>
          <p:cNvGraphicFramePr/>
          <p:nvPr/>
        </p:nvGraphicFramePr>
        <p:xfrm>
          <a:off x="416950" y="80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{F4E45F03-7887-4A33-982F-1909526AA1A9}</a:tableStyleId>
              </a:tblPr>
              <a:tblGrid>
                <a:gridCol w="415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Without agent (current state):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With agent (future state):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1025">
                <a:tc>
                  <a:txBody>
                    <a:bodyPr/>
                    <a:lstStyle/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Population-wide review of aging and exposure, followed by manual overlays and segmentation.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Manual driver attribution and reserve movement narrative built late in the close cycle.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Iterative reviews due to inconsistent evidence packaging and reviewer variability.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Audit support often requires follow-up work to reconstruct decision basis.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Upstream automation generates segmentation, reserve proposal, driver attribution versus prior close, and anomaly flags.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Routing separates standard items from exceptions based on tolerance and materiality thresholds.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Exceptions route to the Red Box for approval, overrides, and documented rationale.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Evidence and decision logs are produced as standard workflow outputs, improving close readiness and audit response.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4"/>
          <p:cNvSpPr txBox="1">
            <a:spLocks noGrp="1"/>
          </p:cNvSpPr>
          <p:nvPr>
            <p:ph type="title" idx="4"/>
          </p:nvPr>
        </p:nvSpPr>
        <p:spPr>
          <a:xfrm>
            <a:off x="522300" y="180225"/>
            <a:ext cx="75732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Executive Bad Debt Reserves and Allowances - </a:t>
            </a:r>
            <a:r>
              <a:rPr lang="en" sz="2600" b="0"/>
              <a:t>Data prerequisites and model governance</a:t>
            </a:r>
            <a:endParaRPr sz="2600"/>
          </a:p>
        </p:txBody>
      </p:sp>
      <p:sp>
        <p:nvSpPr>
          <p:cNvPr id="559" name="Google Shape;559;p64"/>
          <p:cNvSpPr txBox="1"/>
          <p:nvPr/>
        </p:nvSpPr>
        <p:spPr>
          <a:xfrm>
            <a:off x="322950" y="3007900"/>
            <a:ext cx="8578800" cy="1481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Model learning and operational governance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Learns collectability risk from historical outcomes (delinquency progression, dispute persistence, write-off and recovery behavior).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Calibrates scores into stable risk bands to support consistent reserve stratification.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Monitors drift via score stability, exception rate, and override concentration, with defined recalibration triggers.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Versions recommendations and ties each output to an input snapshot to support audit traceability and change control.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560" name="Google Shape;560;p64"/>
          <p:cNvSpPr txBox="1"/>
          <p:nvPr/>
        </p:nvSpPr>
        <p:spPr>
          <a:xfrm>
            <a:off x="322950" y="1395600"/>
            <a:ext cx="8578800" cy="1481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Minimum data prerequisites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AR open items and aging at close cut-off, with consistent bucket logic.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Customer exposure and clean identifiers linking customer, invoice, payment, and dispute records.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Payment history lookback sufficient to detect deterioration and pattern breaks.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Dispute and deduction posture with consistent status and amount-at-risk fields.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Policy parameters maintained and owned (materiality thresholds, tolerance bands, approval routing).</a:t>
            </a: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5"/>
          <p:cNvSpPr txBox="1">
            <a:spLocks noGrp="1"/>
          </p:cNvSpPr>
          <p:nvPr>
            <p:ph type="title"/>
          </p:nvPr>
        </p:nvSpPr>
        <p:spPr>
          <a:xfrm>
            <a:off x="1291314" y="220340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65"/>
          <p:cNvSpPr txBox="1">
            <a:spLocks noGrp="1"/>
          </p:cNvSpPr>
          <p:nvPr>
            <p:ph type="subTitle" idx="3"/>
          </p:nvPr>
        </p:nvSpPr>
        <p:spPr>
          <a:xfrm>
            <a:off x="1291312" y="2786250"/>
            <a:ext cx="27426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w</a:t>
            </a:r>
            <a:endParaRPr/>
          </a:p>
        </p:txBody>
      </p:sp>
      <p:sp>
        <p:nvSpPr>
          <p:cNvPr id="567" name="Google Shape;567;p65"/>
          <p:cNvSpPr txBox="1">
            <a:spLocks noGrp="1"/>
          </p:cNvSpPr>
          <p:nvPr>
            <p:ph type="title" idx="4"/>
          </p:nvPr>
        </p:nvSpPr>
        <p:spPr>
          <a:xfrm>
            <a:off x="478475" y="38200"/>
            <a:ext cx="7704000" cy="11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Behavioral Insights Agent: Review Dispute Management Performance and KPIs</a:t>
            </a:r>
            <a:endParaRPr sz="2900"/>
          </a:p>
        </p:txBody>
      </p:sp>
      <p:pic>
        <p:nvPicPr>
          <p:cNvPr id="568" name="Google Shape;56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600" y="1279825"/>
            <a:ext cx="8816798" cy="21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65"/>
          <p:cNvSpPr/>
          <p:nvPr/>
        </p:nvSpPr>
        <p:spPr>
          <a:xfrm>
            <a:off x="478470" y="3595100"/>
            <a:ext cx="3768900" cy="1018800"/>
          </a:xfrm>
          <a:prstGeom prst="wedgeRoundRectCallout">
            <a:avLst>
              <a:gd name="adj1" fmla="val -882"/>
              <a:gd name="adj2" fmla="val -83824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Ingests dispute reporting data</a:t>
            </a:r>
            <a:endParaRPr sz="1100">
              <a:solidFill>
                <a:schemeClr val="dk2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Explains key risk drivers (age, amount, etc)</a:t>
            </a:r>
            <a:endParaRPr sz="1100">
              <a:solidFill>
                <a:schemeClr val="dk2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Segments open disputes by risk level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Recommends risk-based prioritization for downstream monitoring and action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570" name="Google Shape;570;p65"/>
          <p:cNvSpPr/>
          <p:nvPr/>
        </p:nvSpPr>
        <p:spPr>
          <a:xfrm>
            <a:off x="5286775" y="3730395"/>
            <a:ext cx="3768900" cy="1018800"/>
          </a:xfrm>
          <a:prstGeom prst="wedgeRoundRectCallout">
            <a:avLst>
              <a:gd name="adj1" fmla="val 7973"/>
              <a:gd name="adj2" fmla="val -90079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Evaluates processing delays in the context of risk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Flags high-risk disputes with extended cycle times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Quantifies potential cash and write-off impact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Provides KPI reviews with risk-weighted insights and explanations</a:t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6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Behavioral Insights Agent: Review Dispute Management Performance and KPIs</a:t>
            </a:r>
            <a:endParaRPr sz="2600"/>
          </a:p>
        </p:txBody>
      </p:sp>
      <p:sp>
        <p:nvSpPr>
          <p:cNvPr id="576" name="Google Shape;576;p66"/>
          <p:cNvSpPr txBox="1"/>
          <p:nvPr/>
        </p:nvSpPr>
        <p:spPr>
          <a:xfrm>
            <a:off x="223500" y="1299350"/>
            <a:ext cx="4441200" cy="2788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/>
              <a:t>Purpose</a:t>
            </a:r>
            <a:br>
              <a:rPr lang="en" sz="1100" b="1"/>
            </a:br>
            <a:r>
              <a:rPr lang="en" sz="1100"/>
              <a:t>Bring early risk intelligence into dispute performance monitoring so leaders can reduce dispute backlog, shorten cycle times, and prevent disputes from turning into delinquency or write-offs.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Where it fits in the process (L5 placement)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Immediately after “Dispute Management Reporting”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Between “Monitor Processing Days of Open Disputes” and “Dispute Metrics &amp; Performance KPIs Reviewed”</a:t>
            </a:r>
            <a:endParaRPr sz="11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 b="1"/>
          </a:p>
        </p:txBody>
      </p:sp>
      <p:sp>
        <p:nvSpPr>
          <p:cNvPr id="577" name="Google Shape;577;p66"/>
          <p:cNvSpPr txBox="1"/>
          <p:nvPr/>
        </p:nvSpPr>
        <p:spPr>
          <a:xfrm>
            <a:off x="4819550" y="962625"/>
            <a:ext cx="4031100" cy="373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/>
              <a:t>Process change (Before vs After):</a:t>
            </a:r>
            <a:endParaRPr sz="13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Before: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KPI reviews look mainly at </a:t>
            </a:r>
            <a:r>
              <a:rPr lang="en" sz="1100" b="1"/>
              <a:t>overall numbers</a:t>
            </a:r>
            <a:r>
              <a:rPr lang="en" sz="1100"/>
              <a:t> like backlog, aging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Performance is reviewed </a:t>
            </a:r>
            <a:r>
              <a:rPr lang="en" sz="1100" b="1"/>
              <a:t>after issues have already happened</a:t>
            </a:r>
            <a:r>
              <a:rPr lang="en" sz="1100"/>
              <a:t>, with little early warning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Causes of issues are identified </a:t>
            </a:r>
            <a:r>
              <a:rPr lang="en" sz="1100" b="1"/>
              <a:t>manually</a:t>
            </a:r>
            <a:r>
              <a:rPr lang="en" sz="1100"/>
              <a:t>, based on judgment and past experience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Root causes inferred manually, often based on </a:t>
            </a:r>
            <a:r>
              <a:rPr lang="en" sz="1100" b="1"/>
              <a:t>experience or intuition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After: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Faster escalation of high-risk disputes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Clearer rationale for prioritization using explainability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Better linkage between dispute handling and downstream cash outcomes</a:t>
            </a:r>
            <a:endParaRPr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7"/>
          <p:cNvSpPr txBox="1">
            <a:spLocks noGrp="1"/>
          </p:cNvSpPr>
          <p:nvPr>
            <p:ph type="title" idx="4"/>
          </p:nvPr>
        </p:nvSpPr>
        <p:spPr>
          <a:xfrm>
            <a:off x="720000" y="2792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Balanced View: Value vs. Challenges</a:t>
            </a:r>
            <a:endParaRPr/>
          </a:p>
        </p:txBody>
      </p:sp>
      <p:pic>
        <p:nvPicPr>
          <p:cNvPr id="583" name="Google Shape;583;p67" descr="image.png"/>
          <p:cNvPicPr preferRelativeResize="0"/>
          <p:nvPr/>
        </p:nvPicPr>
        <p:blipFill rotWithShape="1">
          <a:blip r:embed="rId3">
            <a:alphaModFix/>
          </a:blip>
          <a:srcRect b="4104"/>
          <a:stretch/>
        </p:blipFill>
        <p:spPr>
          <a:xfrm>
            <a:off x="258950" y="1154450"/>
            <a:ext cx="4248975" cy="3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67"/>
          <p:cNvSpPr txBox="1"/>
          <p:nvPr/>
        </p:nvSpPr>
        <p:spPr>
          <a:xfrm>
            <a:off x="532101" y="1535825"/>
            <a:ext cx="263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rgbClr val="0478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Upside (Value)</a:t>
            </a:r>
            <a:endParaRPr sz="1800"/>
          </a:p>
        </p:txBody>
      </p:sp>
      <p:pic>
        <p:nvPicPr>
          <p:cNvPr id="585" name="Google Shape;585;p6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098" y="221489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6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098" y="320381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6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098" y="413113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6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910" y="2345123"/>
            <a:ext cx="136574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67"/>
          <p:cNvSpPr txBox="1"/>
          <p:nvPr/>
        </p:nvSpPr>
        <p:spPr>
          <a:xfrm>
            <a:off x="1048045" y="2214893"/>
            <a:ext cx="3346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Predictive Risk Identification</a:t>
            </a:r>
            <a:endParaRPr sz="1275"/>
          </a:p>
        </p:txBody>
      </p:sp>
      <p:sp>
        <p:nvSpPr>
          <p:cNvPr id="590" name="Google Shape;590;p67"/>
          <p:cNvSpPr txBox="1"/>
          <p:nvPr/>
        </p:nvSpPr>
        <p:spPr>
          <a:xfrm>
            <a:off x="1048045" y="2493957"/>
            <a:ext cx="318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Predicts payment risk early, allowing intervention before balances become uncollectible.</a:t>
            </a:r>
            <a:endParaRPr sz="1000"/>
          </a:p>
        </p:txBody>
      </p:sp>
      <p:pic>
        <p:nvPicPr>
          <p:cNvPr id="591" name="Google Shape;591;p6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323" y="3334043"/>
            <a:ext cx="15174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67"/>
          <p:cNvSpPr txBox="1"/>
          <p:nvPr/>
        </p:nvSpPr>
        <p:spPr>
          <a:xfrm>
            <a:off x="1048045" y="3203813"/>
            <a:ext cx="3346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Focused Collection Effort</a:t>
            </a:r>
            <a:endParaRPr sz="1275"/>
          </a:p>
        </p:txBody>
      </p:sp>
      <p:sp>
        <p:nvSpPr>
          <p:cNvPr id="593" name="Google Shape;593;p67"/>
          <p:cNvSpPr txBox="1"/>
          <p:nvPr/>
        </p:nvSpPr>
        <p:spPr>
          <a:xfrm>
            <a:off x="1048045" y="3482877"/>
            <a:ext cx="318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Directs analysts and collections time to the highest risk, highest impact accounts.</a:t>
            </a:r>
            <a:endParaRPr sz="1000"/>
          </a:p>
        </p:txBody>
      </p:sp>
      <p:pic>
        <p:nvPicPr>
          <p:cNvPr id="594" name="Google Shape;594;p6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323" y="4261363"/>
            <a:ext cx="15174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67"/>
          <p:cNvSpPr txBox="1"/>
          <p:nvPr/>
        </p:nvSpPr>
        <p:spPr>
          <a:xfrm>
            <a:off x="1048045" y="4131133"/>
            <a:ext cx="3346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Improved Financial Planning</a:t>
            </a:r>
            <a:endParaRPr sz="1275"/>
          </a:p>
        </p:txBody>
      </p:sp>
      <p:sp>
        <p:nvSpPr>
          <p:cNvPr id="596" name="Google Shape;596;p67"/>
          <p:cNvSpPr txBox="1"/>
          <p:nvPr/>
        </p:nvSpPr>
        <p:spPr>
          <a:xfrm>
            <a:off x="1048045" y="4410197"/>
            <a:ext cx="318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Supports more accurate reserve estimates and stable cash-flow forecasting.</a:t>
            </a:r>
            <a:endParaRPr sz="1000"/>
          </a:p>
        </p:txBody>
      </p:sp>
      <p:pic>
        <p:nvPicPr>
          <p:cNvPr id="597" name="Google Shape;597;p67" descr="image.png"/>
          <p:cNvPicPr preferRelativeResize="0"/>
          <p:nvPr/>
        </p:nvPicPr>
        <p:blipFill rotWithShape="1">
          <a:blip r:embed="rId8">
            <a:alphaModFix/>
          </a:blip>
          <a:srcRect b="4104"/>
          <a:stretch/>
        </p:blipFill>
        <p:spPr>
          <a:xfrm>
            <a:off x="4603400" y="1154450"/>
            <a:ext cx="4318275" cy="3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67"/>
          <p:cNvSpPr txBox="1"/>
          <p:nvPr/>
        </p:nvSpPr>
        <p:spPr>
          <a:xfrm>
            <a:off x="4880998" y="1535825"/>
            <a:ext cx="346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43" b="0" i="0" u="none" strike="noStrike" cap="none">
                <a:solidFill>
                  <a:srgbClr val="B4530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Watch-Outs (Risks)</a:t>
            </a:r>
            <a:endParaRPr sz="1323"/>
          </a:p>
        </p:txBody>
      </p:sp>
      <p:pic>
        <p:nvPicPr>
          <p:cNvPr id="599" name="Google Shape;599;p6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81005" y="2190168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6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81005" y="3007237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6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81005" y="3872957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6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69684" y="2320398"/>
            <a:ext cx="192781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67"/>
          <p:cNvSpPr txBox="1"/>
          <p:nvPr/>
        </p:nvSpPr>
        <p:spPr>
          <a:xfrm>
            <a:off x="5405370" y="2214893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Not Fully Automated</a:t>
            </a:r>
            <a:endParaRPr sz="1323"/>
          </a:p>
        </p:txBody>
      </p:sp>
      <p:sp>
        <p:nvSpPr>
          <p:cNvPr id="604" name="Google Shape;604;p67"/>
          <p:cNvSpPr txBox="1"/>
          <p:nvPr/>
        </p:nvSpPr>
        <p:spPr>
          <a:xfrm>
            <a:off x="5405370" y="2493957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Requires human judgement and action. AI supports decisions but does not execute them.</a:t>
            </a:r>
            <a:endParaRPr sz="1000"/>
          </a:p>
        </p:txBody>
      </p:sp>
      <p:pic>
        <p:nvPicPr>
          <p:cNvPr id="605" name="Google Shape;605;p6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77395" y="3137467"/>
            <a:ext cx="17735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67"/>
          <p:cNvSpPr txBox="1"/>
          <p:nvPr/>
        </p:nvSpPr>
        <p:spPr>
          <a:xfrm>
            <a:off x="5405370" y="3006887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 Quality Dependency</a:t>
            </a:r>
            <a:endParaRPr sz="1323"/>
          </a:p>
        </p:txBody>
      </p:sp>
      <p:sp>
        <p:nvSpPr>
          <p:cNvPr id="607" name="Google Shape;607;p67"/>
          <p:cNvSpPr txBox="1"/>
          <p:nvPr/>
        </p:nvSpPr>
        <p:spPr>
          <a:xfrm>
            <a:off x="5405370" y="3285951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Effectiveness depends on clean and complete historical payment data.</a:t>
            </a:r>
            <a:endParaRPr sz="1000"/>
          </a:p>
        </p:txBody>
      </p:sp>
      <p:pic>
        <p:nvPicPr>
          <p:cNvPr id="608" name="Google Shape;608;p6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08240" y="4003187"/>
            <a:ext cx="11566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67"/>
          <p:cNvSpPr txBox="1"/>
          <p:nvPr/>
        </p:nvSpPr>
        <p:spPr>
          <a:xfrm>
            <a:off x="5405370" y="3872957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Adoption and Trust Risk</a:t>
            </a:r>
            <a:endParaRPr sz="1323"/>
          </a:p>
        </p:txBody>
      </p:sp>
      <p:sp>
        <p:nvSpPr>
          <p:cNvPr id="610" name="Google Shape;610;p67"/>
          <p:cNvSpPr txBox="1"/>
          <p:nvPr/>
        </p:nvSpPr>
        <p:spPr>
          <a:xfrm>
            <a:off x="5405370" y="4152021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Benefits rely on user adoption and confidence in AI outputs.</a:t>
            </a:r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8"/>
          <p:cNvSpPr txBox="1">
            <a:spLocks noGrp="1"/>
          </p:cNvSpPr>
          <p:nvPr>
            <p:ph type="title"/>
          </p:nvPr>
        </p:nvSpPr>
        <p:spPr>
          <a:xfrm>
            <a:off x="1320325" y="1307100"/>
            <a:ext cx="71106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9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Incorrect Credits Agent</a:t>
            </a:r>
            <a:endParaRPr sz="2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0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Executive Bad Debt Reserves and Allowances</a:t>
            </a:r>
            <a:endParaRPr sz="2600"/>
          </a:p>
        </p:txBody>
      </p:sp>
      <p:sp>
        <p:nvSpPr>
          <p:cNvPr id="626" name="Google Shape;626;p70"/>
          <p:cNvSpPr txBox="1"/>
          <p:nvPr/>
        </p:nvSpPr>
        <p:spPr>
          <a:xfrm>
            <a:off x="1144800" y="1488925"/>
            <a:ext cx="587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1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Review Dispute Management Performance and KPIs</a:t>
            </a:r>
            <a:endParaRPr sz="26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2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Revenue Assurance</a:t>
            </a:r>
            <a:endParaRPr sz="2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3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Annexure:</a:t>
            </a:r>
            <a:endParaRPr sz="2600"/>
          </a:p>
        </p:txBody>
      </p:sp>
      <p:pic>
        <p:nvPicPr>
          <p:cNvPr id="642" name="Google Shape;642;p73"/>
          <p:cNvPicPr preferRelativeResize="0"/>
          <p:nvPr/>
        </p:nvPicPr>
        <p:blipFill rotWithShape="1">
          <a:blip r:embed="rId3">
            <a:alphaModFix/>
          </a:blip>
          <a:srcRect l="1399" t="2219" r="2084" b="852"/>
          <a:stretch/>
        </p:blipFill>
        <p:spPr>
          <a:xfrm>
            <a:off x="720000" y="890000"/>
            <a:ext cx="3316600" cy="368154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73"/>
          <p:cNvSpPr txBox="1"/>
          <p:nvPr/>
        </p:nvSpPr>
        <p:spPr>
          <a:xfrm>
            <a:off x="806300" y="4490125"/>
            <a:ext cx="39807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Process Flow of Behavioral Insights Agent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44" name="Google Shape;644;p73"/>
          <p:cNvSpPr txBox="1"/>
          <p:nvPr/>
        </p:nvSpPr>
        <p:spPr>
          <a:xfrm>
            <a:off x="4682175" y="1119000"/>
            <a:ext cx="30000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Behavioral Insights is triggered by a review cycle or new open items, running a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scoring process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to produce a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prioritized risk list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with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key drivers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The collector reviews the list, acts on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high-risk items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(choosing and executing a strategy in SAP), and records outcomes.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Resolved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or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paid items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are cleared and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KPIs are reported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Unresolved cases are escalated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or the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strategy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is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 adjusted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, and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scoring is rerun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in a loop for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subsequent review cycles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.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45" name="Google Shape;645;p73"/>
          <p:cNvSpPr txBox="1"/>
          <p:nvPr/>
        </p:nvSpPr>
        <p:spPr>
          <a:xfrm>
            <a:off x="4950600" y="5051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b="1">
                <a:latin typeface="Nunito"/>
                <a:ea typeface="Nunito"/>
                <a:cs typeface="Nunito"/>
                <a:sym typeface="Nunito"/>
              </a:rPr>
              <a:t>Process Overview:</a:t>
            </a:r>
            <a:endParaRPr sz="1300"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4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Behavioral Insights Agent: Executive Bad Debt Reserves and Allowances</a:t>
            </a:r>
            <a:endParaRPr sz="2600"/>
          </a:p>
        </p:txBody>
      </p:sp>
      <p:sp>
        <p:nvSpPr>
          <p:cNvPr id="651" name="Google Shape;651;p74"/>
          <p:cNvSpPr txBox="1"/>
          <p:nvPr/>
        </p:nvSpPr>
        <p:spPr>
          <a:xfrm>
            <a:off x="319450" y="962625"/>
            <a:ext cx="4246500" cy="4831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/>
              <a:t>Purpose: </a:t>
            </a:r>
            <a:r>
              <a:rPr lang="en" sz="1100"/>
              <a:t>Improve allowance and reserve decision quality by adding behavior-based risk segmentation and explainable drivers to the reserve review cycle.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/>
              <a:t>What the agent does: </a:t>
            </a:r>
            <a:r>
              <a:rPr lang="en" sz="1100"/>
              <a:t>Predicts payment risk for contract accounts using historical customer behavior and explains the main factors driving that risk.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Key inputs:</a:t>
            </a:r>
            <a:r>
              <a:rPr lang="en" sz="1100">
                <a:solidFill>
                  <a:schemeClr val="dk1"/>
                </a:solidFill>
              </a:rPr>
              <a:t> exposure and aging, payment behavior history, dispute and deduction posture, policy thresholds, decision history.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/>
              <a:t>Outputs (what users get)</a:t>
            </a:r>
            <a:endParaRPr sz="13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Risk score (0-100 style) for contract accounts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Explainability (top drivers of risk)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Risk segments (Low, Medium, High) to support reserve stratification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/>
              <a:t>Where it fits in the process (L5 placement)</a:t>
            </a:r>
            <a:endParaRPr sz="13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Execute Bad Debt Reserves and Allowances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Used during reserve review cycles and when new open items or risk changes require reassessment</a:t>
            </a:r>
            <a:endParaRPr sz="1100"/>
          </a:p>
        </p:txBody>
      </p:sp>
      <p:sp>
        <p:nvSpPr>
          <p:cNvPr id="652" name="Google Shape;652;p74"/>
          <p:cNvSpPr txBox="1"/>
          <p:nvPr/>
        </p:nvSpPr>
        <p:spPr>
          <a:xfrm>
            <a:off x="4700925" y="1325925"/>
            <a:ext cx="4246500" cy="3341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/>
              <a:t>Process change (Before vs After):</a:t>
            </a:r>
            <a:endParaRPr sz="13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Before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Allowance and reserve segmentation relies mainly on aging buckets, overdue amount, and manual judgment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High effort to identify true-risk accounts, inconsistent rationale across reviewers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After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Risk scoring becomes a first-class input for reserve segmentation (alongside aging and exposure)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Explainability supports defensible reserve rationale and faster review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More consistent segmentation, reduced manual triage, targeted focus on highest-risk accounts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Lines Pitch Deck by Slidesgo">
  <a:themeElements>
    <a:clrScheme name="Simple Light">
      <a:dk1>
        <a:srgbClr val="302926"/>
      </a:dk1>
      <a:lt1>
        <a:srgbClr val="E7E7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9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3587</Words>
  <Application>Microsoft Macintosh PowerPoint</Application>
  <PresentationFormat>On-screen Show (16:9)</PresentationFormat>
  <Paragraphs>393</Paragraphs>
  <Slides>45</Slides>
  <Notes>45</Notes>
  <HiddenSlides>7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Roboto Condensed Light</vt:lpstr>
      <vt:lpstr>Inter</vt:lpstr>
      <vt:lpstr>PT Sans</vt:lpstr>
      <vt:lpstr>Abril Fatface</vt:lpstr>
      <vt:lpstr>Playfair Display</vt:lpstr>
      <vt:lpstr>Nunito</vt:lpstr>
      <vt:lpstr>Arial</vt:lpstr>
      <vt:lpstr>Inter SemiBold</vt:lpstr>
      <vt:lpstr>Elegant Lines Pitch Deck by Slidesgo</vt:lpstr>
      <vt:lpstr>Accenture - Ralph Lauren</vt:lpstr>
      <vt:lpstr>Table of contents</vt:lpstr>
      <vt:lpstr>AR Ledger</vt:lpstr>
      <vt:lpstr>Current State and Agent Overview</vt:lpstr>
      <vt:lpstr>SAP Cash App Automation Logic</vt:lpstr>
      <vt:lpstr>PowerPoint Presentation</vt:lpstr>
      <vt:lpstr>The "Exception" Logic – Handling the Unknown</vt:lpstr>
      <vt:lpstr>The "Exception" Logic – Handling the Unknown</vt:lpstr>
      <vt:lpstr>The "NO" Logic – Intelligent Suggestions</vt:lpstr>
      <vt:lpstr>The "NO" Logic – Intelligent Suggestions</vt:lpstr>
      <vt:lpstr>The "YES" Logic – High-Confidence Automation</vt:lpstr>
      <vt:lpstr>Inference example - ACH/Wire/EFT</vt:lpstr>
      <vt:lpstr>Inference example - ACH/Wire/EFT</vt:lpstr>
      <vt:lpstr>Automation Logic &amp; Decision Thresholds</vt:lpstr>
      <vt:lpstr>Accounts Receivable Agent: Enablement for Cash Application (ACH/EFT/Wire)</vt:lpstr>
      <vt:lpstr>SAP Cash Application: Enablement for DTC &amp; Bank Reconciliation</vt:lpstr>
      <vt:lpstr>AR Agent: Enablement for Direct Debit</vt:lpstr>
      <vt:lpstr>SAP Cash Application: Enablement for Lockbox</vt:lpstr>
      <vt:lpstr>Accounts Receivable Agent: Enablement for Customer Down Payments</vt:lpstr>
      <vt:lpstr>Accounts Receivable Agent: Enablement for Credit / Payment Card</vt:lpstr>
      <vt:lpstr>Accounts Receivable Agent: Enablement for Cash &amp; Checks Processing</vt:lpstr>
      <vt:lpstr>The Balanced View: Value vs. Challenges</vt:lpstr>
      <vt:lpstr>Disputes</vt:lpstr>
      <vt:lpstr>Current State and Agent Overview</vt:lpstr>
      <vt:lpstr>Dispute Resolution Agent</vt:lpstr>
      <vt:lpstr>The Balanced View: Value vs. Challenges</vt:lpstr>
      <vt:lpstr>Contract Accounting</vt:lpstr>
      <vt:lpstr>Risk &amp; Revenue</vt:lpstr>
      <vt:lpstr>Current State and Agent Overview</vt:lpstr>
      <vt:lpstr>Overview and Objective: Executive Bad Debt Reserves and Allowances</vt:lpstr>
      <vt:lpstr>Behavioral Insights Agent: Executive Bad Debt Reserves and Allowances</vt:lpstr>
      <vt:lpstr>Enablement for Bad Debt Reserves and Allowances</vt:lpstr>
      <vt:lpstr>L5 Bad Debt Reserves and Allowances: Significance of Red Box</vt:lpstr>
      <vt:lpstr>Future-state L5 flow: Without vs With agent</vt:lpstr>
      <vt:lpstr>Executive Bad Debt Reserves and Allowances - Data prerequisites and model governance</vt:lpstr>
      <vt:lpstr>PowerPoint Presentation</vt:lpstr>
      <vt:lpstr>Behavioral Insights Agent: Review Dispute Management Performance and KPIs</vt:lpstr>
      <vt:lpstr>The Balanced View: Value vs. Challenges</vt:lpstr>
      <vt:lpstr>Q&amp;A</vt:lpstr>
      <vt:lpstr>Incorrect Credits Agent</vt:lpstr>
      <vt:lpstr>Executive Bad Debt Reserves and Allowances</vt:lpstr>
      <vt:lpstr>Review Dispute Management Performance and KPIs</vt:lpstr>
      <vt:lpstr>Revenue Assurance</vt:lpstr>
      <vt:lpstr>Annexure:</vt:lpstr>
      <vt:lpstr>Behavioral Insights Agent: Executive Bad Debt Reserves and Allowances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Ramana prabhu Sana</cp:lastModifiedBy>
  <cp:revision>1</cp:revision>
  <dcterms:modified xsi:type="dcterms:W3CDTF">2026-02-11T21:07:47Z</dcterms:modified>
</cp:coreProperties>
</file>