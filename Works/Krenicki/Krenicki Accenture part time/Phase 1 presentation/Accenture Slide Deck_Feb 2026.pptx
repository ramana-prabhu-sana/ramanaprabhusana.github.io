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10" r:id="rId49"/>
    <p:sldId id="303" r:id="rId50"/>
    <p:sldId id="304" r:id="rId51"/>
    <p:sldId id="305" r:id="rId52"/>
    <p:sldId id="306" r:id="rId53"/>
    <p:sldId id="307" r:id="rId54"/>
    <p:sldId id="308" r:id="rId55"/>
    <p:sldId id="309" r:id="rId56"/>
  </p:sldIdLst>
  <p:sldSz cx="9144000" cy="5143500" type="screen16x9"/>
  <p:notesSz cx="6858000" cy="9144000"/>
  <p:embeddedFontLst>
    <p:embeddedFont>
      <p:font typeface="Abril Fatface" panose="02000503000000020003" pitchFamily="2" charset="77"/>
      <p:regular r:id="rId58"/>
    </p:embeddedFont>
    <p:embeddedFont>
      <p:font typeface="Inter" panose="02000503000000020004" pitchFamily="2" charset="0"/>
      <p:regular r:id="rId59"/>
      <p:bold r:id="rId60"/>
      <p:italic r:id="rId61"/>
      <p:boldItalic r:id="rId62"/>
    </p:embeddedFont>
    <p:embeddedFont>
      <p:font typeface="Inter SemiBold" panose="02000503000000020004" pitchFamily="2" charset="0"/>
      <p:regular r:id="rId63"/>
      <p:bold r:id="rId64"/>
      <p:italic r:id="rId65"/>
      <p:boldItalic r:id="rId66"/>
    </p:embeddedFont>
    <p:embeddedFont>
      <p:font typeface="Nunito" pitchFamily="2" charset="77"/>
      <p:regular r:id="rId67"/>
      <p:bold r:id="rId68"/>
      <p:italic r:id="rId69"/>
      <p:boldItalic r:id="rId70"/>
    </p:embeddedFont>
    <p:embeddedFont>
      <p:font typeface="Playfair Display" pitchFamily="2" charset="77"/>
      <p:regular r:id="rId71"/>
      <p:bold r:id="rId72"/>
      <p:italic r:id="rId73"/>
      <p:boldItalic r:id="rId74"/>
    </p:embeddedFont>
    <p:embeddedFont>
      <p:font typeface="PT Sans" panose="020B0503020203020204" pitchFamily="34" charset="77"/>
      <p:regular r:id="rId75"/>
      <p:bold r:id="rId76"/>
      <p:italic r:id="rId77"/>
      <p:boldItalic r:id="rId78"/>
    </p:embeddedFont>
    <p:embeddedFont>
      <p:font typeface="Roboto Condensed Light" panose="02000000000000000000" pitchFamily="2" charset="0"/>
      <p:regular r:id="rId79"/>
      <p:italic r:id="rId8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arth Kapila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3A3203-D266-2E4A-965F-CB106F0329A8}" v="3" dt="2026-02-26T16:18:11.181"/>
  </p1510:revLst>
</p1510:revInfo>
</file>

<file path=ppt/tableStyles.xml><?xml version="1.0" encoding="utf-8"?>
<a:tblStyleLst xmlns:a="http://schemas.openxmlformats.org/drawingml/2006/main" def="{838253F4-9144-426F-A8A2-BBA4D81A1FB4}">
  <a:tblStyle styleId="{838253F4-9144-426F-A8A2-BBA4D81A1F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0"/>
  </p:normalViewPr>
  <p:slideViewPr>
    <p:cSldViewPr snapToGrid="0">
      <p:cViewPr varScale="1">
        <p:scale>
          <a:sx n="142" d="100"/>
          <a:sy n="142" d="100"/>
        </p:scale>
        <p:origin x="8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6.fntdata"/><Relationship Id="rId68" Type="http://schemas.openxmlformats.org/officeDocument/2006/relationships/font" Target="fonts/font11.fntdata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font" Target="fonts/font1.fntdata"/><Relationship Id="rId74" Type="http://schemas.openxmlformats.org/officeDocument/2006/relationships/font" Target="fonts/font17.fntdata"/><Relationship Id="rId79" Type="http://schemas.openxmlformats.org/officeDocument/2006/relationships/font" Target="fonts/font22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7.fntdata"/><Relationship Id="rId69" Type="http://schemas.openxmlformats.org/officeDocument/2006/relationships/font" Target="fonts/font12.fntdata"/><Relationship Id="rId77" Type="http://schemas.openxmlformats.org/officeDocument/2006/relationships/font" Target="fonts/font20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5.fntdata"/><Relationship Id="rId80" Type="http://schemas.openxmlformats.org/officeDocument/2006/relationships/font" Target="fonts/font23.fntdata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2.fntdata"/><Relationship Id="rId67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5.fntdata"/><Relationship Id="rId70" Type="http://schemas.openxmlformats.org/officeDocument/2006/relationships/font" Target="fonts/font13.fntdata"/><Relationship Id="rId75" Type="http://schemas.openxmlformats.org/officeDocument/2006/relationships/font" Target="fonts/font18.fntdata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3.fntdata"/><Relationship Id="rId65" Type="http://schemas.openxmlformats.org/officeDocument/2006/relationships/font" Target="fonts/font8.fntdata"/><Relationship Id="rId73" Type="http://schemas.openxmlformats.org/officeDocument/2006/relationships/font" Target="fonts/font16.fntdata"/><Relationship Id="rId78" Type="http://schemas.openxmlformats.org/officeDocument/2006/relationships/font" Target="fonts/font21.fntdata"/><Relationship Id="rId81" Type="http://schemas.openxmlformats.org/officeDocument/2006/relationships/commentAuthors" Target="commentAuthors.xml"/><Relationship Id="rId86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9.fntdata"/><Relationship Id="rId7" Type="http://schemas.openxmlformats.org/officeDocument/2006/relationships/slide" Target="slides/slide6.xml"/><Relationship Id="rId71" Type="http://schemas.openxmlformats.org/officeDocument/2006/relationships/font" Target="fonts/font14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9.fntdata"/><Relationship Id="rId87" Type="http://schemas.microsoft.com/office/2015/10/relationships/revisionInfo" Target="revisionInfo.xml"/><Relationship Id="rId61" Type="http://schemas.openxmlformats.org/officeDocument/2006/relationships/font" Target="fonts/font4.fntdata"/><Relationship Id="rId8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ana prabhu Sana" userId="9ce700ea-1810-4462-ab36-dec9325c035e" providerId="ADAL" clId="{7F8A51BB-DF7A-5C03-A6B7-03326D5C008F}"/>
    <pc:docChg chg="custSel addSld modSld">
      <pc:chgData name="Ramana prabhu Sana" userId="9ce700ea-1810-4462-ab36-dec9325c035e" providerId="ADAL" clId="{7F8A51BB-DF7A-5C03-A6B7-03326D5C008F}" dt="2026-02-26T16:49:03.537" v="917" actId="20577"/>
      <pc:docMkLst>
        <pc:docMk/>
      </pc:docMkLst>
      <pc:sldChg chg="modSp mod">
        <pc:chgData name="Ramana prabhu Sana" userId="9ce700ea-1810-4462-ab36-dec9325c035e" providerId="ADAL" clId="{7F8A51BB-DF7A-5C03-A6B7-03326D5C008F}" dt="2026-02-26T16:08:20.567" v="1" actId="5793"/>
        <pc:sldMkLst>
          <pc:docMk/>
          <pc:sldMk cId="0" sldId="293"/>
        </pc:sldMkLst>
        <pc:spChg chg="mod">
          <ac:chgData name="Ramana prabhu Sana" userId="9ce700ea-1810-4462-ab36-dec9325c035e" providerId="ADAL" clId="{7F8A51BB-DF7A-5C03-A6B7-03326D5C008F}" dt="2026-02-26T16:08:20.567" v="1" actId="5793"/>
          <ac:spMkLst>
            <pc:docMk/>
            <pc:sldMk cId="0" sldId="293"/>
            <ac:spMk id="571" creationId="{00000000-0000-0000-0000-000000000000}"/>
          </ac:spMkLst>
        </pc:spChg>
      </pc:sldChg>
      <pc:sldChg chg="modSp mod">
        <pc:chgData name="Ramana prabhu Sana" userId="9ce700ea-1810-4462-ab36-dec9325c035e" providerId="ADAL" clId="{7F8A51BB-DF7A-5C03-A6B7-03326D5C008F}" dt="2026-02-26T16:11:34.500" v="5" actId="5793"/>
        <pc:sldMkLst>
          <pc:docMk/>
          <pc:sldMk cId="0" sldId="296"/>
        </pc:sldMkLst>
        <pc:spChg chg="mod">
          <ac:chgData name="Ramana prabhu Sana" userId="9ce700ea-1810-4462-ab36-dec9325c035e" providerId="ADAL" clId="{7F8A51BB-DF7A-5C03-A6B7-03326D5C008F}" dt="2026-02-26T16:11:28.382" v="3" actId="5793"/>
          <ac:spMkLst>
            <pc:docMk/>
            <pc:sldMk cId="0" sldId="296"/>
            <ac:spMk id="592" creationId="{00000000-0000-0000-0000-000000000000}"/>
          </ac:spMkLst>
        </pc:spChg>
        <pc:spChg chg="mod">
          <ac:chgData name="Ramana prabhu Sana" userId="9ce700ea-1810-4462-ab36-dec9325c035e" providerId="ADAL" clId="{7F8A51BB-DF7A-5C03-A6B7-03326D5C008F}" dt="2026-02-26T16:11:34.500" v="5" actId="5793"/>
          <ac:spMkLst>
            <pc:docMk/>
            <pc:sldMk cId="0" sldId="296"/>
            <ac:spMk id="595" creationId="{00000000-0000-0000-0000-000000000000}"/>
          </ac:spMkLst>
        </pc:spChg>
      </pc:sldChg>
      <pc:sldChg chg="addSp delSp modSp add mod">
        <pc:chgData name="Ramana prabhu Sana" userId="9ce700ea-1810-4462-ab36-dec9325c035e" providerId="ADAL" clId="{7F8A51BB-DF7A-5C03-A6B7-03326D5C008F}" dt="2026-02-26T16:49:03.537" v="917" actId="20577"/>
        <pc:sldMkLst>
          <pc:docMk/>
          <pc:sldMk cId="1220780972" sldId="310"/>
        </pc:sldMkLst>
        <pc:spChg chg="add del mod">
          <ac:chgData name="Ramana prabhu Sana" userId="9ce700ea-1810-4462-ab36-dec9325c035e" providerId="ADAL" clId="{7F8A51BB-DF7A-5C03-A6B7-03326D5C008F}" dt="2026-02-26T16:15:32.141" v="87" actId="478"/>
          <ac:spMkLst>
            <pc:docMk/>
            <pc:sldMk cId="1220780972" sldId="310"/>
            <ac:spMk id="3" creationId="{F24C0F6A-F1D0-996B-DF0F-5D2884DD521A}"/>
          </ac:spMkLst>
        </pc:spChg>
        <pc:spChg chg="add del mod">
          <ac:chgData name="Ramana prabhu Sana" userId="9ce700ea-1810-4462-ab36-dec9325c035e" providerId="ADAL" clId="{7F8A51BB-DF7A-5C03-A6B7-03326D5C008F}" dt="2026-02-26T16:16:43.103" v="247" actId="478"/>
          <ac:spMkLst>
            <pc:docMk/>
            <pc:sldMk cId="1220780972" sldId="310"/>
            <ac:spMk id="5" creationId="{4E44BD81-974D-C636-1FDD-F31E139AEA10}"/>
          </ac:spMkLst>
        </pc:spChg>
        <pc:spChg chg="add del mod">
          <ac:chgData name="Ramana prabhu Sana" userId="9ce700ea-1810-4462-ab36-dec9325c035e" providerId="ADAL" clId="{7F8A51BB-DF7A-5C03-A6B7-03326D5C008F}" dt="2026-02-26T16:16:47.426" v="248" actId="478"/>
          <ac:spMkLst>
            <pc:docMk/>
            <pc:sldMk cId="1220780972" sldId="310"/>
            <ac:spMk id="7" creationId="{1EA5AF05-4E79-AC6B-8C36-BD760B63D301}"/>
          </ac:spMkLst>
        </pc:spChg>
        <pc:spChg chg="add del mod">
          <ac:chgData name="Ramana prabhu Sana" userId="9ce700ea-1810-4462-ab36-dec9325c035e" providerId="ADAL" clId="{7F8A51BB-DF7A-5C03-A6B7-03326D5C008F}" dt="2026-02-26T16:16:56.044" v="250" actId="478"/>
          <ac:spMkLst>
            <pc:docMk/>
            <pc:sldMk cId="1220780972" sldId="310"/>
            <ac:spMk id="9" creationId="{66B94707-2C1D-33BF-2ED7-A3AC8458C05A}"/>
          </ac:spMkLst>
        </pc:spChg>
        <pc:spChg chg="add del mod">
          <ac:chgData name="Ramana prabhu Sana" userId="9ce700ea-1810-4462-ab36-dec9325c035e" providerId="ADAL" clId="{7F8A51BB-DF7A-5C03-A6B7-03326D5C008F}" dt="2026-02-26T16:16:56.044" v="250" actId="478"/>
          <ac:spMkLst>
            <pc:docMk/>
            <pc:sldMk cId="1220780972" sldId="310"/>
            <ac:spMk id="11" creationId="{06CF5357-6AE5-5334-4106-BB938085AA65}"/>
          </ac:spMkLst>
        </pc:spChg>
        <pc:spChg chg="add del mod">
          <ac:chgData name="Ramana prabhu Sana" userId="9ce700ea-1810-4462-ab36-dec9325c035e" providerId="ADAL" clId="{7F8A51BB-DF7A-5C03-A6B7-03326D5C008F}" dt="2026-02-26T16:16:56.064" v="252"/>
          <ac:spMkLst>
            <pc:docMk/>
            <pc:sldMk cId="1220780972" sldId="310"/>
            <ac:spMk id="12" creationId="{AEEAF79C-6779-6B6D-0E99-65F380E10580}"/>
          </ac:spMkLst>
        </pc:spChg>
        <pc:spChg chg="add mod">
          <ac:chgData name="Ramana prabhu Sana" userId="9ce700ea-1810-4462-ab36-dec9325c035e" providerId="ADAL" clId="{7F8A51BB-DF7A-5C03-A6B7-03326D5C008F}" dt="2026-02-26T16:49:03.537" v="917" actId="20577"/>
          <ac:spMkLst>
            <pc:docMk/>
            <pc:sldMk cId="1220780972" sldId="310"/>
            <ac:spMk id="13" creationId="{C461A759-2CA3-8137-EA34-BE48EC0133E7}"/>
          </ac:spMkLst>
        </pc:spChg>
        <pc:spChg chg="mod">
          <ac:chgData name="Ramana prabhu Sana" userId="9ce700ea-1810-4462-ab36-dec9325c035e" providerId="ADAL" clId="{7F8A51BB-DF7A-5C03-A6B7-03326D5C008F}" dt="2026-02-26T16:15:23.624" v="85" actId="20577"/>
          <ac:spMkLst>
            <pc:docMk/>
            <pc:sldMk cId="1220780972" sldId="310"/>
            <ac:spMk id="559" creationId="{959D81EC-0912-24FB-AF2D-26A75DAFCC05}"/>
          </ac:spMkLst>
        </pc:spChg>
        <pc:spChg chg="del">
          <ac:chgData name="Ramana prabhu Sana" userId="9ce700ea-1810-4462-ab36-dec9325c035e" providerId="ADAL" clId="{7F8A51BB-DF7A-5C03-A6B7-03326D5C008F}" dt="2026-02-26T16:16:47.426" v="248" actId="478"/>
          <ac:spMkLst>
            <pc:docMk/>
            <pc:sldMk cId="1220780972" sldId="310"/>
            <ac:spMk id="560" creationId="{CDDE7126-A708-AB8A-31D9-DFAA30313907}"/>
          </ac:spMkLst>
        </pc:spChg>
        <pc:spChg chg="del">
          <ac:chgData name="Ramana prabhu Sana" userId="9ce700ea-1810-4462-ab36-dec9325c035e" providerId="ADAL" clId="{7F8A51BB-DF7A-5C03-A6B7-03326D5C008F}" dt="2026-02-26T16:16:38.243" v="245" actId="478"/>
          <ac:spMkLst>
            <pc:docMk/>
            <pc:sldMk cId="1220780972" sldId="310"/>
            <ac:spMk id="561" creationId="{2B982C5B-5042-8AE2-6016-F84F4D308E74}"/>
          </ac:spMkLst>
        </pc:spChg>
        <pc:spChg chg="del">
          <ac:chgData name="Ramana prabhu Sana" userId="9ce700ea-1810-4462-ab36-dec9325c035e" providerId="ADAL" clId="{7F8A51BB-DF7A-5C03-A6B7-03326D5C008F}" dt="2026-02-26T16:15:28.292" v="86" actId="478"/>
          <ac:spMkLst>
            <pc:docMk/>
            <pc:sldMk cId="1220780972" sldId="310"/>
            <ac:spMk id="562" creationId="{128EF225-EF53-0AD0-0FFF-EBA17053225F}"/>
          </ac:spMkLst>
        </pc:spChg>
        <pc:spChg chg="mod">
          <ac:chgData name="Ramana prabhu Sana" userId="9ce700ea-1810-4462-ab36-dec9325c035e" providerId="ADAL" clId="{7F8A51BB-DF7A-5C03-A6B7-03326D5C008F}" dt="2026-02-26T16:17:41.390" v="383" actId="20577"/>
          <ac:spMkLst>
            <pc:docMk/>
            <pc:sldMk cId="1220780972" sldId="310"/>
            <ac:spMk id="563" creationId="{55626A64-30FF-4971-2B0B-EB928BDDC861}"/>
          </ac:spMkLst>
        </pc:spChg>
        <pc:spChg chg="del">
          <ac:chgData name="Ramana prabhu Sana" userId="9ce700ea-1810-4462-ab36-dec9325c035e" providerId="ADAL" clId="{7F8A51BB-DF7A-5C03-A6B7-03326D5C008F}" dt="2026-02-26T16:16:47.426" v="248" actId="478"/>
          <ac:spMkLst>
            <pc:docMk/>
            <pc:sldMk cId="1220780972" sldId="310"/>
            <ac:spMk id="564" creationId="{1A38FBEE-F34C-92DE-6FE8-36986288A718}"/>
          </ac:spMkLst>
        </pc:spChg>
        <pc:spChg chg="del">
          <ac:chgData name="Ramana prabhu Sana" userId="9ce700ea-1810-4462-ab36-dec9325c035e" providerId="ADAL" clId="{7F8A51BB-DF7A-5C03-A6B7-03326D5C008F}" dt="2026-02-26T16:16:40.811" v="246" actId="478"/>
          <ac:spMkLst>
            <pc:docMk/>
            <pc:sldMk cId="1220780972" sldId="310"/>
            <ac:spMk id="565" creationId="{5F6157B9-BC8D-DA99-F13D-6C10BA41D58A}"/>
          </ac:spMkLst>
        </pc:spChg>
        <pc:spChg chg="del">
          <ac:chgData name="Ramana prabhu Sana" userId="9ce700ea-1810-4462-ab36-dec9325c035e" providerId="ADAL" clId="{7F8A51BB-DF7A-5C03-A6B7-03326D5C008F}" dt="2026-02-26T16:15:50.291" v="128" actId="478"/>
          <ac:spMkLst>
            <pc:docMk/>
            <pc:sldMk cId="1220780972" sldId="310"/>
            <ac:spMk id="566" creationId="{48009FFD-D832-585D-1C1A-F5951953E694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2-22T03:20:11.847" idx="1">
    <p:pos x="6000" y="0"/>
    <p:text>add info about how many steps were saved from before to after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f080b61eb8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f080b61eb8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b4cf37de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ab4cf37de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https://youtu.be/16fHuTti6hM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c76575a0d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c76575a0d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https://youtu.be/16fHuTti6hM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76575a0d4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c76575a0d4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https://youtu.be/16fHuTti6hM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c6caf0f05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c6caf0f054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c6caf0f054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c6caf0f054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c6caf0f054_2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c6caf0f054_2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c6caf0f054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c6caf0f054_2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c6caf0f054_2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c6caf0f054_2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6caf0f054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c6caf0f054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c6caf0f054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c6caf0f054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c6caf0f054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c6caf0f054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c72a637007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c72a637007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c76575a0d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c76575a0d4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c76575a0d4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c76575a0d4_2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c76575a0d4_2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c76575a0d4_2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c76575a0d4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c76575a0d4_2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48dfc0ca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b48dfc0ca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b9d4f14c22_4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b9d4f14c22_4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Sources, how to increase confidence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the “yellow” box is doing, how is it working, why is it beneficial - examples (different scenarios), why the agent rejects/accepts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vs after process L5 process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L5 with the agents in them, what will the future L5 look like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b9d4f14c22_4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b9d4f14c22_4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b9d4f14c22_4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b9d4f14c22_4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b9d4f14c22_4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b9d4f14c22_4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b9d4f14c22_4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b9d4f14c22_4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9d4f14c22_4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b9d4f14c22_4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b9d4f14c22_4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b9d4f14c22_4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b7ad55844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b7ad55844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c07781fe0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c07781fe0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86b5b631a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86b5b631a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b3e7e9877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b3e7e9877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ba17b599f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ba17b599f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https://youtu.be/16fHuTti6hM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b7ae5bb3d7_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b7ae5bb3d7_2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Before State (Manual Process):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Accountants review invoices and contracts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Decide if disputes are valid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Apply orrections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Slow and error-prone</a:t>
            </a:r>
            <a:endParaRPr sz="1000">
              <a:solidFill>
                <a:srgbClr val="302926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>
              <a:solidFill>
                <a:srgbClr val="302926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>
              <a:solidFill>
                <a:srgbClr val="302926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b8e7be02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b8e7be022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b7ae5bb3d7_2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b7ae5bb3d7_2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b3e7e9877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b3e7e9877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b9d4f14c2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b9d4f14c2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the human-driven process you are using human judgement for both. 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bf63df2e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bf63df2e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c72a637007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c72a637007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b7b639edb8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b7b639edb8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b7ae5bb3d7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b7ae5bb3d7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c6caf0f054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c6caf0f054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c6caf0f054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c6caf0f054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b7b639edb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b7b639edb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b7ae5bb3d7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b7ae5bb3d7_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be5481a005_4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be5481a005_4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b66398bc6d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b66398bc6d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D6CCAC8B-3012-8173-3F5E-464178CC4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b9d4f14c22_0_0:notes">
            <a:extLst>
              <a:ext uri="{FF2B5EF4-FFF2-40B4-BE49-F238E27FC236}">
                <a16:creationId xmlns:a16="http://schemas.microsoft.com/office/drawing/2014/main" id="{81F97E66-51D4-0562-3722-8B599CAAD3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b9d4f14c22_0_0:notes">
            <a:extLst>
              <a:ext uri="{FF2B5EF4-FFF2-40B4-BE49-F238E27FC236}">
                <a16:creationId xmlns:a16="http://schemas.microsoft.com/office/drawing/2014/main" id="{A65B68E3-DCC2-7E34-A0E0-C9961F6861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the human-driven process you are using human judgement for both.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0395374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b4a6e0627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b4a6e0627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b48c82c97a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b48c82c97a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b7aad840e8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3b7aad840e8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b7aad840e8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b7aad840e8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b7aad840e8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b7aad840e8_1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b66398bc6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3b66398bc6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c6caf0f05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3c6caf0f05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-243963" y="-93373"/>
            <a:ext cx="855913" cy="2600230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 flipH="1">
            <a:off x="7919140" y="-278604"/>
            <a:ext cx="1383960" cy="932103"/>
          </a:xfrm>
          <a:custGeom>
            <a:avLst/>
            <a:gdLst/>
            <a:ahLst/>
            <a:cxnLst/>
            <a:rect l="l" t="t" r="r" b="b"/>
            <a:pathLst>
              <a:path w="31345" h="15587" extrusionOk="0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7564905" y="-93375"/>
            <a:ext cx="1730072" cy="2044587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713100" y="1481055"/>
            <a:ext cx="6816600" cy="241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713100" y="3995538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 rot="784685">
            <a:off x="-181759" y="-821217"/>
            <a:ext cx="1244983" cy="3296521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 rot="1783285" flipH="1">
            <a:off x="-385508" y="-1243295"/>
            <a:ext cx="1031077" cy="3132372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143200" y="-478825"/>
            <a:ext cx="1214376" cy="4636445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20000" y="2195100"/>
            <a:ext cx="4337700" cy="146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178725"/>
            <a:ext cx="5067600" cy="100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720000" y="3676775"/>
            <a:ext cx="506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 rot="-1055101">
            <a:off x="-960243" y="-611114"/>
            <a:ext cx="1615770" cy="1821365"/>
          </a:xfrm>
          <a:custGeom>
            <a:avLst/>
            <a:gdLst/>
            <a:ahLst/>
            <a:cxnLst/>
            <a:rect l="l" t="t" r="r" b="b"/>
            <a:pathLst>
              <a:path w="37849" h="42665" extrusionOk="0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/>
          <p:nvPr/>
        </p:nvSpPr>
        <p:spPr>
          <a:xfrm rot="10800000" flipH="1">
            <a:off x="7641225" y="-691372"/>
            <a:ext cx="1756619" cy="2076077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/>
          <p:nvPr/>
        </p:nvSpPr>
        <p:spPr>
          <a:xfrm flipH="1">
            <a:off x="8145456" y="-66021"/>
            <a:ext cx="1756619" cy="2322794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 rot="-1794915">
            <a:off x="-1502546" y="-638410"/>
            <a:ext cx="2293282" cy="2585085"/>
          </a:xfrm>
          <a:custGeom>
            <a:avLst/>
            <a:gdLst/>
            <a:ahLst/>
            <a:cxnLst/>
            <a:rect l="l" t="t" r="r" b="b"/>
            <a:pathLst>
              <a:path w="37849" h="42665" extrusionOk="0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5"/>
          <p:cNvSpPr/>
          <p:nvPr/>
        </p:nvSpPr>
        <p:spPr>
          <a:xfrm>
            <a:off x="8555291" y="-912025"/>
            <a:ext cx="1031060" cy="3132321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7852681" y="-293879"/>
            <a:ext cx="2074359" cy="2202022"/>
          </a:xfrm>
          <a:custGeom>
            <a:avLst/>
            <a:gdLst/>
            <a:ahLst/>
            <a:cxnLst/>
            <a:rect l="l" t="t" r="r" b="b"/>
            <a:pathLst>
              <a:path w="34236" h="36343" extrusionOk="0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1291314" y="2203402"/>
            <a:ext cx="2742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 idx="2"/>
          </p:nvPr>
        </p:nvSpPr>
        <p:spPr>
          <a:xfrm>
            <a:off x="5110086" y="2203402"/>
            <a:ext cx="2742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1"/>
          </p:nvPr>
        </p:nvSpPr>
        <p:spPr>
          <a:xfrm>
            <a:off x="5110088" y="2786250"/>
            <a:ext cx="27426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3"/>
          </p:nvPr>
        </p:nvSpPr>
        <p:spPr>
          <a:xfrm>
            <a:off x="1291312" y="2786250"/>
            <a:ext cx="27426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title" idx="4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/>
        </p:nvSpPr>
        <p:spPr>
          <a:xfrm rot="-1236882">
            <a:off x="-992836" y="-201404"/>
            <a:ext cx="2374143" cy="2805904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6"/>
          <p:cNvSpPr/>
          <p:nvPr/>
        </p:nvSpPr>
        <p:spPr>
          <a:xfrm rot="-2700000">
            <a:off x="-1671654" y="-637784"/>
            <a:ext cx="2293212" cy="2585006"/>
          </a:xfrm>
          <a:custGeom>
            <a:avLst/>
            <a:gdLst/>
            <a:ahLst/>
            <a:cxnLst/>
            <a:rect l="l" t="t" r="r" b="b"/>
            <a:pathLst>
              <a:path w="37849" h="42665" extrusionOk="0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6"/>
          <p:cNvSpPr/>
          <p:nvPr/>
        </p:nvSpPr>
        <p:spPr>
          <a:xfrm rot="1315565" flipH="1">
            <a:off x="7821221" y="-111650"/>
            <a:ext cx="2374167" cy="2805933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/>
          <p:nvPr/>
        </p:nvSpPr>
        <p:spPr>
          <a:xfrm flipH="1">
            <a:off x="-243963" y="-245773"/>
            <a:ext cx="855913" cy="2600230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7"/>
          <p:cNvSpPr/>
          <p:nvPr/>
        </p:nvSpPr>
        <p:spPr>
          <a:xfrm flipH="1">
            <a:off x="8071540" y="-278604"/>
            <a:ext cx="1383960" cy="932103"/>
          </a:xfrm>
          <a:custGeom>
            <a:avLst/>
            <a:gdLst/>
            <a:ahLst/>
            <a:cxnLst/>
            <a:rect l="l" t="t" r="r" b="b"/>
            <a:pathLst>
              <a:path w="31345" h="15587" extrusionOk="0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7"/>
          <p:cNvSpPr/>
          <p:nvPr/>
        </p:nvSpPr>
        <p:spPr>
          <a:xfrm flipH="1">
            <a:off x="7717305" y="-93375"/>
            <a:ext cx="1730072" cy="2044587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1"/>
          </p:nvPr>
        </p:nvSpPr>
        <p:spPr>
          <a:xfrm>
            <a:off x="720000" y="1650200"/>
            <a:ext cx="3876000" cy="233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/>
          <p:nvPr/>
        </p:nvSpPr>
        <p:spPr>
          <a:xfrm rot="-3419928">
            <a:off x="-1702337" y="601789"/>
            <a:ext cx="2807434" cy="1193427"/>
          </a:xfrm>
          <a:custGeom>
            <a:avLst/>
            <a:gdLst/>
            <a:ahLst/>
            <a:cxnLst/>
            <a:rect l="l" t="t" r="r" b="b"/>
            <a:pathLst>
              <a:path w="31345" h="15587" extrusionOk="0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8"/>
          <p:cNvSpPr/>
          <p:nvPr/>
        </p:nvSpPr>
        <p:spPr>
          <a:xfrm rot="1401600" flipH="1">
            <a:off x="8049665" y="111206"/>
            <a:ext cx="2374221" cy="2805997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8"/>
          <p:cNvSpPr/>
          <p:nvPr/>
        </p:nvSpPr>
        <p:spPr>
          <a:xfrm rot="-836192">
            <a:off x="-1327580" y="-192083"/>
            <a:ext cx="2334065" cy="2880761"/>
          </a:xfrm>
          <a:custGeom>
            <a:avLst/>
            <a:gdLst/>
            <a:ahLst/>
            <a:cxnLst/>
            <a:rect l="l" t="t" r="r" b="b"/>
            <a:pathLst>
              <a:path w="37849" h="42665" extrusionOk="0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1896900" y="1307100"/>
            <a:ext cx="6534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/>
          <p:nvPr/>
        </p:nvSpPr>
        <p:spPr>
          <a:xfrm rot="880749">
            <a:off x="-109876" y="-360103"/>
            <a:ext cx="1253609" cy="3696848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9"/>
          <p:cNvSpPr/>
          <p:nvPr/>
        </p:nvSpPr>
        <p:spPr>
          <a:xfrm rot="1966325" flipH="1">
            <a:off x="-97652" y="-885201"/>
            <a:ext cx="1064941" cy="3438159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9"/>
          <p:cNvSpPr/>
          <p:nvPr/>
        </p:nvSpPr>
        <p:spPr>
          <a:xfrm>
            <a:off x="8448000" y="-771525"/>
            <a:ext cx="1214376" cy="4002640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20000" y="1240186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2241550" y="2221513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 flipH="1">
            <a:off x="-331799" y="-846185"/>
            <a:ext cx="855913" cy="3527545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0"/>
          <p:cNvSpPr/>
          <p:nvPr/>
        </p:nvSpPr>
        <p:spPr>
          <a:xfrm rot="894957" flipH="1">
            <a:off x="8570322" y="26143"/>
            <a:ext cx="1383968" cy="1264504"/>
          </a:xfrm>
          <a:custGeom>
            <a:avLst/>
            <a:gdLst/>
            <a:ahLst/>
            <a:cxnLst/>
            <a:rect l="l" t="t" r="r" b="b"/>
            <a:pathLst>
              <a:path w="31345" h="15587" extrusionOk="0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0"/>
          <p:cNvSpPr/>
          <p:nvPr/>
        </p:nvSpPr>
        <p:spPr>
          <a:xfrm rot="894957" flipH="1">
            <a:off x="8014872" y="-268356"/>
            <a:ext cx="1730081" cy="2773774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3245625" y="1913850"/>
            <a:ext cx="5050500" cy="13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 rot="1103675">
            <a:off x="274406" y="-611819"/>
            <a:ext cx="1245021" cy="3181261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1"/>
          <p:cNvSpPr/>
          <p:nvPr/>
        </p:nvSpPr>
        <p:spPr>
          <a:xfrm flipH="1">
            <a:off x="-878080" y="-1048117"/>
            <a:ext cx="2074359" cy="2202022"/>
          </a:xfrm>
          <a:custGeom>
            <a:avLst/>
            <a:gdLst/>
            <a:ahLst/>
            <a:cxnLst/>
            <a:rect l="l" t="t" r="r" b="b"/>
            <a:pathLst>
              <a:path w="34236" h="36343" extrusionOk="0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1"/>
          <p:cNvSpPr/>
          <p:nvPr/>
        </p:nvSpPr>
        <p:spPr>
          <a:xfrm rot="1884779">
            <a:off x="7986089" y="-765133"/>
            <a:ext cx="2074380" cy="2202044"/>
          </a:xfrm>
          <a:custGeom>
            <a:avLst/>
            <a:gdLst/>
            <a:ahLst/>
            <a:cxnLst/>
            <a:rect l="l" t="t" r="r" b="b"/>
            <a:pathLst>
              <a:path w="34236" h="36343" extrusionOk="0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387300"/>
            <a:ext cx="6576000" cy="21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ONE_COLUMN_TEXT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/>
          <p:nvPr/>
        </p:nvSpPr>
        <p:spPr>
          <a:xfrm rot="-784685" flipH="1">
            <a:off x="7733575" y="-897417"/>
            <a:ext cx="1244983" cy="3296521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3"/>
          <p:cNvSpPr/>
          <p:nvPr/>
        </p:nvSpPr>
        <p:spPr>
          <a:xfrm rot="-1783285">
            <a:off x="7922631" y="-1395695"/>
            <a:ext cx="1031077" cy="3132372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3"/>
          <p:cNvSpPr/>
          <p:nvPr/>
        </p:nvSpPr>
        <p:spPr>
          <a:xfrm flipH="1">
            <a:off x="-331801" y="-1681325"/>
            <a:ext cx="1214376" cy="4002640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5243700" y="1478750"/>
            <a:ext cx="3180300" cy="30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/>
          <p:nvPr/>
        </p:nvSpPr>
        <p:spPr>
          <a:xfrm flipH="1">
            <a:off x="-243963" y="-169573"/>
            <a:ext cx="855913" cy="2600230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4"/>
          <p:cNvSpPr/>
          <p:nvPr/>
        </p:nvSpPr>
        <p:spPr>
          <a:xfrm flipH="1">
            <a:off x="7919140" y="-278604"/>
            <a:ext cx="1383960" cy="932103"/>
          </a:xfrm>
          <a:custGeom>
            <a:avLst/>
            <a:gdLst/>
            <a:ahLst/>
            <a:cxnLst/>
            <a:rect l="l" t="t" r="r" b="b"/>
            <a:pathLst>
              <a:path w="31345" h="15587" extrusionOk="0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4"/>
          <p:cNvSpPr/>
          <p:nvPr/>
        </p:nvSpPr>
        <p:spPr>
          <a:xfrm flipH="1">
            <a:off x="7564905" y="-93375"/>
            <a:ext cx="1730072" cy="2044587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1"/>
          </p:nvPr>
        </p:nvSpPr>
        <p:spPr>
          <a:xfrm>
            <a:off x="1497800" y="1489792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400"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subTitle" idx="2"/>
          </p:nvPr>
        </p:nvSpPr>
        <p:spPr>
          <a:xfrm>
            <a:off x="1497800" y="2119128"/>
            <a:ext cx="24861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title" hasCustomPrompt="1"/>
          </p:nvPr>
        </p:nvSpPr>
        <p:spPr>
          <a:xfrm>
            <a:off x="720000" y="1458160"/>
            <a:ext cx="7989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9pPr>
          </a:lstStyle>
          <a:p>
            <a:r>
              <a:t>xx%</a:t>
            </a:r>
          </a:p>
        </p:txBody>
      </p:sp>
      <p:sp>
        <p:nvSpPr>
          <p:cNvPr id="83" name="Google Shape;83;p14"/>
          <p:cNvSpPr txBox="1">
            <a:spLocks noGrp="1"/>
          </p:cNvSpPr>
          <p:nvPr>
            <p:ph type="subTitle" idx="3"/>
          </p:nvPr>
        </p:nvSpPr>
        <p:spPr>
          <a:xfrm>
            <a:off x="1497800" y="3288764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400"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ubTitle" idx="4"/>
          </p:nvPr>
        </p:nvSpPr>
        <p:spPr>
          <a:xfrm>
            <a:off x="1497800" y="3918099"/>
            <a:ext cx="24861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title" idx="5" hasCustomPrompt="1"/>
          </p:nvPr>
        </p:nvSpPr>
        <p:spPr>
          <a:xfrm>
            <a:off x="720000" y="3257135"/>
            <a:ext cx="7989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9pPr>
          </a:lstStyle>
          <a:p>
            <a:r>
              <a:t>xx%</a:t>
            </a:r>
          </a:p>
        </p:txBody>
      </p:sp>
      <p:sp>
        <p:nvSpPr>
          <p:cNvPr id="86" name="Google Shape;86;p14"/>
          <p:cNvSpPr txBox="1">
            <a:spLocks noGrp="1"/>
          </p:cNvSpPr>
          <p:nvPr>
            <p:ph type="subTitle" idx="6"/>
          </p:nvPr>
        </p:nvSpPr>
        <p:spPr>
          <a:xfrm>
            <a:off x="5944800" y="1489792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400"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subTitle" idx="7"/>
          </p:nvPr>
        </p:nvSpPr>
        <p:spPr>
          <a:xfrm>
            <a:off x="5944800" y="2119127"/>
            <a:ext cx="24861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 idx="8" hasCustomPrompt="1"/>
          </p:nvPr>
        </p:nvSpPr>
        <p:spPr>
          <a:xfrm>
            <a:off x="4986065" y="1458160"/>
            <a:ext cx="9897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9pPr>
          </a:lstStyle>
          <a:p>
            <a:r>
              <a:t>xx%</a:t>
            </a:r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9"/>
          </p:nvPr>
        </p:nvSpPr>
        <p:spPr>
          <a:xfrm>
            <a:off x="5944800" y="3288772"/>
            <a:ext cx="21561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400"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2100"/>
              <a:buFont typeface="Playfair Display"/>
              <a:buNone/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ubTitle" idx="13"/>
          </p:nvPr>
        </p:nvSpPr>
        <p:spPr>
          <a:xfrm>
            <a:off x="5944800" y="3918099"/>
            <a:ext cx="24861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title" idx="14" hasCustomPrompt="1"/>
          </p:nvPr>
        </p:nvSpPr>
        <p:spPr>
          <a:xfrm>
            <a:off x="4986065" y="3257135"/>
            <a:ext cx="9897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>
            <a:spLocks noGrp="1"/>
          </p:cNvSpPr>
          <p:nvPr>
            <p:ph type="title" idx="15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/>
          <p:nvPr/>
        </p:nvSpPr>
        <p:spPr>
          <a:xfrm rot="-784685" flipH="1">
            <a:off x="7733586" y="-364017"/>
            <a:ext cx="1244983" cy="3296521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5"/>
          <p:cNvSpPr/>
          <p:nvPr/>
        </p:nvSpPr>
        <p:spPr>
          <a:xfrm rot="-1783285">
            <a:off x="8151242" y="-786095"/>
            <a:ext cx="1031077" cy="3132372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5"/>
          <p:cNvSpPr/>
          <p:nvPr/>
        </p:nvSpPr>
        <p:spPr>
          <a:xfrm flipH="1">
            <a:off x="-408376" y="-174026"/>
            <a:ext cx="1214376" cy="4128522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1407300" y="1189100"/>
            <a:ext cx="63294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subTitle" idx="1"/>
          </p:nvPr>
        </p:nvSpPr>
        <p:spPr>
          <a:xfrm>
            <a:off x="2008950" y="3153500"/>
            <a:ext cx="51261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/>
          <p:nvPr/>
        </p:nvSpPr>
        <p:spPr>
          <a:xfrm rot="-1532380">
            <a:off x="-984785" y="25045"/>
            <a:ext cx="2462769" cy="3479258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-1747850" y="-340664"/>
            <a:ext cx="2293271" cy="3283712"/>
          </a:xfrm>
          <a:custGeom>
            <a:avLst/>
            <a:gdLst/>
            <a:ahLst/>
            <a:cxnLst/>
            <a:rect l="l" t="t" r="r" b="b"/>
            <a:pathLst>
              <a:path w="37849" h="42665" extrusionOk="0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/>
          <p:nvPr/>
        </p:nvSpPr>
        <p:spPr>
          <a:xfrm rot="1315565" flipH="1">
            <a:off x="7997421" y="-481925"/>
            <a:ext cx="2374167" cy="2805933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4070700" y="3115663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ubTitle" idx="1"/>
          </p:nvPr>
        </p:nvSpPr>
        <p:spPr>
          <a:xfrm>
            <a:off x="1739700" y="1511313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 rot="-455257" flipH="1">
            <a:off x="7806607" y="-318267"/>
            <a:ext cx="1246880" cy="4103824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7"/>
          <p:cNvSpPr/>
          <p:nvPr/>
        </p:nvSpPr>
        <p:spPr>
          <a:xfrm rot="-1538068">
            <a:off x="8279381" y="-585154"/>
            <a:ext cx="1048448" cy="3401387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7"/>
          <p:cNvSpPr/>
          <p:nvPr/>
        </p:nvSpPr>
        <p:spPr>
          <a:xfrm rot="654765" flipH="1">
            <a:off x="-453981" y="-1416413"/>
            <a:ext cx="1214384" cy="4002644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4572000" y="1303638"/>
            <a:ext cx="3293700" cy="208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ubTitle" idx="1"/>
          </p:nvPr>
        </p:nvSpPr>
        <p:spPr>
          <a:xfrm>
            <a:off x="4572000" y="3292363"/>
            <a:ext cx="34914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/>
          <p:nvPr/>
        </p:nvSpPr>
        <p:spPr>
          <a:xfrm rot="2539665" flipH="1">
            <a:off x="7952801" y="67183"/>
            <a:ext cx="1899215" cy="944427"/>
          </a:xfrm>
          <a:custGeom>
            <a:avLst/>
            <a:gdLst/>
            <a:ahLst/>
            <a:cxnLst/>
            <a:rect l="l" t="t" r="r" b="b"/>
            <a:pathLst>
              <a:path w="31345" h="15587" extrusionOk="0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8"/>
          <p:cNvSpPr/>
          <p:nvPr/>
        </p:nvSpPr>
        <p:spPr>
          <a:xfrm rot="-1669522" flipH="1">
            <a:off x="-1115619" y="-369656"/>
            <a:ext cx="2074389" cy="2202054"/>
          </a:xfrm>
          <a:custGeom>
            <a:avLst/>
            <a:gdLst/>
            <a:ahLst/>
            <a:cxnLst/>
            <a:rect l="l" t="t" r="r" b="b"/>
            <a:pathLst>
              <a:path w="34236" h="36343" extrusionOk="0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8"/>
          <p:cNvSpPr/>
          <p:nvPr/>
        </p:nvSpPr>
        <p:spPr>
          <a:xfrm rot="-1532380">
            <a:off x="-1606285" y="-643205"/>
            <a:ext cx="2462769" cy="3479258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subTitle" idx="1"/>
          </p:nvPr>
        </p:nvSpPr>
        <p:spPr>
          <a:xfrm>
            <a:off x="720000" y="2215050"/>
            <a:ext cx="25755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/>
          <p:nvPr/>
        </p:nvSpPr>
        <p:spPr>
          <a:xfrm rot="2539665" flipH="1">
            <a:off x="7952801" y="67183"/>
            <a:ext cx="1899215" cy="944427"/>
          </a:xfrm>
          <a:custGeom>
            <a:avLst/>
            <a:gdLst/>
            <a:ahLst/>
            <a:cxnLst/>
            <a:rect l="l" t="t" r="r" b="b"/>
            <a:pathLst>
              <a:path w="31345" h="15587" extrusionOk="0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9"/>
          <p:cNvSpPr/>
          <p:nvPr/>
        </p:nvSpPr>
        <p:spPr>
          <a:xfrm rot="-1669522" flipH="1">
            <a:off x="-1115619" y="-369656"/>
            <a:ext cx="2074389" cy="2202054"/>
          </a:xfrm>
          <a:custGeom>
            <a:avLst/>
            <a:gdLst/>
            <a:ahLst/>
            <a:cxnLst/>
            <a:rect l="l" t="t" r="r" b="b"/>
            <a:pathLst>
              <a:path w="34236" h="36343" extrusionOk="0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9"/>
          <p:cNvSpPr/>
          <p:nvPr/>
        </p:nvSpPr>
        <p:spPr>
          <a:xfrm rot="-1532380">
            <a:off x="-1606285" y="-643205"/>
            <a:ext cx="2462769" cy="3479258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719900" y="1533450"/>
            <a:ext cx="7704000" cy="30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/>
          <p:nvPr/>
        </p:nvSpPr>
        <p:spPr>
          <a:xfrm rot="1236882" flipH="1">
            <a:off x="7680459" y="103396"/>
            <a:ext cx="2374143" cy="2805904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0"/>
          <p:cNvSpPr/>
          <p:nvPr/>
        </p:nvSpPr>
        <p:spPr>
          <a:xfrm flipH="1">
            <a:off x="8516333" y="-485412"/>
            <a:ext cx="2293271" cy="2585072"/>
          </a:xfrm>
          <a:custGeom>
            <a:avLst/>
            <a:gdLst/>
            <a:ahLst/>
            <a:cxnLst/>
            <a:rect l="l" t="t" r="r" b="b"/>
            <a:pathLst>
              <a:path w="37849" h="42665" extrusionOk="0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0"/>
          <p:cNvSpPr/>
          <p:nvPr/>
        </p:nvSpPr>
        <p:spPr>
          <a:xfrm rot="-1315565">
            <a:off x="-1005022" y="-481925"/>
            <a:ext cx="2374167" cy="2805933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720000" y="3312975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ubTitle" idx="1"/>
          </p:nvPr>
        </p:nvSpPr>
        <p:spPr>
          <a:xfrm>
            <a:off x="720000" y="37185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title" idx="2"/>
          </p:nvPr>
        </p:nvSpPr>
        <p:spPr>
          <a:xfrm>
            <a:off x="3484419" y="1875613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subTitle" idx="3"/>
          </p:nvPr>
        </p:nvSpPr>
        <p:spPr>
          <a:xfrm>
            <a:off x="3484421" y="2269788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title" idx="4"/>
          </p:nvPr>
        </p:nvSpPr>
        <p:spPr>
          <a:xfrm>
            <a:off x="6255596" y="3335775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subTitle" idx="5"/>
          </p:nvPr>
        </p:nvSpPr>
        <p:spPr>
          <a:xfrm>
            <a:off x="6255599" y="37185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title" idx="6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 flipH="1">
            <a:off x="8252620" y="-928356"/>
            <a:ext cx="1245003" cy="3181217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1"/>
          <p:cNvSpPr/>
          <p:nvPr/>
        </p:nvSpPr>
        <p:spPr>
          <a:xfrm rot="-844789">
            <a:off x="8256274" y="-340789"/>
            <a:ext cx="1031065" cy="3433350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1"/>
          <p:cNvSpPr/>
          <p:nvPr/>
        </p:nvSpPr>
        <p:spPr>
          <a:xfrm>
            <a:off x="-263905" y="-1215306"/>
            <a:ext cx="1245003" cy="3181217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title"/>
          </p:nvPr>
        </p:nvSpPr>
        <p:spPr>
          <a:xfrm>
            <a:off x="1323370" y="1297597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ubTitle" idx="1"/>
          </p:nvPr>
        </p:nvSpPr>
        <p:spPr>
          <a:xfrm>
            <a:off x="1323370" y="1749106"/>
            <a:ext cx="2175300" cy="6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1"/>
          <p:cNvSpPr txBox="1">
            <a:spLocks noGrp="1"/>
          </p:cNvSpPr>
          <p:nvPr>
            <p:ph type="title" idx="2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1"/>
          <p:cNvSpPr txBox="1">
            <a:spLocks noGrp="1"/>
          </p:cNvSpPr>
          <p:nvPr>
            <p:ph type="title" idx="3"/>
          </p:nvPr>
        </p:nvSpPr>
        <p:spPr>
          <a:xfrm>
            <a:off x="1323370" y="2422722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2" name="Google Shape;142;p21"/>
          <p:cNvSpPr txBox="1">
            <a:spLocks noGrp="1"/>
          </p:cNvSpPr>
          <p:nvPr>
            <p:ph type="subTitle" idx="4"/>
          </p:nvPr>
        </p:nvSpPr>
        <p:spPr>
          <a:xfrm>
            <a:off x="1323370" y="2874231"/>
            <a:ext cx="2175300" cy="6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title" idx="5"/>
          </p:nvPr>
        </p:nvSpPr>
        <p:spPr>
          <a:xfrm>
            <a:off x="1323370" y="3547847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subTitle" idx="6"/>
          </p:nvPr>
        </p:nvSpPr>
        <p:spPr>
          <a:xfrm>
            <a:off x="1323370" y="3999356"/>
            <a:ext cx="2175300" cy="6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2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/>
          <p:nvPr/>
        </p:nvSpPr>
        <p:spPr>
          <a:xfrm rot="-240488">
            <a:off x="-424134" y="-626662"/>
            <a:ext cx="1244966" cy="3296515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2"/>
          <p:cNvSpPr/>
          <p:nvPr/>
        </p:nvSpPr>
        <p:spPr>
          <a:xfrm rot="758190" flipH="1">
            <a:off x="-566166" y="-1075222"/>
            <a:ext cx="1031062" cy="3132328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2"/>
          <p:cNvSpPr/>
          <p:nvPr/>
        </p:nvSpPr>
        <p:spPr>
          <a:xfrm>
            <a:off x="8371800" y="-466725"/>
            <a:ext cx="1214376" cy="4002640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2"/>
          <p:cNvSpPr txBox="1">
            <a:spLocks noGrp="1"/>
          </p:cNvSpPr>
          <p:nvPr>
            <p:ph type="title"/>
          </p:nvPr>
        </p:nvSpPr>
        <p:spPr>
          <a:xfrm>
            <a:off x="868975" y="1708013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subTitle" idx="1"/>
          </p:nvPr>
        </p:nvSpPr>
        <p:spPr>
          <a:xfrm>
            <a:off x="830575" y="2630725"/>
            <a:ext cx="22521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title" idx="2"/>
          </p:nvPr>
        </p:nvSpPr>
        <p:spPr>
          <a:xfrm>
            <a:off x="3484350" y="1708013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type="subTitle" idx="3"/>
          </p:nvPr>
        </p:nvSpPr>
        <p:spPr>
          <a:xfrm>
            <a:off x="3445950" y="2630725"/>
            <a:ext cx="22521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title" idx="4"/>
          </p:nvPr>
        </p:nvSpPr>
        <p:spPr>
          <a:xfrm>
            <a:off x="6099725" y="1708013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4" name="Google Shape;154;p22"/>
          <p:cNvSpPr txBox="1">
            <a:spLocks noGrp="1"/>
          </p:cNvSpPr>
          <p:nvPr>
            <p:ph type="subTitle" idx="5"/>
          </p:nvPr>
        </p:nvSpPr>
        <p:spPr>
          <a:xfrm>
            <a:off x="6061325" y="2630725"/>
            <a:ext cx="22521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2"/>
          <p:cNvSpPr txBox="1">
            <a:spLocks noGrp="1"/>
          </p:cNvSpPr>
          <p:nvPr>
            <p:ph type="title" idx="6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/>
          <p:nvPr/>
        </p:nvSpPr>
        <p:spPr>
          <a:xfrm rot="784685">
            <a:off x="-410359" y="-897417"/>
            <a:ext cx="1244983" cy="3296521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3"/>
          <p:cNvSpPr/>
          <p:nvPr/>
        </p:nvSpPr>
        <p:spPr>
          <a:xfrm rot="1783285" flipH="1">
            <a:off x="-385508" y="-1395695"/>
            <a:ext cx="1031077" cy="3132372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3"/>
          <p:cNvSpPr/>
          <p:nvPr/>
        </p:nvSpPr>
        <p:spPr>
          <a:xfrm>
            <a:off x="8448000" y="-771525"/>
            <a:ext cx="1214376" cy="4002640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3"/>
          <p:cNvSpPr txBox="1">
            <a:spLocks noGrp="1"/>
          </p:cNvSpPr>
          <p:nvPr>
            <p:ph type="title"/>
          </p:nvPr>
        </p:nvSpPr>
        <p:spPr>
          <a:xfrm>
            <a:off x="713100" y="1559953"/>
            <a:ext cx="2311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1" name="Google Shape;161;p23"/>
          <p:cNvSpPr txBox="1">
            <a:spLocks noGrp="1"/>
          </p:cNvSpPr>
          <p:nvPr>
            <p:ph type="subTitle" idx="1"/>
          </p:nvPr>
        </p:nvSpPr>
        <p:spPr>
          <a:xfrm>
            <a:off x="1046700" y="1994078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3"/>
          <p:cNvSpPr txBox="1">
            <a:spLocks noGrp="1"/>
          </p:cNvSpPr>
          <p:nvPr>
            <p:ph type="title" idx="2"/>
          </p:nvPr>
        </p:nvSpPr>
        <p:spPr>
          <a:xfrm>
            <a:off x="6112200" y="1559953"/>
            <a:ext cx="2311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3" name="Google Shape;163;p23"/>
          <p:cNvSpPr txBox="1">
            <a:spLocks noGrp="1"/>
          </p:cNvSpPr>
          <p:nvPr>
            <p:ph type="subTitle" idx="3"/>
          </p:nvPr>
        </p:nvSpPr>
        <p:spPr>
          <a:xfrm>
            <a:off x="6112200" y="1994078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3"/>
          <p:cNvSpPr txBox="1">
            <a:spLocks noGrp="1"/>
          </p:cNvSpPr>
          <p:nvPr>
            <p:ph type="title" idx="4"/>
          </p:nvPr>
        </p:nvSpPr>
        <p:spPr>
          <a:xfrm>
            <a:off x="713100" y="2994163"/>
            <a:ext cx="2311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5" name="Google Shape;165;p23"/>
          <p:cNvSpPr txBox="1">
            <a:spLocks noGrp="1"/>
          </p:cNvSpPr>
          <p:nvPr>
            <p:ph type="subTitle" idx="5"/>
          </p:nvPr>
        </p:nvSpPr>
        <p:spPr>
          <a:xfrm>
            <a:off x="1046700" y="3428288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3"/>
          <p:cNvSpPr txBox="1">
            <a:spLocks noGrp="1"/>
          </p:cNvSpPr>
          <p:nvPr>
            <p:ph type="title" idx="6"/>
          </p:nvPr>
        </p:nvSpPr>
        <p:spPr>
          <a:xfrm>
            <a:off x="6112200" y="2994163"/>
            <a:ext cx="2311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7" name="Google Shape;167;p23"/>
          <p:cNvSpPr txBox="1">
            <a:spLocks noGrp="1"/>
          </p:cNvSpPr>
          <p:nvPr>
            <p:ph type="subTitle" idx="7"/>
          </p:nvPr>
        </p:nvSpPr>
        <p:spPr>
          <a:xfrm>
            <a:off x="6112200" y="3428288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3"/>
          <p:cNvSpPr txBox="1">
            <a:spLocks noGrp="1"/>
          </p:cNvSpPr>
          <p:nvPr>
            <p:ph type="title" idx="8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5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/>
          <p:nvPr/>
        </p:nvSpPr>
        <p:spPr>
          <a:xfrm rot="784685">
            <a:off x="-257959" y="-897417"/>
            <a:ext cx="1244983" cy="3296521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4"/>
          <p:cNvSpPr/>
          <p:nvPr/>
        </p:nvSpPr>
        <p:spPr>
          <a:xfrm rot="1783285" flipH="1">
            <a:off x="-461708" y="-1319495"/>
            <a:ext cx="1031077" cy="3132372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4"/>
          <p:cNvSpPr/>
          <p:nvPr/>
        </p:nvSpPr>
        <p:spPr>
          <a:xfrm rot="-593063">
            <a:off x="8066979" y="-555017"/>
            <a:ext cx="1214363" cy="4636379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4"/>
          <p:cNvSpPr txBox="1">
            <a:spLocks noGrp="1"/>
          </p:cNvSpPr>
          <p:nvPr>
            <p:ph type="title"/>
          </p:nvPr>
        </p:nvSpPr>
        <p:spPr>
          <a:xfrm>
            <a:off x="1872622" y="1618250"/>
            <a:ext cx="1978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4" name="Google Shape;174;p24"/>
          <p:cNvSpPr txBox="1">
            <a:spLocks noGrp="1"/>
          </p:cNvSpPr>
          <p:nvPr>
            <p:ph type="subTitle" idx="1"/>
          </p:nvPr>
        </p:nvSpPr>
        <p:spPr>
          <a:xfrm>
            <a:off x="1872622" y="206545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4"/>
          <p:cNvSpPr txBox="1">
            <a:spLocks noGrp="1"/>
          </p:cNvSpPr>
          <p:nvPr>
            <p:ph type="title" idx="2"/>
          </p:nvPr>
        </p:nvSpPr>
        <p:spPr>
          <a:xfrm>
            <a:off x="5893580" y="1618250"/>
            <a:ext cx="1978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6" name="Google Shape;176;p24"/>
          <p:cNvSpPr txBox="1">
            <a:spLocks noGrp="1"/>
          </p:cNvSpPr>
          <p:nvPr>
            <p:ph type="subTitle" idx="3"/>
          </p:nvPr>
        </p:nvSpPr>
        <p:spPr>
          <a:xfrm>
            <a:off x="5893576" y="206545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4"/>
          <p:cNvSpPr txBox="1">
            <a:spLocks noGrp="1"/>
          </p:cNvSpPr>
          <p:nvPr>
            <p:ph type="title" idx="4"/>
          </p:nvPr>
        </p:nvSpPr>
        <p:spPr>
          <a:xfrm>
            <a:off x="1872622" y="3051650"/>
            <a:ext cx="1978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8" name="Google Shape;178;p24"/>
          <p:cNvSpPr txBox="1">
            <a:spLocks noGrp="1"/>
          </p:cNvSpPr>
          <p:nvPr>
            <p:ph type="subTitle" idx="5"/>
          </p:nvPr>
        </p:nvSpPr>
        <p:spPr>
          <a:xfrm>
            <a:off x="1872622" y="349885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4"/>
          <p:cNvSpPr txBox="1">
            <a:spLocks noGrp="1"/>
          </p:cNvSpPr>
          <p:nvPr>
            <p:ph type="title" idx="6"/>
          </p:nvPr>
        </p:nvSpPr>
        <p:spPr>
          <a:xfrm>
            <a:off x="5893580" y="3051650"/>
            <a:ext cx="1978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80" name="Google Shape;180;p24"/>
          <p:cNvSpPr txBox="1">
            <a:spLocks noGrp="1"/>
          </p:cNvSpPr>
          <p:nvPr>
            <p:ph type="subTitle" idx="7"/>
          </p:nvPr>
        </p:nvSpPr>
        <p:spPr>
          <a:xfrm>
            <a:off x="5893576" y="349885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4"/>
          <p:cNvSpPr txBox="1">
            <a:spLocks noGrp="1"/>
          </p:cNvSpPr>
          <p:nvPr>
            <p:ph type="title" idx="8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/>
          <p:nvPr/>
        </p:nvSpPr>
        <p:spPr>
          <a:xfrm flipH="1">
            <a:off x="7692880" y="-288986"/>
            <a:ext cx="2374159" cy="2805923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5"/>
          <p:cNvSpPr/>
          <p:nvPr/>
        </p:nvSpPr>
        <p:spPr>
          <a:xfrm rot="-2700000" flipH="1">
            <a:off x="8364443" y="-538691"/>
            <a:ext cx="1031034" cy="3132241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5"/>
          <p:cNvSpPr/>
          <p:nvPr/>
        </p:nvSpPr>
        <p:spPr>
          <a:xfrm rot="-236223">
            <a:off x="-431802" y="-749425"/>
            <a:ext cx="1244962" cy="3296496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5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5"/>
          <p:cNvSpPr txBox="1">
            <a:spLocks noGrp="1"/>
          </p:cNvSpPr>
          <p:nvPr>
            <p:ph type="title" idx="2"/>
          </p:nvPr>
        </p:nvSpPr>
        <p:spPr>
          <a:xfrm>
            <a:off x="1286050" y="1297597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88" name="Google Shape;188;p25"/>
          <p:cNvSpPr txBox="1">
            <a:spLocks noGrp="1"/>
          </p:cNvSpPr>
          <p:nvPr>
            <p:ph type="subTitle" idx="1"/>
          </p:nvPr>
        </p:nvSpPr>
        <p:spPr>
          <a:xfrm>
            <a:off x="1286050" y="1749106"/>
            <a:ext cx="2175300" cy="6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5"/>
          <p:cNvSpPr txBox="1">
            <a:spLocks noGrp="1"/>
          </p:cNvSpPr>
          <p:nvPr>
            <p:ph type="title" idx="3"/>
          </p:nvPr>
        </p:nvSpPr>
        <p:spPr>
          <a:xfrm>
            <a:off x="1286050" y="2422722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0" name="Google Shape;190;p25"/>
          <p:cNvSpPr txBox="1">
            <a:spLocks noGrp="1"/>
          </p:cNvSpPr>
          <p:nvPr>
            <p:ph type="subTitle" idx="4"/>
          </p:nvPr>
        </p:nvSpPr>
        <p:spPr>
          <a:xfrm>
            <a:off x="1286050" y="2874231"/>
            <a:ext cx="2175300" cy="6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25"/>
          <p:cNvSpPr txBox="1">
            <a:spLocks noGrp="1"/>
          </p:cNvSpPr>
          <p:nvPr>
            <p:ph type="title" idx="5"/>
          </p:nvPr>
        </p:nvSpPr>
        <p:spPr>
          <a:xfrm>
            <a:off x="1286050" y="3547847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2" name="Google Shape;192;p25"/>
          <p:cNvSpPr txBox="1">
            <a:spLocks noGrp="1"/>
          </p:cNvSpPr>
          <p:nvPr>
            <p:ph type="subTitle" idx="6"/>
          </p:nvPr>
        </p:nvSpPr>
        <p:spPr>
          <a:xfrm>
            <a:off x="1286050" y="3999356"/>
            <a:ext cx="2175300" cy="6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5"/>
          <p:cNvSpPr txBox="1">
            <a:spLocks noGrp="1"/>
          </p:cNvSpPr>
          <p:nvPr>
            <p:ph type="title" idx="7"/>
          </p:nvPr>
        </p:nvSpPr>
        <p:spPr>
          <a:xfrm>
            <a:off x="5682650" y="1297597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4" name="Google Shape;194;p25"/>
          <p:cNvSpPr txBox="1">
            <a:spLocks noGrp="1"/>
          </p:cNvSpPr>
          <p:nvPr>
            <p:ph type="subTitle" idx="8"/>
          </p:nvPr>
        </p:nvSpPr>
        <p:spPr>
          <a:xfrm>
            <a:off x="5682650" y="1749106"/>
            <a:ext cx="2175300" cy="6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5"/>
          <p:cNvSpPr txBox="1">
            <a:spLocks noGrp="1"/>
          </p:cNvSpPr>
          <p:nvPr>
            <p:ph type="title" idx="9"/>
          </p:nvPr>
        </p:nvSpPr>
        <p:spPr>
          <a:xfrm>
            <a:off x="5682650" y="2422722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6" name="Google Shape;196;p25"/>
          <p:cNvSpPr txBox="1">
            <a:spLocks noGrp="1"/>
          </p:cNvSpPr>
          <p:nvPr>
            <p:ph type="subTitle" idx="13"/>
          </p:nvPr>
        </p:nvSpPr>
        <p:spPr>
          <a:xfrm>
            <a:off x="5682650" y="2874231"/>
            <a:ext cx="2175300" cy="6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title" idx="14"/>
          </p:nvPr>
        </p:nvSpPr>
        <p:spPr>
          <a:xfrm>
            <a:off x="5682650" y="3547847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8" name="Google Shape;198;p25"/>
          <p:cNvSpPr txBox="1">
            <a:spLocks noGrp="1"/>
          </p:cNvSpPr>
          <p:nvPr>
            <p:ph type="subTitle" idx="15"/>
          </p:nvPr>
        </p:nvSpPr>
        <p:spPr>
          <a:xfrm>
            <a:off x="5682650" y="3999356"/>
            <a:ext cx="2175300" cy="6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 txBox="1">
            <a:spLocks noGrp="1"/>
          </p:cNvSpPr>
          <p:nvPr>
            <p:ph type="title" hasCustomPrompt="1"/>
          </p:nvPr>
        </p:nvSpPr>
        <p:spPr>
          <a:xfrm>
            <a:off x="2223600" y="670225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1" name="Google Shape;201;p26"/>
          <p:cNvSpPr txBox="1">
            <a:spLocks noGrp="1"/>
          </p:cNvSpPr>
          <p:nvPr>
            <p:ph type="subTitle" idx="1"/>
          </p:nvPr>
        </p:nvSpPr>
        <p:spPr>
          <a:xfrm>
            <a:off x="2223600" y="1234825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02" name="Google Shape;202;p26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54311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3" name="Google Shape;203;p26"/>
          <p:cNvSpPr txBox="1">
            <a:spLocks noGrp="1"/>
          </p:cNvSpPr>
          <p:nvPr>
            <p:ph type="subTitle" idx="3"/>
          </p:nvPr>
        </p:nvSpPr>
        <p:spPr>
          <a:xfrm>
            <a:off x="2223600" y="2554644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04" name="Google Shape;204;p26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265638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5" name="Google Shape;205;p26"/>
          <p:cNvSpPr txBox="1">
            <a:spLocks noGrp="1"/>
          </p:cNvSpPr>
          <p:nvPr>
            <p:ph type="subTitle" idx="5"/>
          </p:nvPr>
        </p:nvSpPr>
        <p:spPr>
          <a:xfrm>
            <a:off x="2223600" y="3874463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06" name="Google Shape;206;p26"/>
          <p:cNvSpPr/>
          <p:nvPr/>
        </p:nvSpPr>
        <p:spPr>
          <a:xfrm rot="-1103675" flipH="1">
            <a:off x="8084800" y="-611819"/>
            <a:ext cx="1245021" cy="3181261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6"/>
          <p:cNvSpPr/>
          <p:nvPr/>
        </p:nvSpPr>
        <p:spPr>
          <a:xfrm>
            <a:off x="8322223" y="-561604"/>
            <a:ext cx="2074359" cy="2202022"/>
          </a:xfrm>
          <a:custGeom>
            <a:avLst/>
            <a:gdLst/>
            <a:ahLst/>
            <a:cxnLst/>
            <a:rect l="l" t="t" r="r" b="b"/>
            <a:pathLst>
              <a:path w="34236" h="36343" extrusionOk="0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6"/>
          <p:cNvSpPr/>
          <p:nvPr/>
        </p:nvSpPr>
        <p:spPr>
          <a:xfrm rot="1040920" flipH="1">
            <a:off x="-826208" y="-506959"/>
            <a:ext cx="2074408" cy="2202074"/>
          </a:xfrm>
          <a:custGeom>
            <a:avLst/>
            <a:gdLst/>
            <a:ahLst/>
            <a:cxnLst/>
            <a:rect l="l" t="t" r="r" b="b"/>
            <a:pathLst>
              <a:path w="34236" h="36343" extrusionOk="0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7"/>
          <p:cNvSpPr/>
          <p:nvPr/>
        </p:nvSpPr>
        <p:spPr>
          <a:xfrm flipH="1">
            <a:off x="7692880" y="-288986"/>
            <a:ext cx="2374159" cy="2805923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7"/>
          <p:cNvSpPr/>
          <p:nvPr/>
        </p:nvSpPr>
        <p:spPr>
          <a:xfrm rot="-2700000" flipH="1">
            <a:off x="8364443" y="-538691"/>
            <a:ext cx="1031034" cy="3132241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7"/>
          <p:cNvSpPr/>
          <p:nvPr/>
        </p:nvSpPr>
        <p:spPr>
          <a:xfrm rot="-236223">
            <a:off x="-431802" y="-749425"/>
            <a:ext cx="1244962" cy="3296496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/>
          <p:nvPr/>
        </p:nvSpPr>
        <p:spPr>
          <a:xfrm flipH="1">
            <a:off x="7874419" y="-137976"/>
            <a:ext cx="2481131" cy="2943927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8"/>
          <p:cNvSpPr/>
          <p:nvPr/>
        </p:nvSpPr>
        <p:spPr>
          <a:xfrm rot="2700000">
            <a:off x="94776" y="-643730"/>
            <a:ext cx="1031034" cy="3132241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8"/>
          <p:cNvSpPr/>
          <p:nvPr/>
        </p:nvSpPr>
        <p:spPr>
          <a:xfrm>
            <a:off x="8576741" y="-658300"/>
            <a:ext cx="1031060" cy="3132321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title"/>
          </p:nvPr>
        </p:nvSpPr>
        <p:spPr>
          <a:xfrm>
            <a:off x="720000" y="375287"/>
            <a:ext cx="4294800" cy="8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8"/>
          <p:cNvSpPr txBox="1">
            <a:spLocks noGrp="1"/>
          </p:cNvSpPr>
          <p:nvPr>
            <p:ph type="subTitle" idx="1"/>
          </p:nvPr>
        </p:nvSpPr>
        <p:spPr>
          <a:xfrm>
            <a:off x="713100" y="1394019"/>
            <a:ext cx="3434700" cy="14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28"/>
          <p:cNvSpPr txBox="1"/>
          <p:nvPr/>
        </p:nvSpPr>
        <p:spPr>
          <a:xfrm>
            <a:off x="720000" y="2966252"/>
            <a:ext cx="3772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CREDITS: This presentation template was created by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including icons by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&amp; images by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>
              <a:solidFill>
                <a:schemeClr val="dk1"/>
              </a:solidFill>
              <a:highlight>
                <a:srgbClr val="DFDEFC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comments" Target="../comments/commen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hyperlink" Target="https://purdue0-my.sharepoint.com/:v:/g/personal/toyeleke_purdue_edu/IQABzFAO0BioSqabnswUbQaIAbuQnZWLfRvsSeAi0OzlfCM?e=4gPedE" TargetMode="External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>
            <a:spLocks noGrp="1"/>
          </p:cNvSpPr>
          <p:nvPr>
            <p:ph type="ctrTitle"/>
          </p:nvPr>
        </p:nvSpPr>
        <p:spPr>
          <a:xfrm>
            <a:off x="713100" y="1481055"/>
            <a:ext cx="6816600" cy="241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Accenture - Ralph Lauren</a:t>
            </a:r>
            <a:endParaRPr/>
          </a:p>
        </p:txBody>
      </p:sp>
      <p:sp>
        <p:nvSpPr>
          <p:cNvPr id="227" name="Google Shape;227;p30"/>
          <p:cNvSpPr txBox="1">
            <a:spLocks noGrp="1"/>
          </p:cNvSpPr>
          <p:nvPr>
            <p:ph type="subTitle" idx="1"/>
          </p:nvPr>
        </p:nvSpPr>
        <p:spPr>
          <a:xfrm>
            <a:off x="713100" y="3995538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GenAI in Receivables Management</a:t>
            </a:r>
            <a:endParaRPr/>
          </a:p>
        </p:txBody>
      </p:sp>
      <p:cxnSp>
        <p:nvCxnSpPr>
          <p:cNvPr id="228" name="Google Shape;228;p30"/>
          <p:cNvCxnSpPr>
            <a:endCxn id="229" idx="1"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9" name="Google Shape;229;p30"/>
          <p:cNvSpPr txBox="1">
            <a:spLocks noGrp="1"/>
          </p:cNvSpPr>
          <p:nvPr>
            <p:ph type="subTitle" idx="1"/>
          </p:nvPr>
        </p:nvSpPr>
        <p:spPr>
          <a:xfrm>
            <a:off x="6331500" y="4630647"/>
            <a:ext cx="2585400" cy="4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Purdue University</a:t>
            </a:r>
            <a:endParaRPr sz="1200"/>
          </a:p>
        </p:txBody>
      </p:sp>
      <p:pic>
        <p:nvPicPr>
          <p:cNvPr id="230" name="Google Shape;23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781" y="400600"/>
            <a:ext cx="4445246" cy="47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>
            <a:spLocks noGrp="1"/>
          </p:cNvSpPr>
          <p:nvPr>
            <p:ph type="title" idx="15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36" name="Google Shape;236;p31"/>
          <p:cNvSpPr txBox="1">
            <a:spLocks noGrp="1"/>
          </p:cNvSpPr>
          <p:nvPr>
            <p:ph type="subTitle" idx="1"/>
          </p:nvPr>
        </p:nvSpPr>
        <p:spPr>
          <a:xfrm>
            <a:off x="1497800" y="1489792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 Ledger</a:t>
            </a:r>
            <a:endParaRPr/>
          </a:p>
        </p:txBody>
      </p:sp>
      <p:sp>
        <p:nvSpPr>
          <p:cNvPr id="237" name="Google Shape;237;p31"/>
          <p:cNvSpPr txBox="1">
            <a:spLocks noGrp="1"/>
          </p:cNvSpPr>
          <p:nvPr>
            <p:ph type="subTitle" idx="2"/>
          </p:nvPr>
        </p:nvSpPr>
        <p:spPr>
          <a:xfrm>
            <a:off x="1497800" y="2119128"/>
            <a:ext cx="24861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Accounts Receivable Agent &amp; Accounts Receivable</a:t>
            </a:r>
            <a:endParaRPr/>
          </a:p>
        </p:txBody>
      </p:sp>
      <p:sp>
        <p:nvSpPr>
          <p:cNvPr id="238" name="Google Shape;238;p31"/>
          <p:cNvSpPr txBox="1">
            <a:spLocks noGrp="1"/>
          </p:cNvSpPr>
          <p:nvPr>
            <p:ph type="title"/>
          </p:nvPr>
        </p:nvSpPr>
        <p:spPr>
          <a:xfrm>
            <a:off x="720000" y="1458160"/>
            <a:ext cx="7989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3"/>
          </p:nvPr>
        </p:nvSpPr>
        <p:spPr>
          <a:xfrm>
            <a:off x="1497800" y="3288764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&amp; Revenue</a:t>
            </a:r>
            <a:endParaRPr/>
          </a:p>
        </p:txBody>
      </p:sp>
      <p:sp>
        <p:nvSpPr>
          <p:cNvPr id="240" name="Google Shape;240;p31"/>
          <p:cNvSpPr txBox="1">
            <a:spLocks noGrp="1"/>
          </p:cNvSpPr>
          <p:nvPr>
            <p:ph type="subTitle" idx="4"/>
          </p:nvPr>
        </p:nvSpPr>
        <p:spPr>
          <a:xfrm>
            <a:off x="1497800" y="3918099"/>
            <a:ext cx="24861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Behavioral Insights &amp; Agent for Incorrect Credits</a:t>
            </a:r>
            <a:endParaRPr/>
          </a:p>
        </p:txBody>
      </p:sp>
      <p:sp>
        <p:nvSpPr>
          <p:cNvPr id="241" name="Google Shape;241;p31"/>
          <p:cNvSpPr txBox="1">
            <a:spLocks noGrp="1"/>
          </p:cNvSpPr>
          <p:nvPr>
            <p:ph type="title" idx="5"/>
          </p:nvPr>
        </p:nvSpPr>
        <p:spPr>
          <a:xfrm>
            <a:off x="720000" y="3257135"/>
            <a:ext cx="7989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sp>
        <p:nvSpPr>
          <p:cNvPr id="242" name="Google Shape;242;p31"/>
          <p:cNvSpPr txBox="1">
            <a:spLocks noGrp="1"/>
          </p:cNvSpPr>
          <p:nvPr>
            <p:ph type="subTitle" idx="6"/>
          </p:nvPr>
        </p:nvSpPr>
        <p:spPr>
          <a:xfrm>
            <a:off x="5944800" y="1489792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Disputes</a:t>
            </a:r>
            <a:endParaRPr/>
          </a:p>
        </p:txBody>
      </p:sp>
      <p:sp>
        <p:nvSpPr>
          <p:cNvPr id="243" name="Google Shape;243;p31"/>
          <p:cNvSpPr txBox="1">
            <a:spLocks noGrp="1"/>
          </p:cNvSpPr>
          <p:nvPr>
            <p:ph type="subTitle" idx="7"/>
          </p:nvPr>
        </p:nvSpPr>
        <p:spPr>
          <a:xfrm>
            <a:off x="5944800" y="2119127"/>
            <a:ext cx="24861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Dispute Resolution Agent &amp; Contract Accounting </a:t>
            </a:r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title" idx="8"/>
          </p:nvPr>
        </p:nvSpPr>
        <p:spPr>
          <a:xfrm>
            <a:off x="4986065" y="1458160"/>
            <a:ext cx="9897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cxnSp>
        <p:nvCxnSpPr>
          <p:cNvPr id="245" name="Google Shape;245;p31"/>
          <p:cNvCxnSpPr>
            <a:endCxn id="246" idx="1"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6" name="Google Shape;246;p31"/>
          <p:cNvSpPr txBox="1"/>
          <p:nvPr/>
        </p:nvSpPr>
        <p:spPr>
          <a:xfrm>
            <a:off x="6331500" y="4630647"/>
            <a:ext cx="2585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Purdue University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47" name="Google Shape;24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26"/>
            <a:ext cx="3335324" cy="3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 txBox="1">
            <a:spLocks noGrp="1"/>
          </p:cNvSpPr>
          <p:nvPr>
            <p:ph type="title"/>
          </p:nvPr>
        </p:nvSpPr>
        <p:spPr>
          <a:xfrm>
            <a:off x="720000" y="2195100"/>
            <a:ext cx="4337700" cy="146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 Ledger</a:t>
            </a:r>
            <a:endParaRPr/>
          </a:p>
        </p:txBody>
      </p:sp>
      <p:sp>
        <p:nvSpPr>
          <p:cNvPr id="253" name="Google Shape;253;p32"/>
          <p:cNvSpPr txBox="1">
            <a:spLocks noGrp="1"/>
          </p:cNvSpPr>
          <p:nvPr>
            <p:ph type="title" idx="2"/>
          </p:nvPr>
        </p:nvSpPr>
        <p:spPr>
          <a:xfrm>
            <a:off x="720000" y="1178725"/>
            <a:ext cx="5067600" cy="100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254" name="Google Shape;254;p32"/>
          <p:cNvSpPr txBox="1">
            <a:spLocks noGrp="1"/>
          </p:cNvSpPr>
          <p:nvPr>
            <p:ph type="subTitle" idx="1"/>
          </p:nvPr>
        </p:nvSpPr>
        <p:spPr>
          <a:xfrm>
            <a:off x="720000" y="3676775"/>
            <a:ext cx="506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Saandiya, Tolu, Parth</a:t>
            </a:r>
            <a:endParaRPr/>
          </a:p>
        </p:txBody>
      </p:sp>
      <p:cxnSp>
        <p:nvCxnSpPr>
          <p:cNvPr id="255" name="Google Shape;255;p32"/>
          <p:cNvCxnSpPr>
            <a:endCxn id="256" idx="1"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6" name="Google Shape;256;p32"/>
          <p:cNvSpPr txBox="1"/>
          <p:nvPr/>
        </p:nvSpPr>
        <p:spPr>
          <a:xfrm>
            <a:off x="6331500" y="4630647"/>
            <a:ext cx="2585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Purdue University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57" name="Google Shape;25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3335324" cy="3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Current State and Agent Overview</a:t>
            </a:r>
            <a:endParaRPr sz="2600"/>
          </a:p>
        </p:txBody>
      </p:sp>
      <p:sp>
        <p:nvSpPr>
          <p:cNvPr id="263" name="Google Shape;263;p33"/>
          <p:cNvSpPr txBox="1">
            <a:spLocks noGrp="1"/>
          </p:cNvSpPr>
          <p:nvPr>
            <p:ph type="title"/>
          </p:nvPr>
        </p:nvSpPr>
        <p:spPr>
          <a:xfrm>
            <a:off x="815004" y="2461493"/>
            <a:ext cx="2811300" cy="406500"/>
          </a:xfrm>
          <a:prstGeom prst="rect">
            <a:avLst/>
          </a:prstGeom>
        </p:spPr>
        <p:txBody>
          <a:bodyPr spcFirstLastPara="1" wrap="square" lIns="66525" tIns="66525" rIns="66525" bIns="66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18"/>
              <a:t>Human-Driven Process</a:t>
            </a:r>
            <a:endParaRPr sz="1818"/>
          </a:p>
        </p:txBody>
      </p:sp>
      <p:sp>
        <p:nvSpPr>
          <p:cNvPr id="264" name="Google Shape;264;p33"/>
          <p:cNvSpPr txBox="1">
            <a:spLocks noGrp="1"/>
          </p:cNvSpPr>
          <p:nvPr>
            <p:ph type="subTitle" idx="3"/>
          </p:nvPr>
        </p:nvSpPr>
        <p:spPr>
          <a:xfrm>
            <a:off x="472133" y="2832647"/>
            <a:ext cx="3388800" cy="2246700"/>
          </a:xfrm>
          <a:prstGeom prst="rect">
            <a:avLst/>
          </a:prstGeom>
        </p:spPr>
        <p:txBody>
          <a:bodyPr spcFirstLastPara="1" wrap="square" lIns="66525" tIns="66525" rIns="66525" bIns="66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9"/>
              <a:t>L5 Step: Apply incoming payments to open receivables</a:t>
            </a:r>
            <a:endParaRPr sz="1309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Payments received (ACH / Wire / Cash / Check)</a:t>
            </a:r>
            <a:endParaRPr sz="1309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AR accountants manually need to:</a:t>
            </a:r>
            <a:endParaRPr sz="1309"/>
          </a:p>
          <a:p>
            <a:pPr marL="914400" lvl="1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○"/>
            </a:pPr>
            <a:r>
              <a:rPr lang="en" sz="1309"/>
              <a:t>Investigate remittance data</a:t>
            </a:r>
            <a:endParaRPr sz="1309"/>
          </a:p>
          <a:p>
            <a:pPr marL="914400" lvl="1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○"/>
            </a:pPr>
            <a:r>
              <a:rPr lang="en" sz="1309"/>
              <a:t>Match payments to invoices</a:t>
            </a:r>
            <a:endParaRPr sz="1309"/>
          </a:p>
          <a:p>
            <a:pPr marL="914400" lvl="1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○"/>
            </a:pPr>
            <a:r>
              <a:rPr lang="en" sz="1309"/>
              <a:t>Clear invoices or flag issues</a:t>
            </a:r>
            <a:endParaRPr sz="1309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Lot of high-volume repetitive work</a:t>
            </a:r>
            <a:endParaRPr sz="1309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Major </a:t>
            </a:r>
            <a:r>
              <a:rPr lang="en" sz="1309" u="sng"/>
              <a:t>processing bottleneck</a:t>
            </a:r>
            <a:endParaRPr sz="1309" u="sng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/>
          </a:p>
        </p:txBody>
      </p:sp>
      <p:sp>
        <p:nvSpPr>
          <p:cNvPr id="265" name="Google Shape;265;p33"/>
          <p:cNvSpPr txBox="1">
            <a:spLocks noGrp="1"/>
          </p:cNvSpPr>
          <p:nvPr>
            <p:ph type="title"/>
          </p:nvPr>
        </p:nvSpPr>
        <p:spPr>
          <a:xfrm>
            <a:off x="2567700" y="950188"/>
            <a:ext cx="4008600" cy="406500"/>
          </a:xfrm>
          <a:prstGeom prst="rect">
            <a:avLst/>
          </a:prstGeom>
        </p:spPr>
        <p:txBody>
          <a:bodyPr spcFirstLastPara="1" wrap="square" lIns="66525" tIns="66525" rIns="66525" bIns="66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18"/>
              <a:t>SAP Cash Application (FI-AR)</a:t>
            </a:r>
            <a:endParaRPr sz="1818"/>
          </a:p>
        </p:txBody>
      </p:sp>
      <p:sp>
        <p:nvSpPr>
          <p:cNvPr id="266" name="Google Shape;266;p33"/>
          <p:cNvSpPr txBox="1">
            <a:spLocks noGrp="1"/>
          </p:cNvSpPr>
          <p:nvPr>
            <p:ph type="subTitle" idx="3"/>
          </p:nvPr>
        </p:nvSpPr>
        <p:spPr>
          <a:xfrm>
            <a:off x="570775" y="1402700"/>
            <a:ext cx="3832500" cy="896400"/>
          </a:xfrm>
          <a:prstGeom prst="rect">
            <a:avLst/>
          </a:prstGeom>
        </p:spPr>
        <p:txBody>
          <a:bodyPr spcFirstLastPara="1" wrap="square" lIns="66525" tIns="66525" rIns="66525" bIns="66525" anchor="t" anchorCtr="0">
            <a:noAutofit/>
          </a:bodyPr>
          <a:lstStyle/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Automatically match incoming payments to open invoices</a:t>
            </a:r>
            <a:endParaRPr sz="1309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Read bank statements + remittance data</a:t>
            </a:r>
            <a:endParaRPr sz="1309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/>
          </a:p>
        </p:txBody>
      </p:sp>
      <p:sp>
        <p:nvSpPr>
          <p:cNvPr id="267" name="Google Shape;267;p33"/>
          <p:cNvSpPr txBox="1">
            <a:spLocks noGrp="1"/>
          </p:cNvSpPr>
          <p:nvPr>
            <p:ph type="title" idx="2"/>
          </p:nvPr>
        </p:nvSpPr>
        <p:spPr>
          <a:xfrm>
            <a:off x="5216052" y="2457908"/>
            <a:ext cx="2547600" cy="413700"/>
          </a:xfrm>
          <a:prstGeom prst="rect">
            <a:avLst/>
          </a:prstGeom>
        </p:spPr>
        <p:txBody>
          <a:bodyPr spcFirstLastPara="1" wrap="square" lIns="67675" tIns="67675" rIns="67675" bIns="676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/>
              <a:t>AI-Driven Process</a:t>
            </a:r>
            <a:endParaRPr sz="1850"/>
          </a:p>
        </p:txBody>
      </p:sp>
      <p:sp>
        <p:nvSpPr>
          <p:cNvPr id="268" name="Google Shape;268;p33"/>
          <p:cNvSpPr txBox="1">
            <a:spLocks noGrp="1"/>
          </p:cNvSpPr>
          <p:nvPr>
            <p:ph type="subTitle" idx="1"/>
          </p:nvPr>
        </p:nvSpPr>
        <p:spPr>
          <a:xfrm>
            <a:off x="4130650" y="2715600"/>
            <a:ext cx="4718400" cy="2176800"/>
          </a:xfrm>
          <a:prstGeom prst="rect">
            <a:avLst/>
          </a:prstGeom>
        </p:spPr>
        <p:txBody>
          <a:bodyPr spcFirstLastPara="1" wrap="square" lIns="67675" tIns="67675" rIns="67675" bIns="67675" anchor="t" anchorCtr="0">
            <a:noAutofit/>
          </a:bodyPr>
          <a:lstStyle/>
          <a:p>
            <a:pPr marL="338415" lvl="0" indent="-251757" algn="l" rtl="0">
              <a:lnSpc>
                <a:spcPct val="115000"/>
              </a:lnSpc>
              <a:spcBef>
                <a:spcPts val="888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Autonomous Matching:</a:t>
            </a:r>
            <a:br>
              <a:rPr lang="en" sz="1300">
                <a:solidFill>
                  <a:srgbClr val="000000"/>
                </a:solidFill>
              </a:rPr>
            </a:br>
            <a:r>
              <a:rPr lang="en" sz="1300">
                <a:solidFill>
                  <a:srgbClr val="000000"/>
                </a:solidFill>
              </a:rPr>
              <a:t>AI scans bank statements and remittance data to propose invoice matches</a:t>
            </a:r>
            <a:endParaRPr sz="1300">
              <a:solidFill>
                <a:srgbClr val="000000"/>
              </a:solidFill>
            </a:endParaRPr>
          </a:p>
          <a:p>
            <a:pPr marL="338415" lvl="0" indent="-25175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●"/>
            </a:pPr>
            <a:r>
              <a:rPr lang="en" sz="1300">
                <a:solidFill>
                  <a:srgbClr val="000000"/>
                </a:solidFill>
              </a:rPr>
              <a:t>Confidence Scoring:</a:t>
            </a:r>
            <a:endParaRPr sz="1300">
              <a:solidFill>
                <a:srgbClr val="000000"/>
              </a:solidFill>
            </a:endParaRPr>
          </a:p>
          <a:p>
            <a:pPr marL="676832" lvl="1" indent="-25175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</a:rPr>
              <a:t>High confidence → Auto-clearing</a:t>
            </a:r>
            <a:endParaRPr sz="1300">
              <a:solidFill>
                <a:srgbClr val="000000"/>
              </a:solidFill>
            </a:endParaRPr>
          </a:p>
          <a:p>
            <a:pPr marL="676832" lvl="1" indent="-25175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</a:rPr>
              <a:t>Medium confidence → AI recommendation</a:t>
            </a:r>
            <a:endParaRPr sz="1300">
              <a:solidFill>
                <a:srgbClr val="000000"/>
              </a:solidFill>
            </a:endParaRPr>
          </a:p>
          <a:p>
            <a:pPr marL="338415" lvl="0" indent="-25175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Predictive Risk Awareness:</a:t>
            </a:r>
            <a:br>
              <a:rPr lang="en" sz="1300">
                <a:solidFill>
                  <a:srgbClr val="000000"/>
                </a:solidFill>
              </a:rPr>
            </a:br>
            <a:r>
              <a:rPr lang="en" sz="1300">
                <a:solidFill>
                  <a:srgbClr val="000000"/>
                </a:solidFill>
              </a:rPr>
              <a:t>AI highlights which payments or exceptions need urgent attention</a:t>
            </a:r>
            <a:endParaRPr sz="13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888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269" name="Google Shape;269;p33"/>
          <p:cNvSpPr txBox="1"/>
          <p:nvPr/>
        </p:nvSpPr>
        <p:spPr>
          <a:xfrm>
            <a:off x="4282550" y="1356700"/>
            <a:ext cx="4150800" cy="11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0"/>
              <a:buFont typeface="Nunito"/>
              <a:buChar char="●"/>
            </a:pPr>
            <a:r>
              <a:rPr lang="en" sz="1309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Uses reinforced learning from accountants' actions</a:t>
            </a:r>
            <a:endParaRPr sz="1309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0"/>
              <a:buFont typeface="Nunito"/>
              <a:buChar char="●"/>
            </a:pPr>
            <a:r>
              <a:rPr lang="en" sz="1309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75% reduction in effort analyzing and reconciling open AR items</a:t>
            </a:r>
            <a:endParaRPr sz="1309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4"/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Technical Specs and Details</a:t>
            </a:r>
            <a:endParaRPr sz="2600"/>
          </a:p>
        </p:txBody>
      </p:sp>
      <p:sp>
        <p:nvSpPr>
          <p:cNvPr id="275" name="Google Shape;275;p34"/>
          <p:cNvSpPr txBox="1">
            <a:spLocks noGrp="1"/>
          </p:cNvSpPr>
          <p:nvPr>
            <p:ph type="title"/>
          </p:nvPr>
        </p:nvSpPr>
        <p:spPr>
          <a:xfrm>
            <a:off x="760879" y="854668"/>
            <a:ext cx="2811300" cy="406500"/>
          </a:xfrm>
          <a:prstGeom prst="rect">
            <a:avLst/>
          </a:prstGeom>
        </p:spPr>
        <p:txBody>
          <a:bodyPr spcFirstLastPara="1" wrap="square" lIns="66525" tIns="66525" rIns="66525" bIns="66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18"/>
              <a:t>Data Ingestion (Inputs)</a:t>
            </a:r>
            <a:endParaRPr sz="1818"/>
          </a:p>
        </p:txBody>
      </p:sp>
      <p:sp>
        <p:nvSpPr>
          <p:cNvPr id="276" name="Google Shape;276;p34"/>
          <p:cNvSpPr txBox="1">
            <a:spLocks noGrp="1"/>
          </p:cNvSpPr>
          <p:nvPr>
            <p:ph type="subTitle" idx="3"/>
          </p:nvPr>
        </p:nvSpPr>
        <p:spPr>
          <a:xfrm>
            <a:off x="472125" y="1363826"/>
            <a:ext cx="3388800" cy="3172800"/>
          </a:xfrm>
          <a:prstGeom prst="rect">
            <a:avLst/>
          </a:prstGeom>
        </p:spPr>
        <p:txBody>
          <a:bodyPr spcFirstLastPara="1" wrap="square" lIns="66525" tIns="66525" rIns="66525" bIns="66525" anchor="t" anchorCtr="0">
            <a:noAutofit/>
          </a:bodyPr>
          <a:lstStyle/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Bank Statement Files:</a:t>
            </a:r>
            <a:endParaRPr sz="1309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9"/>
              <a:t>Ingests standard formats (MT940, BAI2, CAMt) mapped directly to S/4HANA Header/Item tables (FEBKO/FEBEP)</a:t>
            </a:r>
            <a:endParaRPr sz="1309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Open Receivables:</a:t>
            </a:r>
            <a:endParaRPr sz="1309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9"/>
              <a:t>Retrieves Open Items (BSID/BSEG) in real-time for matching candidates.</a:t>
            </a:r>
            <a:endParaRPr sz="1309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Historic Actions:</a:t>
            </a:r>
            <a:endParaRPr sz="1309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9"/>
              <a:t>Leverages historical accountant actions (clearing relations) to learn customer-specific payment behaviors.</a:t>
            </a:r>
            <a:endParaRPr sz="1309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Implementation Requirement: </a:t>
            </a:r>
            <a:endParaRPr sz="1309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9"/>
              <a:t>Minimum 10,000 historical cleared items required for initial model training</a:t>
            </a:r>
            <a:endParaRPr sz="1309"/>
          </a:p>
        </p:txBody>
      </p:sp>
      <p:sp>
        <p:nvSpPr>
          <p:cNvPr id="277" name="Google Shape;277;p34"/>
          <p:cNvSpPr txBox="1">
            <a:spLocks noGrp="1"/>
          </p:cNvSpPr>
          <p:nvPr>
            <p:ph type="title" idx="2"/>
          </p:nvPr>
        </p:nvSpPr>
        <p:spPr>
          <a:xfrm>
            <a:off x="5216052" y="851083"/>
            <a:ext cx="2547600" cy="413700"/>
          </a:xfrm>
          <a:prstGeom prst="rect">
            <a:avLst/>
          </a:prstGeom>
        </p:spPr>
        <p:txBody>
          <a:bodyPr spcFirstLastPara="1" wrap="square" lIns="67675" tIns="67675" rIns="67675" bIns="67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/>
              <a:t>System Architecture</a:t>
            </a:r>
            <a:endParaRPr sz="1850"/>
          </a:p>
        </p:txBody>
      </p:sp>
      <p:sp>
        <p:nvSpPr>
          <p:cNvPr id="278" name="Google Shape;278;p34"/>
          <p:cNvSpPr txBox="1">
            <a:spLocks noGrp="1"/>
          </p:cNvSpPr>
          <p:nvPr>
            <p:ph type="subTitle" idx="1"/>
          </p:nvPr>
        </p:nvSpPr>
        <p:spPr>
          <a:xfrm>
            <a:off x="4239250" y="1363825"/>
            <a:ext cx="4501200" cy="3520800"/>
          </a:xfrm>
          <a:prstGeom prst="rect">
            <a:avLst/>
          </a:prstGeom>
        </p:spPr>
        <p:txBody>
          <a:bodyPr spcFirstLastPara="1" wrap="square" lIns="67675" tIns="67675" rIns="67675" bIns="6767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 sz="1300">
                <a:solidFill>
                  <a:srgbClr val="000000"/>
                </a:solidFill>
              </a:rPr>
              <a:t>Hosted Environment:</a:t>
            </a:r>
            <a:endParaRPr sz="13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</a:rPr>
              <a:t>Logic runs on SAP Business Technology Platform (BTP) Cloud, minimizing load on the ERP core</a:t>
            </a:r>
            <a:endParaRPr sz="13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 sz="1300">
                <a:solidFill>
                  <a:srgbClr val="000000"/>
                </a:solidFill>
              </a:rPr>
              <a:t>Predictive Routing:</a:t>
            </a:r>
            <a:endParaRPr sz="13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</a:rPr>
              <a:t>Classifies every transaction into one of three buckets: Auto-Clear, Proposal, or Exception (Status 30, 40, 50)</a:t>
            </a:r>
            <a:endParaRPr sz="13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 sz="1300">
                <a:solidFill>
                  <a:srgbClr val="000000"/>
                </a:solidFill>
              </a:rPr>
              <a:t>Safety Configurations:</a:t>
            </a:r>
            <a:endParaRPr sz="13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</a:rPr>
              <a:t>Governed by client-defined Confidence Thresholds (e.g., &gt;90%); low-confidence items default to standard exception workflows.</a:t>
            </a:r>
            <a:endParaRPr sz="13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 sz="1300">
                <a:solidFill>
                  <a:srgbClr val="000000"/>
                </a:solidFill>
              </a:rPr>
              <a:t>Continuous Learning:</a:t>
            </a:r>
            <a:endParaRPr sz="13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</a:rPr>
              <a:t>Model retrains on “Proposal” corrections (Human Confirmation), learning from every manual intervention</a:t>
            </a:r>
            <a:endParaRPr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350" y="1001975"/>
            <a:ext cx="8839199" cy="3464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6"/>
          <p:cNvSpPr txBox="1">
            <a:spLocks noGrp="1"/>
          </p:cNvSpPr>
          <p:nvPr>
            <p:ph type="title"/>
          </p:nvPr>
        </p:nvSpPr>
        <p:spPr>
          <a:xfrm>
            <a:off x="720000" y="152400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SAP Cash App Automation Logic</a:t>
            </a:r>
            <a:endParaRPr sz="2600"/>
          </a:p>
        </p:txBody>
      </p:sp>
      <p:pic>
        <p:nvPicPr>
          <p:cNvPr id="289" name="Google Shape;289;p36" title="loiocf5e47989d1a437cb024cfd7f65076f0_LowR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39361"/>
            <a:ext cx="9143998" cy="3831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37" title="loioe4a3db9ca48c4a458525e6468b1f460e_LowR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9375" y="123013"/>
            <a:ext cx="7145249" cy="4897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8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The "Exception" Logic – Handling the Unknown</a:t>
            </a:r>
            <a:endParaRPr/>
          </a:p>
        </p:txBody>
      </p:sp>
      <p:pic>
        <p:nvPicPr>
          <p:cNvPr id="300" name="Google Shape;300;p38" title="loioe4a3db9ca48c4a458525e6468b1f460e_LowRes.png"/>
          <p:cNvPicPr preferRelativeResize="0"/>
          <p:nvPr/>
        </p:nvPicPr>
        <p:blipFill rotWithShape="1">
          <a:blip r:embed="rId3">
            <a:alphaModFix/>
          </a:blip>
          <a:srcRect b="59206"/>
          <a:stretch/>
        </p:blipFill>
        <p:spPr>
          <a:xfrm>
            <a:off x="652550" y="1586625"/>
            <a:ext cx="7504200" cy="209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9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The "Exception" Logic – Handling the Unknown</a:t>
            </a:r>
            <a:endParaRPr sz="2600"/>
          </a:p>
        </p:txBody>
      </p:sp>
      <p:sp>
        <p:nvSpPr>
          <p:cNvPr id="306" name="Google Shape;306;p39"/>
          <p:cNvSpPr txBox="1">
            <a:spLocks noGrp="1"/>
          </p:cNvSpPr>
          <p:nvPr>
            <p:ph type="body" idx="1"/>
          </p:nvPr>
        </p:nvSpPr>
        <p:spPr>
          <a:xfrm>
            <a:off x="720000" y="1093027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0000"/>
                </a:solidFill>
              </a:rPr>
              <a:t>Goal:</a:t>
            </a:r>
            <a:r>
              <a:rPr lang="en" sz="1300">
                <a:solidFill>
                  <a:srgbClr val="000000"/>
                </a:solidFill>
              </a:rPr>
              <a:t> Build trust by explaining how the system handles uncertainty and protects data integrity.</a:t>
            </a: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 b="1">
                <a:solidFill>
                  <a:srgbClr val="000000"/>
                </a:solidFill>
              </a:rPr>
              <a:t>Scenario:</a:t>
            </a:r>
            <a:r>
              <a:rPr lang="en" sz="1300">
                <a:solidFill>
                  <a:srgbClr val="000000"/>
                </a:solidFill>
              </a:rPr>
              <a:t> The inference job returns an </a:t>
            </a:r>
            <a:r>
              <a:rPr lang="en" sz="1300" b="1">
                <a:solidFill>
                  <a:srgbClr val="000000"/>
                </a:solidFill>
              </a:rPr>
              <a:t>Invalid Proposal (Status 10)</a:t>
            </a:r>
            <a:r>
              <a:rPr lang="en" sz="1300">
                <a:solidFill>
                  <a:srgbClr val="000000"/>
                </a:solidFill>
              </a:rPr>
              <a:t> or </a:t>
            </a:r>
            <a:r>
              <a:rPr lang="en" sz="1300" b="1">
                <a:solidFill>
                  <a:srgbClr val="000000"/>
                </a:solidFill>
              </a:rPr>
              <a:t>ML Not Called (Initial)</a:t>
            </a:r>
            <a:r>
              <a:rPr lang="en" sz="1300">
                <a:solidFill>
                  <a:srgbClr val="000000"/>
                </a:solidFill>
              </a:rPr>
              <a:t> because the polling was incomplete or data was insufficient.</a:t>
            </a: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●"/>
            </a:pPr>
            <a:r>
              <a:rPr lang="en" sz="1300" b="1">
                <a:solidFill>
                  <a:srgbClr val="000000"/>
                </a:solidFill>
              </a:rPr>
              <a:t>Inference Outcome:</a:t>
            </a:r>
            <a:endParaRPr sz="1300" b="1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1">
                <a:solidFill>
                  <a:srgbClr val="000000"/>
                </a:solidFill>
              </a:rPr>
              <a:t>Action:</a:t>
            </a:r>
            <a:r>
              <a:rPr lang="en" sz="1300">
                <a:solidFill>
                  <a:srgbClr val="000000"/>
                </a:solidFill>
              </a:rPr>
              <a:t> No change is applied to the bank statement items. The items remain in the standard processing queue for manual handling.</a:t>
            </a:r>
            <a:endParaRPr sz="1300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1">
                <a:solidFill>
                  <a:srgbClr val="000000"/>
                </a:solidFill>
              </a:rPr>
              <a:t>Automation Level:</a:t>
            </a:r>
            <a:r>
              <a:rPr lang="en" sz="1300">
                <a:solidFill>
                  <a:srgbClr val="000000"/>
                </a:solidFill>
              </a:rPr>
              <a:t> </a:t>
            </a:r>
            <a:r>
              <a:rPr lang="en" sz="1300" b="1">
                <a:solidFill>
                  <a:srgbClr val="000000"/>
                </a:solidFill>
              </a:rPr>
              <a:t>Manual.</a:t>
            </a:r>
            <a:r>
              <a:rPr lang="en" sz="1300">
                <a:solidFill>
                  <a:srgbClr val="000000"/>
                </a:solidFill>
              </a:rPr>
              <a:t> The agent identifies that it cannot help and steps aside to prevent errors.</a:t>
            </a:r>
            <a:endParaRPr sz="1300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1">
                <a:solidFill>
                  <a:srgbClr val="000000"/>
                </a:solidFill>
              </a:rPr>
              <a:t>The "Control" Factor:</a:t>
            </a:r>
            <a:r>
              <a:rPr lang="en" sz="1300">
                <a:solidFill>
                  <a:srgbClr val="000000"/>
                </a:solidFill>
              </a:rPr>
              <a:t> The system is "fail-safe." If the confidence doesn't meet your minimum criteria, it defaults back to your current proven manual processes.</a:t>
            </a: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●"/>
            </a:pPr>
            <a:r>
              <a:rPr lang="en" sz="1300" b="1">
                <a:solidFill>
                  <a:srgbClr val="000000"/>
                </a:solidFill>
              </a:rPr>
              <a:t>Business Value:</a:t>
            </a:r>
            <a:endParaRPr sz="1300" b="1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1">
                <a:solidFill>
                  <a:srgbClr val="000000"/>
                </a:solidFill>
              </a:rPr>
              <a:t>Zero Risk:</a:t>
            </a:r>
            <a:r>
              <a:rPr lang="en" sz="1300">
                <a:solidFill>
                  <a:srgbClr val="000000"/>
                </a:solidFill>
              </a:rPr>
              <a:t> The AI will never "guess" and mispost a payment.</a:t>
            </a:r>
            <a:endParaRPr sz="1300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1">
                <a:solidFill>
                  <a:srgbClr val="000000"/>
                </a:solidFill>
              </a:rPr>
              <a:t>Continuous Learning:</a:t>
            </a:r>
            <a:r>
              <a:rPr lang="en" sz="1300">
                <a:solidFill>
                  <a:srgbClr val="000000"/>
                </a:solidFill>
              </a:rPr>
              <a:t> These exceptions are captured for the next </a:t>
            </a:r>
            <a:r>
              <a:rPr lang="en" sz="1300" b="1">
                <a:solidFill>
                  <a:srgbClr val="000000"/>
                </a:solidFill>
              </a:rPr>
              <a:t>Training Data Extraction</a:t>
            </a:r>
            <a:r>
              <a:rPr lang="en" sz="1300">
                <a:solidFill>
                  <a:srgbClr val="000000"/>
                </a:solidFill>
              </a:rPr>
              <a:t>, making the model smarter for the next run.</a:t>
            </a:r>
            <a:endParaRPr sz="13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0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"NO" Logic – Intelligent Suggestions</a:t>
            </a:r>
            <a:endParaRPr/>
          </a:p>
        </p:txBody>
      </p:sp>
      <p:pic>
        <p:nvPicPr>
          <p:cNvPr id="312" name="Google Shape;312;p40" title="loioe4a3db9ca48c4a458525e6468b1f460e_LowRes.png"/>
          <p:cNvPicPr preferRelativeResize="0"/>
          <p:nvPr/>
        </p:nvPicPr>
        <p:blipFill rotWithShape="1">
          <a:blip r:embed="rId3">
            <a:alphaModFix/>
          </a:blip>
          <a:srcRect t="38122" b="14548"/>
          <a:stretch/>
        </p:blipFill>
        <p:spPr>
          <a:xfrm>
            <a:off x="633650" y="1733450"/>
            <a:ext cx="7504200" cy="243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1"/>
          <p:cNvSpPr txBox="1">
            <a:spLocks noGrp="1"/>
          </p:cNvSpPr>
          <p:nvPr>
            <p:ph type="title"/>
          </p:nvPr>
        </p:nvSpPr>
        <p:spPr>
          <a:xfrm>
            <a:off x="720000" y="488963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"NO" Logic – Intelligent Suggestions</a:t>
            </a:r>
            <a:endParaRPr sz="3000"/>
          </a:p>
        </p:txBody>
      </p:sp>
      <p:sp>
        <p:nvSpPr>
          <p:cNvPr id="318" name="Google Shape;318;p41"/>
          <p:cNvSpPr txBox="1">
            <a:spLocks noGrp="1"/>
          </p:cNvSpPr>
          <p:nvPr>
            <p:ph type="body" idx="1"/>
          </p:nvPr>
        </p:nvSpPr>
        <p:spPr>
          <a:xfrm>
            <a:off x="720000" y="1092648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0000"/>
                </a:solidFill>
              </a:rPr>
              <a:t>Goal:</a:t>
            </a:r>
            <a:r>
              <a:rPr lang="en" sz="1300">
                <a:solidFill>
                  <a:srgbClr val="000000"/>
                </a:solidFill>
              </a:rPr>
              <a:t> Show how the agent assists humans even when it can’t fully automate, acting as a "Co-Pilot" for the Accountant.</a:t>
            </a: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 b="1">
                <a:solidFill>
                  <a:srgbClr val="000000"/>
                </a:solidFill>
              </a:rPr>
              <a:t>Scenario:</a:t>
            </a:r>
            <a:r>
              <a:rPr lang="en" sz="1300">
                <a:solidFill>
                  <a:srgbClr val="000000"/>
                </a:solidFill>
              </a:rPr>
              <a:t> The ML model creates a valid proposal, but the confidence score falls between your </a:t>
            </a:r>
            <a:r>
              <a:rPr lang="en" sz="1300" b="1">
                <a:solidFill>
                  <a:srgbClr val="000000"/>
                </a:solidFill>
              </a:rPr>
              <a:t>Proposal Threshold </a:t>
            </a:r>
            <a:r>
              <a:rPr lang="en" sz="1300">
                <a:solidFill>
                  <a:srgbClr val="000000"/>
                </a:solidFill>
              </a:rPr>
              <a:t>and </a:t>
            </a:r>
            <a:r>
              <a:rPr lang="en" sz="1300" b="1">
                <a:solidFill>
                  <a:srgbClr val="000000"/>
                </a:solidFill>
              </a:rPr>
              <a:t>Automatic Threshold</a:t>
            </a:r>
            <a:r>
              <a:rPr lang="en" sz="1300">
                <a:solidFill>
                  <a:srgbClr val="000000"/>
                </a:solidFill>
              </a:rPr>
              <a:t>.</a:t>
            </a: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●"/>
            </a:pPr>
            <a:r>
              <a:rPr lang="en" sz="1300" b="1">
                <a:solidFill>
                  <a:srgbClr val="000000"/>
                </a:solidFill>
              </a:rPr>
              <a:t>Inference Outcome:</a:t>
            </a:r>
            <a:endParaRPr sz="1300" b="1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1">
                <a:solidFill>
                  <a:srgbClr val="000000"/>
                </a:solidFill>
              </a:rPr>
              <a:t>Action:</a:t>
            </a:r>
            <a:r>
              <a:rPr lang="en" sz="1300">
                <a:solidFill>
                  <a:srgbClr val="000000"/>
                </a:solidFill>
              </a:rPr>
              <a:t> The agent generates an "Confirm Proposal." This is presented to the Accountant in the </a:t>
            </a:r>
            <a:r>
              <a:rPr lang="en" sz="1300">
                <a:solidFill>
                  <a:srgbClr val="188038"/>
                </a:solidFill>
              </a:rPr>
              <a:t>FEBAN</a:t>
            </a:r>
            <a:r>
              <a:rPr lang="en" sz="1300">
                <a:solidFill>
                  <a:srgbClr val="000000"/>
                </a:solidFill>
              </a:rPr>
              <a:t> or </a:t>
            </a:r>
            <a:r>
              <a:rPr lang="en" sz="1300">
                <a:solidFill>
                  <a:srgbClr val="188038"/>
                </a:solidFill>
              </a:rPr>
              <a:t>Reprocess Bank Statement Items</a:t>
            </a:r>
            <a:r>
              <a:rPr lang="en" sz="1300">
                <a:solidFill>
                  <a:srgbClr val="000000"/>
                </a:solidFill>
              </a:rPr>
              <a:t> app.</a:t>
            </a:r>
            <a:endParaRPr sz="1300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1">
                <a:solidFill>
                  <a:srgbClr val="000000"/>
                </a:solidFill>
              </a:rPr>
              <a:t>Automation Level:</a:t>
            </a:r>
            <a:r>
              <a:rPr lang="en" sz="1300">
                <a:solidFill>
                  <a:srgbClr val="000000"/>
                </a:solidFill>
              </a:rPr>
              <a:t> </a:t>
            </a:r>
            <a:r>
              <a:rPr lang="en" sz="1300" b="1">
                <a:solidFill>
                  <a:srgbClr val="000000"/>
                </a:solidFill>
              </a:rPr>
              <a:t>Hybrid (Human-in-the-loop).</a:t>
            </a:r>
            <a:r>
              <a:rPr lang="en" sz="1300">
                <a:solidFill>
                  <a:srgbClr val="000000"/>
                </a:solidFill>
              </a:rPr>
              <a:t> The agent does the "searching," and the human does the "approving."</a:t>
            </a:r>
            <a:endParaRPr sz="1300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1">
                <a:solidFill>
                  <a:srgbClr val="000000"/>
                </a:solidFill>
              </a:rPr>
              <a:t>The "Control" Factor:</a:t>
            </a:r>
            <a:r>
              <a:rPr lang="en" sz="1300">
                <a:solidFill>
                  <a:srgbClr val="000000"/>
                </a:solidFill>
              </a:rPr>
              <a:t> The human remains the final decision-maker. The agent simply presents the most likely matches, saving the accountant from manual searching.</a:t>
            </a: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●"/>
            </a:pPr>
            <a:r>
              <a:rPr lang="en" sz="1300" b="1">
                <a:solidFill>
                  <a:srgbClr val="000000"/>
                </a:solidFill>
              </a:rPr>
              <a:t>Business Value:</a:t>
            </a:r>
            <a:endParaRPr sz="1300" b="1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</a:rPr>
              <a:t>Reduces "Account Receivable matching effort" by up to </a:t>
            </a:r>
            <a:r>
              <a:rPr lang="en" sz="1300" b="1">
                <a:solidFill>
                  <a:srgbClr val="000000"/>
                </a:solidFill>
              </a:rPr>
              <a:t>71%</a:t>
            </a:r>
            <a:r>
              <a:rPr lang="en" sz="1300">
                <a:solidFill>
                  <a:srgbClr val="000000"/>
                </a:solidFill>
              </a:rPr>
              <a:t>.</a:t>
            </a:r>
            <a:endParaRPr sz="1300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○"/>
            </a:pPr>
            <a:r>
              <a:rPr lang="en" sz="1300">
                <a:solidFill>
                  <a:srgbClr val="000000"/>
                </a:solidFill>
              </a:rPr>
              <a:t>Ensures accuracy by leveraging human judgment for borderline cases.</a:t>
            </a:r>
            <a:endParaRPr sz="13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>
            <a:spLocks noGrp="1"/>
          </p:cNvSpPr>
          <p:nvPr>
            <p:ph type="title"/>
          </p:nvPr>
        </p:nvSpPr>
        <p:spPr>
          <a:xfrm>
            <a:off x="123150" y="113500"/>
            <a:ext cx="86862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The "YES" Logic – High-Confidence Automation</a:t>
            </a:r>
            <a:endParaRPr sz="2900"/>
          </a:p>
        </p:txBody>
      </p:sp>
      <p:sp>
        <p:nvSpPr>
          <p:cNvPr id="324" name="Google Shape;324;p42"/>
          <p:cNvSpPr txBox="1">
            <a:spLocks noGrp="1"/>
          </p:cNvSpPr>
          <p:nvPr>
            <p:ph type="body" idx="1"/>
          </p:nvPr>
        </p:nvSpPr>
        <p:spPr>
          <a:xfrm>
            <a:off x="720000" y="742127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0000"/>
                </a:solidFill>
              </a:rPr>
              <a:t>Goal:</a:t>
            </a:r>
            <a:r>
              <a:rPr lang="en" sz="1300">
                <a:solidFill>
                  <a:srgbClr val="000000"/>
                </a:solidFill>
              </a:rPr>
              <a:t> Demonstrate the "Golden Path" where the agent delivers immediate ROI through hands-free processing.</a:t>
            </a: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 b="1">
                <a:solidFill>
                  <a:srgbClr val="000000"/>
                </a:solidFill>
              </a:rPr>
              <a:t>Scenario:</a:t>
            </a:r>
            <a:r>
              <a:rPr lang="en" sz="1300">
                <a:solidFill>
                  <a:srgbClr val="000000"/>
                </a:solidFill>
              </a:rPr>
              <a:t> The ML model identifies a valid item or account proposal with a prediction rate that exceeds your defined </a:t>
            </a:r>
            <a:r>
              <a:rPr lang="en" sz="1300" b="1">
                <a:solidFill>
                  <a:srgbClr val="000000"/>
                </a:solidFill>
              </a:rPr>
              <a:t>Automatic Threshold</a:t>
            </a:r>
            <a:r>
              <a:rPr lang="en" sz="1300">
                <a:solidFill>
                  <a:srgbClr val="000000"/>
                </a:solidFill>
              </a:rPr>
              <a:t>.</a:t>
            </a: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●"/>
            </a:pPr>
            <a:r>
              <a:rPr lang="en" sz="1300" b="1">
                <a:solidFill>
                  <a:srgbClr val="000000"/>
                </a:solidFill>
              </a:rPr>
              <a:t>Inference Outcome:</a:t>
            </a:r>
            <a:endParaRPr sz="1300" b="1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1">
                <a:solidFill>
                  <a:srgbClr val="000000"/>
                </a:solidFill>
              </a:rPr>
              <a:t>Action:</a:t>
            </a:r>
            <a:r>
              <a:rPr lang="en" sz="1300">
                <a:solidFill>
                  <a:srgbClr val="000000"/>
                </a:solidFill>
              </a:rPr>
              <a:t> The system automatically matches the bank statement item to the open receivable.</a:t>
            </a:r>
            <a:endParaRPr sz="1300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1">
                <a:solidFill>
                  <a:srgbClr val="000000"/>
                </a:solidFill>
              </a:rPr>
              <a:t>Automation Level:</a:t>
            </a:r>
            <a:r>
              <a:rPr lang="en" sz="1300">
                <a:solidFill>
                  <a:srgbClr val="000000"/>
                </a:solidFill>
              </a:rPr>
              <a:t> </a:t>
            </a:r>
            <a:r>
              <a:rPr lang="en" sz="1300" b="1">
                <a:solidFill>
                  <a:srgbClr val="000000"/>
                </a:solidFill>
              </a:rPr>
              <a:t>100% Fully Automated.</a:t>
            </a:r>
            <a:r>
              <a:rPr lang="en" sz="1300">
                <a:solidFill>
                  <a:srgbClr val="000000"/>
                </a:solidFill>
              </a:rPr>
              <a:t> No human intervention is required.</a:t>
            </a:r>
            <a:endParaRPr sz="1300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1">
                <a:solidFill>
                  <a:srgbClr val="000000"/>
                </a:solidFill>
              </a:rPr>
              <a:t>The "Control" Factor:</a:t>
            </a:r>
            <a:r>
              <a:rPr lang="en" sz="1300">
                <a:solidFill>
                  <a:srgbClr val="000000"/>
                </a:solidFill>
              </a:rPr>
              <a:t> You define the "Automatic Threshold" (e.g., 90%). The agent only pulls the trigger when it is as certain as a human expert.</a:t>
            </a: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●"/>
            </a:pPr>
            <a:r>
              <a:rPr lang="en" sz="1300" b="1">
                <a:solidFill>
                  <a:srgbClr val="000000"/>
                </a:solidFill>
              </a:rPr>
              <a:t>Business Value:</a:t>
            </a:r>
            <a:endParaRPr sz="1300" b="1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○"/>
            </a:pPr>
            <a:r>
              <a:rPr lang="en" sz="1300">
                <a:solidFill>
                  <a:srgbClr val="000000"/>
                </a:solidFill>
              </a:rPr>
              <a:t>0.5% reduction in Days Sales Outstanding (DSO).</a:t>
            </a:r>
            <a:endParaRPr sz="1300">
              <a:solidFill>
                <a:srgbClr val="000000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○"/>
            </a:pPr>
            <a:r>
              <a:rPr lang="en" sz="1300">
                <a:solidFill>
                  <a:srgbClr val="000000"/>
                </a:solidFill>
              </a:rPr>
              <a:t>Eliminates 30-90% of routine manual matching labor.</a:t>
            </a:r>
            <a:endParaRPr sz="13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300"/>
          </a:p>
        </p:txBody>
      </p:sp>
      <p:pic>
        <p:nvPicPr>
          <p:cNvPr id="325" name="Google Shape;325;p42" title="loioe4a3db9ca48c4a458525e6468b1f460e_LowRes.png"/>
          <p:cNvPicPr preferRelativeResize="0"/>
          <p:nvPr/>
        </p:nvPicPr>
        <p:blipFill rotWithShape="1">
          <a:blip r:embed="rId3">
            <a:alphaModFix/>
          </a:blip>
          <a:srcRect t="84438"/>
          <a:stretch/>
        </p:blipFill>
        <p:spPr>
          <a:xfrm>
            <a:off x="613675" y="4343100"/>
            <a:ext cx="7504200" cy="80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3"/>
          <p:cNvSpPr txBox="1">
            <a:spLocks noGrp="1"/>
          </p:cNvSpPr>
          <p:nvPr>
            <p:ph type="title"/>
          </p:nvPr>
        </p:nvSpPr>
        <p:spPr>
          <a:xfrm>
            <a:off x="462900" y="107250"/>
            <a:ext cx="79611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 example - ACH/Wire/EFT</a:t>
            </a:r>
            <a:endParaRPr/>
          </a:p>
        </p:txBody>
      </p:sp>
      <p:sp>
        <p:nvSpPr>
          <p:cNvPr id="331" name="Google Shape;331;p43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/>
              <a:t>Before:</a:t>
            </a:r>
            <a:endParaRPr b="1"/>
          </a:p>
        </p:txBody>
      </p:sp>
      <p:pic>
        <p:nvPicPr>
          <p:cNvPr id="332" name="Google Shape;332;p43" title="Screenshot 2026-01-21 at 10.50.50 PM.jpg"/>
          <p:cNvPicPr preferRelativeResize="0"/>
          <p:nvPr/>
        </p:nvPicPr>
        <p:blipFill rotWithShape="1">
          <a:blip r:embed="rId3">
            <a:alphaModFix/>
          </a:blip>
          <a:srcRect l="2476" t="4824" r="7140" b="8557"/>
          <a:stretch/>
        </p:blipFill>
        <p:spPr>
          <a:xfrm>
            <a:off x="36797" y="1721401"/>
            <a:ext cx="9070423" cy="283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4"/>
          <p:cNvSpPr txBox="1">
            <a:spLocks noGrp="1"/>
          </p:cNvSpPr>
          <p:nvPr>
            <p:ph type="title"/>
          </p:nvPr>
        </p:nvSpPr>
        <p:spPr>
          <a:xfrm>
            <a:off x="462900" y="107250"/>
            <a:ext cx="79611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 example - ACH/Wire/EFT</a:t>
            </a:r>
            <a:endParaRPr/>
          </a:p>
        </p:txBody>
      </p:sp>
      <p:sp>
        <p:nvSpPr>
          <p:cNvPr id="338" name="Google Shape;338;p44"/>
          <p:cNvSpPr txBox="1">
            <a:spLocks noGrp="1"/>
          </p:cNvSpPr>
          <p:nvPr>
            <p:ph type="body" idx="1"/>
          </p:nvPr>
        </p:nvSpPr>
        <p:spPr>
          <a:xfrm>
            <a:off x="283925" y="6790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/>
              <a:t>After:</a:t>
            </a:r>
            <a:endParaRPr b="1"/>
          </a:p>
        </p:txBody>
      </p:sp>
      <p:pic>
        <p:nvPicPr>
          <p:cNvPr id="339" name="Google Shape;339;p44" title="SAP Cash App L5-ACH _ EFT _ Wire Payment.drawio-2.png"/>
          <p:cNvPicPr preferRelativeResize="0"/>
          <p:nvPr/>
        </p:nvPicPr>
        <p:blipFill rotWithShape="1">
          <a:blip r:embed="rId3">
            <a:alphaModFix/>
          </a:blip>
          <a:srcRect l="4514" t="35497" r="1234" b="3822"/>
          <a:stretch/>
        </p:blipFill>
        <p:spPr>
          <a:xfrm>
            <a:off x="-2700" y="1273825"/>
            <a:ext cx="9144003" cy="3457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5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Accounts Receivable Agent</a:t>
            </a:r>
            <a:endParaRPr/>
          </a:p>
        </p:txBody>
      </p:sp>
      <p:sp>
        <p:nvSpPr>
          <p:cNvPr id="345" name="Google Shape;345;p45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To reduce days sales outstanding by 1%.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If an invoice remains open past its due date or a payment cannot be matched.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1. Input Data: The Agent’s 360° View</a:t>
            </a:r>
            <a:endParaRPr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To provide intelligent recommendations, the AR Agent (powered by Joule) pulls data from across the SAP ecosystem and external sources to understand </a:t>
            </a:r>
            <a:r>
              <a:rPr lang="en" i="1">
                <a:solidFill>
                  <a:srgbClr val="000000"/>
                </a:solidFill>
              </a:rPr>
              <a:t>why</a:t>
            </a:r>
            <a:r>
              <a:rPr lang="en">
                <a:solidFill>
                  <a:srgbClr val="000000"/>
                </a:solidFill>
              </a:rPr>
              <a:t> a balance is outstanding:</a:t>
            </a:r>
            <a:endParaRPr>
              <a:solidFill>
                <a:srgbClr val="00000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b="1">
                <a:solidFill>
                  <a:srgbClr val="000000"/>
                </a:solidFill>
              </a:rPr>
              <a:t>Financial Records:</a:t>
            </a:r>
            <a:r>
              <a:rPr lang="en">
                <a:solidFill>
                  <a:srgbClr val="000000"/>
                </a:solidFill>
              </a:rPr>
              <a:t> Customer balances, overdue invoices, credits, and detailed aging lists from SAP S/4HANA.</a:t>
            </a:r>
            <a:endParaRPr>
              <a:solidFill>
                <a:srgbClr val="00000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b="1">
                <a:solidFill>
                  <a:srgbClr val="000000"/>
                </a:solidFill>
              </a:rPr>
              <a:t>Behavioral Patterns:</a:t>
            </a:r>
            <a:r>
              <a:rPr lang="en">
                <a:solidFill>
                  <a:srgbClr val="000000"/>
                </a:solidFill>
              </a:rPr>
              <a:t> Historical payment behaviors (e.g., "Does this customer always pay 5 days late?"), collection history, and past dispute resolutions.</a:t>
            </a:r>
            <a:endParaRPr>
              <a:solidFill>
                <a:srgbClr val="00000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b="1">
                <a:solidFill>
                  <a:srgbClr val="000000"/>
                </a:solidFill>
              </a:rPr>
              <a:t>Master Data &amp; Risk:</a:t>
            </a:r>
            <a:r>
              <a:rPr lang="en">
                <a:solidFill>
                  <a:srgbClr val="000000"/>
                </a:solidFill>
              </a:rPr>
              <a:t> Customer creditworthiness profiles and master data identifying key stakeholders.</a:t>
            </a:r>
            <a:endParaRPr>
              <a:solidFill>
                <a:srgbClr val="00000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b="1">
                <a:solidFill>
                  <a:srgbClr val="000000"/>
                </a:solidFill>
              </a:rPr>
              <a:t>External Intelligence:</a:t>
            </a:r>
            <a:r>
              <a:rPr lang="en">
                <a:solidFill>
                  <a:srgbClr val="000000"/>
                </a:solidFill>
              </a:rPr>
              <a:t> Through Joule’s "Deep Research" capability, the agent can tap into external signals, web searches, and even communication logs (emails/CRM notes) to identify if a customer is experiencing broader market stress.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6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Accounts Receivable Agent</a:t>
            </a:r>
            <a:endParaRPr/>
          </a:p>
        </p:txBody>
      </p:sp>
      <p:sp>
        <p:nvSpPr>
          <p:cNvPr id="351" name="Google Shape;351;p46"/>
          <p:cNvSpPr txBox="1">
            <a:spLocks noGrp="1"/>
          </p:cNvSpPr>
          <p:nvPr>
            <p:ph type="body" idx="1"/>
          </p:nvPr>
        </p:nvSpPr>
        <p:spPr>
          <a:xfrm>
            <a:off x="720000" y="1093027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2. Training Logic: How the Model Learns</a:t>
            </a:r>
            <a:endParaRPr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The AR Agent doesn't just rely on static rules; it uses a multi-layered training and grounding approach to ensure its recommendations are business-accurate:</a:t>
            </a:r>
            <a:endParaRPr>
              <a:solidFill>
                <a:srgbClr val="00000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b="1">
                <a:solidFill>
                  <a:srgbClr val="000000"/>
                </a:solidFill>
              </a:rPr>
              <a:t>Historical Pattern Recognition:</a:t>
            </a:r>
            <a:r>
              <a:rPr lang="en">
                <a:solidFill>
                  <a:srgbClr val="000000"/>
                </a:solidFill>
              </a:rPr>
              <a:t> The model is trained on vast amounts of historical clearing data (ideally 10,000+ items) to identify correlations between customer behavior and collection success.</a:t>
            </a:r>
            <a:endParaRPr>
              <a:solidFill>
                <a:srgbClr val="00000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b="1">
                <a:solidFill>
                  <a:srgbClr val="000000"/>
                </a:solidFill>
              </a:rPr>
              <a:t>Domain Grounding in Joule Studio:</a:t>
            </a:r>
            <a:r>
              <a:rPr lang="en">
                <a:solidFill>
                  <a:srgbClr val="000000"/>
                </a:solidFill>
              </a:rPr>
              <a:t> Unlike generic AI, developers use </a:t>
            </a:r>
            <a:r>
              <a:rPr lang="en" b="1">
                <a:solidFill>
                  <a:srgbClr val="000000"/>
                </a:solidFill>
              </a:rPr>
              <a:t>Joule Studio</a:t>
            </a:r>
            <a:r>
              <a:rPr lang="en">
                <a:solidFill>
                  <a:srgbClr val="000000"/>
                </a:solidFill>
              </a:rPr>
              <a:t> to "ground" the agent with your specific business documents. For example, uploading your </a:t>
            </a:r>
            <a:r>
              <a:rPr lang="en" b="1">
                <a:solidFill>
                  <a:srgbClr val="000000"/>
                </a:solidFill>
              </a:rPr>
              <a:t>Order Handling Policy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lang="en" b="1">
                <a:solidFill>
                  <a:srgbClr val="000000"/>
                </a:solidFill>
              </a:rPr>
              <a:t>Credit Limit Rules </a:t>
            </a:r>
            <a:r>
              <a:rPr lang="en">
                <a:solidFill>
                  <a:srgbClr val="000000"/>
                </a:solidFill>
              </a:rPr>
              <a:t>ensures the agent’s advice remains within company guidelines.</a:t>
            </a:r>
            <a:endParaRPr>
              <a:solidFill>
                <a:srgbClr val="00000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b="1">
                <a:solidFill>
                  <a:srgbClr val="000000"/>
                </a:solidFill>
              </a:rPr>
              <a:t>Retrieval-Augmented Generation (RAG):</a:t>
            </a:r>
            <a:r>
              <a:rPr lang="en">
                <a:solidFill>
                  <a:srgbClr val="000000"/>
                </a:solidFill>
              </a:rPr>
              <a:t> When an accountant asks a question about an account, the agent uses RAG to find the most relevant internal documents (like specific contracts or emails) to generate a precise, context-aware answer.</a:t>
            </a:r>
            <a:endParaRPr>
              <a:solidFill>
                <a:srgbClr val="00000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b="1">
                <a:solidFill>
                  <a:srgbClr val="000000"/>
                </a:solidFill>
              </a:rPr>
              <a:t>Continuous Feedback Loops:</a:t>
            </a:r>
            <a:r>
              <a:rPr lang="en">
                <a:solidFill>
                  <a:srgbClr val="000000"/>
                </a:solidFill>
              </a:rPr>
              <a:t> The agent "self-corrects" by observing human decisions. If an accountant repeatedly ignores a specific recommendation, the model adjusts its logic to better align with the human expert’s judgment over time.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7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Accounts Receivable Agent</a:t>
            </a:r>
            <a:endParaRPr/>
          </a:p>
        </p:txBody>
      </p:sp>
      <p:sp>
        <p:nvSpPr>
          <p:cNvPr id="357" name="Google Shape;357;p47"/>
          <p:cNvSpPr txBox="1">
            <a:spLocks noGrp="1"/>
          </p:cNvSpPr>
          <p:nvPr>
            <p:ph type="body" idx="1"/>
          </p:nvPr>
        </p:nvSpPr>
        <p:spPr>
          <a:xfrm>
            <a:off x="720000" y="1093027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3. Outcome: Moving from Analysis to Action</a:t>
            </a:r>
            <a:endParaRPr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By ingesting these inputs and applying this training, the agent delivers three key outcomes:</a:t>
            </a:r>
            <a:endParaRPr>
              <a:solidFill>
                <a:srgbClr val="00000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b="1">
                <a:solidFill>
                  <a:srgbClr val="000000"/>
                </a:solidFill>
              </a:rPr>
              <a:t>Prioritization:</a:t>
            </a:r>
            <a:r>
              <a:rPr lang="en">
                <a:solidFill>
                  <a:srgbClr val="000000"/>
                </a:solidFill>
              </a:rPr>
              <a:t> It tells the clerk exactly which 10 customers to call first based on the highest risk and highest dollar value.</a:t>
            </a:r>
            <a:endParaRPr>
              <a:solidFill>
                <a:srgbClr val="00000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b="1">
                <a:solidFill>
                  <a:srgbClr val="000000"/>
                </a:solidFill>
              </a:rPr>
              <a:t>Recommended Actions:</a:t>
            </a:r>
            <a:r>
              <a:rPr lang="en">
                <a:solidFill>
                  <a:srgbClr val="000000"/>
                </a:solidFill>
              </a:rPr>
              <a:t> It suggests the specific follow-up (e.g., "This customer responds better to emails than calls").</a:t>
            </a:r>
            <a:endParaRPr>
              <a:solidFill>
                <a:srgbClr val="00000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b="1">
                <a:solidFill>
                  <a:srgbClr val="000000"/>
                </a:solidFill>
              </a:rPr>
              <a:t>Ambiguity Handling:</a:t>
            </a:r>
            <a:r>
              <a:rPr lang="en">
                <a:solidFill>
                  <a:srgbClr val="000000"/>
                </a:solidFill>
              </a:rPr>
              <a:t> It uses Natural Language Processing (NLP) to read "messy" inputs like partial payment notes or inbound customer emails that standard automation would ignore.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8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48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Standard Data:</a:t>
            </a:r>
            <a:r>
              <a:rPr lang="en">
                <a:solidFill>
                  <a:srgbClr val="000000"/>
                </a:solidFill>
              </a:rPr>
              <a:t> Automatic. The agent reads what’s already in SAP.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External Documents:</a:t>
            </a:r>
            <a:r>
              <a:rPr lang="en">
                <a:solidFill>
                  <a:srgbClr val="000000"/>
                </a:solidFill>
              </a:rPr>
              <a:t> Indexed. Use Joule Studio to "ground" the agent in your specific policy PDFs or email archives.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Live Intelligence:</a:t>
            </a:r>
            <a:r>
              <a:rPr lang="en">
                <a:solidFill>
                  <a:srgbClr val="000000"/>
                </a:solidFill>
              </a:rPr>
              <a:t> Researched. The agent fetches real-time signals from the web via Joule.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9"/>
          <p:cNvSpPr txBox="1">
            <a:spLocks noGrp="1"/>
          </p:cNvSpPr>
          <p:nvPr>
            <p:ph type="title" idx="4"/>
          </p:nvPr>
        </p:nvSpPr>
        <p:spPr>
          <a:xfrm>
            <a:off x="730950" y="180213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Automation Logic &amp; Decision Thresholds</a:t>
            </a:r>
            <a:endParaRPr sz="2600"/>
          </a:p>
        </p:txBody>
      </p:sp>
      <p:pic>
        <p:nvPicPr>
          <p:cNvPr id="369" name="Google Shape;36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126752" cy="22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49"/>
          <p:cNvPicPr preferRelativeResize="0"/>
          <p:nvPr/>
        </p:nvPicPr>
        <p:blipFill rotWithShape="1">
          <a:blip r:embed="rId4">
            <a:alphaModFix/>
          </a:blip>
          <a:srcRect t="11622" b="25955"/>
          <a:stretch/>
        </p:blipFill>
        <p:spPr>
          <a:xfrm>
            <a:off x="338525" y="1138600"/>
            <a:ext cx="8050648" cy="335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0"/>
          <p:cNvSpPr txBox="1">
            <a:spLocks noGrp="1"/>
          </p:cNvSpPr>
          <p:nvPr>
            <p:ph type="title"/>
          </p:nvPr>
        </p:nvSpPr>
        <p:spPr>
          <a:xfrm>
            <a:off x="452116" y="84650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Accounts Receivable Agent: Enablement for Cash Application (ACH/EFT/Wire)</a:t>
            </a:r>
            <a:endParaRPr sz="2600"/>
          </a:p>
        </p:txBody>
      </p:sp>
      <p:pic>
        <p:nvPicPr>
          <p:cNvPr id="376" name="Google Shape;376;p50" title="Screenshot 2026-01-21 at 10.50.50 PM.jpg"/>
          <p:cNvPicPr preferRelativeResize="0"/>
          <p:nvPr/>
        </p:nvPicPr>
        <p:blipFill rotWithShape="1">
          <a:blip r:embed="rId3">
            <a:alphaModFix/>
          </a:blip>
          <a:srcRect l="2476" t="4824" r="7140" b="8557"/>
          <a:stretch/>
        </p:blipFill>
        <p:spPr>
          <a:xfrm>
            <a:off x="36797" y="831626"/>
            <a:ext cx="9070423" cy="2839475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50"/>
          <p:cNvSpPr/>
          <p:nvPr/>
        </p:nvSpPr>
        <p:spPr>
          <a:xfrm>
            <a:off x="357200" y="2857500"/>
            <a:ext cx="3863700" cy="2242200"/>
          </a:xfrm>
          <a:prstGeom prst="wedgeRoundRectCallout">
            <a:avLst>
              <a:gd name="adj1" fmla="val -695"/>
              <a:gd name="adj2" fmla="val -58408"/>
              <a:gd name="adj3" fmla="val 0"/>
            </a:avLst>
          </a:prstGeom>
          <a:solidFill>
            <a:srgbClr val="FF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AI scans bank statements to link unidentified payments to open invoices.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Executes autonomous matching using a &gt;90% confidence threshold for immediate ledger posting in S/4HANA.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Incoming payments matches automatically between 30% and 90%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Utilizes the base Accounts Receivable Agent to reduce uncollectable write-offs through faster clearing.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378" name="Google Shape;378;p50"/>
          <p:cNvSpPr/>
          <p:nvPr/>
        </p:nvSpPr>
        <p:spPr>
          <a:xfrm>
            <a:off x="5476875" y="3403200"/>
            <a:ext cx="3532200" cy="1712700"/>
          </a:xfrm>
          <a:prstGeom prst="wedgeRoundRectCallout">
            <a:avLst>
              <a:gd name="adj1" fmla="val -62373"/>
              <a:gd name="adj2" fmla="val -45191"/>
              <a:gd name="adj3" fmla="val 0"/>
            </a:avLst>
          </a:prstGeom>
          <a:solidFill>
            <a:srgbClr val="99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</a:pPr>
            <a:r>
              <a:rPr lang="en" sz="900">
                <a:solidFill>
                  <a:schemeClr val="dk2"/>
                </a:solidFill>
              </a:rPr>
              <a:t>Automatically flags anomalies and unidentified sources, routing them to the AR Accountant with a generated rationale.</a:t>
            </a:r>
            <a:endParaRPr sz="900">
              <a:solidFill>
                <a:schemeClr val="dk2"/>
              </a:solidFill>
            </a:endParaRPr>
          </a:p>
          <a:p>
            <a:pPr marL="11430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</a:pPr>
            <a:r>
              <a:rPr lang="en" sz="900">
                <a:solidFill>
                  <a:schemeClr val="dk2"/>
                </a:solidFill>
              </a:rPr>
              <a:t>Analyzes historical payment behavior to forecast risks and prioritize the collections worklist.</a:t>
            </a:r>
            <a:endParaRPr sz="900">
              <a:solidFill>
                <a:schemeClr val="dk2"/>
              </a:solidFill>
            </a:endParaRPr>
          </a:p>
          <a:p>
            <a:pPr marL="11430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</a:pPr>
            <a:r>
              <a:rPr lang="en" sz="900">
                <a:solidFill>
                  <a:schemeClr val="dk2"/>
                </a:solidFill>
              </a:rPr>
              <a:t>Enables natural language queries for quick reports and recommendations on complex unidentified payments.</a:t>
            </a:r>
            <a:endParaRPr sz="900">
              <a:solidFill>
                <a:schemeClr val="dk2"/>
              </a:solidFill>
            </a:endParaRPr>
          </a:p>
          <a:p>
            <a:pPr marL="11430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</a:pPr>
            <a:r>
              <a:rPr lang="en" sz="900">
                <a:solidFill>
                  <a:schemeClr val="dk2"/>
                </a:solidFill>
              </a:rPr>
              <a:t>Shifts the AR Accountant role from "Data Entry/Searcher" to "High-Level Reviewer" by automating 90% of investigation effort.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1"/>
          <p:cNvSpPr txBox="1">
            <a:spLocks noGrp="1"/>
          </p:cNvSpPr>
          <p:nvPr>
            <p:ph type="title"/>
          </p:nvPr>
        </p:nvSpPr>
        <p:spPr>
          <a:xfrm>
            <a:off x="446300" y="723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SAP Cash Application: Enablement for DTC &amp; Bank Reconciliation</a:t>
            </a:r>
            <a:endParaRPr sz="2600"/>
          </a:p>
        </p:txBody>
      </p:sp>
      <p:pic>
        <p:nvPicPr>
          <p:cNvPr id="384" name="Google Shape;384;p51" title="Screenshot 2026-01-21 at 11.19.28 PM.jpg"/>
          <p:cNvPicPr preferRelativeResize="0"/>
          <p:nvPr/>
        </p:nvPicPr>
        <p:blipFill rotWithShape="1">
          <a:blip r:embed="rId3">
            <a:alphaModFix/>
          </a:blip>
          <a:srcRect t="14944"/>
          <a:stretch/>
        </p:blipFill>
        <p:spPr>
          <a:xfrm>
            <a:off x="163350" y="941550"/>
            <a:ext cx="8065801" cy="4083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51"/>
          <p:cNvSpPr/>
          <p:nvPr/>
        </p:nvSpPr>
        <p:spPr>
          <a:xfrm>
            <a:off x="5288025" y="405075"/>
            <a:ext cx="3755400" cy="1839300"/>
          </a:xfrm>
          <a:prstGeom prst="wedgeRoundRectCallout">
            <a:avLst>
              <a:gd name="adj1" fmla="val -59329"/>
              <a:gd name="adj2" fmla="val 61905"/>
              <a:gd name="adj3" fmla="val 0"/>
            </a:avLst>
          </a:prstGeom>
          <a:solidFill>
            <a:srgbClr val="99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Leverages </a:t>
            </a:r>
            <a:r>
              <a:rPr lang="en" sz="1100" b="1">
                <a:solidFill>
                  <a:schemeClr val="dk2"/>
                </a:solidFill>
              </a:rPr>
              <a:t>SAP Cash Application (Premium)</a:t>
            </a:r>
            <a:r>
              <a:rPr lang="en" sz="1100">
                <a:solidFill>
                  <a:schemeClr val="dk2"/>
                </a:solidFill>
              </a:rPr>
              <a:t> to automate matching between bank statement items and POS records.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Uses machine learning to increase the rate of successful auto-matches, minimizing "manual investigation" for reconciliations.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Automatically records reconciliation accuracy and baseline values to measure program success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386" name="Google Shape;386;p51"/>
          <p:cNvSpPr/>
          <p:nvPr/>
        </p:nvSpPr>
        <p:spPr>
          <a:xfrm>
            <a:off x="218125" y="2244375"/>
            <a:ext cx="3755400" cy="1839300"/>
          </a:xfrm>
          <a:prstGeom prst="wedgeRoundRectCallout">
            <a:avLst>
              <a:gd name="adj1" fmla="val 24655"/>
              <a:gd name="adj2" fmla="val 57739"/>
              <a:gd name="adj3" fmla="val 0"/>
            </a:avLst>
          </a:prstGeom>
          <a:solidFill>
            <a:srgbClr val="FF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Proactively identifies errors in POS data and suggests corrective actions (e.g., repeating POS Inbound).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Shifts the </a:t>
            </a:r>
            <a:r>
              <a:rPr lang="en" sz="1100" b="1">
                <a:solidFill>
                  <a:schemeClr val="dk2"/>
                </a:solidFill>
              </a:rPr>
              <a:t>Cash Management Specialist</a:t>
            </a:r>
            <a:r>
              <a:rPr lang="en" sz="1100">
                <a:solidFill>
                  <a:schemeClr val="dk2"/>
                </a:solidFill>
              </a:rPr>
              <a:t> role from searching for discrepancies to remediating errors proposed by AI.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Uses conversational search for navigational assistance in resolving electronic document errors.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2"/>
          <p:cNvSpPr txBox="1">
            <a:spLocks noGrp="1"/>
          </p:cNvSpPr>
          <p:nvPr>
            <p:ph type="title"/>
          </p:nvPr>
        </p:nvSpPr>
        <p:spPr>
          <a:xfrm>
            <a:off x="325850" y="723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AR Agent: Enablement for Direct Debit</a:t>
            </a:r>
            <a:endParaRPr sz="2500"/>
          </a:p>
        </p:txBody>
      </p:sp>
      <p:pic>
        <p:nvPicPr>
          <p:cNvPr id="392" name="Google Shape;392;p52" title="Screenshot 2026-01-21 at 11.27.28 P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13029"/>
            <a:ext cx="8839200" cy="256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52"/>
          <p:cNvSpPr/>
          <p:nvPr/>
        </p:nvSpPr>
        <p:spPr>
          <a:xfrm>
            <a:off x="3229725" y="722550"/>
            <a:ext cx="3978900" cy="2036400"/>
          </a:xfrm>
          <a:prstGeom prst="wedgeRoundRectCallout">
            <a:avLst>
              <a:gd name="adj1" fmla="val 52910"/>
              <a:gd name="adj2" fmla="val 69893"/>
              <a:gd name="adj3" fmla="val 0"/>
            </a:avLst>
          </a:prstGeom>
          <a:solidFill>
            <a:srgbClr val="99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Automatically creates payment proposals based on open item maturity and customer payment terms.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Pre-scans the proposal to identify blocks or SEPA mandate issues before the run.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Self-schedules payment runs based on bank processing windows and liquidity needs.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Shifts the AR Accountant from manually adjusting lines to approving a finalized AI-vetted run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3"/>
          <p:cNvSpPr txBox="1">
            <a:spLocks noGrp="1"/>
          </p:cNvSpPr>
          <p:nvPr>
            <p:ph type="title"/>
          </p:nvPr>
        </p:nvSpPr>
        <p:spPr>
          <a:xfrm>
            <a:off x="435350" y="61400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SAP Cash Application: Enablement for Lockbox</a:t>
            </a:r>
            <a:endParaRPr sz="2500"/>
          </a:p>
        </p:txBody>
      </p:sp>
      <p:pic>
        <p:nvPicPr>
          <p:cNvPr id="399" name="Google Shape;399;p53" title="Screenshot 2026-01-21 at 11.32.20 P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27150"/>
            <a:ext cx="8839201" cy="3195831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53"/>
          <p:cNvSpPr/>
          <p:nvPr/>
        </p:nvSpPr>
        <p:spPr>
          <a:xfrm>
            <a:off x="1696950" y="536425"/>
            <a:ext cx="3978900" cy="2036400"/>
          </a:xfrm>
          <a:prstGeom prst="wedgeRoundRectCallout">
            <a:avLst>
              <a:gd name="adj1" fmla="val 52910"/>
              <a:gd name="adj2" fmla="val 69893"/>
              <a:gd name="adj3" fmla="val 0"/>
            </a:avLst>
          </a:prstGeom>
          <a:solidFill>
            <a:srgbClr val="99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Leverages </a:t>
            </a:r>
            <a:r>
              <a:rPr lang="en" sz="1100" b="1">
                <a:solidFill>
                  <a:schemeClr val="dk2"/>
                </a:solidFill>
              </a:rPr>
              <a:t>SAP Cash Application (Premium)</a:t>
            </a:r>
            <a:r>
              <a:rPr lang="en" sz="1100">
                <a:solidFill>
                  <a:schemeClr val="dk2"/>
                </a:solidFill>
              </a:rPr>
              <a:t> to clear and recommend matches for high-volume Lockbox files.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Automatically posts matches that meet a high confidence score, bypassing manual entry for standard transactions.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Automatically integrates with external bank files to resolve unapplied cash via behavioral insights.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Proactively identifies uncollectable risks within the clearing process to flag disputes earlier.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4"/>
          <p:cNvSpPr txBox="1">
            <a:spLocks noGrp="1"/>
          </p:cNvSpPr>
          <p:nvPr>
            <p:ph type="title"/>
          </p:nvPr>
        </p:nvSpPr>
        <p:spPr>
          <a:xfrm>
            <a:off x="501025" y="83300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Accounts Receivable Agent: Enablement for Customer Down Payments</a:t>
            </a:r>
            <a:endParaRPr sz="2500"/>
          </a:p>
        </p:txBody>
      </p:sp>
      <p:pic>
        <p:nvPicPr>
          <p:cNvPr id="406" name="Google Shape;406;p54" title="Screenshot 2026-01-22 at 12.40.56 A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45425"/>
            <a:ext cx="8839199" cy="2640403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54"/>
          <p:cNvSpPr/>
          <p:nvPr/>
        </p:nvSpPr>
        <p:spPr>
          <a:xfrm>
            <a:off x="501025" y="3175000"/>
            <a:ext cx="3779700" cy="1707900"/>
          </a:xfrm>
          <a:prstGeom prst="wedgeRoundRectCallout">
            <a:avLst>
              <a:gd name="adj1" fmla="val 47974"/>
              <a:gd name="adj2" fmla="val -87180"/>
              <a:gd name="adj3" fmla="val 0"/>
            </a:avLst>
          </a:prstGeom>
          <a:solidFill>
            <a:srgbClr val="FF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AI automatically links down payments to customer orders to generate consolidated invoices without manual intervention. 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Proactively validates master data and policy rules to ensure accurate invoice generation. 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Compresses the sales lifecycle time by automating the complex link between orders and payments.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408" name="Google Shape;408;p54"/>
          <p:cNvSpPr/>
          <p:nvPr/>
        </p:nvSpPr>
        <p:spPr>
          <a:xfrm>
            <a:off x="4835675" y="3250775"/>
            <a:ext cx="3779700" cy="1707900"/>
          </a:xfrm>
          <a:prstGeom prst="wedgeRoundRectCallout">
            <a:avLst>
              <a:gd name="adj1" fmla="val -16887"/>
              <a:gd name="adj2" fmla="val -92258"/>
              <a:gd name="adj3" fmla="val 0"/>
            </a:avLst>
          </a:prstGeom>
          <a:solidFill>
            <a:srgbClr val="99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Leverages SAP Cash Application to autonomously clear down payments against incoming bank statements. 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Forecasts the risk of late or missing payments to prioritize reconciliation tasks for the AR Accountant. 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Automatically captures reconciliation baseline values to track project success and ROI. 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5"/>
          <p:cNvSpPr txBox="1">
            <a:spLocks noGrp="1"/>
          </p:cNvSpPr>
          <p:nvPr>
            <p:ph type="body" idx="1"/>
          </p:nvPr>
        </p:nvSpPr>
        <p:spPr>
          <a:xfrm>
            <a:off x="720000" y="1650200"/>
            <a:ext cx="3876000" cy="233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55"/>
          <p:cNvSpPr txBox="1">
            <a:spLocks noGrp="1"/>
          </p:cNvSpPr>
          <p:nvPr>
            <p:ph type="title"/>
          </p:nvPr>
        </p:nvSpPr>
        <p:spPr>
          <a:xfrm>
            <a:off x="358700" y="98550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Accounts Receivable Agent: Enablement for Credit / Payment Card</a:t>
            </a:r>
            <a:endParaRPr sz="2500"/>
          </a:p>
        </p:txBody>
      </p:sp>
      <p:pic>
        <p:nvPicPr>
          <p:cNvPr id="415" name="Google Shape;415;p55" title="Screenshot 2026-01-22 at 12.44.52 A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25" y="863121"/>
            <a:ext cx="9144000" cy="3789308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55"/>
          <p:cNvSpPr/>
          <p:nvPr/>
        </p:nvSpPr>
        <p:spPr>
          <a:xfrm>
            <a:off x="566725" y="1171475"/>
            <a:ext cx="3779700" cy="1707900"/>
          </a:xfrm>
          <a:prstGeom prst="wedgeRoundRectCallout">
            <a:avLst>
              <a:gd name="adj1" fmla="val 84470"/>
              <a:gd name="adj2" fmla="val -28206"/>
              <a:gd name="adj3" fmla="val 0"/>
            </a:avLst>
          </a:prstGeom>
          <a:solidFill>
            <a:srgbClr val="FF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Uses the AR Agent to autonomously match and clear credit card documents against contract accounts. 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Automates repetitive administrative clearing tasks, significantly reducing manual effort for the AR Accountant.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Works directly within the business context to ensure real-time ledger updates for cleared items.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417" name="Google Shape;417;p55"/>
          <p:cNvSpPr/>
          <p:nvPr/>
        </p:nvSpPr>
        <p:spPr>
          <a:xfrm>
            <a:off x="720000" y="3305300"/>
            <a:ext cx="3779700" cy="1707900"/>
          </a:xfrm>
          <a:prstGeom prst="wedgeRoundRectCallout">
            <a:avLst>
              <a:gd name="adj1" fmla="val 66802"/>
              <a:gd name="adj2" fmla="val -19167"/>
              <a:gd name="adj3" fmla="val 0"/>
            </a:avLst>
          </a:prstGeom>
          <a:solidFill>
            <a:srgbClr val="99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Proactively identifies successful vs. failed settlements and suggests the correct posting logic, including fee calculations. 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Forecasts settlement failures based on historical bank response codes to prioritize remediation. 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Provides a natural language interface for the AR Administrator to investigate settlement errors via the Joule copilot.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6"/>
          <p:cNvSpPr txBox="1">
            <a:spLocks noGrp="1"/>
          </p:cNvSpPr>
          <p:nvPr>
            <p:ph type="title"/>
          </p:nvPr>
        </p:nvSpPr>
        <p:spPr>
          <a:xfrm>
            <a:off x="468175" y="1161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Accounts Receivable Agent: Enablement for Cash &amp; Checks Processing</a:t>
            </a:r>
            <a:endParaRPr sz="2500"/>
          </a:p>
        </p:txBody>
      </p:sp>
      <p:pic>
        <p:nvPicPr>
          <p:cNvPr id="423" name="Google Shape;423;p56" title="Screenshot 2026-01-22 at 12.50.34 A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40325"/>
            <a:ext cx="8839198" cy="2293054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56"/>
          <p:cNvSpPr/>
          <p:nvPr/>
        </p:nvSpPr>
        <p:spPr>
          <a:xfrm>
            <a:off x="720000" y="2956025"/>
            <a:ext cx="3944100" cy="2057100"/>
          </a:xfrm>
          <a:prstGeom prst="wedgeRoundRectCallout">
            <a:avLst>
              <a:gd name="adj1" fmla="val 99407"/>
              <a:gd name="adj2" fmla="val -48935"/>
              <a:gd name="adj3" fmla="val 0"/>
            </a:avLst>
          </a:prstGeom>
          <a:solidFill>
            <a:srgbClr val="99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Replaces "Manual Clearing" by recommending and executing proposed matches for accounts receivable. 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Automatically posts matches that fall within tolerance thresholds, bypassing the AR Accountant role.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Proactively identifies uncollectable risks during the clearing process to flag disputes early. 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Provides navigational assistance through Joule to resolve any matching errors that require manual review.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7"/>
          <p:cNvSpPr txBox="1">
            <a:spLocks noGrp="1"/>
          </p:cNvSpPr>
          <p:nvPr>
            <p:ph type="title"/>
          </p:nvPr>
        </p:nvSpPr>
        <p:spPr>
          <a:xfrm>
            <a:off x="720000" y="133950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Balanced View: Value vs. Challenges</a:t>
            </a:r>
            <a:endParaRPr/>
          </a:p>
        </p:txBody>
      </p:sp>
      <p:pic>
        <p:nvPicPr>
          <p:cNvPr id="430" name="Google Shape;430;p57" descr="image.png"/>
          <p:cNvPicPr preferRelativeResize="0"/>
          <p:nvPr/>
        </p:nvPicPr>
        <p:blipFill rotWithShape="1">
          <a:blip r:embed="rId3">
            <a:alphaModFix/>
          </a:blip>
          <a:srcRect b="4104"/>
          <a:stretch/>
        </p:blipFill>
        <p:spPr>
          <a:xfrm>
            <a:off x="278650" y="942013"/>
            <a:ext cx="4124375" cy="33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57"/>
          <p:cNvSpPr txBox="1"/>
          <p:nvPr/>
        </p:nvSpPr>
        <p:spPr>
          <a:xfrm>
            <a:off x="543791" y="1275976"/>
            <a:ext cx="2556600" cy="2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47" b="0" i="0" u="none" strike="noStrike" cap="none">
                <a:solidFill>
                  <a:srgbClr val="04785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Upside (Value)</a:t>
            </a:r>
            <a:endParaRPr sz="1747"/>
          </a:p>
        </p:txBody>
      </p:sp>
      <p:pic>
        <p:nvPicPr>
          <p:cNvPr id="432" name="Google Shape;432;p5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3788" y="1870625"/>
            <a:ext cx="353518" cy="390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5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3788" y="2821692"/>
            <a:ext cx="353518" cy="390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5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3788" y="3548642"/>
            <a:ext cx="353518" cy="390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5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4263" y="1984665"/>
            <a:ext cx="132569" cy="162914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57"/>
          <p:cNvSpPr txBox="1"/>
          <p:nvPr/>
        </p:nvSpPr>
        <p:spPr>
          <a:xfrm>
            <a:off x="1044605" y="1870625"/>
            <a:ext cx="3248100" cy="2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6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Zero-Touch Velocity</a:t>
            </a:r>
            <a:endParaRPr sz="1237"/>
          </a:p>
        </p:txBody>
      </p:sp>
      <p:sp>
        <p:nvSpPr>
          <p:cNvPr id="437" name="Google Shape;437;p57"/>
          <p:cNvSpPr txBox="1"/>
          <p:nvPr/>
        </p:nvSpPr>
        <p:spPr>
          <a:xfrm>
            <a:off x="1044605" y="2114996"/>
            <a:ext cx="30933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Instant 24/7 processing drastically reduces Days Sales Outstanding (DSO) by clearing invoices in real-time.</a:t>
            </a:r>
            <a:endParaRPr sz="970"/>
          </a:p>
        </p:txBody>
      </p:sp>
      <p:pic>
        <p:nvPicPr>
          <p:cNvPr id="438" name="Google Shape;438;p5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6898" y="2935732"/>
            <a:ext cx="147299" cy="162914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57"/>
          <p:cNvSpPr txBox="1"/>
          <p:nvPr/>
        </p:nvSpPr>
        <p:spPr>
          <a:xfrm>
            <a:off x="1044605" y="2821692"/>
            <a:ext cx="3248100" cy="2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6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Precision</a:t>
            </a:r>
            <a:endParaRPr sz="1237"/>
          </a:p>
        </p:txBody>
      </p:sp>
      <p:sp>
        <p:nvSpPr>
          <p:cNvPr id="440" name="Google Shape;440;p57"/>
          <p:cNvSpPr txBox="1"/>
          <p:nvPr/>
        </p:nvSpPr>
        <p:spPr>
          <a:xfrm>
            <a:off x="1044605" y="3066064"/>
            <a:ext cx="30933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Eliminates manual data-entry errors such as typos in invoice numbers or incorrect payment amounts.</a:t>
            </a:r>
            <a:endParaRPr sz="970"/>
          </a:p>
        </p:txBody>
      </p:sp>
      <p:pic>
        <p:nvPicPr>
          <p:cNvPr id="441" name="Google Shape;441;p5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6898" y="3662682"/>
            <a:ext cx="147299" cy="162914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57"/>
          <p:cNvSpPr txBox="1"/>
          <p:nvPr/>
        </p:nvSpPr>
        <p:spPr>
          <a:xfrm>
            <a:off x="1044605" y="3548642"/>
            <a:ext cx="3248100" cy="2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6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Scalability</a:t>
            </a:r>
            <a:endParaRPr sz="1237"/>
          </a:p>
        </p:txBody>
      </p:sp>
      <p:sp>
        <p:nvSpPr>
          <p:cNvPr id="443" name="Google Shape;443;p57"/>
          <p:cNvSpPr txBox="1"/>
          <p:nvPr/>
        </p:nvSpPr>
        <p:spPr>
          <a:xfrm>
            <a:off x="1044605" y="3793014"/>
            <a:ext cx="30933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Handles end-of-month volume spikes (e.g., 5,000+ checks) without needing overtime staff</a:t>
            </a:r>
            <a:endParaRPr sz="970"/>
          </a:p>
        </p:txBody>
      </p:sp>
      <p:pic>
        <p:nvPicPr>
          <p:cNvPr id="444" name="Google Shape;444;p57" descr="image.png"/>
          <p:cNvPicPr preferRelativeResize="0"/>
          <p:nvPr/>
        </p:nvPicPr>
        <p:blipFill rotWithShape="1">
          <a:blip r:embed="rId8">
            <a:alphaModFix/>
          </a:blip>
          <a:srcRect b="4104"/>
          <a:stretch/>
        </p:blipFill>
        <p:spPr>
          <a:xfrm>
            <a:off x="4550475" y="942025"/>
            <a:ext cx="4314876" cy="33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57"/>
          <p:cNvSpPr txBox="1"/>
          <p:nvPr/>
        </p:nvSpPr>
        <p:spPr>
          <a:xfrm>
            <a:off x="4819604" y="1275989"/>
            <a:ext cx="3358500" cy="2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61" b="0" i="0" u="none" strike="noStrike" cap="none">
                <a:solidFill>
                  <a:srgbClr val="B4530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Watch-Outs (Risks)</a:t>
            </a:r>
            <a:endParaRPr sz="1264"/>
          </a:p>
        </p:txBody>
      </p:sp>
      <p:pic>
        <p:nvPicPr>
          <p:cNvPr id="446" name="Google Shape;446;p5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19610" y="1848985"/>
            <a:ext cx="358845" cy="390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5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05385" y="2632617"/>
            <a:ext cx="358845" cy="390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5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19610" y="3394000"/>
            <a:ext cx="358845" cy="390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5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05584" y="1963025"/>
            <a:ext cx="186899" cy="162914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57"/>
          <p:cNvSpPr txBox="1"/>
          <p:nvPr/>
        </p:nvSpPr>
        <p:spPr>
          <a:xfrm>
            <a:off x="5327977" y="1870637"/>
            <a:ext cx="3296700" cy="2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4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Context Blindness</a:t>
            </a:r>
            <a:endParaRPr sz="1264"/>
          </a:p>
        </p:txBody>
      </p:sp>
      <p:sp>
        <p:nvSpPr>
          <p:cNvPr id="451" name="Google Shape;451;p57"/>
          <p:cNvSpPr txBox="1"/>
          <p:nvPr/>
        </p:nvSpPr>
        <p:spPr>
          <a:xfrm>
            <a:off x="5327977" y="2115008"/>
            <a:ext cx="31395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AI struggles to judge intent, often failing to distinguish valid trade discounts from unauthorized short-pays.</a:t>
            </a:r>
            <a:endParaRPr sz="955"/>
          </a:p>
        </p:txBody>
      </p:sp>
      <p:pic>
        <p:nvPicPr>
          <p:cNvPr id="452" name="Google Shape;452;p5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98835" y="2746657"/>
            <a:ext cx="171947" cy="162914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57"/>
          <p:cNvSpPr txBox="1"/>
          <p:nvPr/>
        </p:nvSpPr>
        <p:spPr>
          <a:xfrm>
            <a:off x="5313752" y="2632310"/>
            <a:ext cx="3296700" cy="2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4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Input Sensitivity</a:t>
            </a:r>
            <a:endParaRPr sz="1264"/>
          </a:p>
        </p:txBody>
      </p:sp>
      <p:sp>
        <p:nvSpPr>
          <p:cNvPr id="454" name="Google Shape;454;p57"/>
          <p:cNvSpPr txBox="1"/>
          <p:nvPr/>
        </p:nvSpPr>
        <p:spPr>
          <a:xfrm>
            <a:off x="5313752" y="2876682"/>
            <a:ext cx="31395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Bad data in = Bad data out. Blurry lockbox scans or messy handwriting can cause automated failures.</a:t>
            </a:r>
            <a:endParaRPr sz="955"/>
          </a:p>
        </p:txBody>
      </p:sp>
      <p:pic>
        <p:nvPicPr>
          <p:cNvPr id="455" name="Google Shape;455;p5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942963" y="3508040"/>
            <a:ext cx="112140" cy="162914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57"/>
          <p:cNvSpPr txBox="1"/>
          <p:nvPr/>
        </p:nvSpPr>
        <p:spPr>
          <a:xfrm>
            <a:off x="5327977" y="3394000"/>
            <a:ext cx="3296700" cy="2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4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'Black Box' Audits</a:t>
            </a:r>
            <a:endParaRPr sz="1264"/>
          </a:p>
        </p:txBody>
      </p:sp>
      <p:sp>
        <p:nvSpPr>
          <p:cNvPr id="457" name="Google Shape;457;p57"/>
          <p:cNvSpPr txBox="1"/>
          <p:nvPr/>
        </p:nvSpPr>
        <p:spPr>
          <a:xfrm>
            <a:off x="5327975" y="3638375"/>
            <a:ext cx="32967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It is significantly harder to explain complex AI matching logic to external auditors than standard human notes.</a:t>
            </a:r>
            <a:endParaRPr sz="955"/>
          </a:p>
        </p:txBody>
      </p:sp>
      <p:sp>
        <p:nvSpPr>
          <p:cNvPr id="458" name="Google Shape;458;p57"/>
          <p:cNvSpPr/>
          <p:nvPr/>
        </p:nvSpPr>
        <p:spPr>
          <a:xfrm>
            <a:off x="302775" y="4431025"/>
            <a:ext cx="8554500" cy="523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9" name="Google Shape;459;p57"/>
          <p:cNvSpPr txBox="1"/>
          <p:nvPr/>
        </p:nvSpPr>
        <p:spPr>
          <a:xfrm>
            <a:off x="286725" y="4431025"/>
            <a:ext cx="8554500" cy="5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Nunito"/>
                <a:ea typeface="Nunito"/>
                <a:cs typeface="Nunito"/>
                <a:sym typeface="Nunito"/>
              </a:rPr>
              <a:t>Strategic Implication: 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The AI handles </a:t>
            </a:r>
            <a:r>
              <a:rPr lang="en" sz="1200" b="1">
                <a:latin typeface="Nunito"/>
                <a:ea typeface="Nunito"/>
                <a:cs typeface="Nunito"/>
                <a:sym typeface="Nunito"/>
              </a:rPr>
              <a:t>Volume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(Standard Transactions), freeing Humans to handle </a:t>
            </a:r>
            <a:r>
              <a:rPr lang="en" sz="1200" b="1">
                <a:latin typeface="Nunito"/>
                <a:ea typeface="Nunito"/>
                <a:cs typeface="Nunito"/>
                <a:sym typeface="Nunito"/>
              </a:rPr>
              <a:t>Value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(Exceptions, Disputes, &amp; Relationships)." </a:t>
            </a:r>
            <a:r>
              <a:rPr lang="en" sz="1300" b="1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13"/>
              </a:rPr>
              <a:t>Video Link</a:t>
            </a:r>
            <a:endParaRPr sz="1300"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8"/>
          <p:cNvSpPr txBox="1">
            <a:spLocks noGrp="1"/>
          </p:cNvSpPr>
          <p:nvPr>
            <p:ph type="body" idx="1"/>
          </p:nvPr>
        </p:nvSpPr>
        <p:spPr>
          <a:xfrm>
            <a:off x="720000" y="839400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00"/>
                </a:solidFill>
              </a:rPr>
              <a:t>Step 1: Define Baseline &amp; Constraints</a:t>
            </a:r>
            <a:endParaRPr sz="1800" b="1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1">
                <a:solidFill>
                  <a:srgbClr val="000000"/>
                </a:solidFill>
              </a:rPr>
              <a:t>Inputs:</a:t>
            </a:r>
            <a:r>
              <a:rPr lang="en" sz="1800">
                <a:solidFill>
                  <a:srgbClr val="000000"/>
                </a:solidFill>
              </a:rPr>
              <a:t> Analyzed the core Accenture/Ralph Lauren engagement brief and standard SAP L5 flowcharts.</a:t>
            </a: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1">
                <a:solidFill>
                  <a:srgbClr val="000000"/>
                </a:solidFill>
              </a:rPr>
              <a:t>Constraint:</a:t>
            </a:r>
            <a:r>
              <a:rPr lang="en" sz="1800">
                <a:solidFill>
                  <a:srgbClr val="000000"/>
                </a:solidFill>
              </a:rPr>
              <a:t> Designed a conceptual, logic-driven architecture to simulate the transformation, as a live S/4HANA sandbox environment was unavailable for a technical demo.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00"/>
                </a:solidFill>
              </a:rPr>
              <a:t>Step 2: Technical Research</a:t>
            </a:r>
            <a:endParaRPr sz="1800" b="1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1">
                <a:solidFill>
                  <a:srgbClr val="000000"/>
                </a:solidFill>
              </a:rPr>
              <a:t>Exploration:</a:t>
            </a:r>
            <a:r>
              <a:rPr lang="en" sz="1800">
                <a:solidFill>
                  <a:srgbClr val="000000"/>
                </a:solidFill>
              </a:rPr>
              <a:t> Consulted official SAP Help Portals and SAP Cash Application documentation.</a:t>
            </a: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1">
                <a:solidFill>
                  <a:srgbClr val="000000"/>
                </a:solidFill>
              </a:rPr>
              <a:t>Validation:</a:t>
            </a:r>
            <a:r>
              <a:rPr lang="en" sz="1800">
                <a:solidFill>
                  <a:srgbClr val="000000"/>
                </a:solidFill>
              </a:rPr>
              <a:t> Mapped the exact Machine Learning (ML) inference logic driving autonomous matching.</a:t>
            </a:r>
            <a:endParaRPr sz="1800"/>
          </a:p>
        </p:txBody>
      </p:sp>
      <p:sp>
        <p:nvSpPr>
          <p:cNvPr id="465" name="Google Shape;465;p58"/>
          <p:cNvSpPr txBox="1">
            <a:spLocks noGrp="1"/>
          </p:cNvSpPr>
          <p:nvPr>
            <p:ph type="title"/>
          </p:nvPr>
        </p:nvSpPr>
        <p:spPr>
          <a:xfrm>
            <a:off x="720000" y="267600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9"/>
          <p:cNvSpPr txBox="1">
            <a:spLocks noGrp="1"/>
          </p:cNvSpPr>
          <p:nvPr>
            <p:ph type="body" idx="1"/>
          </p:nvPr>
        </p:nvSpPr>
        <p:spPr>
          <a:xfrm>
            <a:off x="720000" y="939777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00"/>
                </a:solidFill>
              </a:rPr>
              <a:t>Step 3: Analyze "As-Is" Flows</a:t>
            </a:r>
            <a:endParaRPr sz="1800" b="1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1">
                <a:solidFill>
                  <a:srgbClr val="000000"/>
                </a:solidFill>
              </a:rPr>
              <a:t>Deconstruction:</a:t>
            </a:r>
            <a:r>
              <a:rPr lang="en" sz="1800">
                <a:solidFill>
                  <a:srgbClr val="000000"/>
                </a:solidFill>
              </a:rPr>
              <a:t> Systematically reviewed L5 workflows </a:t>
            </a: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1">
                <a:solidFill>
                  <a:srgbClr val="000000"/>
                </a:solidFill>
              </a:rPr>
              <a:t>Targeting:</a:t>
            </a:r>
            <a:r>
              <a:rPr lang="en" sz="1800">
                <a:solidFill>
                  <a:srgbClr val="000000"/>
                </a:solidFill>
              </a:rPr>
              <a:t> Identified the manual "Investigate," "Match," and "Research" boxes as the primary drivers of error rates and time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00"/>
                </a:solidFill>
              </a:rPr>
              <a:t>Step 4: Re-Engineer with AR Agent</a:t>
            </a:r>
            <a:endParaRPr sz="1800" b="1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1">
                <a:solidFill>
                  <a:srgbClr val="000000"/>
                </a:solidFill>
              </a:rPr>
              <a:t>Overlay:</a:t>
            </a:r>
            <a:r>
              <a:rPr lang="en" sz="1800">
                <a:solidFill>
                  <a:srgbClr val="000000"/>
                </a:solidFill>
              </a:rPr>
              <a:t> Integrated the Accounts Receivable Agent into the flowcharts to visualize the "To-Be" state.</a:t>
            </a: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 b="1">
                <a:solidFill>
                  <a:srgbClr val="000000"/>
                </a:solidFill>
              </a:rPr>
              <a:t>Logic Rules:</a:t>
            </a:r>
            <a:r>
              <a:rPr lang="en" sz="1800">
                <a:solidFill>
                  <a:srgbClr val="000000"/>
                </a:solidFill>
              </a:rPr>
              <a:t> Applied confidence thresholds (Yes/No/Exception) to demonstrate the projected 90% effort reduction.</a:t>
            </a:r>
            <a:endParaRPr sz="1800" b="1">
              <a:solidFill>
                <a:srgbClr val="000000"/>
              </a:solidFill>
            </a:endParaRPr>
          </a:p>
        </p:txBody>
      </p:sp>
      <p:sp>
        <p:nvSpPr>
          <p:cNvPr id="471" name="Google Shape;471;p59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0"/>
          <p:cNvSpPr txBox="1">
            <a:spLocks noGrp="1"/>
          </p:cNvSpPr>
          <p:nvPr>
            <p:ph type="title"/>
          </p:nvPr>
        </p:nvSpPr>
        <p:spPr>
          <a:xfrm>
            <a:off x="720000" y="2195100"/>
            <a:ext cx="4337700" cy="146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Disputes</a:t>
            </a:r>
            <a:endParaRPr/>
          </a:p>
        </p:txBody>
      </p:sp>
      <p:sp>
        <p:nvSpPr>
          <p:cNvPr id="477" name="Google Shape;477;p60"/>
          <p:cNvSpPr txBox="1">
            <a:spLocks noGrp="1"/>
          </p:cNvSpPr>
          <p:nvPr>
            <p:ph type="title" idx="2"/>
          </p:nvPr>
        </p:nvSpPr>
        <p:spPr>
          <a:xfrm>
            <a:off x="720000" y="1178725"/>
            <a:ext cx="5067600" cy="100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sp>
        <p:nvSpPr>
          <p:cNvPr id="478" name="Google Shape;478;p60"/>
          <p:cNvSpPr txBox="1">
            <a:spLocks noGrp="1"/>
          </p:cNvSpPr>
          <p:nvPr>
            <p:ph type="subTitle" idx="1"/>
          </p:nvPr>
        </p:nvSpPr>
        <p:spPr>
          <a:xfrm>
            <a:off x="720000" y="3676775"/>
            <a:ext cx="506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Mayank, Byron, Rhea</a:t>
            </a:r>
            <a:endParaRPr/>
          </a:p>
        </p:txBody>
      </p:sp>
      <p:cxnSp>
        <p:nvCxnSpPr>
          <p:cNvPr id="479" name="Google Shape;479;p60"/>
          <p:cNvCxnSpPr>
            <a:endCxn id="480" idx="1"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0" name="Google Shape;480;p60"/>
          <p:cNvSpPr txBox="1"/>
          <p:nvPr/>
        </p:nvSpPr>
        <p:spPr>
          <a:xfrm>
            <a:off x="6331500" y="4630647"/>
            <a:ext cx="2585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Purdue University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81" name="Google Shape;48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3335324" cy="3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1"/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Current State and Agent Overview</a:t>
            </a:r>
            <a:endParaRPr sz="2600"/>
          </a:p>
        </p:txBody>
      </p:sp>
      <p:sp>
        <p:nvSpPr>
          <p:cNvPr id="487" name="Google Shape;487;p61"/>
          <p:cNvSpPr txBox="1">
            <a:spLocks noGrp="1"/>
          </p:cNvSpPr>
          <p:nvPr>
            <p:ph type="title"/>
          </p:nvPr>
        </p:nvSpPr>
        <p:spPr>
          <a:xfrm>
            <a:off x="815004" y="2461493"/>
            <a:ext cx="2811300" cy="406500"/>
          </a:xfrm>
          <a:prstGeom prst="rect">
            <a:avLst/>
          </a:prstGeom>
        </p:spPr>
        <p:txBody>
          <a:bodyPr spcFirstLastPara="1" wrap="square" lIns="66525" tIns="66525" rIns="66525" bIns="66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18"/>
              <a:t>Human-Driven Process</a:t>
            </a:r>
            <a:endParaRPr sz="1818"/>
          </a:p>
        </p:txBody>
      </p:sp>
      <p:sp>
        <p:nvSpPr>
          <p:cNvPr id="488" name="Google Shape;488;p61"/>
          <p:cNvSpPr txBox="1">
            <a:spLocks noGrp="1"/>
          </p:cNvSpPr>
          <p:nvPr>
            <p:ph type="subTitle" idx="3"/>
          </p:nvPr>
        </p:nvSpPr>
        <p:spPr>
          <a:xfrm>
            <a:off x="164000" y="2832650"/>
            <a:ext cx="3912900" cy="2246700"/>
          </a:xfrm>
          <a:prstGeom prst="rect">
            <a:avLst/>
          </a:prstGeom>
        </p:spPr>
        <p:txBody>
          <a:bodyPr spcFirstLastPara="1" wrap="square" lIns="66525" tIns="66525" rIns="66525" bIns="66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9"/>
              <a:t>L5 Step: Dispute Case Opening and Management</a:t>
            </a:r>
            <a:endParaRPr sz="1309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Manually create dispute cases</a:t>
            </a:r>
            <a:endParaRPr sz="1309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Human managers need to communicate with every individual dispute case</a:t>
            </a:r>
            <a:endParaRPr sz="1309"/>
          </a:p>
          <a:p>
            <a:pPr marL="914400" lvl="1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○"/>
            </a:pPr>
            <a:r>
              <a:rPr lang="en" sz="1309"/>
              <a:t>Reduces workflow speed</a:t>
            </a:r>
            <a:endParaRPr sz="1309"/>
          </a:p>
          <a:p>
            <a:pPr marL="914400" lvl="1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○"/>
            </a:pPr>
            <a:r>
              <a:rPr lang="en" sz="1309"/>
              <a:t>Higher costs for dispute management</a:t>
            </a:r>
            <a:endParaRPr sz="1309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Difficulty in tracking and resolving disputes immediately</a:t>
            </a:r>
            <a:endParaRPr sz="1309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/>
          </a:p>
        </p:txBody>
      </p:sp>
      <p:sp>
        <p:nvSpPr>
          <p:cNvPr id="489" name="Google Shape;489;p61"/>
          <p:cNvSpPr txBox="1">
            <a:spLocks noGrp="1"/>
          </p:cNvSpPr>
          <p:nvPr>
            <p:ph type="title"/>
          </p:nvPr>
        </p:nvSpPr>
        <p:spPr>
          <a:xfrm>
            <a:off x="2567700" y="950188"/>
            <a:ext cx="4008600" cy="406500"/>
          </a:xfrm>
          <a:prstGeom prst="rect">
            <a:avLst/>
          </a:prstGeom>
        </p:spPr>
        <p:txBody>
          <a:bodyPr spcFirstLastPara="1" wrap="square" lIns="66525" tIns="66525" rIns="66525" bIns="66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18"/>
              <a:t>Dispute Resolution Agent</a:t>
            </a:r>
            <a:endParaRPr sz="1818"/>
          </a:p>
        </p:txBody>
      </p:sp>
      <p:sp>
        <p:nvSpPr>
          <p:cNvPr id="490" name="Google Shape;490;p61"/>
          <p:cNvSpPr txBox="1">
            <a:spLocks noGrp="1"/>
          </p:cNvSpPr>
          <p:nvPr>
            <p:ph type="subTitle" idx="3"/>
          </p:nvPr>
        </p:nvSpPr>
        <p:spPr>
          <a:xfrm>
            <a:off x="472125" y="1344125"/>
            <a:ext cx="3832500" cy="896400"/>
          </a:xfrm>
          <a:prstGeom prst="rect">
            <a:avLst/>
          </a:prstGeom>
        </p:spPr>
        <p:txBody>
          <a:bodyPr spcFirstLastPara="1" wrap="square" lIns="66525" tIns="66525" rIns="66525" bIns="66525" anchor="t" anchorCtr="0">
            <a:no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 sz="1300">
                <a:solidFill>
                  <a:srgbClr val="000000"/>
                </a:solidFill>
              </a:rPr>
              <a:t>Scan invoices and contracts for errors automatically </a:t>
            </a:r>
            <a:endParaRPr sz="1509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300">
                <a:solidFill>
                  <a:srgbClr val="000000"/>
                </a:solidFill>
              </a:rPr>
              <a:t>Detects incorrect charges and suggest fixes (e.g. creation of credit memos )</a:t>
            </a:r>
            <a:endParaRPr sz="1509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/>
          </a:p>
        </p:txBody>
      </p:sp>
      <p:pic>
        <p:nvPicPr>
          <p:cNvPr id="491" name="Google Shape;49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325" y="5925"/>
            <a:ext cx="2321924" cy="24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61"/>
          <p:cNvSpPr txBox="1">
            <a:spLocks noGrp="1"/>
          </p:cNvSpPr>
          <p:nvPr>
            <p:ph type="title" idx="2"/>
          </p:nvPr>
        </p:nvSpPr>
        <p:spPr>
          <a:xfrm>
            <a:off x="5216052" y="2457908"/>
            <a:ext cx="2547600" cy="413700"/>
          </a:xfrm>
          <a:prstGeom prst="rect">
            <a:avLst/>
          </a:prstGeom>
        </p:spPr>
        <p:txBody>
          <a:bodyPr spcFirstLastPara="1" wrap="square" lIns="67675" tIns="67675" rIns="67675" bIns="676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/>
              <a:t>AI-Driven Process</a:t>
            </a:r>
            <a:endParaRPr sz="1850"/>
          </a:p>
        </p:txBody>
      </p:sp>
      <p:sp>
        <p:nvSpPr>
          <p:cNvPr id="493" name="Google Shape;493;p61"/>
          <p:cNvSpPr txBox="1">
            <a:spLocks noGrp="1"/>
          </p:cNvSpPr>
          <p:nvPr>
            <p:ph type="subTitle" idx="1"/>
          </p:nvPr>
        </p:nvSpPr>
        <p:spPr>
          <a:xfrm>
            <a:off x="4130650" y="2715600"/>
            <a:ext cx="4718400" cy="2176800"/>
          </a:xfrm>
          <a:prstGeom prst="rect">
            <a:avLst/>
          </a:prstGeom>
        </p:spPr>
        <p:txBody>
          <a:bodyPr spcFirstLastPara="1" wrap="square" lIns="67675" tIns="67675" rIns="67675" bIns="67675" anchor="t" anchorCtr="0">
            <a:noAutofit/>
          </a:bodyPr>
          <a:lstStyle/>
          <a:p>
            <a:pPr marL="338415" lvl="0" indent="-251757" algn="l" rtl="0">
              <a:lnSpc>
                <a:spcPct val="115000"/>
              </a:lnSpc>
              <a:spcBef>
                <a:spcPts val="888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Automated Case Analysis and Validation:</a:t>
            </a:r>
            <a:endParaRPr sz="1300">
              <a:solidFill>
                <a:srgbClr val="000000"/>
              </a:solidFill>
            </a:endParaRPr>
          </a:p>
          <a:p>
            <a:pPr marL="676832" lvl="1" indent="-25175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</a:rPr>
              <a:t>Determines the validity of cases itself</a:t>
            </a:r>
            <a:endParaRPr sz="1300">
              <a:solidFill>
                <a:srgbClr val="000000"/>
              </a:solidFill>
            </a:endParaRPr>
          </a:p>
          <a:p>
            <a:pPr marL="338415" lvl="0" indent="-25175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Key Issues are summarized for human reviewer</a:t>
            </a:r>
            <a:endParaRPr sz="1300">
              <a:solidFill>
                <a:srgbClr val="000000"/>
              </a:solidFill>
            </a:endParaRPr>
          </a:p>
          <a:p>
            <a:pPr marL="338415" lvl="0" indent="-25175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Proposes potential resolution options, reviewed by human</a:t>
            </a:r>
            <a:endParaRPr sz="1300">
              <a:solidFill>
                <a:srgbClr val="000000"/>
              </a:solidFill>
            </a:endParaRPr>
          </a:p>
          <a:p>
            <a:pPr marL="338415" lvl="0" indent="-25175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Provides a more streamlined dispute process, maintaining stable customer relations</a:t>
            </a:r>
            <a:br>
              <a:rPr lang="en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888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494" name="Google Shape;494;p61"/>
          <p:cNvSpPr txBox="1"/>
          <p:nvPr/>
        </p:nvSpPr>
        <p:spPr>
          <a:xfrm>
            <a:off x="4282550" y="1356700"/>
            <a:ext cx="4150800" cy="13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"/>
              <a:buChar char="●"/>
            </a:pPr>
            <a:r>
              <a:rPr lang="en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30% reduction in Dispute Management handling cost</a:t>
            </a:r>
            <a:endParaRPr sz="1309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"/>
              <a:buChar char="●"/>
            </a:pPr>
            <a:r>
              <a:rPr lang="en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5% reduction in customer churn attributable to invoice disputes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2"/>
          <p:cNvSpPr txBox="1">
            <a:spLocks noGrp="1"/>
          </p:cNvSpPr>
          <p:nvPr>
            <p:ph type="title"/>
          </p:nvPr>
        </p:nvSpPr>
        <p:spPr>
          <a:xfrm>
            <a:off x="1121450" y="28650"/>
            <a:ext cx="6627900" cy="70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/>
              <a:t>Dispute Resolution Agent</a:t>
            </a:r>
            <a:endParaRPr sz="3900"/>
          </a:p>
        </p:txBody>
      </p:sp>
      <p:sp>
        <p:nvSpPr>
          <p:cNvPr id="500" name="Google Shape;500;p62"/>
          <p:cNvSpPr txBox="1"/>
          <p:nvPr/>
        </p:nvSpPr>
        <p:spPr>
          <a:xfrm>
            <a:off x="688200" y="736050"/>
            <a:ext cx="3975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Dispute Case Open &amp; Management Workflow</a:t>
            </a:r>
            <a:endParaRPr b="1" u="sng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01" name="Google Shape;50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42550"/>
            <a:ext cx="8839203" cy="2161282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62"/>
          <p:cNvSpPr/>
          <p:nvPr/>
        </p:nvSpPr>
        <p:spPr>
          <a:xfrm>
            <a:off x="2679750" y="3838500"/>
            <a:ext cx="3784500" cy="1305000"/>
          </a:xfrm>
          <a:prstGeom prst="wedgeRoundRectCallout">
            <a:avLst>
              <a:gd name="adj1" fmla="val -3416"/>
              <a:gd name="adj2" fmla="val -100492"/>
              <a:gd name="adj3" fmla="val 0"/>
            </a:avLst>
          </a:prstGeom>
          <a:solidFill>
            <a:srgbClr val="99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Automatically reviews invoices and contracts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replaces manual review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Checks if customer complaints are justified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supports faster decisions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Suggests or triggers corrections (e.g., credit memos)</a:t>
            </a:r>
            <a:endParaRPr sz="1100"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reduces delays and back-and-forth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3"/>
          <p:cNvSpPr txBox="1">
            <a:spLocks noGrp="1"/>
          </p:cNvSpPr>
          <p:nvPr>
            <p:ph type="title"/>
          </p:nvPr>
        </p:nvSpPr>
        <p:spPr>
          <a:xfrm>
            <a:off x="720000" y="279200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Balanced View: Value vs. Challenges</a:t>
            </a:r>
            <a:endParaRPr/>
          </a:p>
        </p:txBody>
      </p:sp>
      <p:pic>
        <p:nvPicPr>
          <p:cNvPr id="508" name="Google Shape;508;p63" descr="image.png"/>
          <p:cNvPicPr preferRelativeResize="0"/>
          <p:nvPr/>
        </p:nvPicPr>
        <p:blipFill rotWithShape="1">
          <a:blip r:embed="rId3">
            <a:alphaModFix/>
          </a:blip>
          <a:srcRect b="4104"/>
          <a:stretch/>
        </p:blipFill>
        <p:spPr>
          <a:xfrm>
            <a:off x="258950" y="1154450"/>
            <a:ext cx="4248975" cy="3871351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63"/>
          <p:cNvSpPr txBox="1"/>
          <p:nvPr/>
        </p:nvSpPr>
        <p:spPr>
          <a:xfrm>
            <a:off x="532101" y="1535825"/>
            <a:ext cx="263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>
                <a:solidFill>
                  <a:srgbClr val="04785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Upside (Value)</a:t>
            </a:r>
            <a:endParaRPr sz="1800"/>
          </a:p>
        </p:txBody>
      </p:sp>
      <p:pic>
        <p:nvPicPr>
          <p:cNvPr id="510" name="Google Shape;510;p6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2098" y="2214893"/>
            <a:ext cx="36419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6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2098" y="3203813"/>
            <a:ext cx="36419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6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2098" y="4131133"/>
            <a:ext cx="36419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6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5910" y="2345123"/>
            <a:ext cx="136574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63"/>
          <p:cNvSpPr txBox="1"/>
          <p:nvPr/>
        </p:nvSpPr>
        <p:spPr>
          <a:xfrm>
            <a:off x="1048045" y="2214893"/>
            <a:ext cx="3346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High-Volume Data Handling</a:t>
            </a:r>
            <a:endParaRPr sz="1300" b="1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66" b="1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5" name="Google Shape;515;p63"/>
          <p:cNvSpPr txBox="1"/>
          <p:nvPr/>
        </p:nvSpPr>
        <p:spPr>
          <a:xfrm>
            <a:off x="1048045" y="2493957"/>
            <a:ext cx="31866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Efficient processing of large datasets reduces errors and accelerates dispute resolution.</a:t>
            </a: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16" name="Google Shape;516;p6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323" y="3334043"/>
            <a:ext cx="151749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63"/>
          <p:cNvSpPr txBox="1"/>
          <p:nvPr/>
        </p:nvSpPr>
        <p:spPr>
          <a:xfrm>
            <a:off x="1048045" y="3203813"/>
            <a:ext cx="3346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Faster Dispute Resolution</a:t>
            </a:r>
            <a:endParaRPr sz="1300" b="1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66" b="1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8" name="Google Shape;518;p63"/>
          <p:cNvSpPr txBox="1"/>
          <p:nvPr/>
        </p:nvSpPr>
        <p:spPr>
          <a:xfrm>
            <a:off x="1048045" y="3482877"/>
            <a:ext cx="31866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Real-time tracking of disputes improves accuracy and shortens resolution time.</a:t>
            </a: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19" name="Google Shape;519;p6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323" y="4261363"/>
            <a:ext cx="151749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63"/>
          <p:cNvSpPr txBox="1"/>
          <p:nvPr/>
        </p:nvSpPr>
        <p:spPr>
          <a:xfrm>
            <a:off x="1048045" y="4131133"/>
            <a:ext cx="33462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Stronger Customer Relations</a:t>
            </a:r>
            <a:endParaRPr sz="1366" b="1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1" name="Google Shape;521;p63"/>
          <p:cNvSpPr txBox="1"/>
          <p:nvPr/>
        </p:nvSpPr>
        <p:spPr>
          <a:xfrm>
            <a:off x="1048045" y="4410197"/>
            <a:ext cx="31866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More efficient and reduces the “back and forth” between customer and dispute management.</a:t>
            </a: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22" name="Google Shape;522;p63" descr="image.png"/>
          <p:cNvPicPr preferRelativeResize="0"/>
          <p:nvPr/>
        </p:nvPicPr>
        <p:blipFill rotWithShape="1">
          <a:blip r:embed="rId8">
            <a:alphaModFix/>
          </a:blip>
          <a:srcRect b="4104"/>
          <a:stretch/>
        </p:blipFill>
        <p:spPr>
          <a:xfrm>
            <a:off x="4603400" y="1154450"/>
            <a:ext cx="4318275" cy="3871351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63"/>
          <p:cNvSpPr txBox="1"/>
          <p:nvPr/>
        </p:nvSpPr>
        <p:spPr>
          <a:xfrm>
            <a:off x="4880998" y="1535825"/>
            <a:ext cx="34641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43" b="0" i="0" u="none" strike="noStrike" cap="none">
                <a:solidFill>
                  <a:srgbClr val="B4530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Watch-Outs (Risks)</a:t>
            </a:r>
            <a:endParaRPr sz="1323"/>
          </a:p>
        </p:txBody>
      </p:sp>
      <p:pic>
        <p:nvPicPr>
          <p:cNvPr id="524" name="Google Shape;524;p6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81005" y="2190168"/>
            <a:ext cx="37013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6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81005" y="3007237"/>
            <a:ext cx="37013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6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81005" y="3872957"/>
            <a:ext cx="37013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6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69684" y="2320398"/>
            <a:ext cx="192781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63"/>
          <p:cNvSpPr txBox="1"/>
          <p:nvPr/>
        </p:nvSpPr>
        <p:spPr>
          <a:xfrm>
            <a:off x="5405370" y="2214893"/>
            <a:ext cx="34005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8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Agent Oversight</a:t>
            </a:r>
            <a:endParaRPr sz="1323"/>
          </a:p>
        </p:txBody>
      </p:sp>
      <p:sp>
        <p:nvSpPr>
          <p:cNvPr id="529" name="Google Shape;529;p63"/>
          <p:cNvSpPr txBox="1"/>
          <p:nvPr/>
        </p:nvSpPr>
        <p:spPr>
          <a:xfrm>
            <a:off x="5405370" y="2493957"/>
            <a:ext cx="3238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Agent may not be able to make the most effective decision for more complicated disputes.</a:t>
            </a:r>
            <a:endParaRPr sz="1000"/>
          </a:p>
        </p:txBody>
      </p:sp>
      <p:pic>
        <p:nvPicPr>
          <p:cNvPr id="530" name="Google Shape;530;p6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977395" y="3137467"/>
            <a:ext cx="177359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63"/>
          <p:cNvSpPr txBox="1"/>
          <p:nvPr/>
        </p:nvSpPr>
        <p:spPr>
          <a:xfrm>
            <a:off x="5427970" y="3121300"/>
            <a:ext cx="34005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8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Tracking &amp; Resolution Challenges</a:t>
            </a:r>
            <a:endParaRPr sz="1323"/>
          </a:p>
        </p:txBody>
      </p:sp>
      <p:sp>
        <p:nvSpPr>
          <p:cNvPr id="532" name="Google Shape;532;p63"/>
          <p:cNvSpPr txBox="1"/>
          <p:nvPr/>
        </p:nvSpPr>
        <p:spPr>
          <a:xfrm>
            <a:off x="5405370" y="3393226"/>
            <a:ext cx="3238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Difficulty managing multiple disputes at once can delay resolutions and reduce accuracy.</a:t>
            </a:r>
            <a:endParaRPr sz="1000"/>
          </a:p>
        </p:txBody>
      </p:sp>
      <p:pic>
        <p:nvPicPr>
          <p:cNvPr id="533" name="Google Shape;533;p6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08240" y="4003187"/>
            <a:ext cx="115669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63"/>
          <p:cNvSpPr txBox="1"/>
          <p:nvPr/>
        </p:nvSpPr>
        <p:spPr>
          <a:xfrm>
            <a:off x="5405370" y="3872957"/>
            <a:ext cx="34005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8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Limited Human Interaction</a:t>
            </a:r>
            <a:endParaRPr sz="1323"/>
          </a:p>
        </p:txBody>
      </p:sp>
      <p:sp>
        <p:nvSpPr>
          <p:cNvPr id="535" name="Google Shape;535;p63"/>
          <p:cNvSpPr txBox="1"/>
          <p:nvPr/>
        </p:nvSpPr>
        <p:spPr>
          <a:xfrm>
            <a:off x="5405370" y="4152021"/>
            <a:ext cx="3238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Some customers may prefer to have a more human-involved experience during dispute cases.</a:t>
            </a:r>
            <a:endParaRPr sz="1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4"/>
          <p:cNvSpPr txBox="1">
            <a:spLocks noGrp="1"/>
          </p:cNvSpPr>
          <p:nvPr>
            <p:ph type="title"/>
          </p:nvPr>
        </p:nvSpPr>
        <p:spPr>
          <a:xfrm>
            <a:off x="1121450" y="28650"/>
            <a:ext cx="6627900" cy="70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/>
              <a:t>Contract Accounting</a:t>
            </a:r>
            <a:endParaRPr sz="3900"/>
          </a:p>
        </p:txBody>
      </p:sp>
      <p:sp>
        <p:nvSpPr>
          <p:cNvPr id="541" name="Google Shape;541;p64"/>
          <p:cNvSpPr txBox="1"/>
          <p:nvPr/>
        </p:nvSpPr>
        <p:spPr>
          <a:xfrm>
            <a:off x="1121450" y="2456100"/>
            <a:ext cx="3398700" cy="17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Contract Accounting:</a:t>
            </a:r>
            <a:endParaRPr sz="1100"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Automatically matches payments to open invoices 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→ reduces manual work</a:t>
            </a:r>
            <a:b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Detects underpayments or partial payments 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→ speeds up dispute resolution</a:t>
            </a:r>
            <a:b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Clears accounts after corrections 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→ ensures accurate financials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42" name="Google Shape;542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6925" y="87475"/>
            <a:ext cx="2377850" cy="4968551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64"/>
          <p:cNvSpPr txBox="1">
            <a:spLocks noGrp="1"/>
          </p:cNvSpPr>
          <p:nvPr>
            <p:ph type="subTitle" idx="1"/>
          </p:nvPr>
        </p:nvSpPr>
        <p:spPr>
          <a:xfrm>
            <a:off x="1121450" y="913063"/>
            <a:ext cx="3512100" cy="11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000000"/>
                </a:solidFill>
              </a:rPr>
              <a:t>Before (Manual Process):</a:t>
            </a:r>
            <a:endParaRPr sz="1100" b="1">
              <a:solidFill>
                <a:srgbClr val="000000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rgbClr val="000000"/>
                </a:solidFill>
              </a:rPr>
              <a:t>Manually match payments to invoices</a:t>
            </a:r>
            <a:endParaRPr sz="1100">
              <a:solidFill>
                <a:srgbClr val="000000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rgbClr val="000000"/>
                </a:solidFill>
              </a:rPr>
              <a:t>Clear accounts after corrections</a:t>
            </a:r>
            <a:br>
              <a:rPr lang="en" sz="1100">
                <a:solidFill>
                  <a:srgbClr val="000000"/>
                </a:solidFill>
              </a:rPr>
            </a:br>
            <a:r>
              <a:rPr lang="en" sz="1100">
                <a:solidFill>
                  <a:srgbClr val="000000"/>
                </a:solidFill>
              </a:rPr>
              <a:t>Slow, error-prone, delays dispute closure</a:t>
            </a:r>
            <a:endParaRPr sz="110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700"/>
          </a:p>
        </p:txBody>
      </p:sp>
      <p:sp>
        <p:nvSpPr>
          <p:cNvPr id="544" name="Google Shape;544;p64"/>
          <p:cNvSpPr txBox="1"/>
          <p:nvPr/>
        </p:nvSpPr>
        <p:spPr>
          <a:xfrm>
            <a:off x="5359425" y="87475"/>
            <a:ext cx="1207200" cy="1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Contract Accounting Workflow</a:t>
            </a:r>
            <a:endParaRPr b="1" u="sng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—&gt;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5"/>
          <p:cNvSpPr txBox="1">
            <a:spLocks noGrp="1"/>
          </p:cNvSpPr>
          <p:nvPr>
            <p:ph type="title"/>
          </p:nvPr>
        </p:nvSpPr>
        <p:spPr>
          <a:xfrm>
            <a:off x="720000" y="2195100"/>
            <a:ext cx="4337700" cy="146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&amp; Revenue</a:t>
            </a:r>
            <a:endParaRPr/>
          </a:p>
        </p:txBody>
      </p:sp>
      <p:sp>
        <p:nvSpPr>
          <p:cNvPr id="550" name="Google Shape;550;p65"/>
          <p:cNvSpPr txBox="1">
            <a:spLocks noGrp="1"/>
          </p:cNvSpPr>
          <p:nvPr>
            <p:ph type="title" idx="2"/>
          </p:nvPr>
        </p:nvSpPr>
        <p:spPr>
          <a:xfrm>
            <a:off x="720000" y="1178725"/>
            <a:ext cx="5067600" cy="100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sp>
        <p:nvSpPr>
          <p:cNvPr id="551" name="Google Shape;551;p65"/>
          <p:cNvSpPr txBox="1">
            <a:spLocks noGrp="1"/>
          </p:cNvSpPr>
          <p:nvPr>
            <p:ph type="subTitle" idx="1"/>
          </p:nvPr>
        </p:nvSpPr>
        <p:spPr>
          <a:xfrm>
            <a:off x="720000" y="3676775"/>
            <a:ext cx="506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Allison, Prabhu, Tanvi</a:t>
            </a:r>
            <a:endParaRPr/>
          </a:p>
        </p:txBody>
      </p:sp>
      <p:cxnSp>
        <p:nvCxnSpPr>
          <p:cNvPr id="552" name="Google Shape;552;p65"/>
          <p:cNvCxnSpPr>
            <a:endCxn id="553" idx="1"/>
          </p:cNvCxnSpPr>
          <p:nvPr/>
        </p:nvCxnSpPr>
        <p:spPr>
          <a:xfrm>
            <a:off x="-331800" y="4868547"/>
            <a:ext cx="6663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3" name="Google Shape;553;p65"/>
          <p:cNvSpPr txBox="1"/>
          <p:nvPr/>
        </p:nvSpPr>
        <p:spPr>
          <a:xfrm>
            <a:off x="6331500" y="4630647"/>
            <a:ext cx="2585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Purdue University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54" name="Google Shape;554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3335324" cy="3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6"/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Current State and Agent Overview</a:t>
            </a:r>
            <a:endParaRPr sz="2600"/>
          </a:p>
        </p:txBody>
      </p:sp>
      <p:sp>
        <p:nvSpPr>
          <p:cNvPr id="560" name="Google Shape;560;p66"/>
          <p:cNvSpPr txBox="1">
            <a:spLocks noGrp="1"/>
          </p:cNvSpPr>
          <p:nvPr>
            <p:ph type="title"/>
          </p:nvPr>
        </p:nvSpPr>
        <p:spPr>
          <a:xfrm>
            <a:off x="832979" y="2169743"/>
            <a:ext cx="2811300" cy="406500"/>
          </a:xfrm>
          <a:prstGeom prst="rect">
            <a:avLst/>
          </a:prstGeom>
        </p:spPr>
        <p:txBody>
          <a:bodyPr spcFirstLastPara="1" wrap="square" lIns="66525" tIns="66525" rIns="66525" bIns="66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18"/>
              <a:t>Human-Driven Process</a:t>
            </a:r>
            <a:endParaRPr sz="1818"/>
          </a:p>
        </p:txBody>
      </p:sp>
      <p:sp>
        <p:nvSpPr>
          <p:cNvPr id="561" name="Google Shape;561;p66"/>
          <p:cNvSpPr txBox="1">
            <a:spLocks noGrp="1"/>
          </p:cNvSpPr>
          <p:nvPr>
            <p:ph type="subTitle" idx="3"/>
          </p:nvPr>
        </p:nvSpPr>
        <p:spPr>
          <a:xfrm>
            <a:off x="490099" y="2540900"/>
            <a:ext cx="3658500" cy="2246700"/>
          </a:xfrm>
          <a:prstGeom prst="rect">
            <a:avLst/>
          </a:prstGeom>
        </p:spPr>
        <p:txBody>
          <a:bodyPr spcFirstLastPara="1" wrap="square" lIns="66525" tIns="66525" rIns="66525" bIns="66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9"/>
              <a:t>L5 Step: Bad Debt Reserves and Allowances</a:t>
            </a:r>
            <a:endParaRPr sz="1309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Manual review and validation of valuations assumptions and supporting data </a:t>
            </a:r>
            <a:endParaRPr sz="1309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Manual analysis of delinquent accounts to access recovery eligibility</a:t>
            </a:r>
            <a:endParaRPr sz="1309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9"/>
              <a:t>L5 Step: Dispute Management and KPIs</a:t>
            </a:r>
            <a:endParaRPr sz="1309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Manual analysis of overdue and unresolved disputes </a:t>
            </a:r>
            <a:endParaRPr sz="1309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Review disputes reports and open disputes</a:t>
            </a:r>
            <a:endParaRPr sz="1309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/>
          </a:p>
        </p:txBody>
      </p:sp>
      <p:sp>
        <p:nvSpPr>
          <p:cNvPr id="562" name="Google Shape;562;p66"/>
          <p:cNvSpPr txBox="1">
            <a:spLocks noGrp="1"/>
          </p:cNvSpPr>
          <p:nvPr>
            <p:ph type="title"/>
          </p:nvPr>
        </p:nvSpPr>
        <p:spPr>
          <a:xfrm>
            <a:off x="1935500" y="814063"/>
            <a:ext cx="4008600" cy="406500"/>
          </a:xfrm>
          <a:prstGeom prst="rect">
            <a:avLst/>
          </a:prstGeom>
        </p:spPr>
        <p:txBody>
          <a:bodyPr spcFirstLastPara="1" wrap="square" lIns="66525" tIns="66525" rIns="66525" bIns="66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18"/>
              <a:t>Behavioral Insights Agent</a:t>
            </a:r>
            <a:endParaRPr sz="1818"/>
          </a:p>
        </p:txBody>
      </p:sp>
      <p:sp>
        <p:nvSpPr>
          <p:cNvPr id="563" name="Google Shape;563;p66"/>
          <p:cNvSpPr txBox="1">
            <a:spLocks noGrp="1"/>
          </p:cNvSpPr>
          <p:nvPr>
            <p:ph type="subTitle" idx="3"/>
          </p:nvPr>
        </p:nvSpPr>
        <p:spPr>
          <a:xfrm>
            <a:off x="526250" y="1262200"/>
            <a:ext cx="3832500" cy="946800"/>
          </a:xfrm>
          <a:prstGeom prst="rect">
            <a:avLst/>
          </a:prstGeom>
        </p:spPr>
        <p:txBody>
          <a:bodyPr spcFirstLastPara="1" wrap="square" lIns="66525" tIns="66525" rIns="66525" bIns="66525" anchor="t" anchorCtr="0">
            <a:noAutofit/>
          </a:bodyPr>
          <a:lstStyle/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Predict customer payment risk using behavioral patterns </a:t>
            </a:r>
            <a:endParaRPr sz="1309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09"/>
              <a:t>Identify accounts likely to pay late, default, or require early intervention</a:t>
            </a:r>
            <a:endParaRPr sz="1309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/>
          </a:p>
        </p:txBody>
      </p:sp>
      <p:sp>
        <p:nvSpPr>
          <p:cNvPr id="564" name="Google Shape;564;p66"/>
          <p:cNvSpPr txBox="1">
            <a:spLocks noGrp="1"/>
          </p:cNvSpPr>
          <p:nvPr>
            <p:ph type="title" idx="2"/>
          </p:nvPr>
        </p:nvSpPr>
        <p:spPr>
          <a:xfrm>
            <a:off x="5234027" y="2166158"/>
            <a:ext cx="2547600" cy="413700"/>
          </a:xfrm>
          <a:prstGeom prst="rect">
            <a:avLst/>
          </a:prstGeom>
        </p:spPr>
        <p:txBody>
          <a:bodyPr spcFirstLastPara="1" wrap="square" lIns="67675" tIns="67675" rIns="67675" bIns="676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/>
              <a:t>AI-Driven Process</a:t>
            </a:r>
            <a:endParaRPr sz="1850"/>
          </a:p>
        </p:txBody>
      </p:sp>
      <p:sp>
        <p:nvSpPr>
          <p:cNvPr id="565" name="Google Shape;565;p66"/>
          <p:cNvSpPr txBox="1">
            <a:spLocks noGrp="1"/>
          </p:cNvSpPr>
          <p:nvPr>
            <p:ph type="subTitle" idx="1"/>
          </p:nvPr>
        </p:nvSpPr>
        <p:spPr>
          <a:xfrm>
            <a:off x="4425600" y="2423850"/>
            <a:ext cx="4718400" cy="2176800"/>
          </a:xfrm>
          <a:prstGeom prst="rect">
            <a:avLst/>
          </a:prstGeom>
        </p:spPr>
        <p:txBody>
          <a:bodyPr spcFirstLastPara="1" wrap="square" lIns="67675" tIns="67675" rIns="67675" bIns="67675" anchor="t" anchorCtr="0">
            <a:noAutofit/>
          </a:bodyPr>
          <a:lstStyle/>
          <a:p>
            <a:pPr marL="338415" lvl="0" indent="-251757" algn="l" rtl="0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Behavioral Risk Scoring:</a:t>
            </a:r>
            <a:endParaRPr sz="1300">
              <a:solidFill>
                <a:srgbClr val="000000"/>
              </a:solidFill>
            </a:endParaRPr>
          </a:p>
          <a:p>
            <a:pPr marL="338415" lvl="0" indent="0" algn="l" rtl="0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</a:rPr>
              <a:t>Analyzes historical invoice, payment, and customer behavior</a:t>
            </a:r>
            <a:endParaRPr sz="1300">
              <a:solidFill>
                <a:srgbClr val="000000"/>
              </a:solidFill>
            </a:endParaRPr>
          </a:p>
          <a:p>
            <a:pPr marL="338415" lvl="0" indent="-251757" algn="l" rtl="0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Predictive Risk Awareness:</a:t>
            </a:r>
            <a:endParaRPr sz="1300">
              <a:solidFill>
                <a:srgbClr val="000000"/>
              </a:solidFill>
            </a:endParaRPr>
          </a:p>
          <a:p>
            <a:pPr marL="338415" lvl="0" indent="0" algn="l" rtl="0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</a:rPr>
              <a:t>Flags high-risk accounts before missed payments occur</a:t>
            </a:r>
            <a:endParaRPr sz="1300">
              <a:solidFill>
                <a:srgbClr val="000000"/>
              </a:solidFill>
            </a:endParaRPr>
          </a:p>
          <a:p>
            <a:pPr marL="338415" lvl="0" indent="-251757" algn="l" rtl="0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</a:rPr>
              <a:t>Collections Prioritization:</a:t>
            </a:r>
            <a:endParaRPr sz="1300">
              <a:solidFill>
                <a:srgbClr val="000000"/>
              </a:solidFill>
            </a:endParaRPr>
          </a:p>
          <a:p>
            <a:pPr marL="338415" lvl="0" indent="0" algn="l" rtl="0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</a:rPr>
              <a:t>Recommends account prioritization for outreach and dispute review</a:t>
            </a:r>
            <a:endParaRPr sz="13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None/>
            </a:pPr>
            <a:endParaRPr sz="13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566" name="Google Shape;566;p66"/>
          <p:cNvSpPr txBox="1"/>
          <p:nvPr/>
        </p:nvSpPr>
        <p:spPr>
          <a:xfrm>
            <a:off x="4358750" y="1220575"/>
            <a:ext cx="4150800" cy="9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0"/>
              <a:buFont typeface="Nunito"/>
              <a:buChar char="●"/>
            </a:pPr>
            <a:r>
              <a:rPr lang="en" sz="1309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Enables proactive collections prioritization and reserve planning</a:t>
            </a:r>
            <a:endParaRPr sz="1309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0"/>
              <a:buFont typeface="Nunito"/>
              <a:buChar char="●"/>
            </a:pPr>
            <a:r>
              <a:rPr lang="en" sz="1309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5% reduction in uncollectible AR write-offs</a:t>
            </a:r>
            <a:endParaRPr sz="1309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7"/>
          <p:cNvSpPr txBox="1"/>
          <p:nvPr/>
        </p:nvSpPr>
        <p:spPr>
          <a:xfrm>
            <a:off x="319450" y="962625"/>
            <a:ext cx="8710500" cy="324932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Context: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Month-end close requires an Allowance for Doubtful Accounts (AFDA) estimate that is timely, defensible, and audit-ready.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Current challenges: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Reserve methodology remains aging-led, with significant analyst overlays and reviewer-to-reviewer variability.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Payment performance and dispute posture are not consistently translated into a repeatable risk segmentation.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Reserve movement explanations are time-consuming due to non-standard driver attribution and evidence capture.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Objective: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Standardize reserve stratification and driver attribution using policy-aligned thresholds, risk segmentation, and exception-based review.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Produce an evidence-backed reserve proposal package that supports leadership review and audit response.</a:t>
            </a: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sz="1100" b="1" dirty="0">
              <a:solidFill>
                <a:schemeClr val="dk1"/>
              </a:solidFill>
            </a:endParaRPr>
          </a:p>
        </p:txBody>
      </p:sp>
      <p:sp>
        <p:nvSpPr>
          <p:cNvPr id="572" name="Google Shape;572;p67"/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Overview and Objective: Executive Bad Debt Reserves and Allowances</a:t>
            </a:r>
            <a:endParaRPr sz="26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8"/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Behavioral Insights Agent: Executive Bad Debt Reserves and Allowances</a:t>
            </a:r>
            <a:endParaRPr sz="2600"/>
          </a:p>
        </p:txBody>
      </p:sp>
      <p:sp>
        <p:nvSpPr>
          <p:cNvPr id="578" name="Google Shape;578;p68"/>
          <p:cNvSpPr txBox="1"/>
          <p:nvPr/>
        </p:nvSpPr>
        <p:spPr>
          <a:xfrm>
            <a:off x="364867" y="837728"/>
            <a:ext cx="8400600" cy="4270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Purpose: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Improve consistency and speed of reserve estimation by converting broad manual review into risk-segmented, explainable decision support.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What the agent does: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Generates risk scores and risk segments for receivables collectability.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Prioritizes the review population by materiality and risk, with explainability for each recommendation.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Key inputs: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Exposure and aging, payment behavior history, dispute and deduction posture, policy thresholds, and decision history.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Outputs: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Risk-segmented reserve view (Low, Medium, High).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Reserve proposal package with key drivers versus prior close.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Ranked exception worklist requiring review.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Placement in the L5 workflow: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Embedded during month-end reserve review, prior to approval and posting activities.</a:t>
            </a:r>
            <a:endParaRPr sz="13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9"/>
          <p:cNvSpPr txBox="1">
            <a:spLocks noGrp="1"/>
          </p:cNvSpPr>
          <p:nvPr>
            <p:ph type="title" idx="4"/>
          </p:nvPr>
        </p:nvSpPr>
        <p:spPr>
          <a:xfrm>
            <a:off x="368775" y="95225"/>
            <a:ext cx="8112900" cy="133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600" b="0"/>
              <a:t>Enablement for Bad Debt Reserves and Allowances</a:t>
            </a:r>
            <a:endParaRPr sz="2600"/>
          </a:p>
        </p:txBody>
      </p:sp>
      <p:sp>
        <p:nvSpPr>
          <p:cNvPr id="584" name="Google Shape;584;p69"/>
          <p:cNvSpPr txBox="1">
            <a:spLocks noGrp="1"/>
          </p:cNvSpPr>
          <p:nvPr>
            <p:ph type="title" idx="4"/>
          </p:nvPr>
        </p:nvSpPr>
        <p:spPr>
          <a:xfrm>
            <a:off x="101950" y="1794475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000">
                <a:solidFill>
                  <a:srgbClr val="000000"/>
                </a:solidFill>
              </a:rPr>
              <a:t>Behavioral Insights Agent: Enablement for Bad Debt Reserves and Allowances</a:t>
            </a:r>
            <a:endParaRPr sz="3000"/>
          </a:p>
        </p:txBody>
      </p:sp>
      <p:pic>
        <p:nvPicPr>
          <p:cNvPr id="585" name="Google Shape;585;p69"/>
          <p:cNvPicPr preferRelativeResize="0"/>
          <p:nvPr/>
        </p:nvPicPr>
        <p:blipFill rotWithShape="1">
          <a:blip r:embed="rId3">
            <a:alphaModFix/>
          </a:blip>
          <a:srcRect l="1450" t="23547" r="568" b="35999"/>
          <a:stretch/>
        </p:blipFill>
        <p:spPr>
          <a:xfrm>
            <a:off x="101950" y="1507600"/>
            <a:ext cx="8837600" cy="202855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69"/>
          <p:cNvSpPr/>
          <p:nvPr/>
        </p:nvSpPr>
        <p:spPr>
          <a:xfrm>
            <a:off x="1452145" y="3614725"/>
            <a:ext cx="3768900" cy="1018800"/>
          </a:xfrm>
          <a:prstGeom prst="wedgeRoundRectCallout">
            <a:avLst>
              <a:gd name="adj1" fmla="val -882"/>
              <a:gd name="adj2" fmla="val -83824"/>
              <a:gd name="adj3" fmla="val 0"/>
            </a:avLst>
          </a:prstGeom>
          <a:solidFill>
            <a:srgbClr val="99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FFFF"/>
                </a:solidFill>
              </a:rPr>
              <a:t>Proposal automation:</a:t>
            </a:r>
            <a:endParaRPr sz="1100" b="1">
              <a:solidFill>
                <a:srgbClr val="FFFFFF"/>
              </a:solidFill>
            </a:endParaRPr>
          </a:p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Auto-builds valuation proposal package</a:t>
            </a:r>
            <a:endParaRPr sz="1100">
              <a:solidFill>
                <a:srgbClr val="FFFFFF"/>
              </a:solidFill>
            </a:endParaRPr>
          </a:p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Pre-checks master data and policy rules, flags issues</a:t>
            </a:r>
            <a:endParaRPr sz="1100">
              <a:solidFill>
                <a:srgbClr val="FFFFFF"/>
              </a:solidFill>
            </a:endParaRPr>
          </a:p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Recommends approve or revise with rationale</a:t>
            </a:r>
            <a:endParaRPr sz="1100">
              <a:solidFill>
                <a:srgbClr val="FFFFFF"/>
              </a:solidFill>
            </a:endParaRPr>
          </a:p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Auto-approve within tolerance thresholds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587" name="Google Shape;587;p69"/>
          <p:cNvSpPr/>
          <p:nvPr/>
        </p:nvSpPr>
        <p:spPr>
          <a:xfrm>
            <a:off x="5375100" y="3789295"/>
            <a:ext cx="3768900" cy="1018800"/>
          </a:xfrm>
          <a:prstGeom prst="wedgeRoundRectCallout">
            <a:avLst>
              <a:gd name="adj1" fmla="val 7973"/>
              <a:gd name="adj2" fmla="val -90079"/>
              <a:gd name="adj3" fmla="val 0"/>
            </a:avLst>
          </a:prstGeom>
          <a:solidFill>
            <a:srgbClr val="99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FFFF"/>
                </a:solidFill>
              </a:rPr>
              <a:t>Decision support:</a:t>
            </a:r>
            <a:endParaRPr sz="1100" b="1">
              <a:solidFill>
                <a:srgbClr val="FFFFFF"/>
              </a:solidFill>
            </a:endParaRPr>
          </a:p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Analyzes drivers (aging, disputes, payment behavior)</a:t>
            </a:r>
            <a:endParaRPr sz="1100">
              <a:solidFill>
                <a:srgbClr val="FFFFFF"/>
              </a:solidFill>
            </a:endParaRPr>
          </a:p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Flags anomalies and identifies reversals with rationale</a:t>
            </a:r>
            <a:endParaRPr sz="1100">
              <a:solidFill>
                <a:srgbClr val="FFFFFF"/>
              </a:solidFill>
            </a:endParaRPr>
          </a:p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Recommends next actions and builds a worklist</a:t>
            </a:r>
            <a:endParaRPr sz="1100">
              <a:solidFill>
                <a:srgbClr val="FFFFFF"/>
              </a:solidFill>
            </a:endParaRPr>
          </a:p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Adds explainability for each recommendation</a:t>
            </a:r>
            <a:endParaRPr sz="1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0"/>
          <p:cNvSpPr txBox="1"/>
          <p:nvPr/>
        </p:nvSpPr>
        <p:spPr>
          <a:xfrm>
            <a:off x="4746350" y="962634"/>
            <a:ext cx="4246500" cy="243909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What routes into the </a:t>
            </a:r>
            <a:r>
              <a:rPr lang="en" sz="1100" b="1" dirty="0">
                <a:solidFill>
                  <a:srgbClr val="FF0000"/>
                </a:solidFill>
              </a:rPr>
              <a:t>Red Box</a:t>
            </a:r>
            <a:r>
              <a:rPr lang="en" sz="1100" b="1" dirty="0">
                <a:solidFill>
                  <a:schemeClr val="dk1"/>
                </a:solidFill>
              </a:rPr>
              <a:t> (exceptions):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Reserve movement outside tolerance (absolute or percent).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Exposure above materiality threshold.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Data readiness or policy eligibility failures (missing master data, cut-off issues, rule conflicts).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Anomaly conditions (reversals, abrupt bucket migration, conflicting indicators).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Any override request.</a:t>
            </a: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sz="1100" b="1" dirty="0">
              <a:solidFill>
                <a:schemeClr val="dk1"/>
              </a:solidFill>
            </a:endParaRPr>
          </a:p>
        </p:txBody>
      </p:sp>
      <p:sp>
        <p:nvSpPr>
          <p:cNvPr id="593" name="Google Shape;593;p70"/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0"/>
              <a:t>L5 Bad Debt Reserves and Allowances: Significance of Red Box</a:t>
            </a:r>
            <a:endParaRPr sz="2600"/>
          </a:p>
        </p:txBody>
      </p:sp>
      <p:sp>
        <p:nvSpPr>
          <p:cNvPr id="594" name="Google Shape;594;p70"/>
          <p:cNvSpPr txBox="1"/>
          <p:nvPr/>
        </p:nvSpPr>
        <p:spPr>
          <a:xfrm>
            <a:off x="319450" y="962625"/>
            <a:ext cx="4246500" cy="3695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What the </a:t>
            </a:r>
            <a:r>
              <a:rPr lang="en" sz="1100" b="1" dirty="0">
                <a:solidFill>
                  <a:srgbClr val="FF0000"/>
                </a:solidFill>
              </a:rPr>
              <a:t>Red Box</a:t>
            </a:r>
            <a:r>
              <a:rPr lang="en" sz="1100" b="1" dirty="0">
                <a:solidFill>
                  <a:schemeClr val="dk1"/>
                </a:solidFill>
              </a:rPr>
              <a:t> represents: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A controlled approval node where reserve recommendations become governed accounting outcomes, with segregation of duties and audit traceability.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Why it is retained: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Reserve movements can be financially material and require explicit decision ownership.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Enforces policy adherence through tolerance thresholds and escalation rules.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Ensures audit defensibility through documented rationale and evidence references.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Enables judgment-based review for edge cases that scoring cannot fully contextualize.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595" name="Google Shape;595;p70"/>
          <p:cNvSpPr txBox="1"/>
          <p:nvPr/>
        </p:nvSpPr>
        <p:spPr>
          <a:xfrm>
            <a:off x="4746350" y="3371625"/>
            <a:ext cx="4246500" cy="166042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What the </a:t>
            </a:r>
            <a:r>
              <a:rPr lang="en" sz="1100" b="1" dirty="0">
                <a:solidFill>
                  <a:srgbClr val="FF0000"/>
                </a:solidFill>
              </a:rPr>
              <a:t>Red Box</a:t>
            </a:r>
            <a:r>
              <a:rPr lang="en" sz="1100" b="1" dirty="0">
                <a:solidFill>
                  <a:schemeClr val="dk1"/>
                </a:solidFill>
              </a:rPr>
              <a:t> produces: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Approve, adjust, defer, or escalate decision.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Mandatory rationale and evidence references logged.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Audit-ready decision trail (who, what, why, when, based on which inputs).</a:t>
            </a: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sz="11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71"/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0803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2600" b="0"/>
              <a:t>Future-state L5 flow: Without vs With agent</a:t>
            </a:r>
            <a:endParaRPr sz="2600" b="0"/>
          </a:p>
        </p:txBody>
      </p:sp>
      <p:sp>
        <p:nvSpPr>
          <p:cNvPr id="601" name="Google Shape;601;p71"/>
          <p:cNvSpPr txBox="1"/>
          <p:nvPr/>
        </p:nvSpPr>
        <p:spPr>
          <a:xfrm>
            <a:off x="416950" y="3531200"/>
            <a:ext cx="8310000" cy="897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Net shift: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Move from full-population manual review to threshold-driven exception governance, while preserving approvals and audit defensibility</a:t>
            </a:r>
            <a:endParaRPr sz="1100" b="1">
              <a:solidFill>
                <a:schemeClr val="dk1"/>
              </a:solidFill>
            </a:endParaRPr>
          </a:p>
        </p:txBody>
      </p:sp>
      <p:graphicFrame>
        <p:nvGraphicFramePr>
          <p:cNvPr id="602" name="Google Shape;602;p71"/>
          <p:cNvGraphicFramePr/>
          <p:nvPr/>
        </p:nvGraphicFramePr>
        <p:xfrm>
          <a:off x="416950" y="80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{838253F4-9144-426F-A8A2-BBA4D81A1FB4}</a:tableStyleId>
              </a:tblPr>
              <a:tblGrid>
                <a:gridCol w="415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</a:rPr>
                        <a:t>Without agent (current state):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</a:rPr>
                        <a:t>With agent (future state):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1025">
                <a:tc>
                  <a:txBody>
                    <a:bodyPr/>
                    <a:lstStyle/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Population-wide review of aging and exposure, followed by manual overlays and segmentation.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Manual driver attribution and reserve movement narrative built late in the close cycle.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Iterative reviews due to inconsistent evidence packaging and reviewer variability.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Audit support often requires follow-up work to reconstruct decision basis.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Upstream automation generates segmentation, reserve proposal, driver attribution versus prior close, and anomaly flags.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Routing separates standard items from exceptions based on tolerance and materiality thresholds.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Exceptions route to the Red Box for approval, overrides, and documented rationale.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Evidence and decision logs are produced as standard workflow outputs, improving close readiness and audit response.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72"/>
          <p:cNvSpPr txBox="1">
            <a:spLocks noGrp="1"/>
          </p:cNvSpPr>
          <p:nvPr>
            <p:ph type="title" idx="4"/>
          </p:nvPr>
        </p:nvSpPr>
        <p:spPr>
          <a:xfrm>
            <a:off x="522300" y="180225"/>
            <a:ext cx="75732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Executive Bad Debt Reserves and Allowances - </a:t>
            </a:r>
            <a:r>
              <a:rPr lang="en" sz="2600" b="0"/>
              <a:t>Data prerequisites and model governance</a:t>
            </a:r>
            <a:endParaRPr sz="2600"/>
          </a:p>
        </p:txBody>
      </p:sp>
      <p:sp>
        <p:nvSpPr>
          <p:cNvPr id="608" name="Google Shape;608;p72"/>
          <p:cNvSpPr txBox="1"/>
          <p:nvPr/>
        </p:nvSpPr>
        <p:spPr>
          <a:xfrm>
            <a:off x="322950" y="3007900"/>
            <a:ext cx="8578800" cy="1481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Model learning and operational governance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Learns collectability risk from historical outcomes (delinquency progression, dispute persistence, write-off and recovery behavior).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Calibrates scores into stable risk bands to support consistent reserve stratification.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Monitors drift via score stability, exception rate, and override concentration, with defined recalibration triggers.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Versions recommendations and ties each output to an input snapshot to support audit traceability and change control.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609" name="Google Shape;609;p72"/>
          <p:cNvSpPr txBox="1"/>
          <p:nvPr/>
        </p:nvSpPr>
        <p:spPr>
          <a:xfrm>
            <a:off x="322950" y="1395600"/>
            <a:ext cx="8578800" cy="1481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Minimum data prerequisites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AR open items and aging at close cut-off, with consistent bucket logic.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Customer exposure and clean identifiers linking customer, invoice, payment, and dispute records.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Payment history lookback sufficient to detect deterioration and pattern breaks.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Dispute and deduction posture with consistent status and amount-at-risk fields.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Policy parameters maintained and owned (materiality thresholds, tolerance bands, approval routing).</a:t>
            </a:r>
            <a:endParaRPr sz="11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73"/>
          <p:cNvSpPr txBox="1">
            <a:spLocks noGrp="1"/>
          </p:cNvSpPr>
          <p:nvPr>
            <p:ph type="title"/>
          </p:nvPr>
        </p:nvSpPr>
        <p:spPr>
          <a:xfrm>
            <a:off x="1291314" y="2203402"/>
            <a:ext cx="2742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73"/>
          <p:cNvSpPr txBox="1">
            <a:spLocks noGrp="1"/>
          </p:cNvSpPr>
          <p:nvPr>
            <p:ph type="subTitle" idx="3"/>
          </p:nvPr>
        </p:nvSpPr>
        <p:spPr>
          <a:xfrm>
            <a:off x="1291312" y="2786250"/>
            <a:ext cx="27426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w</a:t>
            </a:r>
            <a:endParaRPr/>
          </a:p>
        </p:txBody>
      </p:sp>
      <p:sp>
        <p:nvSpPr>
          <p:cNvPr id="616" name="Google Shape;616;p73"/>
          <p:cNvSpPr txBox="1">
            <a:spLocks noGrp="1"/>
          </p:cNvSpPr>
          <p:nvPr>
            <p:ph type="title" idx="4"/>
          </p:nvPr>
        </p:nvSpPr>
        <p:spPr>
          <a:xfrm>
            <a:off x="478475" y="38200"/>
            <a:ext cx="7704000" cy="11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Behavioral Insights Agent: Review Dispute Management Performance and KPIs</a:t>
            </a:r>
            <a:endParaRPr sz="2900"/>
          </a:p>
        </p:txBody>
      </p:sp>
      <p:pic>
        <p:nvPicPr>
          <p:cNvPr id="617" name="Google Shape;61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600" y="1279825"/>
            <a:ext cx="8816798" cy="2111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73"/>
          <p:cNvSpPr/>
          <p:nvPr/>
        </p:nvSpPr>
        <p:spPr>
          <a:xfrm>
            <a:off x="478470" y="3595100"/>
            <a:ext cx="3768900" cy="1018800"/>
          </a:xfrm>
          <a:prstGeom prst="wedgeRoundRectCallout">
            <a:avLst>
              <a:gd name="adj1" fmla="val -882"/>
              <a:gd name="adj2" fmla="val -83824"/>
              <a:gd name="adj3" fmla="val 0"/>
            </a:avLst>
          </a:prstGeom>
          <a:solidFill>
            <a:srgbClr val="99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Ingests dispute reporting data</a:t>
            </a:r>
            <a:endParaRPr sz="1100">
              <a:solidFill>
                <a:schemeClr val="dk2"/>
              </a:solidFill>
            </a:endParaRPr>
          </a:p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Explains key risk drivers (age, amount, etc)</a:t>
            </a:r>
            <a:endParaRPr sz="1100">
              <a:solidFill>
                <a:schemeClr val="dk2"/>
              </a:solidFill>
            </a:endParaRPr>
          </a:p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Segments open disputes by risk level</a:t>
            </a:r>
            <a:endParaRPr sz="1100">
              <a:solidFill>
                <a:srgbClr val="FFFFFF"/>
              </a:solidFill>
            </a:endParaRPr>
          </a:p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Recommends risk-based prioritization for downstream monitoring and action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619" name="Google Shape;619;p73"/>
          <p:cNvSpPr/>
          <p:nvPr/>
        </p:nvSpPr>
        <p:spPr>
          <a:xfrm>
            <a:off x="5286775" y="3730395"/>
            <a:ext cx="3768900" cy="1018800"/>
          </a:xfrm>
          <a:prstGeom prst="wedgeRoundRectCallout">
            <a:avLst>
              <a:gd name="adj1" fmla="val 7973"/>
              <a:gd name="adj2" fmla="val -90079"/>
              <a:gd name="adj3" fmla="val 0"/>
            </a:avLst>
          </a:prstGeom>
          <a:solidFill>
            <a:srgbClr val="99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Evaluates processing delays in the context of risk</a:t>
            </a:r>
            <a:endParaRPr sz="1100">
              <a:solidFill>
                <a:srgbClr val="FFFFFF"/>
              </a:solidFill>
            </a:endParaRPr>
          </a:p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Flags high-risk disputes with extended cycle times</a:t>
            </a:r>
            <a:endParaRPr sz="1100">
              <a:solidFill>
                <a:srgbClr val="FFFFFF"/>
              </a:solidFill>
            </a:endParaRPr>
          </a:p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Quantifies potential cash and write-off impact</a:t>
            </a:r>
            <a:endParaRPr sz="1100">
              <a:solidFill>
                <a:srgbClr val="FFFFFF"/>
              </a:solidFill>
            </a:endParaRPr>
          </a:p>
          <a:p>
            <a:pPr marL="228600" marR="0" lvl="0" indent="-241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Provides KPI reviews with risk-weighted insights and explanations</a:t>
            </a:r>
            <a:endParaRPr sz="1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74"/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Behavioral Insights Agent: Review Dispute Management Performance and KPIs</a:t>
            </a:r>
            <a:endParaRPr sz="2600"/>
          </a:p>
        </p:txBody>
      </p:sp>
      <p:sp>
        <p:nvSpPr>
          <p:cNvPr id="625" name="Google Shape;625;p74"/>
          <p:cNvSpPr txBox="1"/>
          <p:nvPr/>
        </p:nvSpPr>
        <p:spPr>
          <a:xfrm>
            <a:off x="467925" y="962625"/>
            <a:ext cx="4463100" cy="339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/>
              <a:t>Purpose</a:t>
            </a:r>
            <a:br>
              <a:rPr lang="en" sz="1100" b="1"/>
            </a:br>
            <a:r>
              <a:rPr lang="en" sz="1100"/>
              <a:t>Bring early risk intelligence into dispute performance monitoring so leaders can reduce dispute backlog, shorten cycle times, and prevent disputes from turning into delinquency or write-offs.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/>
              <a:t>How the Agent Works</a:t>
            </a:r>
            <a:endParaRPr sz="1100" b="1"/>
          </a:p>
          <a:p>
            <a:pPr marL="457200" lvl="0" indent="-292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It continuously reviews dispute, customer, and KPI information.</a:t>
            </a:r>
            <a:endParaRPr sz="1000"/>
          </a:p>
          <a:p>
            <a:pPr marL="457200" lvl="0" indent="-292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It looks for warning signs, unusual delays, or patterns that indicate risk.</a:t>
            </a:r>
            <a:endParaRPr sz="1000"/>
          </a:p>
          <a:p>
            <a:pPr marL="457200" lvl="0" indent="-292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Each dispute is evaluated for how likely it is to impact cash collection.</a:t>
            </a:r>
            <a:endParaRPr sz="1000"/>
          </a:p>
          <a:p>
            <a:pPr marL="457200" lvl="0" indent="-292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The agent then brings the highest-risk items to the top of the queue.</a:t>
            </a:r>
            <a:endParaRPr sz="1000"/>
          </a:p>
          <a:p>
            <a:pPr marL="457200" lvl="0" indent="-292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It clearly explains </a:t>
            </a:r>
            <a:r>
              <a:rPr lang="en" sz="1000" b="1"/>
              <a:t>why</a:t>
            </a:r>
            <a:r>
              <a:rPr lang="en" sz="1000"/>
              <a:t> something needs attention.</a:t>
            </a:r>
            <a:endParaRPr sz="1000"/>
          </a:p>
          <a:p>
            <a:pPr marL="457200" lvl="0" indent="-292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When needed, it prompts actions, alerts the right people, and supports management decisions.</a:t>
            </a:r>
            <a:endParaRPr sz="1000"/>
          </a:p>
          <a:p>
            <a:pPr marL="457200" lvl="0" indent="-292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Over time, it learns from actual outcomes to make smarter predictions.</a:t>
            </a:r>
            <a:endParaRPr sz="1000"/>
          </a:p>
        </p:txBody>
      </p:sp>
      <p:sp>
        <p:nvSpPr>
          <p:cNvPr id="626" name="Google Shape;626;p74"/>
          <p:cNvSpPr txBox="1"/>
          <p:nvPr/>
        </p:nvSpPr>
        <p:spPr>
          <a:xfrm>
            <a:off x="5090350" y="962625"/>
            <a:ext cx="3685800" cy="3925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/>
              <a:t>Process change (Before vs After):</a:t>
            </a:r>
            <a:endParaRPr sz="13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/>
              <a:t>Before: 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KPI reviews look mainly at </a:t>
            </a:r>
            <a:r>
              <a:rPr lang="en" sz="1100" b="1"/>
              <a:t>overall numbers</a:t>
            </a:r>
            <a:r>
              <a:rPr lang="en" sz="1100"/>
              <a:t> like backlog, aging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Performance is reviewed </a:t>
            </a:r>
            <a:r>
              <a:rPr lang="en" sz="1100" b="1"/>
              <a:t>after issues have already happened</a:t>
            </a:r>
            <a:r>
              <a:rPr lang="en" sz="1100"/>
              <a:t>, with little early warning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Causes of issues are identified </a:t>
            </a:r>
            <a:r>
              <a:rPr lang="en" sz="1100" b="1"/>
              <a:t>manually</a:t>
            </a:r>
            <a:r>
              <a:rPr lang="en" sz="1100"/>
              <a:t>, based on judgment and past experience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Root causes inferred manually, often based on </a:t>
            </a:r>
            <a:r>
              <a:rPr lang="en" sz="1100" b="1"/>
              <a:t>experience or intuition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/>
              <a:t>After: 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Faster escalation of high-risk disputes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Clearer rationale for prioritization using explainability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Better linkage between dispute handling and downstream cash outcomes</a:t>
            </a:r>
            <a:endParaRPr sz="11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75"/>
          <p:cNvSpPr txBox="1">
            <a:spLocks noGrp="1"/>
          </p:cNvSpPr>
          <p:nvPr>
            <p:ph type="title"/>
          </p:nvPr>
        </p:nvSpPr>
        <p:spPr>
          <a:xfrm>
            <a:off x="1320325" y="1307100"/>
            <a:ext cx="71106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75"/>
          <p:cNvSpPr txBox="1"/>
          <p:nvPr/>
        </p:nvSpPr>
        <p:spPr>
          <a:xfrm>
            <a:off x="998950" y="180675"/>
            <a:ext cx="76410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Behavioral Insights Agent: Review Dispute Management Performance and KPIs</a:t>
            </a:r>
            <a:endParaRPr sz="2600" b="1">
              <a:solidFill>
                <a:schemeClr val="dk1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sp>
        <p:nvSpPr>
          <p:cNvPr id="633" name="Google Shape;633;p75"/>
          <p:cNvSpPr txBox="1"/>
          <p:nvPr/>
        </p:nvSpPr>
        <p:spPr>
          <a:xfrm>
            <a:off x="733275" y="1240250"/>
            <a:ext cx="3963900" cy="3579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Inputs &amp; Requirements for the Behavioral Insights Agent</a:t>
            </a:r>
            <a:endParaRPr sz="1200" b="1"/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Dispute details (customer, invoice, reason, owner)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Financial exposure (amount, balance, credit risk)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Aging &amp; cycle time (days open, touches, reopens)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Activity signals (status moves, escalations, promises)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Historical results (paid, overdue, write-off)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Customer behavior patterns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/>
              <a:t>Decision Logic </a:t>
            </a:r>
            <a:endParaRPr sz="1300" b="1"/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Predicts likelihood of payment delay or write-off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Uses drivers such as age, amount, customer risk, dispute history, and inactivity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Prioritizes by </a:t>
            </a:r>
            <a:r>
              <a:rPr lang="en" sz="1000" b="1"/>
              <a:t>cash impact × risk</a:t>
            </a:r>
            <a:r>
              <a:rPr lang="en" sz="1000"/>
              <a:t>, not just age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Detects SLA threats, stagnation, and bottlenecks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Triggers the right escalation and owner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Translates KPIs into forward-looking financial exposure</a:t>
            </a:r>
            <a:endParaRPr sz="1300" b="1"/>
          </a:p>
        </p:txBody>
      </p:sp>
      <p:sp>
        <p:nvSpPr>
          <p:cNvPr id="634" name="Google Shape;634;p75"/>
          <p:cNvSpPr txBox="1"/>
          <p:nvPr/>
        </p:nvSpPr>
        <p:spPr>
          <a:xfrm>
            <a:off x="4899375" y="1240250"/>
            <a:ext cx="3740700" cy="288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/>
              <a:t>Business Logic </a:t>
            </a:r>
            <a:br>
              <a:rPr lang="en" sz="1100" b="1"/>
            </a:br>
            <a:endParaRPr sz="1100"/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The Behavioral Insights Agent helps the organization recover cash faster by directing attention to the disputes that matter most. By identifying high-risk items early, it reduces overdue balances and potential write-offs while improving team productivity through smarter prioritization. Managers gain forward-looking visibility rather than relying only on historical reports, enabling quicker and more effective escalations. Over time, this creates a consistent, data-driven way of working across teams and regions, with clearer accountability for both risk and results.</a:t>
            </a:r>
            <a:endParaRPr sz="1300" b="1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76"/>
          <p:cNvSpPr txBox="1">
            <a:spLocks noGrp="1"/>
          </p:cNvSpPr>
          <p:nvPr>
            <p:ph type="title" idx="4"/>
          </p:nvPr>
        </p:nvSpPr>
        <p:spPr>
          <a:xfrm>
            <a:off x="720000" y="279200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Balanced View: Value vs. Challenges</a:t>
            </a:r>
            <a:endParaRPr/>
          </a:p>
        </p:txBody>
      </p:sp>
      <p:pic>
        <p:nvPicPr>
          <p:cNvPr id="640" name="Google Shape;640;p76" descr="image.png"/>
          <p:cNvPicPr preferRelativeResize="0"/>
          <p:nvPr/>
        </p:nvPicPr>
        <p:blipFill rotWithShape="1">
          <a:blip r:embed="rId3">
            <a:alphaModFix/>
          </a:blip>
          <a:srcRect b="4104"/>
          <a:stretch/>
        </p:blipFill>
        <p:spPr>
          <a:xfrm>
            <a:off x="258950" y="1154450"/>
            <a:ext cx="4248975" cy="3871351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76"/>
          <p:cNvSpPr txBox="1"/>
          <p:nvPr/>
        </p:nvSpPr>
        <p:spPr>
          <a:xfrm>
            <a:off x="532101" y="1535825"/>
            <a:ext cx="263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>
                <a:solidFill>
                  <a:srgbClr val="04785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Upside (Value)</a:t>
            </a:r>
            <a:endParaRPr sz="1800"/>
          </a:p>
        </p:txBody>
      </p:sp>
      <p:pic>
        <p:nvPicPr>
          <p:cNvPr id="642" name="Google Shape;642;p7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2098" y="2214893"/>
            <a:ext cx="36419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7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2098" y="3203813"/>
            <a:ext cx="36419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7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2098" y="4131133"/>
            <a:ext cx="36419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7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5910" y="2345123"/>
            <a:ext cx="136574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76"/>
          <p:cNvSpPr txBox="1"/>
          <p:nvPr/>
        </p:nvSpPr>
        <p:spPr>
          <a:xfrm>
            <a:off x="1048045" y="2214893"/>
            <a:ext cx="33462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6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Predictive Risk Identification</a:t>
            </a:r>
            <a:endParaRPr sz="1275"/>
          </a:p>
        </p:txBody>
      </p:sp>
      <p:sp>
        <p:nvSpPr>
          <p:cNvPr id="647" name="Google Shape;647;p76"/>
          <p:cNvSpPr txBox="1"/>
          <p:nvPr/>
        </p:nvSpPr>
        <p:spPr>
          <a:xfrm>
            <a:off x="1048045" y="2493957"/>
            <a:ext cx="3186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Predicts payment risk early, allowing intervention before balances become uncollectible.</a:t>
            </a:r>
            <a:endParaRPr sz="1000"/>
          </a:p>
        </p:txBody>
      </p:sp>
      <p:pic>
        <p:nvPicPr>
          <p:cNvPr id="648" name="Google Shape;648;p7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323" y="3334043"/>
            <a:ext cx="151749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76"/>
          <p:cNvSpPr txBox="1"/>
          <p:nvPr/>
        </p:nvSpPr>
        <p:spPr>
          <a:xfrm>
            <a:off x="1048045" y="3203813"/>
            <a:ext cx="33462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6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Focused Collection Effort</a:t>
            </a:r>
            <a:endParaRPr sz="1275"/>
          </a:p>
        </p:txBody>
      </p:sp>
      <p:sp>
        <p:nvSpPr>
          <p:cNvPr id="650" name="Google Shape;650;p76"/>
          <p:cNvSpPr txBox="1"/>
          <p:nvPr/>
        </p:nvSpPr>
        <p:spPr>
          <a:xfrm>
            <a:off x="1048045" y="3482877"/>
            <a:ext cx="3186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Directs analysts and collections time to the highest risk, highest impact accounts.</a:t>
            </a:r>
            <a:endParaRPr sz="1000"/>
          </a:p>
        </p:txBody>
      </p:sp>
      <p:pic>
        <p:nvPicPr>
          <p:cNvPr id="651" name="Google Shape;651;p7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323" y="4261363"/>
            <a:ext cx="151749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76"/>
          <p:cNvSpPr txBox="1"/>
          <p:nvPr/>
        </p:nvSpPr>
        <p:spPr>
          <a:xfrm>
            <a:off x="1048045" y="4131133"/>
            <a:ext cx="33462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6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Improved Financial Planning</a:t>
            </a:r>
            <a:endParaRPr sz="1275"/>
          </a:p>
        </p:txBody>
      </p:sp>
      <p:sp>
        <p:nvSpPr>
          <p:cNvPr id="653" name="Google Shape;653;p76"/>
          <p:cNvSpPr txBox="1"/>
          <p:nvPr/>
        </p:nvSpPr>
        <p:spPr>
          <a:xfrm>
            <a:off x="1048045" y="4410197"/>
            <a:ext cx="3186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Supports more accurate reserve estimates and stable cash-flow forecasting.</a:t>
            </a:r>
            <a:endParaRPr sz="1000"/>
          </a:p>
        </p:txBody>
      </p:sp>
      <p:pic>
        <p:nvPicPr>
          <p:cNvPr id="654" name="Google Shape;654;p76" descr="image.png"/>
          <p:cNvPicPr preferRelativeResize="0"/>
          <p:nvPr/>
        </p:nvPicPr>
        <p:blipFill rotWithShape="1">
          <a:blip r:embed="rId8">
            <a:alphaModFix/>
          </a:blip>
          <a:srcRect b="4104"/>
          <a:stretch/>
        </p:blipFill>
        <p:spPr>
          <a:xfrm>
            <a:off x="4603400" y="1154450"/>
            <a:ext cx="4318275" cy="3871351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76"/>
          <p:cNvSpPr txBox="1"/>
          <p:nvPr/>
        </p:nvSpPr>
        <p:spPr>
          <a:xfrm>
            <a:off x="4880998" y="1535825"/>
            <a:ext cx="34641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43" b="0" i="0" u="none" strike="noStrike" cap="none">
                <a:solidFill>
                  <a:srgbClr val="B4530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Watch-Outs (Risks)</a:t>
            </a:r>
            <a:endParaRPr sz="1323"/>
          </a:p>
        </p:txBody>
      </p:sp>
      <p:pic>
        <p:nvPicPr>
          <p:cNvPr id="656" name="Google Shape;656;p7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81005" y="2190168"/>
            <a:ext cx="37013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7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81005" y="3007237"/>
            <a:ext cx="37013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7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81005" y="3872957"/>
            <a:ext cx="370138" cy="44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7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69684" y="2320398"/>
            <a:ext cx="192781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76"/>
          <p:cNvSpPr txBox="1"/>
          <p:nvPr/>
        </p:nvSpPr>
        <p:spPr>
          <a:xfrm>
            <a:off x="5405370" y="2214893"/>
            <a:ext cx="34005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8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Not Fully Automated</a:t>
            </a:r>
            <a:endParaRPr sz="1323"/>
          </a:p>
        </p:txBody>
      </p:sp>
      <p:sp>
        <p:nvSpPr>
          <p:cNvPr id="661" name="Google Shape;661;p76"/>
          <p:cNvSpPr txBox="1"/>
          <p:nvPr/>
        </p:nvSpPr>
        <p:spPr>
          <a:xfrm>
            <a:off x="5405370" y="2493957"/>
            <a:ext cx="3238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Requires human judgement and action. AI supports decisions but does not execute them.</a:t>
            </a:r>
            <a:endParaRPr sz="1000"/>
          </a:p>
        </p:txBody>
      </p:sp>
      <p:pic>
        <p:nvPicPr>
          <p:cNvPr id="662" name="Google Shape;662;p7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977395" y="3137467"/>
            <a:ext cx="177359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76"/>
          <p:cNvSpPr txBox="1"/>
          <p:nvPr/>
        </p:nvSpPr>
        <p:spPr>
          <a:xfrm>
            <a:off x="5405370" y="3006887"/>
            <a:ext cx="34005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8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Data Quality Dependency</a:t>
            </a:r>
            <a:endParaRPr sz="1323"/>
          </a:p>
        </p:txBody>
      </p:sp>
      <p:sp>
        <p:nvSpPr>
          <p:cNvPr id="664" name="Google Shape;664;p76"/>
          <p:cNvSpPr txBox="1"/>
          <p:nvPr/>
        </p:nvSpPr>
        <p:spPr>
          <a:xfrm>
            <a:off x="5405370" y="3285951"/>
            <a:ext cx="3238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Effectiveness depends on clean and complete historical payment data.</a:t>
            </a:r>
            <a:endParaRPr sz="1000"/>
          </a:p>
        </p:txBody>
      </p:sp>
      <p:pic>
        <p:nvPicPr>
          <p:cNvPr id="665" name="Google Shape;665;p7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08240" y="4003187"/>
            <a:ext cx="115669" cy="186043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76"/>
          <p:cNvSpPr txBox="1"/>
          <p:nvPr/>
        </p:nvSpPr>
        <p:spPr>
          <a:xfrm>
            <a:off x="5405370" y="3872957"/>
            <a:ext cx="34005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8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Adoption and Trust Risk</a:t>
            </a:r>
            <a:endParaRPr sz="1323"/>
          </a:p>
        </p:txBody>
      </p:sp>
      <p:sp>
        <p:nvSpPr>
          <p:cNvPr id="667" name="Google Shape;667;p76"/>
          <p:cNvSpPr txBox="1"/>
          <p:nvPr/>
        </p:nvSpPr>
        <p:spPr>
          <a:xfrm>
            <a:off x="5405370" y="4152021"/>
            <a:ext cx="3238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Benefits rely on user adoption and confidence in AI outputs.</a:t>
            </a:r>
            <a:endParaRPr sz="10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82CA8B2F-A16F-DE6E-3C25-99455A230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6">
            <a:extLst>
              <a:ext uri="{FF2B5EF4-FFF2-40B4-BE49-F238E27FC236}">
                <a16:creationId xmlns:a16="http://schemas.microsoft.com/office/drawing/2014/main" id="{959D81EC-0912-24FB-AF2D-26A75DAFCC05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/>
              <a:t>Summary of decrease in steps with agent (all process)</a:t>
            </a:r>
            <a:endParaRPr sz="2600" dirty="0"/>
          </a:p>
        </p:txBody>
      </p:sp>
      <p:sp>
        <p:nvSpPr>
          <p:cNvPr id="563" name="Google Shape;563;p66">
            <a:extLst>
              <a:ext uri="{FF2B5EF4-FFF2-40B4-BE49-F238E27FC236}">
                <a16:creationId xmlns:a16="http://schemas.microsoft.com/office/drawing/2014/main" id="{55626A64-30FF-4971-2B0B-EB928BDDC861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26249" y="1262200"/>
            <a:ext cx="8070903" cy="946800"/>
          </a:xfrm>
          <a:prstGeom prst="rect">
            <a:avLst/>
          </a:prstGeom>
        </p:spPr>
        <p:txBody>
          <a:bodyPr spcFirstLastPara="1" wrap="square" lIns="66525" tIns="66525" rIns="66525" bIns="66525" anchor="t" anchorCtr="0">
            <a:noAutofit/>
          </a:bodyPr>
          <a:lstStyle/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-US" sz="1309" dirty="0"/>
              <a:t>Initially, we have X steps</a:t>
            </a:r>
            <a:endParaRPr sz="1309" dirty="0"/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-US" sz="1309" dirty="0"/>
              <a:t>Have 3 different tables (one for each agent and subsequently, for each L5 process)</a:t>
            </a:r>
          </a:p>
          <a:p>
            <a:pPr marL="457200" lvl="0" indent="-311757" algn="l" rtl="0"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endParaRPr lang="en-US" sz="1309" dirty="0"/>
          </a:p>
          <a:p>
            <a:pPr marL="145443" lvl="0" indent="0" algn="l" rtl="0">
              <a:spcBef>
                <a:spcPts val="0"/>
              </a:spcBef>
              <a:spcAft>
                <a:spcPts val="0"/>
              </a:spcAft>
              <a:buSzPts val="1310"/>
            </a:pPr>
            <a:r>
              <a:rPr lang="en-US" sz="1309" dirty="0"/>
              <a:t>Whole team to work on this</a:t>
            </a:r>
          </a:p>
          <a:p>
            <a:pPr marL="145443" lvl="0" indent="0" algn="l" rtl="0">
              <a:spcBef>
                <a:spcPts val="0"/>
              </a:spcBef>
              <a:spcAft>
                <a:spcPts val="0"/>
              </a:spcAft>
              <a:buSzPts val="1310"/>
            </a:pPr>
            <a:endParaRPr lang="en-US" sz="1309" dirty="0"/>
          </a:p>
          <a:p>
            <a:pPr marL="145443" lvl="0" indent="0" algn="l" rtl="0">
              <a:spcBef>
                <a:spcPts val="0"/>
              </a:spcBef>
              <a:spcAft>
                <a:spcPts val="0"/>
              </a:spcAft>
              <a:buSzPts val="1310"/>
            </a:pPr>
            <a:r>
              <a:rPr lang="en-US" sz="1309" dirty="0"/>
              <a:t>We can also highlight the advantages like quality, effort and the better results/outcomes.</a:t>
            </a:r>
            <a:endParaRPr sz="1309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9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61A759-2CA3-8137-EA34-BE48EC0133E7}"/>
              </a:ext>
            </a:extLst>
          </p:cNvPr>
          <p:cNvSpPr txBox="1"/>
          <p:nvPr/>
        </p:nvSpPr>
        <p:spPr>
          <a:xfrm>
            <a:off x="225198" y="2850776"/>
            <a:ext cx="846052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highlight>
                  <a:srgbClr val="FFFF00"/>
                </a:highlight>
              </a:rPr>
              <a:t>Need to work</a:t>
            </a:r>
          </a:p>
          <a:p>
            <a:pPr algn="ctr"/>
            <a:endParaRPr lang="en-US" sz="1100" dirty="0">
              <a:highlight>
                <a:srgbClr val="FFFF00"/>
              </a:highlight>
            </a:endParaRPr>
          </a:p>
          <a:p>
            <a:pPr algn="ctr"/>
            <a:r>
              <a:rPr lang="en-US" sz="1100" dirty="0">
                <a:highlight>
                  <a:srgbClr val="FFFF00"/>
                </a:highlight>
              </a:rPr>
              <a:t>Monday - 11am</a:t>
            </a:r>
          </a:p>
          <a:p>
            <a:pPr algn="ctr"/>
            <a:r>
              <a:rPr lang="en-US" sz="1100" dirty="0">
                <a:highlight>
                  <a:srgbClr val="FFFF00"/>
                </a:highlight>
              </a:rPr>
              <a:t>Tuesday - 3pm</a:t>
            </a:r>
          </a:p>
          <a:p>
            <a:pPr algn="ctr"/>
            <a:endParaRPr lang="en-US" sz="1100" dirty="0">
              <a:highlight>
                <a:srgbClr val="FFFF00"/>
              </a:highlight>
            </a:endParaRPr>
          </a:p>
          <a:p>
            <a:pPr algn="ctr"/>
            <a:r>
              <a:rPr lang="en-US" sz="1100" dirty="0">
                <a:highlight>
                  <a:srgbClr val="FFFF00"/>
                </a:highlight>
              </a:rPr>
              <a:t>For scaling up the agent:</a:t>
            </a:r>
          </a:p>
          <a:p>
            <a:r>
              <a:rPr lang="en-US" sz="1100" dirty="0">
                <a:highlight>
                  <a:srgbClr val="FFFF00"/>
                </a:highlight>
              </a:rPr>
              <a:t>Document chronological order of steps – then suggest</a:t>
            </a:r>
          </a:p>
          <a:p>
            <a:r>
              <a:rPr lang="en-US" sz="1100" dirty="0">
                <a:highlight>
                  <a:srgbClr val="FFFF00"/>
                </a:highlight>
              </a:rPr>
              <a:t>For example, Question to solve – Why we don’t recommend AI for a particular step (Try to have similar questions) – whether we can apply a solution</a:t>
            </a:r>
          </a:p>
          <a:p>
            <a:r>
              <a:rPr lang="en-US" sz="1100" dirty="0">
                <a:highlight>
                  <a:srgbClr val="FFFF00"/>
                </a:highlight>
              </a:rPr>
              <a:t>Need to meet each of the teams and the split the steps/process to understand about the scaling up and the overlap of a common pattern</a:t>
            </a:r>
          </a:p>
          <a:p>
            <a:r>
              <a:rPr lang="en-US" sz="1100" dirty="0">
                <a:highlight>
                  <a:srgbClr val="FFFF00"/>
                </a:highlight>
              </a:rPr>
              <a:t>Professor - Ask the </a:t>
            </a:r>
            <a:r>
              <a:rPr lang="en-US" sz="1100">
                <a:highlight>
                  <a:srgbClr val="FFFF00"/>
                </a:highlight>
              </a:rPr>
              <a:t>team about the </a:t>
            </a:r>
            <a:endParaRPr lang="en-US" sz="11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207809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77"/>
          <p:cNvSpPr txBox="1">
            <a:spLocks noGrp="1"/>
          </p:cNvSpPr>
          <p:nvPr>
            <p:ph type="title"/>
          </p:nvPr>
        </p:nvSpPr>
        <p:spPr>
          <a:xfrm>
            <a:off x="1320325" y="1307100"/>
            <a:ext cx="71106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78"/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Incorrect Credits Agent</a:t>
            </a:r>
            <a:endParaRPr sz="26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79"/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Executive Bad Debt Reserves and Allowances</a:t>
            </a:r>
            <a:endParaRPr sz="2600"/>
          </a:p>
        </p:txBody>
      </p:sp>
      <p:sp>
        <p:nvSpPr>
          <p:cNvPr id="683" name="Google Shape;683;p79"/>
          <p:cNvSpPr txBox="1"/>
          <p:nvPr/>
        </p:nvSpPr>
        <p:spPr>
          <a:xfrm>
            <a:off x="1144800" y="1488925"/>
            <a:ext cx="587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80"/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Review Dispute Management Performance and KPIs</a:t>
            </a:r>
            <a:endParaRPr sz="26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81"/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Revenue Assurance</a:t>
            </a:r>
            <a:endParaRPr sz="26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82"/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Annexure:</a:t>
            </a:r>
            <a:endParaRPr sz="2600"/>
          </a:p>
        </p:txBody>
      </p:sp>
      <p:pic>
        <p:nvPicPr>
          <p:cNvPr id="699" name="Google Shape;699;p82"/>
          <p:cNvPicPr preferRelativeResize="0"/>
          <p:nvPr/>
        </p:nvPicPr>
        <p:blipFill rotWithShape="1">
          <a:blip r:embed="rId3">
            <a:alphaModFix/>
          </a:blip>
          <a:srcRect l="1399" t="2219" r="2084" b="852"/>
          <a:stretch/>
        </p:blipFill>
        <p:spPr>
          <a:xfrm>
            <a:off x="720000" y="890000"/>
            <a:ext cx="3316600" cy="3681549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82"/>
          <p:cNvSpPr txBox="1"/>
          <p:nvPr/>
        </p:nvSpPr>
        <p:spPr>
          <a:xfrm>
            <a:off x="806300" y="4490125"/>
            <a:ext cx="39807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Process Flow of Behavioral Insights Agent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01" name="Google Shape;701;p82"/>
          <p:cNvSpPr txBox="1"/>
          <p:nvPr/>
        </p:nvSpPr>
        <p:spPr>
          <a:xfrm>
            <a:off x="4682175" y="1119000"/>
            <a:ext cx="3000000" cy="3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Behavioral Insights is triggered by a review cycle or new open items, running a </a:t>
            </a:r>
            <a:r>
              <a:rPr lang="en" sz="1100" b="1">
                <a:latin typeface="Nunito"/>
                <a:ea typeface="Nunito"/>
                <a:cs typeface="Nunito"/>
                <a:sym typeface="Nunito"/>
              </a:rPr>
              <a:t>scoring process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to produce a </a:t>
            </a:r>
            <a:r>
              <a:rPr lang="en" sz="1100" b="1">
                <a:latin typeface="Nunito"/>
                <a:ea typeface="Nunito"/>
                <a:cs typeface="Nunito"/>
                <a:sym typeface="Nunito"/>
              </a:rPr>
              <a:t>prioritized risk list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with </a:t>
            </a:r>
            <a:r>
              <a:rPr lang="en" sz="1100" b="1">
                <a:latin typeface="Nunito"/>
                <a:ea typeface="Nunito"/>
                <a:cs typeface="Nunito"/>
                <a:sym typeface="Nunito"/>
              </a:rPr>
              <a:t>key drivers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The collector reviews the list, acts on </a:t>
            </a:r>
            <a:r>
              <a:rPr lang="en" sz="1100" b="1">
                <a:latin typeface="Nunito"/>
                <a:ea typeface="Nunito"/>
                <a:cs typeface="Nunito"/>
                <a:sym typeface="Nunito"/>
              </a:rPr>
              <a:t>high-risk items 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(choosing and executing a strategy in SAP), and records outcomes. </a:t>
            </a:r>
            <a:r>
              <a:rPr lang="en" sz="1100" b="1">
                <a:latin typeface="Nunito"/>
                <a:ea typeface="Nunito"/>
                <a:cs typeface="Nunito"/>
                <a:sym typeface="Nunito"/>
              </a:rPr>
              <a:t>Resolved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or </a:t>
            </a:r>
            <a:r>
              <a:rPr lang="en" sz="1100" b="1">
                <a:latin typeface="Nunito"/>
                <a:ea typeface="Nunito"/>
                <a:cs typeface="Nunito"/>
                <a:sym typeface="Nunito"/>
              </a:rPr>
              <a:t>paid items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are cleared and </a:t>
            </a:r>
            <a:r>
              <a:rPr lang="en" sz="1100" b="1">
                <a:latin typeface="Nunito"/>
                <a:ea typeface="Nunito"/>
                <a:cs typeface="Nunito"/>
                <a:sym typeface="Nunito"/>
              </a:rPr>
              <a:t>KPIs are reported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 b="1">
                <a:latin typeface="Nunito"/>
                <a:ea typeface="Nunito"/>
                <a:cs typeface="Nunito"/>
                <a:sym typeface="Nunito"/>
              </a:rPr>
              <a:t>Unresolved cases are escalated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 or the </a:t>
            </a:r>
            <a:r>
              <a:rPr lang="en" sz="1100" b="1">
                <a:latin typeface="Nunito"/>
                <a:ea typeface="Nunito"/>
                <a:cs typeface="Nunito"/>
                <a:sym typeface="Nunito"/>
              </a:rPr>
              <a:t>strategy 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is</a:t>
            </a:r>
            <a:r>
              <a:rPr lang="en" sz="1100" b="1">
                <a:latin typeface="Nunito"/>
                <a:ea typeface="Nunito"/>
                <a:cs typeface="Nunito"/>
                <a:sym typeface="Nunito"/>
              </a:rPr>
              <a:t> adjusted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, and </a:t>
            </a:r>
            <a:r>
              <a:rPr lang="en" sz="1100" b="1">
                <a:latin typeface="Nunito"/>
                <a:ea typeface="Nunito"/>
                <a:cs typeface="Nunito"/>
                <a:sym typeface="Nunito"/>
              </a:rPr>
              <a:t>scoring is rerun 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in a loop for </a:t>
            </a:r>
            <a:r>
              <a:rPr lang="en" sz="1100" b="1">
                <a:latin typeface="Nunito"/>
                <a:ea typeface="Nunito"/>
                <a:cs typeface="Nunito"/>
                <a:sym typeface="Nunito"/>
              </a:rPr>
              <a:t>subsequent review cycles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.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02" name="Google Shape;702;p82"/>
          <p:cNvSpPr txBox="1"/>
          <p:nvPr/>
        </p:nvSpPr>
        <p:spPr>
          <a:xfrm>
            <a:off x="4950600" y="5051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 b="1">
                <a:latin typeface="Nunito"/>
                <a:ea typeface="Nunito"/>
                <a:cs typeface="Nunito"/>
                <a:sym typeface="Nunito"/>
              </a:rPr>
              <a:t>Process Overview:</a:t>
            </a:r>
            <a:endParaRPr sz="1300"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83"/>
          <p:cNvSpPr txBox="1">
            <a:spLocks noGrp="1"/>
          </p:cNvSpPr>
          <p:nvPr>
            <p:ph type="title" idx="4"/>
          </p:nvPr>
        </p:nvSpPr>
        <p:spPr>
          <a:xfrm>
            <a:off x="720000" y="180225"/>
            <a:ext cx="7230600" cy="5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Behavioral Insights Agent: Executive Bad Debt Reserves and Allowances</a:t>
            </a:r>
            <a:endParaRPr sz="2600"/>
          </a:p>
        </p:txBody>
      </p:sp>
      <p:sp>
        <p:nvSpPr>
          <p:cNvPr id="708" name="Google Shape;708;p83"/>
          <p:cNvSpPr txBox="1"/>
          <p:nvPr/>
        </p:nvSpPr>
        <p:spPr>
          <a:xfrm>
            <a:off x="319450" y="962625"/>
            <a:ext cx="4246500" cy="4831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/>
              <a:t>Purpose: </a:t>
            </a:r>
            <a:r>
              <a:rPr lang="en" sz="1100"/>
              <a:t>Improve allowance and reserve decision quality by adding behavior-based risk segmentation and explainable drivers to the reserve review cycle.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/>
              <a:t>What the agent does: </a:t>
            </a:r>
            <a:r>
              <a:rPr lang="en" sz="1100"/>
              <a:t>Predicts payment risk for contract accounts using historical customer behavior and explains the main factors driving that risk.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Key inputs:</a:t>
            </a:r>
            <a:r>
              <a:rPr lang="en" sz="1100">
                <a:solidFill>
                  <a:schemeClr val="dk1"/>
                </a:solidFill>
              </a:rPr>
              <a:t> exposure and aging, payment behavior history, dispute and deduction posture, policy thresholds, decision history.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/>
              <a:t>Outputs (what users get)</a:t>
            </a:r>
            <a:endParaRPr sz="13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Risk score (0-100 style) for contract accounts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Explainability (top drivers of risk)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Risk segments (Low, Medium, High) to support reserve stratification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/>
              <a:t>Where it fits in the process (L5 placement)</a:t>
            </a:r>
            <a:endParaRPr sz="13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Execute Bad Debt Reserves and Allowances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Used during reserve review cycles and when new open items or risk changes require reassessment</a:t>
            </a:r>
            <a:endParaRPr sz="1100"/>
          </a:p>
        </p:txBody>
      </p:sp>
      <p:sp>
        <p:nvSpPr>
          <p:cNvPr id="709" name="Google Shape;709;p83"/>
          <p:cNvSpPr txBox="1"/>
          <p:nvPr/>
        </p:nvSpPr>
        <p:spPr>
          <a:xfrm>
            <a:off x="4700925" y="1325925"/>
            <a:ext cx="4246500" cy="3341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/>
              <a:t>Process change (Before vs After):</a:t>
            </a:r>
            <a:endParaRPr sz="13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/>
              <a:t>Before</a:t>
            </a:r>
            <a:endParaRPr sz="11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Allowance and reserve segmentation relies mainly on aging buckets, overdue amount, and manual judgment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High effort to identify true-risk accounts, inconsistent rationale across reviewers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/>
              <a:t>After</a:t>
            </a:r>
            <a:endParaRPr sz="11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Risk scoring becomes a first-class input for reserve segmentation (alongside aging and exposure)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Explainability supports defensible reserve rationale and faster review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More consistent segmentation, reduced manual triage, targeted focus on highest-risk accounts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gant Lines Pitch Deck by Slidesgo">
  <a:themeElements>
    <a:clrScheme name="Simple Light">
      <a:dk1>
        <a:srgbClr val="302926"/>
      </a:dk1>
      <a:lt1>
        <a:srgbClr val="E7E7E7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92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4913</Words>
  <Application>Microsoft Macintosh PowerPoint</Application>
  <PresentationFormat>On-screen Show (16:9)</PresentationFormat>
  <Paragraphs>499</Paragraphs>
  <Slides>55</Slides>
  <Notes>55</Notes>
  <HiddenSlides>8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4" baseType="lpstr">
      <vt:lpstr>Roboto Condensed Light</vt:lpstr>
      <vt:lpstr>Arial</vt:lpstr>
      <vt:lpstr>Inter</vt:lpstr>
      <vt:lpstr>PT Sans</vt:lpstr>
      <vt:lpstr>Abril Fatface</vt:lpstr>
      <vt:lpstr>Playfair Display</vt:lpstr>
      <vt:lpstr>Nunito</vt:lpstr>
      <vt:lpstr>Inter SemiBold</vt:lpstr>
      <vt:lpstr>Elegant Lines Pitch Deck by Slidesgo</vt:lpstr>
      <vt:lpstr>Accenture - Ralph Lauren</vt:lpstr>
      <vt:lpstr>Table of contents</vt:lpstr>
      <vt:lpstr>AR Ledger</vt:lpstr>
      <vt:lpstr>Current State and Agent Overview</vt:lpstr>
      <vt:lpstr>Technical Specs and Details</vt:lpstr>
      <vt:lpstr>PowerPoint Presentation</vt:lpstr>
      <vt:lpstr>SAP Cash App Automation Logic</vt:lpstr>
      <vt:lpstr>PowerPoint Presentation</vt:lpstr>
      <vt:lpstr>The "Exception" Logic – Handling the Unknown</vt:lpstr>
      <vt:lpstr>The "Exception" Logic – Handling the Unknown</vt:lpstr>
      <vt:lpstr>The "NO" Logic – Intelligent Suggestions</vt:lpstr>
      <vt:lpstr>The "NO" Logic – Intelligent Suggestions</vt:lpstr>
      <vt:lpstr>The "YES" Logic – High-Confidence Automation</vt:lpstr>
      <vt:lpstr>Inference example - ACH/Wire/EFT</vt:lpstr>
      <vt:lpstr>Inference example - ACH/Wire/EFT</vt:lpstr>
      <vt:lpstr>Accounts Receivable Agent</vt:lpstr>
      <vt:lpstr>Accounts Receivable Agent</vt:lpstr>
      <vt:lpstr>Accounts Receivable Agent</vt:lpstr>
      <vt:lpstr>PowerPoint Presentation</vt:lpstr>
      <vt:lpstr>Automation Logic &amp; Decision Thresholds</vt:lpstr>
      <vt:lpstr>Accounts Receivable Agent: Enablement for Cash Application (ACH/EFT/Wire)</vt:lpstr>
      <vt:lpstr>SAP Cash Application: Enablement for DTC &amp; Bank Reconciliation</vt:lpstr>
      <vt:lpstr>AR Agent: Enablement for Direct Debit</vt:lpstr>
      <vt:lpstr>SAP Cash Application: Enablement for Lockbox</vt:lpstr>
      <vt:lpstr>Accounts Receivable Agent: Enablement for Customer Down Payments</vt:lpstr>
      <vt:lpstr>Accounts Receivable Agent: Enablement for Credit / Payment Card</vt:lpstr>
      <vt:lpstr>Accounts Receivable Agent: Enablement for Cash &amp; Checks Processing</vt:lpstr>
      <vt:lpstr>The Balanced View: Value vs. Challenges</vt:lpstr>
      <vt:lpstr>Methodology</vt:lpstr>
      <vt:lpstr>Methodology</vt:lpstr>
      <vt:lpstr>Disputes</vt:lpstr>
      <vt:lpstr>Current State and Agent Overview</vt:lpstr>
      <vt:lpstr>Dispute Resolution Agent</vt:lpstr>
      <vt:lpstr>The Balanced View: Value vs. Challenges</vt:lpstr>
      <vt:lpstr>Contract Accounting</vt:lpstr>
      <vt:lpstr>Risk &amp; Revenue</vt:lpstr>
      <vt:lpstr>Current State and Agent Overview</vt:lpstr>
      <vt:lpstr>Overview and Objective: Executive Bad Debt Reserves and Allowances</vt:lpstr>
      <vt:lpstr>Behavioral Insights Agent: Executive Bad Debt Reserves and Allowances</vt:lpstr>
      <vt:lpstr>Enablement for Bad Debt Reserves and Allowances</vt:lpstr>
      <vt:lpstr>L5 Bad Debt Reserves and Allowances: Significance of Red Box</vt:lpstr>
      <vt:lpstr>Future-state L5 flow: Without vs With agent</vt:lpstr>
      <vt:lpstr>Executive Bad Debt Reserves and Allowances - Data prerequisites and model governance</vt:lpstr>
      <vt:lpstr>PowerPoint Presentation</vt:lpstr>
      <vt:lpstr>Behavioral Insights Agent: Review Dispute Management Performance and KPIs</vt:lpstr>
      <vt:lpstr> </vt:lpstr>
      <vt:lpstr>The Balanced View: Value vs. Challenges</vt:lpstr>
      <vt:lpstr>Summary of decrease in steps with agent (all process)</vt:lpstr>
      <vt:lpstr>Q&amp;A</vt:lpstr>
      <vt:lpstr>Incorrect Credits Agent</vt:lpstr>
      <vt:lpstr>Executive Bad Debt Reserves and Allowances</vt:lpstr>
      <vt:lpstr>Review Dispute Management Performance and KPIs</vt:lpstr>
      <vt:lpstr>Revenue Assurance</vt:lpstr>
      <vt:lpstr>Annexure:</vt:lpstr>
      <vt:lpstr>Behavioral Insights Agent: Executive Bad Debt Reserves and Allowances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Ramana prabhu Sana</cp:lastModifiedBy>
  <cp:revision>1</cp:revision>
  <dcterms:modified xsi:type="dcterms:W3CDTF">2026-02-26T16:49:05Z</dcterms:modified>
</cp:coreProperties>
</file>