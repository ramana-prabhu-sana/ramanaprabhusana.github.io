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Inter SemiBold"/>
      <p:regular r:id="rId37"/>
      <p:bold r:id="rId38"/>
      <p:italic r:id="rId39"/>
      <p:boldItalic r:id="rId40"/>
    </p:embeddedFont>
    <p:embeddedFont>
      <p:font typeface="Nunito"/>
      <p:regular r:id="rId41"/>
      <p:bold r:id="rId42"/>
      <p:italic r:id="rId43"/>
      <p:boldItalic r:id="rId44"/>
    </p:embeddedFont>
    <p:embeddedFont>
      <p:font typeface="Playfair Display"/>
      <p:regular r:id="rId45"/>
      <p:bold r:id="rId46"/>
      <p:italic r:id="rId47"/>
      <p:boldItalic r:id="rId48"/>
    </p:embeddedFont>
    <p:embeddedFont>
      <p:font typeface="Abril Fatface"/>
      <p:regular r:id="rId49"/>
    </p:embeddedFont>
    <p:embeddedFont>
      <p:font typeface="Inter"/>
      <p:regular r:id="rId50"/>
      <p:bold r:id="rId51"/>
      <p:italic r:id="rId52"/>
      <p:boldItalic r:id="rId53"/>
    </p:embeddedFont>
    <p:embeddedFont>
      <p:font typeface="PT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Parth Kapil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boldItalic.fntdata"/><Relationship Id="rId42" Type="http://schemas.openxmlformats.org/officeDocument/2006/relationships/font" Target="fonts/Nunito-bold.fntdata"/><Relationship Id="rId41" Type="http://schemas.openxmlformats.org/officeDocument/2006/relationships/font" Target="fonts/Nunito-regular.fntdata"/><Relationship Id="rId44" Type="http://schemas.openxmlformats.org/officeDocument/2006/relationships/font" Target="fonts/Nunito-boldItalic.fntdata"/><Relationship Id="rId43" Type="http://schemas.openxmlformats.org/officeDocument/2006/relationships/font" Target="fonts/Nunito-italic.fntdata"/><Relationship Id="rId46" Type="http://schemas.openxmlformats.org/officeDocument/2006/relationships/font" Target="fonts/PlayfairDisplay-bold.fntdata"/><Relationship Id="rId45" Type="http://schemas.openxmlformats.org/officeDocument/2006/relationships/font" Target="fonts/PlayfairDis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ayfairDisplay-boldItalic.fntdata"/><Relationship Id="rId47" Type="http://schemas.openxmlformats.org/officeDocument/2006/relationships/font" Target="fonts/PlayfairDisplay-italic.fntdata"/><Relationship Id="rId49" Type="http://schemas.openxmlformats.org/officeDocument/2006/relationships/font" Target="fonts/AbrilFatfac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nterSemiBold-regular.fntdata"/><Relationship Id="rId36" Type="http://schemas.openxmlformats.org/officeDocument/2006/relationships/slide" Target="slides/slide31.xml"/><Relationship Id="rId39" Type="http://schemas.openxmlformats.org/officeDocument/2006/relationships/font" Target="fonts/InterSemiBold-italic.fntdata"/><Relationship Id="rId38" Type="http://schemas.openxmlformats.org/officeDocument/2006/relationships/font" Target="fonts/InterSemiBo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bold.fntdata"/><Relationship Id="rId50" Type="http://schemas.openxmlformats.org/officeDocument/2006/relationships/font" Target="fonts/Inter-regular.fntdata"/><Relationship Id="rId53" Type="http://schemas.openxmlformats.org/officeDocument/2006/relationships/font" Target="fonts/Inter-boldItalic.fntdata"/><Relationship Id="rId52" Type="http://schemas.openxmlformats.org/officeDocument/2006/relationships/font" Target="fonts/Inter-italic.fntdata"/><Relationship Id="rId11" Type="http://schemas.openxmlformats.org/officeDocument/2006/relationships/slide" Target="slides/slide6.xml"/><Relationship Id="rId55" Type="http://schemas.openxmlformats.org/officeDocument/2006/relationships/font" Target="fonts/PTSans-bold.fntdata"/><Relationship Id="rId10" Type="http://schemas.openxmlformats.org/officeDocument/2006/relationships/slide" Target="slides/slide5.xml"/><Relationship Id="rId54" Type="http://schemas.openxmlformats.org/officeDocument/2006/relationships/font" Target="fonts/PTSans-regular.fntdata"/><Relationship Id="rId13" Type="http://schemas.openxmlformats.org/officeDocument/2006/relationships/slide" Target="slides/slide8.xml"/><Relationship Id="rId57" Type="http://schemas.openxmlformats.org/officeDocument/2006/relationships/font" Target="fonts/PTSans-boldItalic.fntdata"/><Relationship Id="rId12" Type="http://schemas.openxmlformats.org/officeDocument/2006/relationships/slide" Target="slides/slide7.xml"/><Relationship Id="rId56" Type="http://schemas.openxmlformats.org/officeDocument/2006/relationships/font" Target="fonts/PT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12T15:31:57.740">
    <p:pos x="6000" y="0"/>
    <p:text>use original workflow, enumerate each step, then reference whenever recommendations are made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12T15:26:52.378">
    <p:pos x="6000" y="0"/>
    <p:text>try to include visuals</p:text>
  </p:cm>
  <p:cm authorId="0" idx="3" dt="2026-01-12T15:20:26.863">
    <p:pos x="6000" y="0"/>
    <p:text>for slide 17 &amp; 18</p:text>
  </p:cm>
  <p:cm authorId="0" idx="4" dt="2026-01-12T15:26:52.378">
    <p:pos x="6000" y="0"/>
    <p:text>directly reference the L5 processes provided by accenture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080b61eb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080b61e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2f57a7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2f57a7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b4cf37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b4cf37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48dfc0c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48dfc0c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9d4f14c22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9d4f14c22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9d4f14c22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9d4f14c22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9d4f14c22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9d4f14c22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9d4f14c22_4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b9d4f14c22_4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9d4f14c22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9d4f14c22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9d4f14c22_4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9d4f14c22_4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9d4f14c22_4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9d4f14c22_4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7ad5584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7ad5584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3e7e9877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3e7e9877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a17b599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a17b599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7ae5bb3d7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7ae5bb3d7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Before State (Manual Process):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Accountants review invoices and contracts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Decide if disputes are valid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Apply orrections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Slow and error-prone</a:t>
            </a:r>
            <a:endParaRPr sz="10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7ae5bb3d7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7ae5bb3d7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8e7be02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8e7be02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3e7e987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3e7e987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9d4f14c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9d4f14c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7b639edb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b7b639edb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7ae5bb3d7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b7ae5bb3d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7b639edb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7b639ed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7ae5bb3d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7ae5bb3d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b66398bc6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b66398bc6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48c82c97a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48c82c97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7aad840e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b7aad840e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7aad840e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7aad840e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7aad840e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7aad840e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4a6e062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b4a6e062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66398bc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66398bc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784685">
            <a:off x="-181759" y="-8212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 flipH="1" rot="1783285">
            <a:off x="-385508" y="-12432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43200" y="-478825"/>
            <a:ext cx="1214376" cy="46364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1055101">
            <a:off x="-960243" y="-611114"/>
            <a:ext cx="1615770" cy="1821365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 rot="10800000">
            <a:off x="7641225" y="-691372"/>
            <a:ext cx="1756619" cy="207607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145456" y="-66021"/>
            <a:ext cx="1756619" cy="232279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-1794915">
            <a:off x="-1502546" y="-638410"/>
            <a:ext cx="2293282" cy="2585085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555291" y="-912025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852681" y="-293879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title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3" type="subTitle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4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992836" y="-201404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 rot="-2700000">
            <a:off x="-1671654" y="-637784"/>
            <a:ext cx="2293212" cy="2585006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 flipH="1" rot="1315565">
            <a:off x="7821221" y="-111650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flipH="1">
            <a:off x="-243963" y="-2457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0715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77173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 rot="-3419928">
            <a:off x="-1702337" y="601789"/>
            <a:ext cx="2807434" cy="1193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 flipH="1" rot="1401600">
            <a:off x="8049665" y="111206"/>
            <a:ext cx="2374221" cy="280599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 rot="-836192">
            <a:off x="-1327580" y="-192083"/>
            <a:ext cx="2334065" cy="2880761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1896900" y="1307100"/>
            <a:ext cx="6534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880749">
            <a:off x="-109876" y="-360103"/>
            <a:ext cx="1253609" cy="3696848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flipH="1" rot="1966325">
            <a:off x="-97652" y="-885201"/>
            <a:ext cx="1064941" cy="3438159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flipH="1">
            <a:off x="-331799" y="-846185"/>
            <a:ext cx="855913" cy="35275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 flipH="1" rot="894957">
            <a:off x="8570322" y="26143"/>
            <a:ext cx="1383968" cy="1264504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 flipH="1" rot="894957">
            <a:off x="8014872" y="-268356"/>
            <a:ext cx="1730081" cy="277377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 rot="1103675">
            <a:off x="274406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 flipH="1">
            <a:off x="-878080" y="-1048117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 rot="1884779">
            <a:off x="7986089" y="-765133"/>
            <a:ext cx="2074380" cy="220204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flipH="1" rot="-784685">
            <a:off x="7733575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 rot="-1783285">
            <a:off x="7922631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 flipH="1">
            <a:off x="-331801" y="-16813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-243963" y="-1695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2" type="subTitle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hasCustomPrompt="1"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hasCustomPrompt="1" idx="5" type="title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7" type="subTitle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hasCustomPrompt="1" idx="8" type="title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/>
          <p:nvPr>
            <p:ph idx="9" type="subTitle"/>
          </p:nvPr>
        </p:nvSpPr>
        <p:spPr>
          <a:xfrm>
            <a:off x="5944800" y="3288772"/>
            <a:ext cx="215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3" type="subTitle"/>
          </p:nvPr>
        </p:nvSpPr>
        <p:spPr>
          <a:xfrm>
            <a:off x="5944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14" type="title"/>
          </p:nvPr>
        </p:nvSpPr>
        <p:spPr>
          <a:xfrm>
            <a:off x="4986065" y="3257135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5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flipH="1" rot="-784685">
            <a:off x="7733586" y="-3640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 rot="-1783285">
            <a:off x="8151242" y="-7860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408376" y="-174026"/>
            <a:ext cx="1214376" cy="412852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1407300" y="1189100"/>
            <a:ext cx="63294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008950" y="3153500"/>
            <a:ext cx="51261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984785" y="2504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1747850" y="-340664"/>
            <a:ext cx="2293271" cy="328371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flipH="1" rot="1315565">
            <a:off x="7997421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 flipH="1" rot="-455257">
            <a:off x="7806607" y="-318267"/>
            <a:ext cx="1246880" cy="4103824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 rot="-1538068">
            <a:off x="8279381" y="-585154"/>
            <a:ext cx="1048448" cy="3401387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 flipH="1" rot="654765">
            <a:off x="-453981" y="-1416413"/>
            <a:ext cx="1214384" cy="4002644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0" y="1303638"/>
            <a:ext cx="3293700" cy="20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4572000" y="3292363"/>
            <a:ext cx="34914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 rot="-1532380">
            <a:off x="-1606285" y="-64320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720000" y="2215050"/>
            <a:ext cx="2575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1606285" y="-643205"/>
            <a:ext cx="2462769" cy="3479258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19900" y="1533450"/>
            <a:ext cx="7704000" cy="30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flipH="1" rot="1236882">
            <a:off x="7680459" y="103396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 flipH="1">
            <a:off x="8516333" y="-485412"/>
            <a:ext cx="2293271" cy="258507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005022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33129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37185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2" type="title"/>
          </p:nvPr>
        </p:nvSpPr>
        <p:spPr>
          <a:xfrm>
            <a:off x="3484419" y="18756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0" name="Google Shape;130;p20"/>
          <p:cNvSpPr txBox="1"/>
          <p:nvPr>
            <p:ph idx="3" type="subTitle"/>
          </p:nvPr>
        </p:nvSpPr>
        <p:spPr>
          <a:xfrm>
            <a:off x="3484421" y="2269788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4" type="title"/>
          </p:nvPr>
        </p:nvSpPr>
        <p:spPr>
          <a:xfrm>
            <a:off x="6255596" y="33357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20"/>
          <p:cNvSpPr txBox="1"/>
          <p:nvPr>
            <p:ph idx="5" type="subTitle"/>
          </p:nvPr>
        </p:nvSpPr>
        <p:spPr>
          <a:xfrm>
            <a:off x="6255599" y="37185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>
            <a:off x="8252620" y="-92835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 rot="-844789">
            <a:off x="8256274" y="-340789"/>
            <a:ext cx="1031065" cy="343335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-263905" y="-121530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2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3" type="title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2" name="Google Shape;142;p21"/>
          <p:cNvSpPr txBox="1"/>
          <p:nvPr>
            <p:ph idx="4" type="subTitle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5" type="title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4" name="Google Shape;144;p21"/>
          <p:cNvSpPr txBox="1"/>
          <p:nvPr>
            <p:ph idx="6" type="subTitle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rot="-240488">
            <a:off x="-424134" y="-626662"/>
            <a:ext cx="1244966" cy="3296515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 flipH="1" rot="758190">
            <a:off x="-566166" y="-1075222"/>
            <a:ext cx="1031062" cy="3132328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8371800" y="-4667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868975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830575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2" type="title"/>
          </p:nvPr>
        </p:nvSpPr>
        <p:spPr>
          <a:xfrm>
            <a:off x="3484350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2" name="Google Shape;152;p22"/>
          <p:cNvSpPr txBox="1"/>
          <p:nvPr>
            <p:ph idx="3" type="subTitle"/>
          </p:nvPr>
        </p:nvSpPr>
        <p:spPr>
          <a:xfrm>
            <a:off x="3445950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title"/>
          </p:nvPr>
        </p:nvSpPr>
        <p:spPr>
          <a:xfrm>
            <a:off x="6099725" y="1708013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" name="Google Shape;154;p22"/>
          <p:cNvSpPr txBox="1"/>
          <p:nvPr>
            <p:ph idx="5" type="subTitle"/>
          </p:nvPr>
        </p:nvSpPr>
        <p:spPr>
          <a:xfrm>
            <a:off x="6061325" y="2630725"/>
            <a:ext cx="22521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2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 rot="784685">
            <a:off x="-410359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 flipH="1" rot="1783285">
            <a:off x="-385508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713100" y="155995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1046700" y="199407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2" type="title"/>
          </p:nvPr>
        </p:nvSpPr>
        <p:spPr>
          <a:xfrm>
            <a:off x="6112200" y="155995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6112200" y="199407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idx="4" type="title"/>
          </p:nvPr>
        </p:nvSpPr>
        <p:spPr>
          <a:xfrm>
            <a:off x="713100" y="299416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23"/>
          <p:cNvSpPr txBox="1"/>
          <p:nvPr>
            <p:ph idx="5" type="subTitle"/>
          </p:nvPr>
        </p:nvSpPr>
        <p:spPr>
          <a:xfrm>
            <a:off x="1046700" y="342828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6" type="title"/>
          </p:nvPr>
        </p:nvSpPr>
        <p:spPr>
          <a:xfrm>
            <a:off x="6112200" y="2994163"/>
            <a:ext cx="231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23"/>
          <p:cNvSpPr txBox="1"/>
          <p:nvPr>
            <p:ph idx="7" type="subTitle"/>
          </p:nvPr>
        </p:nvSpPr>
        <p:spPr>
          <a:xfrm>
            <a:off x="6112200" y="3428288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 rot="784685">
            <a:off x="-257959" y="-897417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 flipH="1" rot="1783285">
            <a:off x="-461708" y="-13194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 rot="-593063">
            <a:off x="8066979" y="-555017"/>
            <a:ext cx="1214363" cy="4636379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1872622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4"/>
          <p:cNvSpPr txBox="1"/>
          <p:nvPr>
            <p:ph idx="1" type="subTitle"/>
          </p:nvPr>
        </p:nvSpPr>
        <p:spPr>
          <a:xfrm>
            <a:off x="1872622" y="20654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2" type="title"/>
          </p:nvPr>
        </p:nvSpPr>
        <p:spPr>
          <a:xfrm>
            <a:off x="5893580" y="16182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6" name="Google Shape;176;p24"/>
          <p:cNvSpPr txBox="1"/>
          <p:nvPr>
            <p:ph idx="3" type="subTitle"/>
          </p:nvPr>
        </p:nvSpPr>
        <p:spPr>
          <a:xfrm>
            <a:off x="5893576" y="20654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4" type="title"/>
          </p:nvPr>
        </p:nvSpPr>
        <p:spPr>
          <a:xfrm>
            <a:off x="1872622" y="30516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8" name="Google Shape;178;p24"/>
          <p:cNvSpPr txBox="1"/>
          <p:nvPr>
            <p:ph idx="5" type="subTitle"/>
          </p:nvPr>
        </p:nvSpPr>
        <p:spPr>
          <a:xfrm>
            <a:off x="1872622" y="34988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6" type="title"/>
          </p:nvPr>
        </p:nvSpPr>
        <p:spPr>
          <a:xfrm>
            <a:off x="5893580" y="3051650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24"/>
          <p:cNvSpPr txBox="1"/>
          <p:nvPr>
            <p:ph idx="7" type="subTitle"/>
          </p:nvPr>
        </p:nvSpPr>
        <p:spPr>
          <a:xfrm>
            <a:off x="5893576" y="349885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 rot="-236223">
            <a:off x="-431802" y="-749425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2" type="title"/>
          </p:nvPr>
        </p:nvSpPr>
        <p:spPr>
          <a:xfrm>
            <a:off x="128605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25"/>
          <p:cNvSpPr txBox="1"/>
          <p:nvPr>
            <p:ph idx="1" type="subTitle"/>
          </p:nvPr>
        </p:nvSpPr>
        <p:spPr>
          <a:xfrm>
            <a:off x="128605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3" type="title"/>
          </p:nvPr>
        </p:nvSpPr>
        <p:spPr>
          <a:xfrm>
            <a:off x="128605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0" name="Google Shape;190;p25"/>
          <p:cNvSpPr txBox="1"/>
          <p:nvPr>
            <p:ph idx="4" type="subTitle"/>
          </p:nvPr>
        </p:nvSpPr>
        <p:spPr>
          <a:xfrm>
            <a:off x="128605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5" type="title"/>
          </p:nvPr>
        </p:nvSpPr>
        <p:spPr>
          <a:xfrm>
            <a:off x="128605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25"/>
          <p:cNvSpPr txBox="1"/>
          <p:nvPr>
            <p:ph idx="6" type="subTitle"/>
          </p:nvPr>
        </p:nvSpPr>
        <p:spPr>
          <a:xfrm>
            <a:off x="128605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7" type="title"/>
          </p:nvPr>
        </p:nvSpPr>
        <p:spPr>
          <a:xfrm>
            <a:off x="5682650" y="129759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25"/>
          <p:cNvSpPr txBox="1"/>
          <p:nvPr>
            <p:ph idx="8" type="subTitle"/>
          </p:nvPr>
        </p:nvSpPr>
        <p:spPr>
          <a:xfrm>
            <a:off x="5682650" y="174910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9" type="title"/>
          </p:nvPr>
        </p:nvSpPr>
        <p:spPr>
          <a:xfrm>
            <a:off x="5682650" y="2422722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25"/>
          <p:cNvSpPr txBox="1"/>
          <p:nvPr>
            <p:ph idx="13" type="subTitle"/>
          </p:nvPr>
        </p:nvSpPr>
        <p:spPr>
          <a:xfrm>
            <a:off x="5682650" y="2874231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14" type="title"/>
          </p:nvPr>
        </p:nvSpPr>
        <p:spPr>
          <a:xfrm>
            <a:off x="5682650" y="3547847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8" name="Google Shape;198;p25"/>
          <p:cNvSpPr txBox="1"/>
          <p:nvPr>
            <p:ph idx="15" type="subTitle"/>
          </p:nvPr>
        </p:nvSpPr>
        <p:spPr>
          <a:xfrm>
            <a:off x="5682650" y="3999356"/>
            <a:ext cx="21753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6"/>
          <p:cNvSpPr txBox="1"/>
          <p:nvPr>
            <p:ph idx="1" type="subTitle"/>
          </p:nvPr>
        </p:nvSpPr>
        <p:spPr>
          <a:xfrm>
            <a:off x="2223600" y="1234825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hasCustomPrompt="1" idx="2" type="title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3" name="Google Shape;203;p26"/>
          <p:cNvSpPr txBox="1"/>
          <p:nvPr>
            <p:ph idx="3" type="subTitle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" name="Google Shape;205;p26"/>
          <p:cNvSpPr txBox="1"/>
          <p:nvPr>
            <p:ph idx="5" type="subTitle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" name="Google Shape;206;p26"/>
          <p:cNvSpPr/>
          <p:nvPr/>
        </p:nvSpPr>
        <p:spPr>
          <a:xfrm flipH="1" rot="-1103675">
            <a:off x="8084800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8322223" y="-561604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 flipH="1" rot="1040920">
            <a:off x="-826208" y="-506959"/>
            <a:ext cx="2074408" cy="220207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7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 rot="-236223">
            <a:off x="-431802" y="-749425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7874419" y="-137976"/>
            <a:ext cx="2481131" cy="294392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 rot="2700000">
            <a:off x="94776" y="-643730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8576741" y="-658300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720000" y="375287"/>
            <a:ext cx="42948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subTitle"/>
          </p:nvPr>
        </p:nvSpPr>
        <p:spPr>
          <a:xfrm>
            <a:off x="713100" y="1394019"/>
            <a:ext cx="3434700" cy="14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/>
        </p:nvSpPr>
        <p:spPr>
          <a:xfrm>
            <a:off x="720000" y="2966252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dk1"/>
              </a:solidFill>
              <a:highlight>
                <a:srgbClr val="DFDEF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12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12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12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- Ralph Lauren</a:t>
            </a:r>
            <a:endParaRPr/>
          </a:p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GenAI in Receivables Management</a:t>
            </a:r>
            <a:endParaRPr/>
          </a:p>
        </p:txBody>
      </p:sp>
      <p:cxnSp>
        <p:nvCxnSpPr>
          <p:cNvPr id="228" name="Google Shape;228;p30"/>
          <p:cNvCxnSpPr>
            <a:endCxn id="229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6331500" y="4630647"/>
            <a:ext cx="2585400" cy="4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Purdue University</a:t>
            </a:r>
            <a:endParaRPr sz="1200"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81" y="400600"/>
            <a:ext cx="4445246" cy="4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5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 &amp; </a:t>
            </a:r>
            <a:r>
              <a:rPr lang="en"/>
              <a:t>Accounts Receivable</a:t>
            </a:r>
            <a:endParaRPr/>
          </a:p>
        </p:txBody>
      </p:sp>
      <p:sp>
        <p:nvSpPr>
          <p:cNvPr id="238" name="Google Shape;238;p31"/>
          <p:cNvSpPr txBox="1"/>
          <p:nvPr>
            <p:ph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240" name="Google Shape;240;p31"/>
          <p:cNvSpPr txBox="1"/>
          <p:nvPr>
            <p:ph idx="4" type="subTitle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Insights &amp; Agent for Incorrect Credits</a:t>
            </a:r>
            <a:endParaRPr/>
          </a:p>
        </p:txBody>
      </p:sp>
      <p:sp>
        <p:nvSpPr>
          <p:cNvPr id="241" name="Google Shape;241;p31"/>
          <p:cNvSpPr txBox="1"/>
          <p:nvPr>
            <p:ph idx="5" type="title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42" name="Google Shape;242;p31"/>
          <p:cNvSpPr txBox="1"/>
          <p:nvPr>
            <p:ph idx="6" type="subTitle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243" name="Google Shape;243;p31"/>
          <p:cNvSpPr txBox="1"/>
          <p:nvPr>
            <p:ph idx="7" type="subTitle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 Resolution Agent &amp; Contract Accounting </a:t>
            </a:r>
            <a:endParaRPr/>
          </a:p>
        </p:txBody>
      </p:sp>
      <p:sp>
        <p:nvSpPr>
          <p:cNvPr id="244" name="Google Shape;244;p31"/>
          <p:cNvSpPr txBox="1"/>
          <p:nvPr>
            <p:ph idx="8" type="title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cxnSp>
        <p:nvCxnSpPr>
          <p:cNvPr id="245" name="Google Shape;245;p31"/>
          <p:cNvCxnSpPr>
            <a:endCxn id="24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53" name="Google Shape;253;p32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4" name="Google Shape;254;p32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Saandiya, Tolu, Parth</a:t>
            </a:r>
            <a:endParaRPr/>
          </a:p>
        </p:txBody>
      </p:sp>
      <p:cxnSp>
        <p:nvCxnSpPr>
          <p:cNvPr id="255" name="Google Shape;255;p32"/>
          <p:cNvCxnSpPr>
            <a:endCxn id="25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2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264" name="Google Shape;264;p33"/>
          <p:cNvSpPr txBox="1"/>
          <p:nvPr>
            <p:ph idx="3" type="subTitle"/>
          </p:nvPr>
        </p:nvSpPr>
        <p:spPr>
          <a:xfrm>
            <a:off x="472133" y="2832647"/>
            <a:ext cx="3388800" cy="22467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Apply incoming payments to open receivables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Payments received (ACH / Wire / Cash / Check)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AR accountants manually need to: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Investigate remittance data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Match payments to invoices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Clear invoices or flag issues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Lot of high-volume repetitive work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Major </a:t>
            </a:r>
            <a:r>
              <a:rPr lang="en" sz="1309" u="sng"/>
              <a:t>processing bottleneck</a:t>
            </a:r>
            <a:endParaRPr sz="1309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265" name="Google Shape;265;p33"/>
          <p:cNvSpPr txBox="1"/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SAP Cash Application (AR Agent)</a:t>
            </a:r>
            <a:endParaRPr sz="1818"/>
          </a:p>
        </p:txBody>
      </p:sp>
      <p:sp>
        <p:nvSpPr>
          <p:cNvPr id="266" name="Google Shape;266;p33"/>
          <p:cNvSpPr txBox="1"/>
          <p:nvPr>
            <p:ph idx="3" type="subTitle"/>
          </p:nvPr>
        </p:nvSpPr>
        <p:spPr>
          <a:xfrm>
            <a:off x="570775" y="1402700"/>
            <a:ext cx="3832500" cy="8964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Automatically match incoming payments to open invoices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Read bank statements + remittance data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>
            <p:ph idx="2" type="title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-251757" lvl="0" marL="338415" rtl="0" algn="l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Autonomous Matching: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scans bank statements and remittance data to propose invoice matches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000000"/>
                </a:solidFill>
              </a:rPr>
              <a:t>Confidence Scoring:</a:t>
            </a:r>
            <a:endParaRPr sz="1300">
              <a:solidFill>
                <a:srgbClr val="000000"/>
              </a:solidFill>
            </a:endParaRPr>
          </a:p>
          <a:p>
            <a:pPr indent="-251758" lvl="1" marL="6768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High confidence → Auto-clearing</a:t>
            </a:r>
            <a:endParaRPr sz="1300">
              <a:solidFill>
                <a:srgbClr val="000000"/>
              </a:solidFill>
            </a:endParaRPr>
          </a:p>
          <a:p>
            <a:pPr indent="-251758" lvl="1" marL="6768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Medium confidence → AI recommendation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highlights which payments or exceptions need urgent attention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88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0" name="Google Shape;270;p33"/>
          <p:cNvSpPr txBox="1"/>
          <p:nvPr/>
        </p:nvSpPr>
        <p:spPr>
          <a:xfrm>
            <a:off x="4282550" y="1356700"/>
            <a:ext cx="4150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Uses reinforced learning from accountants' actions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75% reduction in effort analyzing and reconciling open AR items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4" type="title"/>
          </p:nvPr>
        </p:nvSpPr>
        <p:spPr>
          <a:xfrm>
            <a:off x="730950" y="180213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Automation Logic &amp; Decision Thresholds</a:t>
            </a:r>
            <a:endParaRPr sz="2600"/>
          </a:p>
        </p:txBody>
      </p:sp>
      <p:pic>
        <p:nvPicPr>
          <p:cNvPr id="276" name="Google Shape;2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26752" cy="2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/>
          <p:cNvPicPr preferRelativeResize="0"/>
          <p:nvPr/>
        </p:nvPicPr>
        <p:blipFill rotWithShape="1">
          <a:blip r:embed="rId4">
            <a:alphaModFix/>
          </a:blip>
          <a:srcRect b="25955" l="0" r="0" t="11622"/>
          <a:stretch/>
        </p:blipFill>
        <p:spPr>
          <a:xfrm>
            <a:off x="338525" y="1138600"/>
            <a:ext cx="8050648" cy="33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452116" y="8465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Accounts Receivab</a:t>
            </a:r>
            <a:r>
              <a:rPr lang="en" sz="2600"/>
              <a:t>le Agent: Enablement for Cash Application (ACH/EFT/</a:t>
            </a:r>
            <a:r>
              <a:rPr lang="en" sz="2600"/>
              <a:t>Wire)</a:t>
            </a:r>
            <a:endParaRPr sz="2600"/>
          </a:p>
        </p:txBody>
      </p:sp>
      <p:pic>
        <p:nvPicPr>
          <p:cNvPr id="283" name="Google Shape;283;p35" title="Screenshot 2026-01-21 at 10.50.50 PM.jpg"/>
          <p:cNvPicPr preferRelativeResize="0"/>
          <p:nvPr/>
        </p:nvPicPr>
        <p:blipFill rotWithShape="1">
          <a:blip r:embed="rId3">
            <a:alphaModFix/>
          </a:blip>
          <a:srcRect b="8557" l="2476" r="7140" t="4824"/>
          <a:stretch/>
        </p:blipFill>
        <p:spPr>
          <a:xfrm>
            <a:off x="36797" y="831626"/>
            <a:ext cx="9070423" cy="28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5"/>
          <p:cNvSpPr/>
          <p:nvPr/>
        </p:nvSpPr>
        <p:spPr>
          <a:xfrm>
            <a:off x="357200" y="2857500"/>
            <a:ext cx="3863700" cy="2242200"/>
          </a:xfrm>
          <a:prstGeom prst="wedgeRoundRectCallout">
            <a:avLst>
              <a:gd fmla="val -695" name="adj1"/>
              <a:gd fmla="val -58408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AI to scan unstructured data (emails, PDFs) to link unidentified payments to open invoices.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Executes autonomous matching using a &gt;90% confidence threshold for immediate ledger posting in S/4HANA.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Reduces the manual investigation pool from 7% of transactions down to only 0.7%.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Utilizes the base Accounts Receivable Agent to reduce uncollectable write-offs through faster clearing.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5476875" y="3403200"/>
            <a:ext cx="3532200" cy="1712700"/>
          </a:xfrm>
          <a:prstGeom prst="wedgeRoundRectCallout">
            <a:avLst>
              <a:gd fmla="val -62373" name="adj1"/>
              <a:gd fmla="val -45191" name="adj2"/>
              <a:gd fmla="val 0" name="adj3"/>
            </a:avLst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Automatically flags anomalies and unidentified sources, routing them to the AR Accountant with a generated rationale.</a:t>
            </a:r>
            <a:endParaRPr sz="900">
              <a:solidFill>
                <a:schemeClr val="dk1"/>
              </a:solidFill>
            </a:endParaRPr>
          </a:p>
          <a:p>
            <a:pPr indent="-1714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Analyzes historical payment behavior to forecast risks and prioritize the collections worklist.</a:t>
            </a:r>
            <a:endParaRPr sz="900">
              <a:solidFill>
                <a:schemeClr val="dk1"/>
              </a:solidFill>
            </a:endParaRPr>
          </a:p>
          <a:p>
            <a:pPr indent="-1714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Enables natural language queries for quick reports and recommendations on complex unidentified payments.</a:t>
            </a:r>
            <a:endParaRPr sz="900">
              <a:solidFill>
                <a:schemeClr val="dk1"/>
              </a:solidFill>
            </a:endParaRPr>
          </a:p>
          <a:p>
            <a:pPr indent="-17145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Shifts the AR Accountant role from "Data Entry/Searcher" to "High-Level Reviewer" by automating 90% of investigation effort.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46300" y="723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SAP Cash Application: Enablement for DTC &amp; Bank Reconciliation</a:t>
            </a:r>
            <a:endParaRPr sz="2600"/>
          </a:p>
        </p:txBody>
      </p:sp>
      <p:pic>
        <p:nvPicPr>
          <p:cNvPr id="291" name="Google Shape;291;p36" title="Screenshot 2026-01-21 at 11.19.28 PM.jpg"/>
          <p:cNvPicPr preferRelativeResize="0"/>
          <p:nvPr/>
        </p:nvPicPr>
        <p:blipFill rotWithShape="1">
          <a:blip r:embed="rId3">
            <a:alphaModFix/>
          </a:blip>
          <a:srcRect b="0" l="0" r="0" t="14944"/>
          <a:stretch/>
        </p:blipFill>
        <p:spPr>
          <a:xfrm>
            <a:off x="163350" y="941550"/>
            <a:ext cx="8065801" cy="40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/>
        </p:nvSpPr>
        <p:spPr>
          <a:xfrm>
            <a:off x="5288025" y="405075"/>
            <a:ext cx="3755400" cy="1839300"/>
          </a:xfrm>
          <a:prstGeom prst="wedgeRoundRectCallout">
            <a:avLst>
              <a:gd fmla="val -59329" name="adj1"/>
              <a:gd fmla="val 61905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b="1" lang="en" sz="1100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automate matching between bank statement items and POS records.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machine learning to increase the rate of successful auto-matches, minimizing "manual investigation" for reconciliations.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records reconciliation accuracy and baseline values to measure program success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218125" y="2244375"/>
            <a:ext cx="3755400" cy="1839300"/>
          </a:xfrm>
          <a:prstGeom prst="wedgeRoundRectCallout">
            <a:avLst>
              <a:gd fmla="val 24655" name="adj1"/>
              <a:gd fmla="val 57739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errors in POS data and suggests corrective actions (e.g., repeating POS Inbound).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</a:t>
            </a:r>
            <a:r>
              <a:rPr b="1" lang="en" sz="1100">
                <a:solidFill>
                  <a:schemeClr val="dk2"/>
                </a:solidFill>
              </a:rPr>
              <a:t>Cash Management Specialist</a:t>
            </a:r>
            <a:r>
              <a:rPr lang="en" sz="1100">
                <a:solidFill>
                  <a:schemeClr val="dk2"/>
                </a:solidFill>
              </a:rPr>
              <a:t> role from searching for discrepancies to remediating errors proposed by AI.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conversational search for navigational assistance in resolving electronic document errors.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325850" y="723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 Agent: Enablement for Direct Debit</a:t>
            </a:r>
            <a:endParaRPr sz="2500"/>
          </a:p>
        </p:txBody>
      </p:sp>
      <p:pic>
        <p:nvPicPr>
          <p:cNvPr id="299" name="Google Shape;299;p37" title="Screenshot 2026-01-21 at 11.27.28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3029"/>
            <a:ext cx="8839200" cy="25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/>
          <p:nvPr/>
        </p:nvSpPr>
        <p:spPr>
          <a:xfrm>
            <a:off x="3229725" y="722550"/>
            <a:ext cx="3978900" cy="2036400"/>
          </a:xfrm>
          <a:prstGeom prst="wedgeRoundRectCallout">
            <a:avLst>
              <a:gd fmla="val 52910" name="adj1"/>
              <a:gd fmla="val 69893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creates payment proposals based on open item maturity and customer payment terms.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Pre-scans the proposal to identify blocks or SEPA mandate issues before the run.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Self-schedules payment runs based on bank processing windows and liquidity needs.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AR Accountant from manually adjusting lines to approving a finalized AI-vetted run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type="title"/>
          </p:nvPr>
        </p:nvSpPr>
        <p:spPr>
          <a:xfrm>
            <a:off x="435350" y="614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SAP Cash Application: Enablement for Lockbox</a:t>
            </a:r>
            <a:endParaRPr sz="2500"/>
          </a:p>
        </p:txBody>
      </p:sp>
      <p:pic>
        <p:nvPicPr>
          <p:cNvPr id="306" name="Google Shape;306;p38" title="Screenshot 2026-01-21 at 11.32.20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7150"/>
            <a:ext cx="8839201" cy="319583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/>
          <p:nvPr/>
        </p:nvSpPr>
        <p:spPr>
          <a:xfrm>
            <a:off x="1696950" y="536425"/>
            <a:ext cx="3978900" cy="2036400"/>
          </a:xfrm>
          <a:prstGeom prst="wedgeRoundRectCallout">
            <a:avLst>
              <a:gd fmla="val 52910" name="adj1"/>
              <a:gd fmla="val 69893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b="1" lang="en" sz="1100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clear and recommend matches for high-volume Lockbox files.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meet a high confidence score, bypassing manual entry for standard transactions.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integrates with external bank files to resolve unapplied cash via behavioral insights.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within the clearing process to flag disputes earlier.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501025" y="833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Customer Down Payments</a:t>
            </a:r>
            <a:endParaRPr sz="2500"/>
          </a:p>
        </p:txBody>
      </p:sp>
      <p:pic>
        <p:nvPicPr>
          <p:cNvPr id="313" name="Google Shape;313;p39" title="Screenshot 2026-01-22 at 12.40.56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5425"/>
            <a:ext cx="8839199" cy="264040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9"/>
          <p:cNvSpPr/>
          <p:nvPr/>
        </p:nvSpPr>
        <p:spPr>
          <a:xfrm>
            <a:off x="501025" y="3175000"/>
            <a:ext cx="3779700" cy="1707900"/>
          </a:xfrm>
          <a:prstGeom prst="wedgeRoundRectCallout">
            <a:avLst>
              <a:gd fmla="val 47974" name="adj1"/>
              <a:gd fmla="val -87180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AI automatically links down payments to customer orders to generate consolidated invoices without manual intervention.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validates master data and policy rules to ensure accurate invoice generation.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Compresses the sales lifecycle time by automating the complex link between orders and payments.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4835675" y="3250775"/>
            <a:ext cx="3779700" cy="1707900"/>
          </a:xfrm>
          <a:prstGeom prst="wedgeRoundRectCallout">
            <a:avLst>
              <a:gd fmla="val -16887" name="adj1"/>
              <a:gd fmla="val -92258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SAP Cash Application to autonomously clear down payments against incoming bank statements.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the risk of late or missing payments to prioritize reconciliation tasks for the AR Accountant.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captures reconciliation baseline values to track project success and ROI.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58700" y="9855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Credit / Payment Card</a:t>
            </a:r>
            <a:endParaRPr sz="2500"/>
          </a:p>
        </p:txBody>
      </p:sp>
      <p:pic>
        <p:nvPicPr>
          <p:cNvPr id="322" name="Google Shape;322;p40" title="Screenshot 2026-01-22 at 12.44.52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" y="863121"/>
            <a:ext cx="9144000" cy="378930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0"/>
          <p:cNvSpPr/>
          <p:nvPr/>
        </p:nvSpPr>
        <p:spPr>
          <a:xfrm>
            <a:off x="566725" y="1171475"/>
            <a:ext cx="3779700" cy="1707900"/>
          </a:xfrm>
          <a:prstGeom prst="wedgeRoundRectCallout">
            <a:avLst>
              <a:gd fmla="val 84470" name="adj1"/>
              <a:gd fmla="val -28206" name="adj2"/>
              <a:gd fmla="val 0" name="adj3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the AR Agent to autonomously match and clear credit card documents against contract accounts.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Automates repetitive administrative clearing tasks, significantly reducing manual effort for the AR Accountant.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Works directly within the business context to ensure real-time ledger updates for cleared items.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720000" y="3305300"/>
            <a:ext cx="3779700" cy="1707900"/>
          </a:xfrm>
          <a:prstGeom prst="wedgeRoundRectCallout">
            <a:avLst>
              <a:gd fmla="val 66802" name="adj1"/>
              <a:gd fmla="val -19167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successful vs. failed settlements and suggests the correct posting logic, including fee calculations.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settlement failures based on historical bank response codes to prioritize remediation.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a natural language interface for the AR Administrator to investigate settlement errors via the Joule copilot.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468175" y="11612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Cash &amp; Checks Processing</a:t>
            </a:r>
            <a:endParaRPr sz="2500"/>
          </a:p>
        </p:txBody>
      </p:sp>
      <p:pic>
        <p:nvPicPr>
          <p:cNvPr id="330" name="Google Shape;330;p41" title="Screenshot 2026-01-22 at 12.50.34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0325"/>
            <a:ext cx="8839198" cy="229305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/>
          <p:cNvSpPr/>
          <p:nvPr/>
        </p:nvSpPr>
        <p:spPr>
          <a:xfrm>
            <a:off x="720000" y="2956025"/>
            <a:ext cx="3944100" cy="2057100"/>
          </a:xfrm>
          <a:prstGeom prst="wedgeRoundRectCallout">
            <a:avLst>
              <a:gd fmla="val 99407" name="adj1"/>
              <a:gd fmla="val -48935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Replaces "Manual Clearing" by recommending and executing proposed matches for accounts receivable.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fall within tolerance thresholds, bypassing the AR Accountant role.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during the clearing process to flag disputes early.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navigational assistance through Joule to resolve any matching errors that require manual review.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 txBox="1"/>
          <p:nvPr>
            <p:ph type="title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descr="image.png" id="337" name="Google Shape;337;p42"/>
          <p:cNvPicPr preferRelativeResize="0"/>
          <p:nvPr/>
        </p:nvPicPr>
        <p:blipFill rotWithShape="1">
          <a:blip r:embed="rId3">
            <a:alphaModFix/>
          </a:blip>
          <a:srcRect b="4104" l="0" r="0" t="0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descr="image.png" id="339" name="Google Shape;33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2"/>
          <p:cNvSpPr txBox="1"/>
          <p:nvPr/>
        </p:nvSpPr>
        <p:spPr>
          <a:xfrm>
            <a:off x="1048045" y="221489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66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Zero-Touch Velocity</a:t>
            </a:r>
            <a:endParaRPr sz="1275"/>
          </a:p>
        </p:txBody>
      </p:sp>
      <p:sp>
        <p:nvSpPr>
          <p:cNvPr id="344" name="Google Shape;344;p42"/>
          <p:cNvSpPr txBox="1"/>
          <p:nvPr/>
        </p:nvSpPr>
        <p:spPr>
          <a:xfrm>
            <a:off x="1048045" y="2493957"/>
            <a:ext cx="318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24/7 processing drastically reduces Days Sales Outstanding (DSO) by clearing invoices in real-time.</a:t>
            </a:r>
            <a:endParaRPr sz="1000"/>
          </a:p>
        </p:txBody>
      </p:sp>
      <p:pic>
        <p:nvPicPr>
          <p:cNvPr descr="image.png" id="345" name="Google Shape;34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2"/>
          <p:cNvSpPr txBox="1"/>
          <p:nvPr/>
        </p:nvSpPr>
        <p:spPr>
          <a:xfrm>
            <a:off x="1048045" y="320381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66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sz="1275"/>
          </a:p>
        </p:txBody>
      </p:sp>
      <p:sp>
        <p:nvSpPr>
          <p:cNvPr id="347" name="Google Shape;347;p42"/>
          <p:cNvSpPr txBox="1"/>
          <p:nvPr/>
        </p:nvSpPr>
        <p:spPr>
          <a:xfrm>
            <a:off x="1048045" y="348287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data-entry errors such as typos in invoice numbers or incorrect payment amounts.</a:t>
            </a:r>
            <a:endParaRPr sz="1000"/>
          </a:p>
        </p:txBody>
      </p:sp>
      <p:pic>
        <p:nvPicPr>
          <p:cNvPr descr="image.png" id="348" name="Google Shape;34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2"/>
          <p:cNvSpPr txBox="1"/>
          <p:nvPr/>
        </p:nvSpPr>
        <p:spPr>
          <a:xfrm>
            <a:off x="1048045" y="413113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66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 sz="1275"/>
          </a:p>
        </p:txBody>
      </p:sp>
      <p:sp>
        <p:nvSpPr>
          <p:cNvPr id="350" name="Google Shape;350;p42"/>
          <p:cNvSpPr txBox="1"/>
          <p:nvPr/>
        </p:nvSpPr>
        <p:spPr>
          <a:xfrm>
            <a:off x="1048045" y="441019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end-of-month volume spikes (e.g., 5,000+ checks) without needing overtime staff</a:t>
            </a:r>
            <a:endParaRPr sz="1000"/>
          </a:p>
        </p:txBody>
      </p:sp>
      <p:pic>
        <p:nvPicPr>
          <p:cNvPr descr="image.png" id="351" name="Google Shape;351;p42"/>
          <p:cNvPicPr preferRelativeResize="0"/>
          <p:nvPr/>
        </p:nvPicPr>
        <p:blipFill rotWithShape="1">
          <a:blip r:embed="rId8">
            <a:alphaModFix/>
          </a:blip>
          <a:srcRect b="4104" l="0" r="0" t="0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43" u="none" cap="none" strike="noStrik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descr="image.png" id="353" name="Google Shape;353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2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1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Context Blindness</a:t>
            </a:r>
            <a:endParaRPr sz="1323"/>
          </a:p>
        </p:txBody>
      </p:sp>
      <p:sp>
        <p:nvSpPr>
          <p:cNvPr id="358" name="Google Shape;358;p42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struggles to judge intent, often failing to distinguish valid trade discounts from unauthorized short-pays.</a:t>
            </a:r>
            <a:endParaRPr sz="1000"/>
          </a:p>
        </p:txBody>
      </p:sp>
      <p:pic>
        <p:nvPicPr>
          <p:cNvPr descr="image.png" id="359" name="Google Shape;359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2"/>
          <p:cNvSpPr txBox="1"/>
          <p:nvPr/>
        </p:nvSpPr>
        <p:spPr>
          <a:xfrm>
            <a:off x="5405370" y="300688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1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Input Sensitivity</a:t>
            </a:r>
            <a:endParaRPr sz="1323"/>
          </a:p>
        </p:txBody>
      </p:sp>
      <p:sp>
        <p:nvSpPr>
          <p:cNvPr id="361" name="Google Shape;361;p42"/>
          <p:cNvSpPr txBox="1"/>
          <p:nvPr/>
        </p:nvSpPr>
        <p:spPr>
          <a:xfrm>
            <a:off x="5405370" y="328595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Bad data in = Bad data out. Blurry lockbox scans or messy handwriting can cause automated failures.</a:t>
            </a:r>
            <a:endParaRPr sz="1000"/>
          </a:p>
        </p:txBody>
      </p:sp>
      <p:pic>
        <p:nvPicPr>
          <p:cNvPr descr="image.png" id="362" name="Google Shape;362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2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18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'Black Box' Audits</a:t>
            </a:r>
            <a:endParaRPr sz="1323"/>
          </a:p>
        </p:txBody>
      </p:sp>
      <p:sp>
        <p:nvSpPr>
          <p:cNvPr id="364" name="Google Shape;364;p42"/>
          <p:cNvSpPr txBox="1"/>
          <p:nvPr/>
        </p:nvSpPr>
        <p:spPr>
          <a:xfrm>
            <a:off x="5405370" y="4152021"/>
            <a:ext cx="323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is significantly harder to explain complex AI matching logic to external auditors than standard human notes.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370" name="Google Shape;370;p43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371" name="Google Shape;371;p43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Mayank, Byron, Rhea</a:t>
            </a:r>
            <a:endParaRPr/>
          </a:p>
        </p:txBody>
      </p:sp>
      <p:cxnSp>
        <p:nvCxnSpPr>
          <p:cNvPr id="372" name="Google Shape;372;p43"/>
          <p:cNvCxnSpPr>
            <a:endCxn id="373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43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4" name="Google Shape;3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380" name="Google Shape;380;p44"/>
          <p:cNvSpPr txBox="1"/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381" name="Google Shape;381;p44"/>
          <p:cNvSpPr txBox="1"/>
          <p:nvPr>
            <p:ph idx="3" type="subTitle"/>
          </p:nvPr>
        </p:nvSpPr>
        <p:spPr>
          <a:xfrm>
            <a:off x="164000" y="2832650"/>
            <a:ext cx="3912900" cy="22467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Case Opening and Management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Manually create dispute cases</a:t>
            </a:r>
            <a:endParaRPr sz="1309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Human managers need to communicate with every individual dispute case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Reduces workflow speed</a:t>
            </a:r>
            <a:endParaRPr sz="1309"/>
          </a:p>
          <a:p>
            <a:pPr indent="-311757" lvl="1" marL="914400" rtl="0" algn="l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Higher costs for dispute management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Difficulty in tracking and resolving disputes immediately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382" name="Google Shape;382;p44"/>
          <p:cNvSpPr txBox="1"/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Dispute Resolution Agent</a:t>
            </a:r>
            <a:endParaRPr sz="1818"/>
          </a:p>
        </p:txBody>
      </p:sp>
      <p:sp>
        <p:nvSpPr>
          <p:cNvPr id="383" name="Google Shape;383;p44"/>
          <p:cNvSpPr txBox="1"/>
          <p:nvPr>
            <p:ph idx="3" type="subTitle"/>
          </p:nvPr>
        </p:nvSpPr>
        <p:spPr>
          <a:xfrm>
            <a:off x="472125" y="1344125"/>
            <a:ext cx="3832500" cy="8964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Scan invoices and contracts for errors automatically </a:t>
            </a:r>
            <a:endParaRPr sz="1509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300">
                <a:solidFill>
                  <a:srgbClr val="000000"/>
                </a:solidFill>
              </a:rPr>
              <a:t>Detects incorrect charges and suggest fixes (e.g. creation of credit memos )</a:t>
            </a:r>
            <a:endParaRPr sz="15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pic>
        <p:nvPicPr>
          <p:cNvPr id="384" name="Google Shape;38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4"/>
          <p:cNvSpPr txBox="1"/>
          <p:nvPr>
            <p:ph idx="2" type="title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386" name="Google Shape;386;p44"/>
          <p:cNvSpPr txBox="1"/>
          <p:nvPr>
            <p:ph idx="1" type="subTitle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-251757" lvl="0" marL="338415" rtl="0" algn="l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Automated Case </a:t>
            </a:r>
            <a:r>
              <a:rPr lang="en" sz="1300">
                <a:solidFill>
                  <a:srgbClr val="000000"/>
                </a:solidFill>
              </a:rPr>
              <a:t>Analysis</a:t>
            </a:r>
            <a:r>
              <a:rPr lang="en" sz="1300">
                <a:solidFill>
                  <a:srgbClr val="000000"/>
                </a:solidFill>
              </a:rPr>
              <a:t> and Validation:</a:t>
            </a:r>
            <a:endParaRPr sz="1300">
              <a:solidFill>
                <a:srgbClr val="000000"/>
              </a:solidFill>
            </a:endParaRPr>
          </a:p>
          <a:p>
            <a:pPr indent="-251758" lvl="1" marL="67683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Determines</a:t>
            </a:r>
            <a:r>
              <a:rPr lang="en" sz="1300">
                <a:solidFill>
                  <a:srgbClr val="000000"/>
                </a:solidFill>
              </a:rPr>
              <a:t> the </a:t>
            </a:r>
            <a:r>
              <a:rPr lang="en" sz="1300">
                <a:solidFill>
                  <a:srgbClr val="000000"/>
                </a:solidFill>
              </a:rPr>
              <a:t>validity</a:t>
            </a:r>
            <a:r>
              <a:rPr lang="en" sz="1300">
                <a:solidFill>
                  <a:srgbClr val="000000"/>
                </a:solidFill>
              </a:rPr>
              <a:t> of cases itself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Key Issues are summarized for human reviewer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Proposes potential resolution options, reviewed by human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Provides a more streamlined dispute process, </a:t>
            </a:r>
            <a:r>
              <a:rPr lang="en" sz="1300">
                <a:solidFill>
                  <a:srgbClr val="000000"/>
                </a:solidFill>
              </a:rPr>
              <a:t>maintaining</a:t>
            </a:r>
            <a:r>
              <a:rPr lang="en" sz="1300">
                <a:solidFill>
                  <a:srgbClr val="000000"/>
                </a:solidFill>
              </a:rPr>
              <a:t> stable customer relations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88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87" name="Google Shape;387;p44"/>
          <p:cNvSpPr txBox="1"/>
          <p:nvPr/>
        </p:nvSpPr>
        <p:spPr>
          <a:xfrm>
            <a:off x="4282550" y="1356700"/>
            <a:ext cx="41508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30% reduction in Dispute Management handling cost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customer churn attributable to invoice disputes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Dispute Resolution Agent</a:t>
            </a:r>
            <a:endParaRPr sz="3900"/>
          </a:p>
        </p:txBody>
      </p:sp>
      <p:sp>
        <p:nvSpPr>
          <p:cNvPr id="393" name="Google Shape;393;p45"/>
          <p:cNvSpPr txBox="1"/>
          <p:nvPr/>
        </p:nvSpPr>
        <p:spPr>
          <a:xfrm>
            <a:off x="688200" y="736050"/>
            <a:ext cx="39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Open &amp; Management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4" name="Google Shape;39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0" y="1474500"/>
            <a:ext cx="9057721" cy="23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5"/>
          <p:cNvSpPr/>
          <p:nvPr/>
        </p:nvSpPr>
        <p:spPr>
          <a:xfrm>
            <a:off x="1452150" y="3838650"/>
            <a:ext cx="3784500" cy="1305000"/>
          </a:xfrm>
          <a:prstGeom prst="wedgeRoundRectCallout">
            <a:avLst>
              <a:gd fmla="val -3416" name="adj1"/>
              <a:gd fmla="val -100492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Automatically reviews invoices and contracts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replaces manual review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Checks if customer complaints are justified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supports faster decisions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uggests or triggers corrections (e.g., credit memos)</a:t>
            </a:r>
            <a:endParaRPr b="1"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reduces delays and back-and-forth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"/>
          <p:cNvSpPr txBox="1"/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Contract Accounting</a:t>
            </a:r>
            <a:endParaRPr sz="3900"/>
          </a:p>
        </p:txBody>
      </p:sp>
      <p:sp>
        <p:nvSpPr>
          <p:cNvPr id="401" name="Google Shape;401;p46"/>
          <p:cNvSpPr txBox="1"/>
          <p:nvPr/>
        </p:nvSpPr>
        <p:spPr>
          <a:xfrm>
            <a:off x="1121450" y="2456100"/>
            <a:ext cx="33987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Accounting:</a:t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Automatically matches payments to open invoices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reduces manual work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Detects underpayments or partial payments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speeds up dispute resolution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Clears accounts after corrections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ensures accurate financials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2" name="Google Shape;4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925" y="87475"/>
            <a:ext cx="2377850" cy="496855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6"/>
          <p:cNvSpPr txBox="1"/>
          <p:nvPr>
            <p:ph idx="1" type="subTitle"/>
          </p:nvPr>
        </p:nvSpPr>
        <p:spPr>
          <a:xfrm>
            <a:off x="1121450" y="913063"/>
            <a:ext cx="3512100" cy="11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Before (Manual Process):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Manually match payments to invoices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Clear accounts after corrections</a:t>
            </a:r>
            <a:br>
              <a:rPr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Slow, error-prone, delays dispute closure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4" name="Google Shape;404;p46"/>
          <p:cNvSpPr txBox="1"/>
          <p:nvPr/>
        </p:nvSpPr>
        <p:spPr>
          <a:xfrm>
            <a:off x="5359425" y="87475"/>
            <a:ext cx="12072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—&gt;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7"/>
          <p:cNvSpPr txBox="1"/>
          <p:nvPr>
            <p:ph type="title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descr="image.png" id="410" name="Google Shape;410;p47"/>
          <p:cNvPicPr preferRelativeResize="0"/>
          <p:nvPr/>
        </p:nvPicPr>
        <p:blipFill rotWithShape="1">
          <a:blip r:embed="rId3">
            <a:alphaModFix/>
          </a:blip>
          <a:srcRect b="4104" l="0" r="0" t="0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7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descr="image.png" id="412" name="Google Shape;41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7"/>
          <p:cNvSpPr txBox="1"/>
          <p:nvPr/>
        </p:nvSpPr>
        <p:spPr>
          <a:xfrm>
            <a:off x="1048045" y="221489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High-Volume Data Handling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66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47"/>
          <p:cNvSpPr txBox="1"/>
          <p:nvPr/>
        </p:nvSpPr>
        <p:spPr>
          <a:xfrm>
            <a:off x="1048045" y="249395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Efficient processing of large datasets reduces errors and accelerates dispute resolution.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418" name="Google Shape;41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7"/>
          <p:cNvSpPr txBox="1"/>
          <p:nvPr/>
        </p:nvSpPr>
        <p:spPr>
          <a:xfrm>
            <a:off x="1048045" y="320381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Faster Dispute Resolution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66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47"/>
          <p:cNvSpPr txBox="1"/>
          <p:nvPr/>
        </p:nvSpPr>
        <p:spPr>
          <a:xfrm>
            <a:off x="1048045" y="348287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tracking of disputes improves accuracy and shortens resolution time.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421" name="Google Shape;42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7"/>
          <p:cNvSpPr txBox="1"/>
          <p:nvPr/>
        </p:nvSpPr>
        <p:spPr>
          <a:xfrm>
            <a:off x="1048045" y="413113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Cash Flow Visibility</a:t>
            </a:r>
            <a:endParaRPr b="1"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66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47"/>
          <p:cNvSpPr txBox="1"/>
          <p:nvPr/>
        </p:nvSpPr>
        <p:spPr>
          <a:xfrm>
            <a:off x="1048045" y="441019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insight into cash positions supports more reliable forecasting and financial decisions.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424" name="Google Shape;424;p47"/>
          <p:cNvPicPr preferRelativeResize="0"/>
          <p:nvPr/>
        </p:nvPicPr>
        <p:blipFill rotWithShape="1">
          <a:blip r:embed="rId8">
            <a:alphaModFix/>
          </a:blip>
          <a:srcRect b="4104" l="0" r="0" t="0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7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43" u="none" cap="none" strike="noStrik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descr="image.png" id="426" name="Google Shape;426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7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Manual Data Overload</a:t>
            </a:r>
            <a:endParaRPr sz="1323"/>
          </a:p>
        </p:txBody>
      </p:sp>
      <p:sp>
        <p:nvSpPr>
          <p:cNvPr id="431" name="Google Shape;431;p47"/>
          <p:cNvSpPr txBox="1"/>
          <p:nvPr/>
        </p:nvSpPr>
        <p:spPr>
          <a:xfrm>
            <a:off x="5405370" y="2493957"/>
            <a:ext cx="323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Manually processing many transactions is time-consuming, prone to errors, and delays dispute resolution.</a:t>
            </a:r>
            <a:endParaRPr sz="1000"/>
          </a:p>
        </p:txBody>
      </p:sp>
      <p:pic>
        <p:nvPicPr>
          <p:cNvPr descr="image.png" id="432" name="Google Shape;432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7"/>
          <p:cNvSpPr txBox="1"/>
          <p:nvPr/>
        </p:nvSpPr>
        <p:spPr>
          <a:xfrm>
            <a:off x="5427970" y="3121300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Tracking &amp; Resolution Challenges</a:t>
            </a:r>
            <a:endParaRPr sz="1323"/>
          </a:p>
        </p:txBody>
      </p:sp>
      <p:sp>
        <p:nvSpPr>
          <p:cNvPr id="434" name="Google Shape;434;p47"/>
          <p:cNvSpPr txBox="1"/>
          <p:nvPr/>
        </p:nvSpPr>
        <p:spPr>
          <a:xfrm>
            <a:off x="5405370" y="3393226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Difficulty managing multiple disputes at once can delay resolutions and reduce accuracy.</a:t>
            </a:r>
            <a:endParaRPr sz="1000"/>
          </a:p>
        </p:txBody>
      </p:sp>
      <p:pic>
        <p:nvPicPr>
          <p:cNvPr descr="image.png" id="435" name="Google Shape;435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7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Limited Cash Analysis</a:t>
            </a:r>
            <a:endParaRPr sz="1323"/>
          </a:p>
        </p:txBody>
      </p:sp>
      <p:sp>
        <p:nvSpPr>
          <p:cNvPr id="437" name="Google Shape;437;p47"/>
          <p:cNvSpPr txBox="1"/>
          <p:nvPr/>
        </p:nvSpPr>
        <p:spPr>
          <a:xfrm>
            <a:off x="5405370" y="4152021"/>
            <a:ext cx="323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Without clear insight into cash flow and available funds, it’s harder to resolve disputes quickly, track outstanding payments, and make informed decisions.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443" name="Google Shape;443;p48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444" name="Google Shape;444;p48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Allison, Prabhu, Tanvi</a:t>
            </a:r>
            <a:endParaRPr/>
          </a:p>
        </p:txBody>
      </p:sp>
      <p:cxnSp>
        <p:nvCxnSpPr>
          <p:cNvPr id="445" name="Google Shape;445;p48"/>
          <p:cNvCxnSpPr>
            <a:endCxn id="44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8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7" name="Google Shape;4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9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453" name="Google Shape;453;p49"/>
          <p:cNvSpPr txBox="1"/>
          <p:nvPr>
            <p:ph type="title"/>
          </p:nvPr>
        </p:nvSpPr>
        <p:spPr>
          <a:xfrm>
            <a:off x="832979" y="2169743"/>
            <a:ext cx="28113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454" name="Google Shape;454;p49"/>
          <p:cNvSpPr txBox="1"/>
          <p:nvPr>
            <p:ph idx="3" type="subTitle"/>
          </p:nvPr>
        </p:nvSpPr>
        <p:spPr>
          <a:xfrm>
            <a:off x="490099" y="2540900"/>
            <a:ext cx="3658500" cy="22467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Bad Debt Reserves and Allowances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review and validation of valuations assumptions and supporting data 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analysis of </a:t>
            </a:r>
            <a:r>
              <a:rPr lang="en" sz="1309"/>
              <a:t>delinquent</a:t>
            </a:r>
            <a:r>
              <a:rPr lang="en" sz="1309"/>
              <a:t> accounts to access recovery eligibility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Human judgement regarding valuation proposals and</a:t>
            </a:r>
            <a:r>
              <a:rPr lang="en" sz="1309"/>
              <a:t> bad debt reversals 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Management and KPIs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455" name="Google Shape;455;p49"/>
          <p:cNvSpPr txBox="1"/>
          <p:nvPr>
            <p:ph type="title"/>
          </p:nvPr>
        </p:nvSpPr>
        <p:spPr>
          <a:xfrm>
            <a:off x="1935500" y="814063"/>
            <a:ext cx="4008600" cy="4065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Behavioral Insights Agent</a:t>
            </a:r>
            <a:endParaRPr sz="1818"/>
          </a:p>
        </p:txBody>
      </p:sp>
      <p:sp>
        <p:nvSpPr>
          <p:cNvPr id="456" name="Google Shape;456;p49"/>
          <p:cNvSpPr txBox="1"/>
          <p:nvPr>
            <p:ph idx="3" type="subTitle"/>
          </p:nvPr>
        </p:nvSpPr>
        <p:spPr>
          <a:xfrm>
            <a:off x="526250" y="1262200"/>
            <a:ext cx="3832500" cy="946800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Predict customer payment risk using behavioral </a:t>
            </a:r>
            <a:r>
              <a:rPr lang="en" sz="1309"/>
              <a:t>patterns</a:t>
            </a:r>
            <a:r>
              <a:rPr lang="en" sz="1309"/>
              <a:t> </a:t>
            </a:r>
            <a:endParaRPr sz="1309"/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Identify accounts likely to pay late, default, or require early intervention</a:t>
            </a:r>
            <a:endParaRPr sz="13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457" name="Google Shape;457;p49"/>
          <p:cNvSpPr txBox="1"/>
          <p:nvPr>
            <p:ph idx="2" type="title"/>
          </p:nvPr>
        </p:nvSpPr>
        <p:spPr>
          <a:xfrm>
            <a:off x="5234027" y="2166158"/>
            <a:ext cx="2547600" cy="4137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458" name="Google Shape;458;p49"/>
          <p:cNvSpPr txBox="1"/>
          <p:nvPr>
            <p:ph idx="1" type="subTitle"/>
          </p:nvPr>
        </p:nvSpPr>
        <p:spPr>
          <a:xfrm>
            <a:off x="4148625" y="2423850"/>
            <a:ext cx="4718400" cy="2176800"/>
          </a:xfrm>
          <a:prstGeom prst="rect">
            <a:avLst/>
          </a:prstGeom>
        </p:spPr>
        <p:txBody>
          <a:bodyPr anchorCtr="0" anchor="t" bIns="67675" lIns="67675" spcFirstLastPara="1" rIns="67675" wrap="square" tIns="67675">
            <a:noAutofit/>
          </a:bodyPr>
          <a:lstStyle/>
          <a:p>
            <a:pPr indent="-251757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Behavioral Risk Scoring:</a:t>
            </a:r>
            <a:endParaRPr sz="1300">
              <a:solidFill>
                <a:srgbClr val="000000"/>
              </a:solidFill>
            </a:endParaRPr>
          </a:p>
          <a:p>
            <a:pPr indent="0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Analyzes historical invoice, payment, and customer behavior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endParaRPr sz="1300">
              <a:solidFill>
                <a:srgbClr val="000000"/>
              </a:solidFill>
            </a:endParaRPr>
          </a:p>
          <a:p>
            <a:pPr indent="0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Flags high-</a:t>
            </a:r>
            <a:r>
              <a:rPr lang="en" sz="1300">
                <a:solidFill>
                  <a:srgbClr val="000000"/>
                </a:solidFill>
              </a:rPr>
              <a:t>risk</a:t>
            </a:r>
            <a:r>
              <a:rPr lang="en" sz="1300">
                <a:solidFill>
                  <a:srgbClr val="000000"/>
                </a:solidFill>
              </a:rPr>
              <a:t> accounts before missed payments occur</a:t>
            </a:r>
            <a:endParaRPr sz="1300">
              <a:solidFill>
                <a:srgbClr val="000000"/>
              </a:solidFill>
            </a:endParaRPr>
          </a:p>
          <a:p>
            <a:pPr indent="-251757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Collections</a:t>
            </a:r>
            <a:r>
              <a:rPr lang="en" sz="1300">
                <a:solidFill>
                  <a:srgbClr val="000000"/>
                </a:solidFill>
              </a:rPr>
              <a:t> Prioritization:</a:t>
            </a:r>
            <a:endParaRPr sz="1300">
              <a:solidFill>
                <a:srgbClr val="000000"/>
              </a:solidFill>
            </a:endParaRPr>
          </a:p>
          <a:p>
            <a:pPr indent="0" lvl="0" marL="338415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Recommends account prioritization for outreach and dispute review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59" name="Google Shape;459;p49"/>
          <p:cNvSpPr txBox="1"/>
          <p:nvPr/>
        </p:nvSpPr>
        <p:spPr>
          <a:xfrm>
            <a:off x="4358750" y="1220575"/>
            <a:ext cx="41508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Enables proactive collections prioritization and reserve planning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75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</a:t>
            </a: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uncollectible</a:t>
            </a: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AR write-offs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"/>
          <p:cNvSpPr txBox="1"/>
          <p:nvPr>
            <p:ph idx="4" type="title"/>
          </p:nvPr>
        </p:nvSpPr>
        <p:spPr>
          <a:xfrm>
            <a:off x="101950" y="1794475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Behavioral Insights Agent: Enablement for Bad Debt Reserves and Allowances</a:t>
            </a:r>
            <a:endParaRPr sz="3000"/>
          </a:p>
        </p:txBody>
      </p:sp>
      <p:pic>
        <p:nvPicPr>
          <p:cNvPr id="465" name="Google Shape;465;p50"/>
          <p:cNvPicPr preferRelativeResize="0"/>
          <p:nvPr/>
        </p:nvPicPr>
        <p:blipFill rotWithShape="1">
          <a:blip r:embed="rId3">
            <a:alphaModFix/>
          </a:blip>
          <a:srcRect b="35999" l="1450" r="568" t="23547"/>
          <a:stretch/>
        </p:blipFill>
        <p:spPr>
          <a:xfrm>
            <a:off x="204463" y="1507596"/>
            <a:ext cx="8735076" cy="20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0"/>
          <p:cNvSpPr/>
          <p:nvPr/>
        </p:nvSpPr>
        <p:spPr>
          <a:xfrm>
            <a:off x="1452145" y="3614725"/>
            <a:ext cx="3768900" cy="1018800"/>
          </a:xfrm>
          <a:prstGeom prst="wedgeRoundRectCallout">
            <a:avLst>
              <a:gd fmla="val -882" name="adj1"/>
              <a:gd fmla="val -83824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Auto-builds valuation proposal package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Pre-checks master data and policy rules, flags issues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approve or revise with rationale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Auto-approve within tolerance thresholds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67" name="Google Shape;467;p50"/>
          <p:cNvSpPr txBox="1"/>
          <p:nvPr>
            <p:ph idx="4" type="title"/>
          </p:nvPr>
        </p:nvSpPr>
        <p:spPr>
          <a:xfrm>
            <a:off x="677500" y="95225"/>
            <a:ext cx="72483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Behavioral Insights Agent: Enablement for Bad Debt Reserves and Allowances</a:t>
            </a:r>
            <a:endParaRPr sz="2600"/>
          </a:p>
        </p:txBody>
      </p:sp>
      <p:sp>
        <p:nvSpPr>
          <p:cNvPr id="468" name="Google Shape;468;p50"/>
          <p:cNvSpPr/>
          <p:nvPr/>
        </p:nvSpPr>
        <p:spPr>
          <a:xfrm>
            <a:off x="5375100" y="3789295"/>
            <a:ext cx="3768900" cy="1018800"/>
          </a:xfrm>
          <a:prstGeom prst="wedgeRoundRectCallout">
            <a:avLst>
              <a:gd fmla="val 7973" name="adj1"/>
              <a:gd fmla="val -90079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Analyzes drivers (aging, disputes, payment behavior)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anomalies and identifies reversals with rationale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next actions and builds a worklist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Adds explainability for each recommendation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</a:t>
            </a:r>
            <a:r>
              <a:rPr lang="en" sz="2600"/>
              <a:t>Executive Bad Debt Reserves and Allowances</a:t>
            </a:r>
            <a:endParaRPr sz="2600"/>
          </a:p>
        </p:txBody>
      </p:sp>
      <p:sp>
        <p:nvSpPr>
          <p:cNvPr id="474" name="Google Shape;474;p51"/>
          <p:cNvSpPr txBox="1"/>
          <p:nvPr/>
        </p:nvSpPr>
        <p:spPr>
          <a:xfrm>
            <a:off x="319450" y="962625"/>
            <a:ext cx="4246500" cy="406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Purpose: </a:t>
            </a:r>
            <a:r>
              <a:rPr lang="en" sz="1100"/>
              <a:t>Improve allowance and reserve decision quality by adding behavior-based risk segmentation and explainable drivers to the reserve review cycle.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What the agent does: </a:t>
            </a:r>
            <a:r>
              <a:rPr lang="en" sz="1100"/>
              <a:t>Predicts payment risk for contract accounts using historical customer behavior and explains the main factors driving that risk.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Outputs (what users get)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score (0-100 style) for contract accounts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(top drivers of risk)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segments (Low, Medium, High) to support reserve stratification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Where it fits in the process (L5 placement)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Execute Bad Debt Reserves and Allowances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during reserve review cycles and when new open items or risk changes require reassessment</a:t>
            </a:r>
            <a:endParaRPr sz="1100"/>
          </a:p>
        </p:txBody>
      </p:sp>
      <p:sp>
        <p:nvSpPr>
          <p:cNvPr id="475" name="Google Shape;475;p51"/>
          <p:cNvSpPr txBox="1"/>
          <p:nvPr/>
        </p:nvSpPr>
        <p:spPr>
          <a:xfrm>
            <a:off x="4700925" y="1325925"/>
            <a:ext cx="4246500" cy="334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Process change (Before vs After):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Before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Allowance and reserve segmentation relies mainly on aging buckets, overdue amount, and manual judgment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effort to identify true-risk accounts, inconsistent rationale across reviewers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After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scoring becomes a first-class input for reserve segmentation (alongside aging and exposure)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supports defensible reserve rationale and faster review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More consistent segmentation, reduced manual triage, targeted focus on highest-risk accounts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2"/>
          <p:cNvSpPr txBox="1"/>
          <p:nvPr>
            <p:ph idx="3" type="subTitle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w</a:t>
            </a:r>
            <a:endParaRPr/>
          </a:p>
        </p:txBody>
      </p:sp>
      <p:sp>
        <p:nvSpPr>
          <p:cNvPr id="482" name="Google Shape;482;p52"/>
          <p:cNvSpPr txBox="1"/>
          <p:nvPr>
            <p:ph idx="4" type="title"/>
          </p:nvPr>
        </p:nvSpPr>
        <p:spPr>
          <a:xfrm>
            <a:off x="478475" y="38200"/>
            <a:ext cx="7704000" cy="11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Behavioral Insights Agent: </a:t>
            </a:r>
            <a:r>
              <a:rPr lang="en" sz="2900"/>
              <a:t>Review</a:t>
            </a:r>
            <a:r>
              <a:rPr lang="en" sz="2900"/>
              <a:t> Dispute Management Performance and KPIs</a:t>
            </a:r>
            <a:endParaRPr sz="2900"/>
          </a:p>
        </p:txBody>
      </p:sp>
      <p:pic>
        <p:nvPicPr>
          <p:cNvPr id="483" name="Google Shape;48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00" y="1279825"/>
            <a:ext cx="8816798" cy="21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2"/>
          <p:cNvSpPr/>
          <p:nvPr/>
        </p:nvSpPr>
        <p:spPr>
          <a:xfrm>
            <a:off x="478470" y="3595100"/>
            <a:ext cx="3768900" cy="1018800"/>
          </a:xfrm>
          <a:prstGeom prst="wedgeRoundRectCallout">
            <a:avLst>
              <a:gd fmla="val -882" name="adj1"/>
              <a:gd fmla="val -83824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Ingests dispute reporting data</a:t>
            </a:r>
            <a:endParaRPr sz="1100">
              <a:solidFill>
                <a:schemeClr val="dk2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Explains key risk drivers (age, amount, etc)</a:t>
            </a:r>
            <a:endParaRPr sz="1100">
              <a:solidFill>
                <a:schemeClr val="dk2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Segments open disputes by risk level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risk-based prioritization for downstream monitoring and action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85" name="Google Shape;485;p52"/>
          <p:cNvSpPr/>
          <p:nvPr/>
        </p:nvSpPr>
        <p:spPr>
          <a:xfrm>
            <a:off x="5286775" y="3730395"/>
            <a:ext cx="3768900" cy="1018800"/>
          </a:xfrm>
          <a:prstGeom prst="wedgeRoundRectCallout">
            <a:avLst>
              <a:gd fmla="val 7973" name="adj1"/>
              <a:gd fmla="val -90079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Evaluates processing delays in the context of risk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high-risk disputes with extended cycle times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Quantifies potential cash and write-off impact</a:t>
            </a:r>
            <a:endParaRPr sz="1100">
              <a:solidFill>
                <a:srgbClr val="FFFFFF"/>
              </a:solidFill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Provides</a:t>
            </a:r>
            <a:r>
              <a:rPr lang="en" sz="1100">
                <a:solidFill>
                  <a:srgbClr val="FFFFFF"/>
                </a:solidFill>
              </a:rPr>
              <a:t> KPI reviews with risk-weighted insights and explanations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Review Dispute Management Performance and KPIs</a:t>
            </a:r>
            <a:endParaRPr sz="2600"/>
          </a:p>
        </p:txBody>
      </p:sp>
      <p:sp>
        <p:nvSpPr>
          <p:cNvPr id="491" name="Google Shape;491;p53"/>
          <p:cNvSpPr txBox="1"/>
          <p:nvPr/>
        </p:nvSpPr>
        <p:spPr>
          <a:xfrm>
            <a:off x="271825" y="942225"/>
            <a:ext cx="4441200" cy="411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Purpose</a:t>
            </a:r>
            <a:br>
              <a:rPr b="1" lang="en" sz="1100"/>
            </a:br>
            <a:r>
              <a:rPr lang="en" sz="1100"/>
              <a:t>Bring early risk intelligence into dispute performance monitoring so leaders can reduce dispute backlog, shorten cycle times, and prevent disputes from turning into delinquency or write-offs.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What the agent adds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Predicts payment risk for accounts with open disputes and explains key drivers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Enables risk-based segmentation of dispute portfolio (Low, Medium, High risk)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Helps teams focus resolution effort on disputes most likely to impact cash and reserves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Where it fits in the process (L5 placement)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Immediately after “Dispute Management Reporting”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Between “Monitor Processing Days of Open Disputes” and “Dispute Metrics &amp; Performance KPIs Reviewed”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492" name="Google Shape;492;p53"/>
          <p:cNvSpPr txBox="1"/>
          <p:nvPr/>
        </p:nvSpPr>
        <p:spPr>
          <a:xfrm>
            <a:off x="4916225" y="962625"/>
            <a:ext cx="4031100" cy="407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Process change (Before vs After):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Before: </a:t>
            </a:r>
            <a:r>
              <a:rPr lang="en" sz="1100"/>
              <a:t>prioritize based on dispute age, amount, and reason code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After: </a:t>
            </a:r>
            <a:r>
              <a:rPr lang="en" sz="1100"/>
              <a:t>Prioritize based on dispute age and amount plus predicted risk and drivers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Faster escalation of high-risk disputes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Clearer rationale for prioritization using explainability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Better linkage between dispute handling and downstream cash outcomes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Measurement approach (Baseline. Pilot. Compare)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Baseline: backlog, cycle time, SLA adherence, write-offs from disputes, recovery rate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Pilot: enable for one region or customer segment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Compare: cycle time reduction, backlog reduction, improved recovery, reduced dispute-to-write-off conversion, improved outcomes for High risk disputes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>
            <p:ph idx="4" type="title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descr="image.png" id="498" name="Google Shape;498;p54"/>
          <p:cNvPicPr preferRelativeResize="0"/>
          <p:nvPr/>
        </p:nvPicPr>
        <p:blipFill rotWithShape="1">
          <a:blip r:embed="rId3">
            <a:alphaModFix/>
          </a:blip>
          <a:srcRect b="4104" l="0" r="0" t="0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4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descr="image.png" id="500" name="Google Shape;50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4"/>
          <p:cNvSpPr txBox="1"/>
          <p:nvPr/>
        </p:nvSpPr>
        <p:spPr>
          <a:xfrm>
            <a:off x="1048045" y="221489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6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Predictive Risk Identification</a:t>
            </a:r>
            <a:endParaRPr sz="1275"/>
          </a:p>
        </p:txBody>
      </p:sp>
      <p:sp>
        <p:nvSpPr>
          <p:cNvPr id="505" name="Google Shape;505;p54"/>
          <p:cNvSpPr txBox="1"/>
          <p:nvPr/>
        </p:nvSpPr>
        <p:spPr>
          <a:xfrm>
            <a:off x="1048045" y="249395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Predicts payment risk early, allowing intervention before balances become uncollectible.</a:t>
            </a:r>
            <a:endParaRPr sz="1000"/>
          </a:p>
        </p:txBody>
      </p:sp>
      <p:pic>
        <p:nvPicPr>
          <p:cNvPr descr="image.png" id="506" name="Google Shape;506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54"/>
          <p:cNvSpPr txBox="1"/>
          <p:nvPr/>
        </p:nvSpPr>
        <p:spPr>
          <a:xfrm>
            <a:off x="1048045" y="320381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6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Focused Collection Effort</a:t>
            </a:r>
            <a:endParaRPr sz="1275"/>
          </a:p>
        </p:txBody>
      </p:sp>
      <p:sp>
        <p:nvSpPr>
          <p:cNvPr id="508" name="Google Shape;508;p54"/>
          <p:cNvSpPr txBox="1"/>
          <p:nvPr/>
        </p:nvSpPr>
        <p:spPr>
          <a:xfrm>
            <a:off x="1048045" y="348287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Directs analysts and collections time to the highest risk, </a:t>
            </a: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highest</a:t>
            </a: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impact accounts.</a:t>
            </a:r>
            <a:endParaRPr sz="1000"/>
          </a:p>
        </p:txBody>
      </p:sp>
      <p:pic>
        <p:nvPicPr>
          <p:cNvPr descr="image.png" id="509" name="Google Shape;509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4"/>
          <p:cNvSpPr txBox="1"/>
          <p:nvPr/>
        </p:nvSpPr>
        <p:spPr>
          <a:xfrm>
            <a:off x="1048045" y="413113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6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Improved Financial Planning</a:t>
            </a:r>
            <a:endParaRPr sz="1275"/>
          </a:p>
        </p:txBody>
      </p:sp>
      <p:sp>
        <p:nvSpPr>
          <p:cNvPr id="511" name="Google Shape;511;p54"/>
          <p:cNvSpPr txBox="1"/>
          <p:nvPr/>
        </p:nvSpPr>
        <p:spPr>
          <a:xfrm>
            <a:off x="1048045" y="441019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more accurate reserve estimates and stable cash-flow forecasting.</a:t>
            </a:r>
            <a:endParaRPr sz="1000"/>
          </a:p>
        </p:txBody>
      </p:sp>
      <p:pic>
        <p:nvPicPr>
          <p:cNvPr descr="image.png" id="512" name="Google Shape;512;p54"/>
          <p:cNvPicPr preferRelativeResize="0"/>
          <p:nvPr/>
        </p:nvPicPr>
        <p:blipFill rotWithShape="1">
          <a:blip r:embed="rId8">
            <a:alphaModFix/>
          </a:blip>
          <a:srcRect b="4104" l="0" r="0" t="0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4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43" u="none" cap="none" strike="noStrik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descr="image.png" id="514" name="Google Shape;514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4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Not Fully Automated</a:t>
            </a:r>
            <a:endParaRPr sz="1323"/>
          </a:p>
        </p:txBody>
      </p:sp>
      <p:sp>
        <p:nvSpPr>
          <p:cNvPr id="519" name="Google Shape;519;p54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Requires human judgement and action. AI supports decisions but does not execute them.</a:t>
            </a:r>
            <a:endParaRPr sz="1000"/>
          </a:p>
        </p:txBody>
      </p:sp>
      <p:pic>
        <p:nvPicPr>
          <p:cNvPr descr="image.png" id="520" name="Google Shape;520;p5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4"/>
          <p:cNvSpPr txBox="1"/>
          <p:nvPr/>
        </p:nvSpPr>
        <p:spPr>
          <a:xfrm>
            <a:off x="5405370" y="300688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Quality Dependency</a:t>
            </a:r>
            <a:endParaRPr sz="1323"/>
          </a:p>
        </p:txBody>
      </p:sp>
      <p:sp>
        <p:nvSpPr>
          <p:cNvPr id="522" name="Google Shape;522;p54"/>
          <p:cNvSpPr txBox="1"/>
          <p:nvPr/>
        </p:nvSpPr>
        <p:spPr>
          <a:xfrm>
            <a:off x="5405370" y="328595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Effectiveness depends on clean and complete historical payment data.</a:t>
            </a:r>
            <a:endParaRPr sz="1000"/>
          </a:p>
        </p:txBody>
      </p:sp>
      <p:pic>
        <p:nvPicPr>
          <p:cNvPr descr="image.png" id="523" name="Google Shape;523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4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8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Adoption and Trust Risk</a:t>
            </a:r>
            <a:endParaRPr sz="1323"/>
          </a:p>
        </p:txBody>
      </p:sp>
      <p:sp>
        <p:nvSpPr>
          <p:cNvPr id="525" name="Google Shape;525;p54"/>
          <p:cNvSpPr txBox="1"/>
          <p:nvPr/>
        </p:nvSpPr>
        <p:spPr>
          <a:xfrm>
            <a:off x="5405370" y="415202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Benefits rely on user adoption and confidence in AI outputs.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5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Incorrect Credits </a:t>
            </a:r>
            <a:r>
              <a:rPr lang="en" sz="2600"/>
              <a:t>Agent</a:t>
            </a: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6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Executive Bad Debt Reserves and Allowances</a:t>
            </a:r>
            <a:endParaRPr sz="2600"/>
          </a:p>
        </p:txBody>
      </p:sp>
      <p:sp>
        <p:nvSpPr>
          <p:cNvPr id="536" name="Google Shape;536;p56"/>
          <p:cNvSpPr txBox="1"/>
          <p:nvPr/>
        </p:nvSpPr>
        <p:spPr>
          <a:xfrm>
            <a:off x="1144800" y="1488925"/>
            <a:ext cx="587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7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Review Dispute Management Performance and KPIs</a:t>
            </a:r>
            <a:endParaRPr sz="2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Revenue Assurance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9"/>
          <p:cNvSpPr txBox="1"/>
          <p:nvPr>
            <p:ph type="title"/>
          </p:nvPr>
        </p:nvSpPr>
        <p:spPr>
          <a:xfrm>
            <a:off x="1320325" y="1307100"/>
            <a:ext cx="7110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0"/>
          <p:cNvSpPr txBox="1"/>
          <p:nvPr>
            <p:ph idx="4" type="title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Annex</a:t>
            </a:r>
            <a:endParaRPr sz="2600"/>
          </a:p>
        </p:txBody>
      </p:sp>
      <p:pic>
        <p:nvPicPr>
          <p:cNvPr id="557" name="Google Shape;557;p60"/>
          <p:cNvPicPr preferRelativeResize="0"/>
          <p:nvPr/>
        </p:nvPicPr>
        <p:blipFill rotWithShape="1">
          <a:blip r:embed="rId3">
            <a:alphaModFix/>
          </a:blip>
          <a:srcRect b="852" l="1399" r="2084" t="2219"/>
          <a:stretch/>
        </p:blipFill>
        <p:spPr>
          <a:xfrm>
            <a:off x="720000" y="890000"/>
            <a:ext cx="3316600" cy="368154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0"/>
          <p:cNvSpPr txBox="1"/>
          <p:nvPr/>
        </p:nvSpPr>
        <p:spPr>
          <a:xfrm>
            <a:off x="648725" y="4490125"/>
            <a:ext cx="39807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Process Flow of Behavioral Insights Agent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9" name="Google Shape;559;p60"/>
          <p:cNvSpPr txBox="1"/>
          <p:nvPr/>
        </p:nvSpPr>
        <p:spPr>
          <a:xfrm>
            <a:off x="4682175" y="1119000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Behavioral Insights is triggered by a review cycle or new open items, running a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scoring process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to produce a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prioritized risk list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with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key drivers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collector reviews the list, acts on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high-risk items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(choosing and executing a strategy in SAP), and records outcomes.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Resolved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paid items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are cleared and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KPIs are reported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Unresolved cases are escalated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the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strategy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is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 adjusted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scoring is rerun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in a loop for </a:t>
            </a: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subsequent review cycles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0" name="Google Shape;560;p60"/>
          <p:cNvSpPr txBox="1"/>
          <p:nvPr/>
        </p:nvSpPr>
        <p:spPr>
          <a:xfrm>
            <a:off x="4950600" y="505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Process Overview: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